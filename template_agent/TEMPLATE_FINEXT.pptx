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name="COVER_A_RECOMMENDATION">
    <p:spTree>
      <p:nvGrpSpPr>
        <p:cNvPr id="1" name=""/>
        <p:cNvGrpSpPr/>
        <p:nvPr/>
      </p:nvGrpSpPr>
      <p:grpSpPr/>
      <p:sp>
        <p:nvSpPr>
          <p:cNvPr id="2" name="Rectangle 1"/>
          <p:cNvSpPr/>
          <p:nvPr/>
        </p:nvSpPr>
        <p:spPr>
          <a:xfrm>
            <a:off x="0" y="0"/>
            <a:ext cx="12188952" cy="6858000"/>
          </a:xfrm>
          <a:prstGeom prst="rect">
            <a:avLst/>
          </a:prstGeom>
          <a:solidFill>
            <a:srgbClr val="0A0A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280160"/>
          </a:xfrm>
          <a:prstGeom prst="rect">
            <a:avLst/>
          </a:prstGeom>
          <a:solidFill>
            <a:srgbClr val="2A1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88952" cy="9144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411480"/>
            <a:ext cx="10972800" cy="365760"/>
          </a:xfrm>
          <a:prstGeom prst="rect">
            <a:avLst/>
          </a:prstGeom>
          <a:noFill/>
        </p:spPr>
        <p:txBody>
          <a:bodyPr wrap="square" lIns="45720" rIns="45720" tIns="18288" bIns="18288" anchor="t">
            <a:spAutoFit/>
          </a:bodyPr>
          <a:lstStyle/>
          <a:p>
            <a:pPr algn="l"/>
            <a:r>
              <a:rPr sz="1200" b="1" i="0">
                <a:solidFill>
                  <a:srgbClr val="B47EFF"/>
                </a:solidFill>
                <a:latin typeface="Calibri"/>
              </a:rPr>
              <a:t>BÁO CÁO PHÂN TÍCH &amp; KHUYẾN NGHỊ</a:t>
            </a:r>
          </a:p>
        </p:txBody>
      </p:sp>
      <p:sp>
        <p:nvSpPr>
          <p:cNvPr id="6" name="TextBox 5"/>
          <p:cNvSpPr txBox="1"/>
          <p:nvPr/>
        </p:nvSpPr>
        <p:spPr>
          <a:xfrm>
            <a:off x="548640" y="777240"/>
            <a:ext cx="10972800" cy="274320"/>
          </a:xfrm>
          <a:prstGeom prst="rect">
            <a:avLst/>
          </a:prstGeom>
          <a:noFill/>
        </p:spPr>
        <p:txBody>
          <a:bodyPr wrap="square" lIns="45720" rIns="45720" tIns="18288" bIns="18288" anchor="t">
            <a:spAutoFit/>
          </a:bodyPr>
          <a:lstStyle/>
          <a:p>
            <a:pPr algn="l"/>
            <a:r>
              <a:rPr sz="1000" b="0" i="1">
                <a:solidFill>
                  <a:srgbClr val="B8B8B8"/>
                </a:solidFill>
                <a:latin typeface="Calibri"/>
              </a:rPr>
              <a:t>{{REPORT_SUBTITLE}}</a:t>
            </a:r>
          </a:p>
        </p:txBody>
      </p:sp>
      <p:sp>
        <p:nvSpPr>
          <p:cNvPr id="7" name="TextBox 6"/>
          <p:cNvSpPr txBox="1"/>
          <p:nvPr/>
        </p:nvSpPr>
        <p:spPr>
          <a:xfrm>
            <a:off x="548640" y="1828800"/>
            <a:ext cx="6858000" cy="1371600"/>
          </a:xfrm>
          <a:prstGeom prst="rect">
            <a:avLst/>
          </a:prstGeom>
          <a:noFill/>
        </p:spPr>
        <p:txBody>
          <a:bodyPr wrap="square" lIns="45720" rIns="45720" tIns="18288" bIns="18288" anchor="t">
            <a:spAutoFit/>
          </a:bodyPr>
          <a:lstStyle/>
          <a:p>
            <a:pPr algn="l"/>
            <a:r>
              <a:rPr sz="9600" b="1" i="0">
                <a:solidFill>
                  <a:srgbClr val="FFFFFF"/>
                </a:solidFill>
                <a:latin typeface="Calibri"/>
              </a:rPr>
              <a:t>{{TICKER}}</a:t>
            </a:r>
          </a:p>
        </p:txBody>
      </p:sp>
      <p:sp>
        <p:nvSpPr>
          <p:cNvPr id="8" name="TextBox 7"/>
          <p:cNvSpPr txBox="1"/>
          <p:nvPr/>
        </p:nvSpPr>
        <p:spPr>
          <a:xfrm>
            <a:off x="548640" y="3246120"/>
            <a:ext cx="6858000" cy="365760"/>
          </a:xfrm>
          <a:prstGeom prst="rect">
            <a:avLst/>
          </a:prstGeom>
          <a:noFill/>
        </p:spPr>
        <p:txBody>
          <a:bodyPr wrap="square" lIns="45720" rIns="45720" tIns="18288" bIns="18288" anchor="t">
            <a:spAutoFit/>
          </a:bodyPr>
          <a:lstStyle/>
          <a:p>
            <a:pPr algn="l"/>
            <a:r>
              <a:rPr sz="1800" b="0" i="0">
                <a:solidFill>
                  <a:srgbClr val="F0F0F0"/>
                </a:solidFill>
                <a:latin typeface="Calibri"/>
              </a:rPr>
              <a:t>{{COMPANY_FULL_NAME}}</a:t>
            </a:r>
          </a:p>
        </p:txBody>
      </p:sp>
      <p:sp>
        <p:nvSpPr>
          <p:cNvPr id="9" name="TextBox 8"/>
          <p:cNvSpPr txBox="1"/>
          <p:nvPr/>
        </p:nvSpPr>
        <p:spPr>
          <a:xfrm>
            <a:off x="548640" y="3611880"/>
            <a:ext cx="6858000" cy="274320"/>
          </a:xfrm>
          <a:prstGeom prst="rect">
            <a:avLst/>
          </a:prstGeom>
          <a:noFill/>
        </p:spPr>
        <p:txBody>
          <a:bodyPr wrap="square" lIns="45720" rIns="45720" tIns="18288" bIns="18288" anchor="t">
            <a:spAutoFit/>
          </a:bodyPr>
          <a:lstStyle/>
          <a:p>
            <a:pPr algn="l"/>
            <a:r>
              <a:rPr sz="1000" b="0" i="1">
                <a:solidFill>
                  <a:srgbClr val="B8B8B8"/>
                </a:solidFill>
                <a:latin typeface="Calibri"/>
              </a:rPr>
              <a:t>{{INDUSTRY_LABEL}}</a:t>
            </a:r>
          </a:p>
        </p:txBody>
      </p:sp>
      <p:sp>
        <p:nvSpPr>
          <p:cNvPr id="10" name="Rounded Rectangle 9"/>
          <p:cNvSpPr/>
          <p:nvPr/>
        </p:nvSpPr>
        <p:spPr>
          <a:xfrm>
            <a:off x="7772400" y="1828800"/>
            <a:ext cx="3931920" cy="1005840"/>
          </a:xfrm>
          <a:prstGeom prst="roundRect">
            <a:avLst>
              <a:gd name="adj" fmla="val 15000"/>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0" y="1874519"/>
            <a:ext cx="3931920" cy="502920"/>
          </a:xfrm>
          <a:prstGeom prst="rect">
            <a:avLst/>
          </a:prstGeom>
          <a:noFill/>
        </p:spPr>
        <p:txBody>
          <a:bodyPr wrap="square" lIns="45720" rIns="45720" tIns="18288" bIns="18288" anchor="ctr">
            <a:spAutoFit/>
          </a:bodyPr>
          <a:lstStyle/>
          <a:p>
            <a:pPr algn="ctr"/>
            <a:r>
              <a:rPr sz="3600" b="1" i="0">
                <a:solidFill>
                  <a:srgbClr val="FFFFFF"/>
                </a:solidFill>
                <a:latin typeface="Calibri"/>
              </a:rPr>
              <a:t>MUA</a:t>
            </a:r>
          </a:p>
        </p:txBody>
      </p:sp>
      <p:sp>
        <p:nvSpPr>
          <p:cNvPr id="12" name="TextBox 11"/>
          <p:cNvSpPr txBox="1"/>
          <p:nvPr/>
        </p:nvSpPr>
        <p:spPr>
          <a:xfrm>
            <a:off x="7772400" y="2377440"/>
            <a:ext cx="3931920" cy="411480"/>
          </a:xfrm>
          <a:prstGeom prst="rect">
            <a:avLst/>
          </a:prstGeom>
          <a:noFill/>
        </p:spPr>
        <p:txBody>
          <a:bodyPr wrap="square" lIns="45720" rIns="45720" tIns="18288" bIns="18288" anchor="ctr">
            <a:spAutoFit/>
          </a:bodyPr>
          <a:lstStyle/>
          <a:p>
            <a:pPr algn="ctr"/>
            <a:r>
              <a:rPr sz="1000" b="0" i="1">
                <a:solidFill>
                  <a:srgbClr val="FFFFFF"/>
                </a:solidFill>
                <a:latin typeface="Calibri"/>
              </a:rPr>
              <a:t>Khuyến nghị</a:t>
            </a:r>
          </a:p>
        </p:txBody>
      </p:sp>
      <p:sp>
        <p:nvSpPr>
          <p:cNvPr id="13" name="Rounded Rectangle 12"/>
          <p:cNvSpPr/>
          <p:nvPr/>
        </p:nvSpPr>
        <p:spPr>
          <a:xfrm>
            <a:off x="7772400" y="3017520"/>
            <a:ext cx="1887321" cy="777240"/>
          </a:xfrm>
          <a:prstGeom prst="roundRect">
            <a:avLst>
              <a:gd name="adj" fmla="val 10000"/>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63840" y="3090672"/>
            <a:ext cx="1704441" cy="228600"/>
          </a:xfrm>
          <a:prstGeom prst="rect">
            <a:avLst/>
          </a:prstGeom>
          <a:noFill/>
        </p:spPr>
        <p:txBody>
          <a:bodyPr wrap="square" lIns="45720" rIns="45720" tIns="18288" bIns="18288" anchor="t">
            <a:spAutoFit/>
          </a:bodyPr>
          <a:lstStyle/>
          <a:p>
            <a:pPr algn="ctr"/>
            <a:r>
              <a:rPr sz="900" b="0" i="0">
                <a:solidFill>
                  <a:srgbClr val="B8B8B8"/>
                </a:solidFill>
                <a:latin typeface="Calibri"/>
              </a:rPr>
              <a:t>Giá hiện tại</a:t>
            </a:r>
          </a:p>
        </p:txBody>
      </p:sp>
      <p:sp>
        <p:nvSpPr>
          <p:cNvPr id="15" name="TextBox 14"/>
          <p:cNvSpPr txBox="1"/>
          <p:nvPr/>
        </p:nvSpPr>
        <p:spPr>
          <a:xfrm>
            <a:off x="7863840" y="3337560"/>
            <a:ext cx="1704441" cy="411480"/>
          </a:xfrm>
          <a:prstGeom prst="rect">
            <a:avLst/>
          </a:prstGeom>
          <a:noFill/>
        </p:spPr>
        <p:txBody>
          <a:bodyPr wrap="square" lIns="45720" rIns="45720" tIns="18288" bIns="18288" anchor="t">
            <a:spAutoFit/>
          </a:bodyPr>
          <a:lstStyle/>
          <a:p>
            <a:pPr algn="ctr"/>
            <a:r>
              <a:rPr sz="1800" b="1" i="0">
                <a:solidFill>
                  <a:srgbClr val="FFFFFF"/>
                </a:solidFill>
                <a:latin typeface="Calibri"/>
              </a:rPr>
              <a:t>{{PRICE_CURRENT}}</a:t>
            </a:r>
          </a:p>
        </p:txBody>
      </p:sp>
      <p:sp>
        <p:nvSpPr>
          <p:cNvPr id="16" name="Rounded Rectangle 15"/>
          <p:cNvSpPr/>
          <p:nvPr/>
        </p:nvSpPr>
        <p:spPr>
          <a:xfrm>
            <a:off x="9816998" y="3017520"/>
            <a:ext cx="1887321" cy="777240"/>
          </a:xfrm>
          <a:prstGeom prst="roundRect">
            <a:avLst>
              <a:gd name="adj" fmla="val 10000"/>
            </a:avLst>
          </a:prstGeom>
          <a:solidFill>
            <a:srgbClr val="4C1D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908438" y="3090672"/>
            <a:ext cx="1704441" cy="228600"/>
          </a:xfrm>
          <a:prstGeom prst="rect">
            <a:avLst/>
          </a:prstGeom>
          <a:noFill/>
        </p:spPr>
        <p:txBody>
          <a:bodyPr wrap="square" lIns="45720" rIns="45720" tIns="18288" bIns="18288" anchor="t">
            <a:spAutoFit/>
          </a:bodyPr>
          <a:lstStyle/>
          <a:p>
            <a:pPr algn="ctr"/>
            <a:r>
              <a:rPr sz="900" b="0" i="0">
                <a:solidFill>
                  <a:srgbClr val="B47EFF"/>
                </a:solidFill>
                <a:latin typeface="Calibri"/>
              </a:rPr>
              <a:t>Giá mục tiêu</a:t>
            </a:r>
          </a:p>
        </p:txBody>
      </p:sp>
      <p:sp>
        <p:nvSpPr>
          <p:cNvPr id="18" name="TextBox 17"/>
          <p:cNvSpPr txBox="1"/>
          <p:nvPr/>
        </p:nvSpPr>
        <p:spPr>
          <a:xfrm>
            <a:off x="9908438" y="3337560"/>
            <a:ext cx="1704441" cy="411480"/>
          </a:xfrm>
          <a:prstGeom prst="rect">
            <a:avLst/>
          </a:prstGeom>
          <a:noFill/>
        </p:spPr>
        <p:txBody>
          <a:bodyPr wrap="square" lIns="45720" rIns="45720" tIns="18288" bIns="18288" anchor="t">
            <a:spAutoFit/>
          </a:bodyPr>
          <a:lstStyle/>
          <a:p>
            <a:pPr algn="ctr"/>
            <a:r>
              <a:rPr sz="1800" b="1" i="0">
                <a:solidFill>
                  <a:srgbClr val="B47EFF"/>
                </a:solidFill>
                <a:latin typeface="Calibri"/>
              </a:rPr>
              <a:t>{{PRICE_TARGET}}</a:t>
            </a:r>
          </a:p>
        </p:txBody>
      </p:sp>
      <p:sp>
        <p:nvSpPr>
          <p:cNvPr id="19" name="TextBox 18"/>
          <p:cNvSpPr txBox="1"/>
          <p:nvPr/>
        </p:nvSpPr>
        <p:spPr>
          <a:xfrm>
            <a:off x="7772400" y="3931920"/>
            <a:ext cx="3931920" cy="365760"/>
          </a:xfrm>
          <a:prstGeom prst="rect">
            <a:avLst/>
          </a:prstGeom>
          <a:noFill/>
        </p:spPr>
        <p:txBody>
          <a:bodyPr wrap="square" lIns="45720" rIns="45720" tIns="18288" bIns="18288" anchor="t">
            <a:spAutoFit/>
          </a:bodyPr>
          <a:lstStyle/>
          <a:p>
            <a:pPr algn="ctr"/>
            <a:r>
              <a:rPr sz="1300" b="1" i="0">
                <a:solidFill>
                  <a:srgbClr val="25B770"/>
                </a:solidFill>
                <a:latin typeface="Calibri"/>
              </a:rPr>
              <a:t>{{UPSIDE_LINE}}</a:t>
            </a:r>
          </a:p>
        </p:txBody>
      </p:sp>
      <p:sp>
        <p:nvSpPr>
          <p:cNvPr id="20" name="Rectangle 19"/>
          <p:cNvSpPr/>
          <p:nvPr/>
        </p:nvSpPr>
        <p:spPr>
          <a:xfrm>
            <a:off x="548640" y="4526280"/>
            <a:ext cx="3697224" cy="3657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245864" y="4526280"/>
            <a:ext cx="3697224"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943088" y="4526280"/>
            <a:ext cx="3697224" cy="36576"/>
          </a:xfrm>
          <a:prstGeom prst="rect">
            <a:avLst/>
          </a:prstGeom>
          <a:solidFill>
            <a:srgbClr val="B47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4663440"/>
            <a:ext cx="11091672" cy="457200"/>
          </a:xfrm>
          <a:prstGeom prst="rect">
            <a:avLst/>
          </a:prstGeom>
          <a:noFill/>
        </p:spPr>
        <p:txBody>
          <a:bodyPr wrap="square" lIns="45720" rIns="45720" tIns="18288" bIns="18288" anchor="t">
            <a:spAutoFit/>
          </a:bodyPr>
          <a:lstStyle/>
          <a:p>
            <a:pPr algn="l"/>
            <a:r>
              <a:rPr sz="1600" b="0" i="1">
                <a:solidFill>
                  <a:srgbClr val="F0F0F0"/>
                </a:solidFill>
                <a:latin typeface="Calibri"/>
              </a:rPr>
              <a:t>{{THESIS_HEADLINE}}</a:t>
            </a:r>
          </a:p>
        </p:txBody>
      </p:sp>
      <p:sp>
        <p:nvSpPr>
          <p:cNvPr id="24" name="TextBox 23"/>
          <p:cNvSpPr txBox="1"/>
          <p:nvPr/>
        </p:nvSpPr>
        <p:spPr>
          <a:xfrm>
            <a:off x="548640" y="5120640"/>
            <a:ext cx="11091672" cy="274320"/>
          </a:xfrm>
          <a:prstGeom prst="rect">
            <a:avLst/>
          </a:prstGeom>
          <a:noFill/>
        </p:spPr>
        <p:txBody>
          <a:bodyPr wrap="square" lIns="45720" rIns="45720" tIns="18288" bIns="18288" anchor="t">
            <a:spAutoFit/>
          </a:bodyPr>
          <a:lstStyle/>
          <a:p>
            <a:pPr algn="l"/>
            <a:r>
              <a:rPr sz="1000" b="0" i="0">
                <a:solidFill>
                  <a:srgbClr val="707070"/>
                </a:solidFill>
                <a:latin typeface="Calibri"/>
              </a:rPr>
              <a:t>Luận điểm ủng hộ chiến lược MUA</a:t>
            </a:r>
          </a:p>
        </p:txBody>
      </p:sp>
      <p:sp>
        <p:nvSpPr>
          <p:cNvPr id="25" name="TextBox 24"/>
          <p:cNvSpPr txBox="1"/>
          <p:nvPr/>
        </p:nvSpPr>
        <p:spPr>
          <a:xfrm>
            <a:off x="548640" y="6080760"/>
            <a:ext cx="5486400" cy="274320"/>
          </a:xfrm>
          <a:prstGeom prst="rect">
            <a:avLst/>
          </a:prstGeom>
          <a:noFill/>
        </p:spPr>
        <p:txBody>
          <a:bodyPr wrap="square" lIns="45720" rIns="45720" tIns="18288" bIns="18288" anchor="t">
            <a:spAutoFit/>
          </a:bodyPr>
          <a:lstStyle/>
          <a:p>
            <a:pPr algn="l"/>
            <a:r>
              <a:rPr sz="1000" b="1" i="0">
                <a:solidFill>
                  <a:srgbClr val="B47EFF"/>
                </a:solidFill>
                <a:latin typeface="Calibri"/>
              </a:rPr>
              <a:t>FINEXT  •  Phòng Phân tích Đầu tư</a:t>
            </a:r>
          </a:p>
        </p:txBody>
      </p:sp>
      <p:sp>
        <p:nvSpPr>
          <p:cNvPr id="26" name="TextBox 25"/>
          <p:cNvSpPr txBox="1"/>
          <p:nvPr/>
        </p:nvSpPr>
        <p:spPr>
          <a:xfrm>
            <a:off x="548640" y="6355080"/>
            <a:ext cx="5486400" cy="228600"/>
          </a:xfrm>
          <a:prstGeom prst="rect">
            <a:avLst/>
          </a:prstGeom>
          <a:noFill/>
        </p:spPr>
        <p:txBody>
          <a:bodyPr wrap="square" lIns="45720" rIns="45720" tIns="18288" bIns="18288" anchor="t">
            <a:spAutoFit/>
          </a:bodyPr>
          <a:lstStyle/>
          <a:p>
            <a:pPr algn="l"/>
            <a:r>
              <a:rPr sz="900" b="0" i="0">
                <a:solidFill>
                  <a:srgbClr val="B8B8B8"/>
                </a:solidFill>
                <a:latin typeface="Calibri"/>
              </a:rPr>
              <a:t>www.finext.vn  •  hotline 1900 0000</a:t>
            </a:r>
          </a:p>
        </p:txBody>
      </p:sp>
      <p:sp>
        <p:nvSpPr>
          <p:cNvPr id="27" name="TextBox 26"/>
          <p:cNvSpPr txBox="1"/>
          <p:nvPr/>
        </p:nvSpPr>
        <p:spPr>
          <a:xfrm>
            <a:off x="8229600" y="6080760"/>
            <a:ext cx="3502152" cy="274320"/>
          </a:xfrm>
          <a:prstGeom prst="rect">
            <a:avLst/>
          </a:prstGeom>
          <a:noFill/>
        </p:spPr>
        <p:txBody>
          <a:bodyPr wrap="square" lIns="45720" rIns="45720" tIns="18288" bIns="18288" anchor="t">
            <a:spAutoFit/>
          </a:bodyPr>
          <a:lstStyle/>
          <a:p>
            <a:pPr algn="r"/>
            <a:r>
              <a:rPr sz="1000" b="0" i="0">
                <a:solidFill>
                  <a:srgbClr val="B8B8B8"/>
                </a:solidFill>
                <a:latin typeface="Calibri"/>
              </a:rPr>
              <a:t>{{PUBLISH_DATE}}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name="COVER_B_DEEPDIVE">
    <p:spTree>
      <p:nvGrpSpPr>
        <p:cNvPr id="1" name=""/>
        <p:cNvGrpSpPr/>
        <p:nvPr/>
      </p:nvGrpSpPr>
      <p:grpSpPr/>
      <p:sp>
        <p:nvSpPr>
          <p:cNvPr id="2" name="Rectangle 1"/>
          <p:cNvSpPr/>
          <p:nvPr/>
        </p:nvSpPr>
        <p:spPr>
          <a:xfrm>
            <a:off x="0" y="0"/>
            <a:ext cx="12188952" cy="6858000"/>
          </a:xfrm>
          <a:prstGeom prst="rect">
            <a:avLst/>
          </a:prstGeom>
          <a:solidFill>
            <a:srgbClr val="0A0A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2984" cy="914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062984" y="0"/>
            <a:ext cx="4062984" cy="9144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125968" y="0"/>
            <a:ext cx="4062984" cy="91440"/>
          </a:xfrm>
          <a:prstGeom prst="rect">
            <a:avLst/>
          </a:prstGeom>
          <a:solidFill>
            <a:srgbClr val="B47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365760"/>
            <a:ext cx="10972800" cy="365760"/>
          </a:xfrm>
          <a:prstGeom prst="rect">
            <a:avLst/>
          </a:prstGeom>
          <a:noFill/>
        </p:spPr>
        <p:txBody>
          <a:bodyPr wrap="square" lIns="45720" rIns="45720" tIns="18288" bIns="18288" anchor="t">
            <a:spAutoFit/>
          </a:bodyPr>
          <a:lstStyle/>
          <a:p>
            <a:pPr algn="l"/>
            <a:r>
              <a:rPr sz="1200" b="1" i="0">
                <a:solidFill>
                  <a:srgbClr val="B47EFF"/>
                </a:solidFill>
                <a:latin typeface="Calibri"/>
              </a:rPr>
              <a:t>PHÂN TÍCH CHUYÊN SÂU</a:t>
            </a:r>
          </a:p>
        </p:txBody>
      </p:sp>
      <p:sp>
        <p:nvSpPr>
          <p:cNvPr id="7" name="TextBox 6"/>
          <p:cNvSpPr txBox="1"/>
          <p:nvPr/>
        </p:nvSpPr>
        <p:spPr>
          <a:xfrm>
            <a:off x="548640" y="731520"/>
            <a:ext cx="10972800" cy="274320"/>
          </a:xfrm>
          <a:prstGeom prst="rect">
            <a:avLst/>
          </a:prstGeom>
          <a:noFill/>
        </p:spPr>
        <p:txBody>
          <a:bodyPr wrap="square" lIns="45720" rIns="45720" tIns="18288" bIns="18288" anchor="t">
            <a:spAutoFit/>
          </a:bodyPr>
          <a:lstStyle/>
          <a:p>
            <a:pPr algn="l"/>
            <a:r>
              <a:rPr sz="1000" b="0" i="1">
                <a:solidFill>
                  <a:srgbClr val="B8B8B8"/>
                </a:solidFill>
                <a:latin typeface="Calibri"/>
              </a:rPr>
              <a:t>{{REPORT_SUBTITLE}}</a:t>
            </a:r>
          </a:p>
        </p:txBody>
      </p:sp>
      <p:sp>
        <p:nvSpPr>
          <p:cNvPr id="8" name="TextBox 7"/>
          <p:cNvSpPr txBox="1"/>
          <p:nvPr/>
        </p:nvSpPr>
        <p:spPr>
          <a:xfrm>
            <a:off x="548640" y="1554480"/>
            <a:ext cx="10972800" cy="1371600"/>
          </a:xfrm>
          <a:prstGeom prst="rect">
            <a:avLst/>
          </a:prstGeom>
          <a:noFill/>
        </p:spPr>
        <p:txBody>
          <a:bodyPr wrap="square" lIns="45720" rIns="45720" tIns="18288" bIns="18288" anchor="t">
            <a:spAutoFit/>
          </a:bodyPr>
          <a:lstStyle/>
          <a:p>
            <a:pPr algn="ctr"/>
            <a:r>
              <a:rPr sz="8400" b="1" i="0">
                <a:solidFill>
                  <a:srgbClr val="FFFFFF"/>
                </a:solidFill>
                <a:latin typeface="Calibri"/>
              </a:rPr>
              <a:t>{{TICKER}}</a:t>
            </a:r>
          </a:p>
        </p:txBody>
      </p:sp>
      <p:sp>
        <p:nvSpPr>
          <p:cNvPr id="9" name="TextBox 8"/>
          <p:cNvSpPr txBox="1"/>
          <p:nvPr/>
        </p:nvSpPr>
        <p:spPr>
          <a:xfrm>
            <a:off x="548640" y="3017520"/>
            <a:ext cx="10972800" cy="411480"/>
          </a:xfrm>
          <a:prstGeom prst="rect">
            <a:avLst/>
          </a:prstGeom>
          <a:noFill/>
        </p:spPr>
        <p:txBody>
          <a:bodyPr wrap="square" lIns="45720" rIns="45720" tIns="18288" bIns="18288" anchor="t">
            <a:spAutoFit/>
          </a:bodyPr>
          <a:lstStyle/>
          <a:p>
            <a:pPr algn="ctr"/>
            <a:r>
              <a:rPr sz="2000" b="0" i="0">
                <a:solidFill>
                  <a:srgbClr val="F0F0F0"/>
                </a:solidFill>
                <a:latin typeface="Calibri"/>
              </a:rPr>
              <a:t>{{COMPANY_FULL_NAME}}</a:t>
            </a:r>
          </a:p>
        </p:txBody>
      </p:sp>
      <p:sp>
        <p:nvSpPr>
          <p:cNvPr id="10" name="TextBox 9"/>
          <p:cNvSpPr txBox="1"/>
          <p:nvPr/>
        </p:nvSpPr>
        <p:spPr>
          <a:xfrm>
            <a:off x="548640" y="3474720"/>
            <a:ext cx="10972800" cy="274320"/>
          </a:xfrm>
          <a:prstGeom prst="rect">
            <a:avLst/>
          </a:prstGeom>
          <a:noFill/>
        </p:spPr>
        <p:txBody>
          <a:bodyPr wrap="square" lIns="45720" rIns="45720" tIns="18288" bIns="18288" anchor="t">
            <a:spAutoFit/>
          </a:bodyPr>
          <a:lstStyle/>
          <a:p>
            <a:pPr algn="ctr"/>
            <a:r>
              <a:rPr sz="1100" b="0" i="1">
                <a:solidFill>
                  <a:srgbClr val="B47EFF"/>
                </a:solidFill>
                <a:latin typeface="Calibri"/>
              </a:rPr>
              <a:t>{{INDUSTRY_LABEL}}</a:t>
            </a:r>
          </a:p>
        </p:txBody>
      </p:sp>
      <p:sp>
        <p:nvSpPr>
          <p:cNvPr id="11" name="Rounded Rectangle 10"/>
          <p:cNvSpPr/>
          <p:nvPr/>
        </p:nvSpPr>
        <p:spPr>
          <a:xfrm>
            <a:off x="548640" y="4160520"/>
            <a:ext cx="2635758" cy="1417320"/>
          </a:xfrm>
          <a:prstGeom prst="roundRect">
            <a:avLst>
              <a:gd name="adj" fmla="val 6000"/>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94360" y="4270248"/>
            <a:ext cx="54864" cy="1197864"/>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297680"/>
            <a:ext cx="2361438" cy="228600"/>
          </a:xfrm>
          <a:prstGeom prst="rect">
            <a:avLst/>
          </a:prstGeom>
          <a:noFill/>
        </p:spPr>
        <p:txBody>
          <a:bodyPr wrap="square" lIns="45720" rIns="45720" tIns="18288" bIns="18288" anchor="t">
            <a:spAutoFit/>
          </a:bodyPr>
          <a:lstStyle/>
          <a:p>
            <a:pPr algn="l"/>
            <a:r>
              <a:rPr sz="900" b="0" i="0">
                <a:solidFill>
                  <a:srgbClr val="B8B8B8"/>
                </a:solidFill>
                <a:latin typeface="Calibri"/>
              </a:rPr>
              <a:t>Giá hiện tại</a:t>
            </a:r>
          </a:p>
        </p:txBody>
      </p:sp>
      <p:sp>
        <p:nvSpPr>
          <p:cNvPr id="14" name="TextBox 13"/>
          <p:cNvSpPr txBox="1"/>
          <p:nvPr/>
        </p:nvSpPr>
        <p:spPr>
          <a:xfrm>
            <a:off x="731520" y="4544568"/>
            <a:ext cx="2361438" cy="502920"/>
          </a:xfrm>
          <a:prstGeom prst="rect">
            <a:avLst/>
          </a:prstGeom>
          <a:noFill/>
        </p:spPr>
        <p:txBody>
          <a:bodyPr wrap="square" lIns="45720" rIns="45720" tIns="18288" bIns="18288" anchor="t">
            <a:spAutoFit/>
          </a:bodyPr>
          <a:lstStyle/>
          <a:p>
            <a:pPr algn="l"/>
            <a:r>
              <a:rPr sz="2200" b="1" i="0">
                <a:solidFill>
                  <a:srgbClr val="FFFFFF"/>
                </a:solidFill>
                <a:latin typeface="Calibri"/>
              </a:rPr>
              <a:t>{{PRICE_CURRENT}}</a:t>
            </a:r>
          </a:p>
        </p:txBody>
      </p:sp>
      <p:sp>
        <p:nvSpPr>
          <p:cNvPr id="15" name="TextBox 14"/>
          <p:cNvSpPr txBox="1"/>
          <p:nvPr/>
        </p:nvSpPr>
        <p:spPr>
          <a:xfrm>
            <a:off x="731520" y="5166359"/>
            <a:ext cx="2361438" cy="274320"/>
          </a:xfrm>
          <a:prstGeom prst="rect">
            <a:avLst/>
          </a:prstGeom>
          <a:noFill/>
        </p:spPr>
        <p:txBody>
          <a:bodyPr wrap="square" lIns="45720" rIns="45720" tIns="18288" bIns="18288" anchor="t">
            <a:spAutoFit/>
          </a:bodyPr>
          <a:lstStyle/>
          <a:p>
            <a:pPr algn="l"/>
            <a:r>
              <a:rPr sz="900" b="1" i="0">
                <a:solidFill>
                  <a:srgbClr val="B8B8B8"/>
                </a:solidFill>
                <a:latin typeface="Calibri"/>
              </a:rPr>
              <a:t>{{PRICE_DATE}}</a:t>
            </a:r>
          </a:p>
        </p:txBody>
      </p:sp>
      <p:sp>
        <p:nvSpPr>
          <p:cNvPr id="16" name="Rounded Rectangle 15"/>
          <p:cNvSpPr/>
          <p:nvPr/>
        </p:nvSpPr>
        <p:spPr>
          <a:xfrm>
            <a:off x="3367278" y="4160520"/>
            <a:ext cx="2635758" cy="1417320"/>
          </a:xfrm>
          <a:prstGeom prst="roundRect">
            <a:avLst>
              <a:gd name="adj" fmla="val 6000"/>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412998" y="4270248"/>
            <a:ext cx="54864" cy="1197864"/>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50158" y="4297680"/>
            <a:ext cx="2361438" cy="228600"/>
          </a:xfrm>
          <a:prstGeom prst="rect">
            <a:avLst/>
          </a:prstGeom>
          <a:noFill/>
        </p:spPr>
        <p:txBody>
          <a:bodyPr wrap="square" lIns="45720" rIns="45720" tIns="18288" bIns="18288" anchor="t">
            <a:spAutoFit/>
          </a:bodyPr>
          <a:lstStyle/>
          <a:p>
            <a:pPr algn="l"/>
            <a:r>
              <a:rPr sz="900" b="0" i="0">
                <a:solidFill>
                  <a:srgbClr val="B8B8B8"/>
                </a:solidFill>
                <a:latin typeface="Calibri"/>
              </a:rPr>
              <a:t>Giá kỳ vọng (Cơ sở)</a:t>
            </a:r>
          </a:p>
        </p:txBody>
      </p:sp>
      <p:sp>
        <p:nvSpPr>
          <p:cNvPr id="19" name="TextBox 18"/>
          <p:cNvSpPr txBox="1"/>
          <p:nvPr/>
        </p:nvSpPr>
        <p:spPr>
          <a:xfrm>
            <a:off x="3550158" y="4544568"/>
            <a:ext cx="2361438" cy="502920"/>
          </a:xfrm>
          <a:prstGeom prst="rect">
            <a:avLst/>
          </a:prstGeom>
          <a:noFill/>
        </p:spPr>
        <p:txBody>
          <a:bodyPr wrap="square" lIns="45720" rIns="45720" tIns="18288" bIns="18288" anchor="t">
            <a:spAutoFit/>
          </a:bodyPr>
          <a:lstStyle/>
          <a:p>
            <a:pPr algn="l"/>
            <a:r>
              <a:rPr sz="2200" b="1" i="0">
                <a:solidFill>
                  <a:srgbClr val="FFFFFF"/>
                </a:solidFill>
                <a:latin typeface="Calibri"/>
              </a:rPr>
              <a:t>{{TARGET_BASE}}</a:t>
            </a:r>
          </a:p>
        </p:txBody>
      </p:sp>
      <p:sp>
        <p:nvSpPr>
          <p:cNvPr id="20" name="TextBox 19"/>
          <p:cNvSpPr txBox="1"/>
          <p:nvPr/>
        </p:nvSpPr>
        <p:spPr>
          <a:xfrm>
            <a:off x="3550158" y="5166359"/>
            <a:ext cx="2361438" cy="274320"/>
          </a:xfrm>
          <a:prstGeom prst="rect">
            <a:avLst/>
          </a:prstGeom>
          <a:noFill/>
        </p:spPr>
        <p:txBody>
          <a:bodyPr wrap="square" lIns="45720" rIns="45720" tIns="18288" bIns="18288" anchor="t">
            <a:spAutoFit/>
          </a:bodyPr>
          <a:lstStyle/>
          <a:p>
            <a:pPr algn="l"/>
            <a:r>
              <a:rPr sz="900" b="1" i="0">
                <a:solidFill>
                  <a:srgbClr val="25B770"/>
                </a:solidFill>
                <a:latin typeface="Calibri"/>
              </a:rPr>
              <a:t>{{UPSIDE_BASE}}</a:t>
            </a:r>
          </a:p>
        </p:txBody>
      </p:sp>
      <p:sp>
        <p:nvSpPr>
          <p:cNvPr id="21" name="Rounded Rectangle 20"/>
          <p:cNvSpPr/>
          <p:nvPr/>
        </p:nvSpPr>
        <p:spPr>
          <a:xfrm>
            <a:off x="6185916" y="4160520"/>
            <a:ext cx="2635758" cy="1417320"/>
          </a:xfrm>
          <a:prstGeom prst="roundRect">
            <a:avLst>
              <a:gd name="adj" fmla="val 6000"/>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270248"/>
            <a:ext cx="54864" cy="1197864"/>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68796" y="4297680"/>
            <a:ext cx="2361438" cy="228600"/>
          </a:xfrm>
          <a:prstGeom prst="rect">
            <a:avLst/>
          </a:prstGeom>
          <a:noFill/>
        </p:spPr>
        <p:txBody>
          <a:bodyPr wrap="square" lIns="45720" rIns="45720" tIns="18288" bIns="18288" anchor="t">
            <a:spAutoFit/>
          </a:bodyPr>
          <a:lstStyle/>
          <a:p>
            <a:pPr algn="l"/>
            <a:r>
              <a:rPr sz="900" b="0" i="0">
                <a:solidFill>
                  <a:srgbClr val="B8B8B8"/>
                </a:solidFill>
                <a:latin typeface="Calibri"/>
              </a:rPr>
              <a:t>Mức cắt lỗ</a:t>
            </a:r>
          </a:p>
        </p:txBody>
      </p:sp>
      <p:sp>
        <p:nvSpPr>
          <p:cNvPr id="24" name="TextBox 23"/>
          <p:cNvSpPr txBox="1"/>
          <p:nvPr/>
        </p:nvSpPr>
        <p:spPr>
          <a:xfrm>
            <a:off x="6368796" y="4544568"/>
            <a:ext cx="2361438" cy="502920"/>
          </a:xfrm>
          <a:prstGeom prst="rect">
            <a:avLst/>
          </a:prstGeom>
          <a:noFill/>
        </p:spPr>
        <p:txBody>
          <a:bodyPr wrap="square" lIns="45720" rIns="45720" tIns="18288" bIns="18288" anchor="t">
            <a:spAutoFit/>
          </a:bodyPr>
          <a:lstStyle/>
          <a:p>
            <a:pPr algn="l"/>
            <a:r>
              <a:rPr sz="2200" b="1" i="0">
                <a:solidFill>
                  <a:srgbClr val="FFFFFF"/>
                </a:solidFill>
                <a:latin typeface="Calibri"/>
              </a:rPr>
              <a:t>{{STOPLOSS}}</a:t>
            </a:r>
          </a:p>
        </p:txBody>
      </p:sp>
      <p:sp>
        <p:nvSpPr>
          <p:cNvPr id="25" name="TextBox 24"/>
          <p:cNvSpPr txBox="1"/>
          <p:nvPr/>
        </p:nvSpPr>
        <p:spPr>
          <a:xfrm>
            <a:off x="6368796" y="5166359"/>
            <a:ext cx="2361438" cy="274320"/>
          </a:xfrm>
          <a:prstGeom prst="rect">
            <a:avLst/>
          </a:prstGeom>
          <a:noFill/>
        </p:spPr>
        <p:txBody>
          <a:bodyPr wrap="square" lIns="45720" rIns="45720" tIns="18288" bIns="18288" anchor="t">
            <a:spAutoFit/>
          </a:bodyPr>
          <a:lstStyle/>
          <a:p>
            <a:pPr algn="l"/>
            <a:r>
              <a:rPr sz="900" b="1" i="0">
                <a:solidFill>
                  <a:srgbClr val="E14040"/>
                </a:solidFill>
                <a:latin typeface="Calibri"/>
              </a:rPr>
              <a:t>{{DOWNSIDE_STOP}}</a:t>
            </a:r>
          </a:p>
        </p:txBody>
      </p:sp>
      <p:sp>
        <p:nvSpPr>
          <p:cNvPr id="26" name="Rounded Rectangle 25"/>
          <p:cNvSpPr/>
          <p:nvPr/>
        </p:nvSpPr>
        <p:spPr>
          <a:xfrm>
            <a:off x="9004554" y="4160520"/>
            <a:ext cx="2635758" cy="1417320"/>
          </a:xfrm>
          <a:prstGeom prst="roundRect">
            <a:avLst>
              <a:gd name="adj" fmla="val 6000"/>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050274" y="4270248"/>
            <a:ext cx="54864" cy="1197864"/>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87434" y="4297680"/>
            <a:ext cx="2361438" cy="228600"/>
          </a:xfrm>
          <a:prstGeom prst="rect">
            <a:avLst/>
          </a:prstGeom>
          <a:noFill/>
        </p:spPr>
        <p:txBody>
          <a:bodyPr wrap="square" lIns="45720" rIns="45720" tIns="18288" bIns="18288" anchor="t">
            <a:spAutoFit/>
          </a:bodyPr>
          <a:lstStyle/>
          <a:p>
            <a:pPr algn="l"/>
            <a:r>
              <a:rPr sz="900" b="0" i="0">
                <a:solidFill>
                  <a:srgbClr val="B8B8B8"/>
                </a:solidFill>
                <a:latin typeface="Calibri"/>
              </a:rPr>
              <a:t>Tỷ lệ lời-lỗ</a:t>
            </a:r>
          </a:p>
        </p:txBody>
      </p:sp>
      <p:sp>
        <p:nvSpPr>
          <p:cNvPr id="29" name="TextBox 28"/>
          <p:cNvSpPr txBox="1"/>
          <p:nvPr/>
        </p:nvSpPr>
        <p:spPr>
          <a:xfrm>
            <a:off x="9187434" y="4544568"/>
            <a:ext cx="2361438" cy="502920"/>
          </a:xfrm>
          <a:prstGeom prst="rect">
            <a:avLst/>
          </a:prstGeom>
          <a:noFill/>
        </p:spPr>
        <p:txBody>
          <a:bodyPr wrap="square" lIns="45720" rIns="45720" tIns="18288" bIns="18288" anchor="t">
            <a:spAutoFit/>
          </a:bodyPr>
          <a:lstStyle/>
          <a:p>
            <a:pPr algn="l"/>
            <a:r>
              <a:rPr sz="2200" b="1" i="0">
                <a:solidFill>
                  <a:srgbClr val="FFFFFF"/>
                </a:solidFill>
                <a:latin typeface="Calibri"/>
              </a:rPr>
              <a:t>{{RR_RATIO}}</a:t>
            </a:r>
          </a:p>
        </p:txBody>
      </p:sp>
      <p:sp>
        <p:nvSpPr>
          <p:cNvPr id="30" name="TextBox 29"/>
          <p:cNvSpPr txBox="1"/>
          <p:nvPr/>
        </p:nvSpPr>
        <p:spPr>
          <a:xfrm>
            <a:off x="9187434" y="5166359"/>
            <a:ext cx="2361438" cy="274320"/>
          </a:xfrm>
          <a:prstGeom prst="rect">
            <a:avLst/>
          </a:prstGeom>
          <a:noFill/>
        </p:spPr>
        <p:txBody>
          <a:bodyPr wrap="square" lIns="45720" rIns="45720" tIns="18288" bIns="18288" anchor="t">
            <a:spAutoFit/>
          </a:bodyPr>
          <a:lstStyle/>
          <a:p>
            <a:pPr algn="l"/>
            <a:r>
              <a:rPr sz="900" b="1" i="0">
                <a:solidFill>
                  <a:srgbClr val="B47EFF"/>
                </a:solidFill>
                <a:latin typeface="Calibri"/>
              </a:rPr>
              <a:t>{{RR_VERDICT}}</a:t>
            </a:r>
          </a:p>
        </p:txBody>
      </p:sp>
      <p:sp>
        <p:nvSpPr>
          <p:cNvPr id="31" name="TextBox 30"/>
          <p:cNvSpPr txBox="1"/>
          <p:nvPr/>
        </p:nvSpPr>
        <p:spPr>
          <a:xfrm>
            <a:off x="548640" y="6080760"/>
            <a:ext cx="7315200" cy="274320"/>
          </a:xfrm>
          <a:prstGeom prst="rect">
            <a:avLst/>
          </a:prstGeom>
          <a:noFill/>
        </p:spPr>
        <p:txBody>
          <a:bodyPr wrap="square" lIns="45720" rIns="45720" tIns="18288" bIns="18288" anchor="t">
            <a:spAutoFit/>
          </a:bodyPr>
          <a:lstStyle/>
          <a:p>
            <a:pPr algn="l"/>
            <a:r>
              <a:rPr sz="1000" b="0" i="1">
                <a:solidFill>
                  <a:srgbClr val="B47EFF"/>
                </a:solidFill>
                <a:latin typeface="Calibri"/>
              </a:rPr>
              <a:t>Finext • Phòng Phân tích Đầu tư</a:t>
            </a:r>
          </a:p>
        </p:txBody>
      </p:sp>
      <p:sp>
        <p:nvSpPr>
          <p:cNvPr id="32" name="TextBox 31"/>
          <p:cNvSpPr txBox="1"/>
          <p:nvPr/>
        </p:nvSpPr>
        <p:spPr>
          <a:xfrm>
            <a:off x="7772400" y="6080760"/>
            <a:ext cx="3840480" cy="274320"/>
          </a:xfrm>
          <a:prstGeom prst="rect">
            <a:avLst/>
          </a:prstGeom>
          <a:noFill/>
        </p:spPr>
        <p:txBody>
          <a:bodyPr wrap="square" lIns="45720" rIns="45720" tIns="18288" bIns="18288" anchor="t">
            <a:spAutoFit/>
          </a:bodyPr>
          <a:lstStyle/>
          <a:p>
            <a:pPr algn="r"/>
            <a:r>
              <a:rPr sz="1000" b="0" i="0">
                <a:solidFill>
                  <a:srgbClr val="B8B8B8"/>
                </a:solidFill>
                <a:latin typeface="Calibri"/>
              </a:rPr>
              <a:t>{{PUBLISH_DATE}}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name="COVER_C_WEEKLY_MARKET">
    <p:spTree>
      <p:nvGrpSpPr>
        <p:cNvPr id="1" name=""/>
        <p:cNvGrpSpPr/>
        <p:nvPr/>
      </p:nvGrpSpPr>
      <p:grpSpPr/>
      <p:sp>
        <p:nvSpPr>
          <p:cNvPr id="2" name="Rectangle 1"/>
          <p:cNvSpPr/>
          <p:nvPr/>
        </p:nvSpPr>
        <p:spPr>
          <a:xfrm>
            <a:off x="0" y="0"/>
            <a:ext cx="12188952" cy="6858000"/>
          </a:xfrm>
          <a:prstGeom prst="rect">
            <a:avLst/>
          </a:prstGeom>
          <a:solidFill>
            <a:srgbClr val="0A0A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3840480"/>
          </a:xfrm>
          <a:prstGeom prst="rect">
            <a:avLst/>
          </a:prstGeom>
          <a:solidFill>
            <a:srgbClr val="2A1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4062984" cy="914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062984" y="0"/>
            <a:ext cx="4062984" cy="9144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5968" y="0"/>
            <a:ext cx="4062984" cy="91440"/>
          </a:xfrm>
          <a:prstGeom prst="rect">
            <a:avLst/>
          </a:prstGeom>
          <a:solidFill>
            <a:srgbClr val="B47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457200"/>
            <a:ext cx="10972800" cy="365760"/>
          </a:xfrm>
          <a:prstGeom prst="rect">
            <a:avLst/>
          </a:prstGeom>
          <a:noFill/>
        </p:spPr>
        <p:txBody>
          <a:bodyPr wrap="square" lIns="45720" rIns="45720" tIns="18288" bIns="18288" anchor="t">
            <a:spAutoFit/>
          </a:bodyPr>
          <a:lstStyle/>
          <a:p>
            <a:pPr algn="l"/>
            <a:r>
              <a:rPr sz="1200" b="1" i="0">
                <a:solidFill>
                  <a:srgbClr val="B47EFF"/>
                </a:solidFill>
                <a:latin typeface="Calibri"/>
              </a:rPr>
              <a:t>BÁO CÁO THỊ TRƯỜNG TUẦN</a:t>
            </a:r>
          </a:p>
        </p:txBody>
      </p:sp>
      <p:sp>
        <p:nvSpPr>
          <p:cNvPr id="8" name="TextBox 7"/>
          <p:cNvSpPr txBox="1"/>
          <p:nvPr/>
        </p:nvSpPr>
        <p:spPr>
          <a:xfrm>
            <a:off x="548640" y="914400"/>
            <a:ext cx="10972800" cy="1188720"/>
          </a:xfrm>
          <a:prstGeom prst="rect">
            <a:avLst/>
          </a:prstGeom>
          <a:noFill/>
        </p:spPr>
        <p:txBody>
          <a:bodyPr wrap="square" lIns="45720" rIns="45720" tIns="18288" bIns="18288" anchor="t">
            <a:spAutoFit/>
          </a:bodyPr>
          <a:lstStyle/>
          <a:p>
            <a:pPr algn="l"/>
            <a:r>
              <a:rPr sz="5400" b="1" i="0">
                <a:solidFill>
                  <a:srgbClr val="FFFFFF"/>
                </a:solidFill>
                <a:latin typeface="Calibri"/>
              </a:rPr>
              <a:t>{{WEEK_LABEL}}</a:t>
            </a:r>
          </a:p>
        </p:txBody>
      </p:sp>
      <p:sp>
        <p:nvSpPr>
          <p:cNvPr id="9" name="TextBox 8"/>
          <p:cNvSpPr txBox="1"/>
          <p:nvPr/>
        </p:nvSpPr>
        <p:spPr>
          <a:xfrm>
            <a:off x="548640" y="2286000"/>
            <a:ext cx="10972800" cy="457200"/>
          </a:xfrm>
          <a:prstGeom prst="rect">
            <a:avLst/>
          </a:prstGeom>
          <a:noFill/>
        </p:spPr>
        <p:txBody>
          <a:bodyPr wrap="square" lIns="45720" rIns="45720" tIns="18288" bIns="18288" anchor="t">
            <a:spAutoFit/>
          </a:bodyPr>
          <a:lstStyle/>
          <a:p>
            <a:pPr algn="l"/>
            <a:r>
              <a:rPr sz="1800" b="0" i="1">
                <a:solidFill>
                  <a:srgbClr val="F0F0F0"/>
                </a:solidFill>
                <a:latin typeface="Calibri"/>
              </a:rPr>
              <a:t>{{HEADLINE_LINE}}</a:t>
            </a:r>
          </a:p>
        </p:txBody>
      </p:sp>
      <p:sp>
        <p:nvSpPr>
          <p:cNvPr id="10" name="Rounded Rectangle 9"/>
          <p:cNvSpPr/>
          <p:nvPr/>
        </p:nvSpPr>
        <p:spPr>
          <a:xfrm>
            <a:off x="548640" y="3017520"/>
            <a:ext cx="4114800" cy="594360"/>
          </a:xfrm>
          <a:prstGeom prst="roundRect">
            <a:avLst>
              <a:gd name="adj" fmla="val 5000"/>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017520"/>
            <a:ext cx="4114800" cy="594360"/>
          </a:xfrm>
          <a:prstGeom prst="rect">
            <a:avLst/>
          </a:prstGeom>
          <a:noFill/>
        </p:spPr>
        <p:txBody>
          <a:bodyPr wrap="square" lIns="45720" rIns="45720" tIns="18288" bIns="18288" anchor="ctr">
            <a:spAutoFit/>
          </a:bodyPr>
          <a:lstStyle/>
          <a:p>
            <a:pPr algn="ctr"/>
            <a:r>
              <a:rPr sz="1500" b="1" i="0">
                <a:solidFill>
                  <a:srgbClr val="FFFFFF"/>
                </a:solidFill>
                <a:latin typeface="Calibri"/>
              </a:rPr>
              <a:t>{{REGIME_BADGE}}</a:t>
            </a:r>
          </a:p>
        </p:txBody>
      </p:sp>
      <p:sp>
        <p:nvSpPr>
          <p:cNvPr id="12" name="Rounded Rectangle 11"/>
          <p:cNvSpPr/>
          <p:nvPr/>
        </p:nvSpPr>
        <p:spPr>
          <a:xfrm>
            <a:off x="548640" y="4160520"/>
            <a:ext cx="3514344" cy="1417320"/>
          </a:xfrm>
          <a:prstGeom prst="roundRect">
            <a:avLst>
              <a:gd name="adj" fmla="val 6000"/>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4270248"/>
            <a:ext cx="54864" cy="1197864"/>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297680"/>
            <a:ext cx="3240024" cy="228600"/>
          </a:xfrm>
          <a:prstGeom prst="rect">
            <a:avLst/>
          </a:prstGeom>
          <a:noFill/>
        </p:spPr>
        <p:txBody>
          <a:bodyPr wrap="square" lIns="45720" rIns="45720" tIns="18288" bIns="18288" anchor="t">
            <a:spAutoFit/>
          </a:bodyPr>
          <a:lstStyle/>
          <a:p>
            <a:pPr algn="l"/>
            <a:r>
              <a:rPr sz="900" b="0" i="0">
                <a:solidFill>
                  <a:srgbClr val="B8B8B8"/>
                </a:solidFill>
                <a:latin typeface="Calibri"/>
              </a:rPr>
              <a:t>VN-INDEX cuối tuần</a:t>
            </a:r>
          </a:p>
        </p:txBody>
      </p:sp>
      <p:sp>
        <p:nvSpPr>
          <p:cNvPr id="15" name="TextBox 14"/>
          <p:cNvSpPr txBox="1"/>
          <p:nvPr/>
        </p:nvSpPr>
        <p:spPr>
          <a:xfrm>
            <a:off x="731520" y="4572000"/>
            <a:ext cx="3240024" cy="502920"/>
          </a:xfrm>
          <a:prstGeom prst="rect">
            <a:avLst/>
          </a:prstGeom>
          <a:noFill/>
        </p:spPr>
        <p:txBody>
          <a:bodyPr wrap="square" lIns="45720" rIns="45720" tIns="18288" bIns="18288" anchor="t">
            <a:spAutoFit/>
          </a:bodyPr>
          <a:lstStyle/>
          <a:p>
            <a:pPr algn="l"/>
            <a:r>
              <a:rPr sz="2200" b="1" i="0">
                <a:solidFill>
                  <a:srgbClr val="FFFFFF"/>
                </a:solidFill>
                <a:latin typeface="Calibri"/>
              </a:rPr>
              <a:t>{{VNINDEX_CLOSE}}</a:t>
            </a:r>
          </a:p>
        </p:txBody>
      </p:sp>
      <p:sp>
        <p:nvSpPr>
          <p:cNvPr id="16" name="TextBox 15"/>
          <p:cNvSpPr txBox="1"/>
          <p:nvPr/>
        </p:nvSpPr>
        <p:spPr>
          <a:xfrm>
            <a:off x="731520" y="5212079"/>
            <a:ext cx="3240024" cy="274320"/>
          </a:xfrm>
          <a:prstGeom prst="rect">
            <a:avLst/>
          </a:prstGeom>
          <a:noFill/>
        </p:spPr>
        <p:txBody>
          <a:bodyPr wrap="square" lIns="45720" rIns="45720" tIns="18288" bIns="18288" anchor="t">
            <a:spAutoFit/>
          </a:bodyPr>
          <a:lstStyle/>
          <a:p>
            <a:pPr algn="l"/>
            <a:r>
              <a:rPr sz="900" b="1" i="0">
                <a:solidFill>
                  <a:srgbClr val="25B770"/>
                </a:solidFill>
                <a:latin typeface="Calibri"/>
              </a:rPr>
              <a:t>{{VNINDEX_CHANGE}}</a:t>
            </a:r>
          </a:p>
        </p:txBody>
      </p:sp>
      <p:sp>
        <p:nvSpPr>
          <p:cNvPr id="17" name="Rounded Rectangle 16"/>
          <p:cNvSpPr/>
          <p:nvPr/>
        </p:nvSpPr>
        <p:spPr>
          <a:xfrm>
            <a:off x="4337304" y="4160520"/>
            <a:ext cx="3514344" cy="1417320"/>
          </a:xfrm>
          <a:prstGeom prst="roundRect">
            <a:avLst>
              <a:gd name="adj" fmla="val 6000"/>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83024" y="4270248"/>
            <a:ext cx="54864" cy="1197864"/>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20184" y="4297680"/>
            <a:ext cx="3240024" cy="228600"/>
          </a:xfrm>
          <a:prstGeom prst="rect">
            <a:avLst/>
          </a:prstGeom>
          <a:noFill/>
        </p:spPr>
        <p:txBody>
          <a:bodyPr wrap="square" lIns="45720" rIns="45720" tIns="18288" bIns="18288" anchor="t">
            <a:spAutoFit/>
          </a:bodyPr>
          <a:lstStyle/>
          <a:p>
            <a:pPr algn="l"/>
            <a:r>
              <a:rPr sz="900" b="0" i="0">
                <a:solidFill>
                  <a:srgbClr val="B8B8B8"/>
                </a:solidFill>
                <a:latin typeface="Calibri"/>
              </a:rPr>
              <a:t>Thanh khoản trung bình</a:t>
            </a:r>
          </a:p>
        </p:txBody>
      </p:sp>
      <p:sp>
        <p:nvSpPr>
          <p:cNvPr id="20" name="TextBox 19"/>
          <p:cNvSpPr txBox="1"/>
          <p:nvPr/>
        </p:nvSpPr>
        <p:spPr>
          <a:xfrm>
            <a:off x="4520184" y="4572000"/>
            <a:ext cx="3240024" cy="502920"/>
          </a:xfrm>
          <a:prstGeom prst="rect">
            <a:avLst/>
          </a:prstGeom>
          <a:noFill/>
        </p:spPr>
        <p:txBody>
          <a:bodyPr wrap="square" lIns="45720" rIns="45720" tIns="18288" bIns="18288" anchor="t">
            <a:spAutoFit/>
          </a:bodyPr>
          <a:lstStyle/>
          <a:p>
            <a:pPr algn="l"/>
            <a:r>
              <a:rPr sz="2200" b="1" i="0">
                <a:solidFill>
                  <a:srgbClr val="FFFFFF"/>
                </a:solidFill>
                <a:latin typeface="Calibri"/>
              </a:rPr>
              <a:t>{{LIQUIDITY_AVG}}</a:t>
            </a:r>
          </a:p>
        </p:txBody>
      </p:sp>
      <p:sp>
        <p:nvSpPr>
          <p:cNvPr id="21" name="TextBox 20"/>
          <p:cNvSpPr txBox="1"/>
          <p:nvPr/>
        </p:nvSpPr>
        <p:spPr>
          <a:xfrm>
            <a:off x="4520184" y="5212079"/>
            <a:ext cx="3240024" cy="274320"/>
          </a:xfrm>
          <a:prstGeom prst="rect">
            <a:avLst/>
          </a:prstGeom>
          <a:noFill/>
        </p:spPr>
        <p:txBody>
          <a:bodyPr wrap="square" lIns="45720" rIns="45720" tIns="18288" bIns="18288" anchor="t">
            <a:spAutoFit/>
          </a:bodyPr>
          <a:lstStyle/>
          <a:p>
            <a:pPr algn="l"/>
            <a:r>
              <a:rPr sz="900" b="1" i="0">
                <a:solidFill>
                  <a:srgbClr val="25B770"/>
                </a:solidFill>
                <a:latin typeface="Calibri"/>
              </a:rPr>
              <a:t>{{LIQUIDITY_NOTE}}</a:t>
            </a:r>
          </a:p>
        </p:txBody>
      </p:sp>
      <p:sp>
        <p:nvSpPr>
          <p:cNvPr id="22" name="Rounded Rectangle 21"/>
          <p:cNvSpPr/>
          <p:nvPr/>
        </p:nvSpPr>
        <p:spPr>
          <a:xfrm>
            <a:off x="8125968" y="4160520"/>
            <a:ext cx="3514344" cy="1417320"/>
          </a:xfrm>
          <a:prstGeom prst="roundRect">
            <a:avLst>
              <a:gd name="adj" fmla="val 6000"/>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171688" y="4270248"/>
            <a:ext cx="54864" cy="1197864"/>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08847" y="4297680"/>
            <a:ext cx="3240024" cy="228600"/>
          </a:xfrm>
          <a:prstGeom prst="rect">
            <a:avLst/>
          </a:prstGeom>
          <a:noFill/>
        </p:spPr>
        <p:txBody>
          <a:bodyPr wrap="square" lIns="45720" rIns="45720" tIns="18288" bIns="18288" anchor="t">
            <a:spAutoFit/>
          </a:bodyPr>
          <a:lstStyle/>
          <a:p>
            <a:pPr algn="l"/>
            <a:r>
              <a:rPr sz="900" b="0" i="0">
                <a:solidFill>
                  <a:srgbClr val="B8B8B8"/>
                </a:solidFill>
                <a:latin typeface="Calibri"/>
              </a:rPr>
              <a:t>Khối ngoại tuần</a:t>
            </a:r>
          </a:p>
        </p:txBody>
      </p:sp>
      <p:sp>
        <p:nvSpPr>
          <p:cNvPr id="25" name="TextBox 24"/>
          <p:cNvSpPr txBox="1"/>
          <p:nvPr/>
        </p:nvSpPr>
        <p:spPr>
          <a:xfrm>
            <a:off x="8308847" y="4572000"/>
            <a:ext cx="3240024" cy="502920"/>
          </a:xfrm>
          <a:prstGeom prst="rect">
            <a:avLst/>
          </a:prstGeom>
          <a:noFill/>
        </p:spPr>
        <p:txBody>
          <a:bodyPr wrap="square" lIns="45720" rIns="45720" tIns="18288" bIns="18288" anchor="t">
            <a:spAutoFit/>
          </a:bodyPr>
          <a:lstStyle/>
          <a:p>
            <a:pPr algn="l"/>
            <a:r>
              <a:rPr sz="2200" b="1" i="0">
                <a:solidFill>
                  <a:srgbClr val="FFFFFF"/>
                </a:solidFill>
                <a:latin typeface="Calibri"/>
              </a:rPr>
              <a:t>{{FOREIGN_NET}}</a:t>
            </a:r>
          </a:p>
        </p:txBody>
      </p:sp>
      <p:sp>
        <p:nvSpPr>
          <p:cNvPr id="26" name="TextBox 25"/>
          <p:cNvSpPr txBox="1"/>
          <p:nvPr/>
        </p:nvSpPr>
        <p:spPr>
          <a:xfrm>
            <a:off x="8308847" y="5212079"/>
            <a:ext cx="3240024" cy="274320"/>
          </a:xfrm>
          <a:prstGeom prst="rect">
            <a:avLst/>
          </a:prstGeom>
          <a:noFill/>
        </p:spPr>
        <p:txBody>
          <a:bodyPr wrap="square" lIns="45720" rIns="45720" tIns="18288" bIns="18288" anchor="t">
            <a:spAutoFit/>
          </a:bodyPr>
          <a:lstStyle/>
          <a:p>
            <a:pPr algn="l"/>
            <a:r>
              <a:rPr sz="900" b="1" i="0">
                <a:solidFill>
                  <a:srgbClr val="25B770"/>
                </a:solidFill>
                <a:latin typeface="Calibri"/>
              </a:rPr>
              <a:t>{{FOREIGN_NOTE}}</a:t>
            </a:r>
          </a:p>
        </p:txBody>
      </p:sp>
      <p:sp>
        <p:nvSpPr>
          <p:cNvPr id="27" name="TextBox 26"/>
          <p:cNvSpPr txBox="1"/>
          <p:nvPr/>
        </p:nvSpPr>
        <p:spPr>
          <a:xfrm>
            <a:off x="548640" y="6080760"/>
            <a:ext cx="7315200" cy="274320"/>
          </a:xfrm>
          <a:prstGeom prst="rect">
            <a:avLst/>
          </a:prstGeom>
          <a:noFill/>
        </p:spPr>
        <p:txBody>
          <a:bodyPr wrap="square" lIns="45720" rIns="45720" tIns="18288" bIns="18288" anchor="t">
            <a:spAutoFit/>
          </a:bodyPr>
          <a:lstStyle/>
          <a:p>
            <a:pPr algn="l"/>
            <a:r>
              <a:rPr sz="1000" b="0" i="0">
                <a:solidFill>
                  <a:srgbClr val="B47EFF"/>
                </a:solidFill>
                <a:latin typeface="Calibri"/>
              </a:rPr>
              <a:t>Finext • Phòng Phân tích Đầu tư</a:t>
            </a:r>
          </a:p>
        </p:txBody>
      </p:sp>
      <p:sp>
        <p:nvSpPr>
          <p:cNvPr id="28" name="TextBox 27"/>
          <p:cNvSpPr txBox="1"/>
          <p:nvPr/>
        </p:nvSpPr>
        <p:spPr>
          <a:xfrm>
            <a:off x="7863840" y="6080760"/>
            <a:ext cx="3840480" cy="274320"/>
          </a:xfrm>
          <a:prstGeom prst="rect">
            <a:avLst/>
          </a:prstGeom>
          <a:noFill/>
        </p:spPr>
        <p:txBody>
          <a:bodyPr wrap="square" lIns="45720" rIns="45720" tIns="18288" bIns="18288" anchor="t">
            <a:spAutoFit/>
          </a:bodyPr>
          <a:lstStyle/>
          <a:p>
            <a:pPr algn="r"/>
            <a:r>
              <a:rPr sz="1000" b="0" i="0">
                <a:solidFill>
                  <a:srgbClr val="B8B8B8"/>
                </a:solidFill>
                <a:latin typeface="Calibri"/>
              </a:rPr>
              <a:t>Phát hành: {{PUBLISH_DATE}}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name="COVER_D_MACRO_SECTOR">
    <p:spTree>
      <p:nvGrpSpPr>
        <p:cNvPr id="1" name=""/>
        <p:cNvGrpSpPr/>
        <p:nvPr/>
      </p:nvGrpSpPr>
      <p:grpSpPr/>
      <p:sp>
        <p:nvSpPr>
          <p:cNvPr id="2" name="Rectangle 1"/>
          <p:cNvSpPr/>
          <p:nvPr/>
        </p:nvSpPr>
        <p:spPr>
          <a:xfrm>
            <a:off x="0" y="0"/>
            <a:ext cx="12188952" cy="6858000"/>
          </a:xfrm>
          <a:prstGeom prst="rect">
            <a:avLst/>
          </a:prstGeom>
          <a:solidFill>
            <a:srgbClr val="0A0A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57200" cy="68580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3429000"/>
            <a:ext cx="457200" cy="3429000"/>
          </a:xfrm>
          <a:prstGeom prst="rect">
            <a:avLst/>
          </a:prstGeom>
          <a:solidFill>
            <a:srgbClr val="B47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731520"/>
            <a:ext cx="10972800" cy="365760"/>
          </a:xfrm>
          <a:prstGeom prst="rect">
            <a:avLst/>
          </a:prstGeom>
          <a:noFill/>
        </p:spPr>
        <p:txBody>
          <a:bodyPr wrap="square" lIns="45720" rIns="45720" tIns="18288" bIns="18288" anchor="t">
            <a:spAutoFit/>
          </a:bodyPr>
          <a:lstStyle/>
          <a:p>
            <a:pPr algn="l"/>
            <a:r>
              <a:rPr sz="1200" b="1" i="0">
                <a:solidFill>
                  <a:srgbClr val="B47EFF"/>
                </a:solidFill>
                <a:latin typeface="Calibri"/>
              </a:rPr>
              <a:t>{{THEME_TAG}}</a:t>
            </a:r>
          </a:p>
        </p:txBody>
      </p:sp>
      <p:sp>
        <p:nvSpPr>
          <p:cNvPr id="6" name="TextBox 5"/>
          <p:cNvSpPr txBox="1"/>
          <p:nvPr/>
        </p:nvSpPr>
        <p:spPr>
          <a:xfrm>
            <a:off x="822960" y="1188720"/>
            <a:ext cx="10972800" cy="1371600"/>
          </a:xfrm>
          <a:prstGeom prst="rect">
            <a:avLst/>
          </a:prstGeom>
          <a:noFill/>
        </p:spPr>
        <p:txBody>
          <a:bodyPr wrap="square" lIns="45720" rIns="45720" tIns="18288" bIns="18288" anchor="t">
            <a:spAutoFit/>
          </a:bodyPr>
          <a:lstStyle/>
          <a:p>
            <a:pPr algn="l"/>
            <a:r>
              <a:rPr sz="4000" b="1" i="0">
                <a:solidFill>
                  <a:srgbClr val="FFFFFF"/>
                </a:solidFill>
                <a:latin typeface="Calibri"/>
              </a:rPr>
              <a:t>{{REPORT_TITLE}}</a:t>
            </a:r>
          </a:p>
        </p:txBody>
      </p:sp>
      <p:sp>
        <p:nvSpPr>
          <p:cNvPr id="7" name="TextBox 6"/>
          <p:cNvSpPr txBox="1"/>
          <p:nvPr/>
        </p:nvSpPr>
        <p:spPr>
          <a:xfrm>
            <a:off x="822960" y="2697480"/>
            <a:ext cx="10972800" cy="457200"/>
          </a:xfrm>
          <a:prstGeom prst="rect">
            <a:avLst/>
          </a:prstGeom>
          <a:noFill/>
        </p:spPr>
        <p:txBody>
          <a:bodyPr wrap="square" lIns="45720" rIns="45720" tIns="18288" bIns="18288" anchor="t">
            <a:spAutoFit/>
          </a:bodyPr>
          <a:lstStyle/>
          <a:p>
            <a:pPr algn="l"/>
            <a:r>
              <a:rPr sz="1600" b="0" i="1">
                <a:solidFill>
                  <a:srgbClr val="F0F0F0"/>
                </a:solidFill>
                <a:latin typeface="Calibri"/>
              </a:rPr>
              <a:t>{{REPORT_SUBTITLE}}</a:t>
            </a:r>
          </a:p>
        </p:txBody>
      </p:sp>
      <p:sp>
        <p:nvSpPr>
          <p:cNvPr id="8" name="Rectangle 7"/>
          <p:cNvSpPr/>
          <p:nvPr/>
        </p:nvSpPr>
        <p:spPr>
          <a:xfrm>
            <a:off x="822960" y="3383280"/>
            <a:ext cx="1219200" cy="3657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042160" y="3383280"/>
            <a:ext cx="121920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261360" y="3383280"/>
            <a:ext cx="1219200" cy="36576"/>
          </a:xfrm>
          <a:prstGeom prst="rect">
            <a:avLst/>
          </a:prstGeom>
          <a:solidFill>
            <a:srgbClr val="B47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3520440"/>
            <a:ext cx="10972800" cy="274320"/>
          </a:xfrm>
          <a:prstGeom prst="rect">
            <a:avLst/>
          </a:prstGeom>
          <a:noFill/>
        </p:spPr>
        <p:txBody>
          <a:bodyPr wrap="square" lIns="45720" rIns="45720" tIns="18288" bIns="18288" anchor="t">
            <a:spAutoFit/>
          </a:bodyPr>
          <a:lstStyle/>
          <a:p>
            <a:pPr algn="l"/>
            <a:r>
              <a:rPr sz="1000" b="1" i="0">
                <a:solidFill>
                  <a:srgbClr val="B47EFF"/>
                </a:solidFill>
                <a:latin typeface="Calibri"/>
              </a:rPr>
              <a:t>3 ĐIỂM CỐT LÕI</a:t>
            </a:r>
          </a:p>
        </p:txBody>
      </p:sp>
      <p:sp>
        <p:nvSpPr>
          <p:cNvPr id="12" name="Oval 11"/>
          <p:cNvSpPr/>
          <p:nvPr/>
        </p:nvSpPr>
        <p:spPr>
          <a:xfrm>
            <a:off x="822960" y="3977639"/>
            <a:ext cx="411480" cy="411480"/>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977639"/>
            <a:ext cx="411480" cy="411480"/>
          </a:xfrm>
          <a:prstGeom prst="rect">
            <a:avLst/>
          </a:prstGeom>
          <a:noFill/>
        </p:spPr>
        <p:txBody>
          <a:bodyPr wrap="square" lIns="45720" rIns="45720" tIns="18288" bIns="18288" anchor="ctr">
            <a:spAutoFit/>
          </a:bodyPr>
          <a:lstStyle/>
          <a:p>
            <a:pPr algn="ctr"/>
            <a:r>
              <a:rPr sz="1200" b="1" i="0">
                <a:solidFill>
                  <a:srgbClr val="FFFFFF"/>
                </a:solidFill>
                <a:latin typeface="Calibri"/>
              </a:rPr>
              <a:t>01</a:t>
            </a:r>
          </a:p>
        </p:txBody>
      </p:sp>
      <p:sp>
        <p:nvSpPr>
          <p:cNvPr id="14" name="TextBox 13"/>
          <p:cNvSpPr txBox="1"/>
          <p:nvPr/>
        </p:nvSpPr>
        <p:spPr>
          <a:xfrm>
            <a:off x="1417320" y="3931920"/>
            <a:ext cx="10058400" cy="548640"/>
          </a:xfrm>
          <a:prstGeom prst="rect">
            <a:avLst/>
          </a:prstGeom>
          <a:noFill/>
        </p:spPr>
        <p:txBody>
          <a:bodyPr wrap="square" lIns="45720" rIns="45720" tIns="18288" bIns="18288" anchor="t">
            <a:spAutoFit/>
          </a:bodyPr>
          <a:lstStyle/>
          <a:p>
            <a:pPr algn="l"/>
            <a:r>
              <a:rPr sz="1100" b="0" i="0">
                <a:solidFill>
                  <a:srgbClr val="F0F0F0"/>
                </a:solidFill>
                <a:latin typeface="Calibri"/>
              </a:rPr>
              <a:t>{{TAKEAWAY_1}}</a:t>
            </a:r>
          </a:p>
        </p:txBody>
      </p:sp>
      <p:sp>
        <p:nvSpPr>
          <p:cNvPr id="15" name="Oval 14"/>
          <p:cNvSpPr/>
          <p:nvPr/>
        </p:nvSpPr>
        <p:spPr>
          <a:xfrm>
            <a:off x="822960" y="4617720"/>
            <a:ext cx="411480" cy="411480"/>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4617720"/>
            <a:ext cx="411480" cy="411480"/>
          </a:xfrm>
          <a:prstGeom prst="rect">
            <a:avLst/>
          </a:prstGeom>
          <a:noFill/>
        </p:spPr>
        <p:txBody>
          <a:bodyPr wrap="square" lIns="45720" rIns="45720" tIns="18288" bIns="18288" anchor="ctr">
            <a:spAutoFit/>
          </a:bodyPr>
          <a:lstStyle/>
          <a:p>
            <a:pPr algn="ctr"/>
            <a:r>
              <a:rPr sz="1200" b="1" i="0">
                <a:solidFill>
                  <a:srgbClr val="FFFFFF"/>
                </a:solidFill>
                <a:latin typeface="Calibri"/>
              </a:rPr>
              <a:t>02</a:t>
            </a:r>
          </a:p>
        </p:txBody>
      </p:sp>
      <p:sp>
        <p:nvSpPr>
          <p:cNvPr id="17" name="TextBox 16"/>
          <p:cNvSpPr txBox="1"/>
          <p:nvPr/>
        </p:nvSpPr>
        <p:spPr>
          <a:xfrm>
            <a:off x="1417320" y="4572000"/>
            <a:ext cx="10058400" cy="548640"/>
          </a:xfrm>
          <a:prstGeom prst="rect">
            <a:avLst/>
          </a:prstGeom>
          <a:noFill/>
        </p:spPr>
        <p:txBody>
          <a:bodyPr wrap="square" lIns="45720" rIns="45720" tIns="18288" bIns="18288" anchor="t">
            <a:spAutoFit/>
          </a:bodyPr>
          <a:lstStyle/>
          <a:p>
            <a:pPr algn="l"/>
            <a:r>
              <a:rPr sz="1100" b="0" i="0">
                <a:solidFill>
                  <a:srgbClr val="F0F0F0"/>
                </a:solidFill>
                <a:latin typeface="Calibri"/>
              </a:rPr>
              <a:t>{{TAKEAWAY_2}}</a:t>
            </a:r>
          </a:p>
        </p:txBody>
      </p:sp>
      <p:sp>
        <p:nvSpPr>
          <p:cNvPr id="18" name="Oval 17"/>
          <p:cNvSpPr/>
          <p:nvPr/>
        </p:nvSpPr>
        <p:spPr>
          <a:xfrm>
            <a:off x="822960" y="5257800"/>
            <a:ext cx="411480" cy="411480"/>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5257800"/>
            <a:ext cx="411480" cy="411480"/>
          </a:xfrm>
          <a:prstGeom prst="rect">
            <a:avLst/>
          </a:prstGeom>
          <a:noFill/>
        </p:spPr>
        <p:txBody>
          <a:bodyPr wrap="square" lIns="45720" rIns="45720" tIns="18288" bIns="18288" anchor="ctr">
            <a:spAutoFit/>
          </a:bodyPr>
          <a:lstStyle/>
          <a:p>
            <a:pPr algn="ctr"/>
            <a:r>
              <a:rPr sz="1200" b="1" i="0">
                <a:solidFill>
                  <a:srgbClr val="FFFFFF"/>
                </a:solidFill>
                <a:latin typeface="Calibri"/>
              </a:rPr>
              <a:t>03</a:t>
            </a:r>
          </a:p>
        </p:txBody>
      </p:sp>
      <p:sp>
        <p:nvSpPr>
          <p:cNvPr id="20" name="TextBox 19"/>
          <p:cNvSpPr txBox="1"/>
          <p:nvPr/>
        </p:nvSpPr>
        <p:spPr>
          <a:xfrm>
            <a:off x="1417320" y="5212080"/>
            <a:ext cx="10058400" cy="548640"/>
          </a:xfrm>
          <a:prstGeom prst="rect">
            <a:avLst/>
          </a:prstGeom>
          <a:noFill/>
        </p:spPr>
        <p:txBody>
          <a:bodyPr wrap="square" lIns="45720" rIns="45720" tIns="18288" bIns="18288" anchor="t">
            <a:spAutoFit/>
          </a:bodyPr>
          <a:lstStyle/>
          <a:p>
            <a:pPr algn="l"/>
            <a:r>
              <a:rPr sz="1100" b="0" i="0">
                <a:solidFill>
                  <a:srgbClr val="F0F0F0"/>
                </a:solidFill>
                <a:latin typeface="Calibri"/>
              </a:rPr>
              <a:t>{{TAKEAWAY_3}}</a:t>
            </a:r>
          </a:p>
        </p:txBody>
      </p:sp>
      <p:sp>
        <p:nvSpPr>
          <p:cNvPr id="21" name="TextBox 20"/>
          <p:cNvSpPr txBox="1"/>
          <p:nvPr/>
        </p:nvSpPr>
        <p:spPr>
          <a:xfrm>
            <a:off x="822960" y="6080760"/>
            <a:ext cx="7315200" cy="274320"/>
          </a:xfrm>
          <a:prstGeom prst="rect">
            <a:avLst/>
          </a:prstGeom>
          <a:noFill/>
        </p:spPr>
        <p:txBody>
          <a:bodyPr wrap="square" lIns="45720" rIns="45720" tIns="18288" bIns="18288" anchor="t">
            <a:spAutoFit/>
          </a:bodyPr>
          <a:lstStyle/>
          <a:p>
            <a:pPr algn="l"/>
            <a:r>
              <a:rPr sz="1000" b="0" i="1">
                <a:solidFill>
                  <a:srgbClr val="B47EFF"/>
                </a:solidFill>
                <a:latin typeface="Calibri"/>
              </a:rPr>
              <a:t>Finext • Phòng Phân tích Đầu tư</a:t>
            </a:r>
          </a:p>
        </p:txBody>
      </p:sp>
      <p:sp>
        <p:nvSpPr>
          <p:cNvPr id="22" name="TextBox 21"/>
          <p:cNvSpPr txBox="1"/>
          <p:nvPr/>
        </p:nvSpPr>
        <p:spPr>
          <a:xfrm>
            <a:off x="8138160" y="6080760"/>
            <a:ext cx="3657600" cy="274320"/>
          </a:xfrm>
          <a:prstGeom prst="rect">
            <a:avLst/>
          </a:prstGeom>
          <a:noFill/>
        </p:spPr>
        <p:txBody>
          <a:bodyPr wrap="square" lIns="45720" rIns="45720" tIns="18288" bIns="18288" anchor="t">
            <a:spAutoFit/>
          </a:bodyPr>
          <a:lstStyle/>
          <a:p>
            <a:pPr algn="r"/>
            <a:r>
              <a:rPr sz="1000" b="0" i="0">
                <a:solidFill>
                  <a:srgbClr val="B8B8B8"/>
                </a:solidFill>
                <a:latin typeface="Calibri"/>
              </a:rPr>
              <a:t>{{PUBLISH_DATE}}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name="COVER_E_GENERIC">
    <p:spTree>
      <p:nvGrpSpPr>
        <p:cNvPr id="1" name=""/>
        <p:cNvGrpSpPr/>
        <p:nvPr/>
      </p:nvGrpSpPr>
      <p:grpSpPr/>
      <p:sp>
        <p:nvSpPr>
          <p:cNvPr id="2" name="Rectangle 1"/>
          <p:cNvSpPr/>
          <p:nvPr/>
        </p:nvSpPr>
        <p:spPr>
          <a:xfrm>
            <a:off x="0" y="0"/>
            <a:ext cx="12188952" cy="6858000"/>
          </a:xfrm>
          <a:prstGeom prst="rect">
            <a:avLst/>
          </a:prstGeom>
          <a:solidFill>
            <a:srgbClr val="FAFB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0" y="1645920"/>
            <a:ext cx="1624584" cy="3657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282184" y="1645920"/>
            <a:ext cx="1624584"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906767" y="1645920"/>
            <a:ext cx="1624584" cy="36576"/>
          </a:xfrm>
          <a:prstGeom prst="rect">
            <a:avLst/>
          </a:prstGeom>
          <a:solidFill>
            <a:srgbClr val="B47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0972800" cy="365760"/>
          </a:xfrm>
          <a:prstGeom prst="rect">
            <a:avLst/>
          </a:prstGeom>
          <a:noFill/>
        </p:spPr>
        <p:txBody>
          <a:bodyPr wrap="square" lIns="45720" rIns="45720" tIns="18288" bIns="18288" anchor="t">
            <a:spAutoFit/>
          </a:bodyPr>
          <a:lstStyle/>
          <a:p>
            <a:pPr algn="ctr"/>
            <a:r>
              <a:rPr sz="1200" b="1" i="0">
                <a:solidFill>
                  <a:srgbClr val="8B5CF6"/>
                </a:solidFill>
                <a:latin typeface="Calibri"/>
              </a:rPr>
              <a:t>{{REPORT_KIND_TAG}}</a:t>
            </a:r>
          </a:p>
        </p:txBody>
      </p:sp>
      <p:sp>
        <p:nvSpPr>
          <p:cNvPr id="7" name="TextBox 6"/>
          <p:cNvSpPr txBox="1"/>
          <p:nvPr/>
        </p:nvSpPr>
        <p:spPr>
          <a:xfrm>
            <a:off x="548640" y="2286000"/>
            <a:ext cx="10972800" cy="1371600"/>
          </a:xfrm>
          <a:prstGeom prst="rect">
            <a:avLst/>
          </a:prstGeom>
          <a:noFill/>
        </p:spPr>
        <p:txBody>
          <a:bodyPr wrap="square" lIns="45720" rIns="45720" tIns="18288" bIns="18288" anchor="t">
            <a:spAutoFit/>
          </a:bodyPr>
          <a:lstStyle/>
          <a:p>
            <a:pPr algn="ctr"/>
            <a:r>
              <a:rPr sz="4800" b="1" i="0">
                <a:solidFill>
                  <a:srgbClr val="1F2937"/>
                </a:solidFill>
                <a:latin typeface="Calibri"/>
              </a:rPr>
              <a:t>{{REPORT_TITLE}}</a:t>
            </a:r>
          </a:p>
        </p:txBody>
      </p:sp>
      <p:sp>
        <p:nvSpPr>
          <p:cNvPr id="8" name="TextBox 7"/>
          <p:cNvSpPr txBox="1"/>
          <p:nvPr/>
        </p:nvSpPr>
        <p:spPr>
          <a:xfrm>
            <a:off x="548640" y="3749039"/>
            <a:ext cx="10972800" cy="457200"/>
          </a:xfrm>
          <a:prstGeom prst="rect">
            <a:avLst/>
          </a:prstGeom>
          <a:noFill/>
        </p:spPr>
        <p:txBody>
          <a:bodyPr wrap="square" lIns="45720" rIns="45720" tIns="18288" bIns="18288" anchor="t">
            <a:spAutoFit/>
          </a:bodyPr>
          <a:lstStyle/>
          <a:p>
            <a:pPr algn="ctr"/>
            <a:r>
              <a:rPr sz="1800" b="0" i="1">
                <a:solidFill>
                  <a:srgbClr val="6B7280"/>
                </a:solidFill>
                <a:latin typeface="Calibri"/>
              </a:rPr>
              <a:t>{{REPORT_SUBTITLE}}</a:t>
            </a:r>
          </a:p>
        </p:txBody>
      </p:sp>
      <p:sp>
        <p:nvSpPr>
          <p:cNvPr id="9" name="Rectangle 8"/>
          <p:cNvSpPr/>
          <p:nvPr/>
        </p:nvSpPr>
        <p:spPr>
          <a:xfrm>
            <a:off x="3657600" y="4480560"/>
            <a:ext cx="1624584" cy="3657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282184" y="4480560"/>
            <a:ext cx="1624584"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06767" y="4480560"/>
            <a:ext cx="1624584" cy="36576"/>
          </a:xfrm>
          <a:prstGeom prst="rect">
            <a:avLst/>
          </a:prstGeom>
          <a:solidFill>
            <a:srgbClr val="B47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4846320"/>
            <a:ext cx="10972800" cy="274320"/>
          </a:xfrm>
          <a:prstGeom prst="rect">
            <a:avLst/>
          </a:prstGeom>
          <a:noFill/>
        </p:spPr>
        <p:txBody>
          <a:bodyPr wrap="square" lIns="45720" rIns="45720" tIns="18288" bIns="18288" anchor="t">
            <a:spAutoFit/>
          </a:bodyPr>
          <a:lstStyle/>
          <a:p>
            <a:pPr algn="ctr"/>
            <a:r>
              <a:rPr sz="1400" b="1" i="0">
                <a:solidFill>
                  <a:srgbClr val="1F2937"/>
                </a:solidFill>
                <a:latin typeface="Calibri"/>
              </a:rPr>
              <a:t>Phòng Phân tích Đầu tư</a:t>
            </a:r>
          </a:p>
        </p:txBody>
      </p:sp>
      <p:sp>
        <p:nvSpPr>
          <p:cNvPr id="13" name="TextBox 12"/>
          <p:cNvSpPr txBox="1"/>
          <p:nvPr/>
        </p:nvSpPr>
        <p:spPr>
          <a:xfrm>
            <a:off x="548640" y="5166360"/>
            <a:ext cx="10972800" cy="274320"/>
          </a:xfrm>
          <a:prstGeom prst="rect">
            <a:avLst/>
          </a:prstGeom>
          <a:noFill/>
        </p:spPr>
        <p:txBody>
          <a:bodyPr wrap="square" lIns="45720" rIns="45720" tIns="18288" bIns="18288" anchor="t">
            <a:spAutoFit/>
          </a:bodyPr>
          <a:lstStyle/>
          <a:p>
            <a:pPr algn="ctr"/>
            <a:r>
              <a:rPr sz="1000" b="0" i="0">
                <a:solidFill>
                  <a:srgbClr val="8B5CF6"/>
                </a:solidFill>
                <a:latin typeface="Calibri"/>
              </a:rPr>
              <a:t>Finext</a:t>
            </a:r>
          </a:p>
        </p:txBody>
      </p:sp>
      <p:sp>
        <p:nvSpPr>
          <p:cNvPr id="14" name="TextBox 13"/>
          <p:cNvSpPr txBox="1"/>
          <p:nvPr/>
        </p:nvSpPr>
        <p:spPr>
          <a:xfrm>
            <a:off x="548640" y="5760720"/>
            <a:ext cx="10972800" cy="274320"/>
          </a:xfrm>
          <a:prstGeom prst="rect">
            <a:avLst/>
          </a:prstGeom>
          <a:noFill/>
        </p:spPr>
        <p:txBody>
          <a:bodyPr wrap="square" lIns="45720" rIns="45720" tIns="18288" bIns="18288" anchor="t">
            <a:spAutoFit/>
          </a:bodyPr>
          <a:lstStyle/>
          <a:p>
            <a:pPr algn="ctr"/>
            <a:r>
              <a:rPr sz="1400" b="1" i="0">
                <a:solidFill>
                  <a:srgbClr val="8B5CF6"/>
                </a:solidFill>
                <a:latin typeface="Calibri"/>
              </a:rPr>
              <a:t>{{PUBLISH_DATE}}</a:t>
            </a:r>
          </a:p>
        </p:txBody>
      </p:sp>
      <p:sp>
        <p:nvSpPr>
          <p:cNvPr id="15" name="Chevron 14"/>
          <p:cNvSpPr/>
          <p:nvPr/>
        </p:nvSpPr>
        <p:spPr>
          <a:xfrm>
            <a:off x="11179454" y="6080760"/>
            <a:ext cx="276606" cy="502920"/>
          </a:xfrm>
          <a:prstGeom prst="chevron">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hevron 15"/>
          <p:cNvSpPr/>
          <p:nvPr/>
        </p:nvSpPr>
        <p:spPr>
          <a:xfrm>
            <a:off x="11546586" y="6080760"/>
            <a:ext cx="276606" cy="502920"/>
          </a:xfrm>
          <a:prstGeom prst="chevron">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name="SECTION_DIVIDER">
    <p:spTree>
      <p:nvGrpSpPr>
        <p:cNvPr id="1" name=""/>
        <p:cNvGrpSpPr/>
        <p:nvPr/>
      </p:nvGrpSpPr>
      <p:grpSpPr/>
      <p:sp>
        <p:nvSpPr>
          <p:cNvPr id="2" name="Rectangle 1"/>
          <p:cNvSpPr/>
          <p:nvPr/>
        </p:nvSpPr>
        <p:spPr>
          <a:xfrm>
            <a:off x="0" y="0"/>
            <a:ext cx="12188952" cy="6858000"/>
          </a:xfrm>
          <a:prstGeom prst="rect">
            <a:avLst/>
          </a:prstGeom>
          <a:solidFill>
            <a:srgbClr val="0A0A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Chevron 2"/>
          <p:cNvSpPr/>
          <p:nvPr/>
        </p:nvSpPr>
        <p:spPr>
          <a:xfrm>
            <a:off x="9811512" y="3749039"/>
            <a:ext cx="777240" cy="1280160"/>
          </a:xfrm>
          <a:prstGeom prst="chevron">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Chevron 3"/>
          <p:cNvSpPr/>
          <p:nvPr/>
        </p:nvSpPr>
        <p:spPr>
          <a:xfrm>
            <a:off x="10863072" y="3749039"/>
            <a:ext cx="777240" cy="1280160"/>
          </a:xfrm>
          <a:prstGeom prst="chevron">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371600" y="2468880"/>
            <a:ext cx="609600" cy="3657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981199" y="2468880"/>
            <a:ext cx="60960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590799" y="2468880"/>
            <a:ext cx="609600" cy="36576"/>
          </a:xfrm>
          <a:prstGeom prst="rect">
            <a:avLst/>
          </a:prstGeom>
          <a:solidFill>
            <a:srgbClr val="B47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0" y="2560320"/>
            <a:ext cx="9144000" cy="457200"/>
          </a:xfrm>
          <a:prstGeom prst="rect">
            <a:avLst/>
          </a:prstGeom>
          <a:noFill/>
        </p:spPr>
        <p:txBody>
          <a:bodyPr wrap="square" lIns="45720" rIns="45720" tIns="18288" bIns="18288" anchor="t">
            <a:spAutoFit/>
          </a:bodyPr>
          <a:lstStyle/>
          <a:p>
            <a:pPr algn="l"/>
            <a:r>
              <a:rPr sz="1800" b="1" i="0">
                <a:solidFill>
                  <a:srgbClr val="B47EFF"/>
                </a:solidFill>
                <a:latin typeface="Calibri"/>
              </a:rPr>
              <a:t>{{SECTION_TAG}}</a:t>
            </a:r>
          </a:p>
        </p:txBody>
      </p:sp>
      <p:sp>
        <p:nvSpPr>
          <p:cNvPr id="9" name="TextBox 8"/>
          <p:cNvSpPr txBox="1"/>
          <p:nvPr/>
        </p:nvSpPr>
        <p:spPr>
          <a:xfrm>
            <a:off x="1371600" y="3017520"/>
            <a:ext cx="9144000" cy="1097280"/>
          </a:xfrm>
          <a:prstGeom prst="rect">
            <a:avLst/>
          </a:prstGeom>
          <a:noFill/>
        </p:spPr>
        <p:txBody>
          <a:bodyPr wrap="square" lIns="45720" rIns="45720" tIns="18288" bIns="18288" anchor="t">
            <a:spAutoFit/>
          </a:bodyPr>
          <a:lstStyle/>
          <a:p>
            <a:pPr algn="l"/>
            <a:r>
              <a:rPr sz="4800" b="1" i="0">
                <a:solidFill>
                  <a:srgbClr val="FFFFFF"/>
                </a:solidFill>
                <a:latin typeface="Calibri"/>
              </a:rPr>
              <a:t>{{SECTION_TITLE}}</a:t>
            </a:r>
          </a:p>
        </p:txBody>
      </p:sp>
      <p:sp>
        <p:nvSpPr>
          <p:cNvPr id="10" name="TextBox 9"/>
          <p:cNvSpPr txBox="1"/>
          <p:nvPr/>
        </p:nvSpPr>
        <p:spPr>
          <a:xfrm>
            <a:off x="1371600" y="4206240"/>
            <a:ext cx="9144000" cy="457200"/>
          </a:xfrm>
          <a:prstGeom prst="rect">
            <a:avLst/>
          </a:prstGeom>
          <a:noFill/>
        </p:spPr>
        <p:txBody>
          <a:bodyPr wrap="square" lIns="45720" rIns="45720" tIns="18288" bIns="18288" anchor="t">
            <a:spAutoFit/>
          </a:bodyPr>
          <a:lstStyle/>
          <a:p>
            <a:pPr algn="l"/>
            <a:r>
              <a:rPr sz="1600" b="0" i="1">
                <a:solidFill>
                  <a:srgbClr val="F0F0F0"/>
                </a:solidFill>
                <a:latin typeface="Calibri"/>
              </a:rPr>
              <a:t>{{SECTION_DESC}}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name="BULLET_LIST_SUMMARY">
    <p:spTree>
      <p:nvGrpSpPr>
        <p:cNvPr id="1" name=""/>
        <p:cNvGrpSpPr/>
        <p:nvPr/>
      </p:nvGrpSpPr>
      <p:grpSpPr/>
      <p:sp>
        <p:nvSpPr>
          <p:cNvPr id="2" name="Rectangle 1"/>
          <p:cNvSpPr/>
          <p:nvPr/>
        </p:nvSpPr>
        <p:spPr>
          <a:xfrm>
            <a:off x="457200" y="274320"/>
            <a:ext cx="73152" cy="32004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594359"/>
            <a:ext cx="73152" cy="320040"/>
          </a:xfrm>
          <a:prstGeom prst="rect">
            <a:avLst/>
          </a:prstGeom>
          <a:solidFill>
            <a:srgbClr val="B47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74320"/>
            <a:ext cx="10972800" cy="365760"/>
          </a:xfrm>
          <a:prstGeom prst="rect">
            <a:avLst/>
          </a:prstGeom>
          <a:noFill/>
        </p:spPr>
        <p:txBody>
          <a:bodyPr wrap="square" lIns="45720" rIns="45720" tIns="18288" bIns="18288" anchor="t">
            <a:spAutoFit/>
          </a:bodyPr>
          <a:lstStyle/>
          <a:p>
            <a:pPr algn="l"/>
            <a:r>
              <a:rPr sz="2400" b="1" i="0">
                <a:solidFill>
                  <a:srgbClr val="1F2937"/>
                </a:solidFill>
                <a:latin typeface="Calibri"/>
              </a:rPr>
              <a:t>{{SECTION_TITLE}}</a:t>
            </a:r>
          </a:p>
        </p:txBody>
      </p:sp>
      <p:sp>
        <p:nvSpPr>
          <p:cNvPr id="5" name="TextBox 4"/>
          <p:cNvSpPr txBox="1"/>
          <p:nvPr/>
        </p:nvSpPr>
        <p:spPr>
          <a:xfrm>
            <a:off x="594360" y="640080"/>
            <a:ext cx="10972800" cy="274320"/>
          </a:xfrm>
          <a:prstGeom prst="rect">
            <a:avLst/>
          </a:prstGeom>
          <a:noFill/>
        </p:spPr>
        <p:txBody>
          <a:bodyPr wrap="square" lIns="45720" rIns="45720" tIns="18288" bIns="18288" anchor="t">
            <a:spAutoFit/>
          </a:bodyPr>
          <a:lstStyle/>
          <a:p>
            <a:pPr algn="l"/>
            <a:r>
              <a:rPr sz="1100" b="0" i="1">
                <a:solidFill>
                  <a:srgbClr val="6B7280"/>
                </a:solidFill>
                <a:latin typeface="Calibri"/>
              </a:rPr>
              <a:t>{{SECTION_SUB}}</a:t>
            </a:r>
          </a:p>
        </p:txBody>
      </p:sp>
      <p:sp>
        <p:nvSpPr>
          <p:cNvPr id="6" name="Rectangle 5"/>
          <p:cNvSpPr/>
          <p:nvPr/>
        </p:nvSpPr>
        <p:spPr>
          <a:xfrm>
            <a:off x="548640" y="1005840"/>
            <a:ext cx="11091672" cy="18288"/>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48640" y="1444751"/>
            <a:ext cx="182880" cy="182880"/>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280160"/>
            <a:ext cx="11091672" cy="292608"/>
          </a:xfrm>
          <a:prstGeom prst="rect">
            <a:avLst/>
          </a:prstGeom>
          <a:noFill/>
        </p:spPr>
        <p:txBody>
          <a:bodyPr wrap="square" lIns="45720" rIns="45720" tIns="18288" bIns="18288" anchor="t">
            <a:spAutoFit/>
          </a:bodyPr>
          <a:lstStyle/>
          <a:p>
            <a:pPr algn="l"/>
            <a:r>
              <a:rPr sz="1300" b="1" i="0">
                <a:solidFill>
                  <a:srgbClr val="1F2937"/>
                </a:solidFill>
                <a:latin typeface="Calibri"/>
              </a:rPr>
              <a:t>{{BULLET_1_LABEL}}</a:t>
            </a:r>
          </a:p>
        </p:txBody>
      </p:sp>
      <p:sp>
        <p:nvSpPr>
          <p:cNvPr id="9" name="TextBox 8"/>
          <p:cNvSpPr txBox="1"/>
          <p:nvPr/>
        </p:nvSpPr>
        <p:spPr>
          <a:xfrm>
            <a:off x="914400" y="1609343"/>
            <a:ext cx="10725912" cy="594360"/>
          </a:xfrm>
          <a:prstGeom prst="rect">
            <a:avLst/>
          </a:prstGeom>
          <a:noFill/>
        </p:spPr>
        <p:txBody>
          <a:bodyPr wrap="square" lIns="45720" rIns="45720" tIns="18288" bIns="18288" anchor="t">
            <a:spAutoFit/>
          </a:bodyPr>
          <a:lstStyle/>
          <a:p>
            <a:pPr algn="l"/>
            <a:r>
              <a:rPr sz="1100" b="0" i="0">
                <a:solidFill>
                  <a:srgbClr val="1F2937"/>
                </a:solidFill>
                <a:latin typeface="Calibri"/>
              </a:rPr>
              <a:t>{{BULLET_1_BODY}}</a:t>
            </a:r>
          </a:p>
        </p:txBody>
      </p:sp>
      <p:sp>
        <p:nvSpPr>
          <p:cNvPr id="10" name="Oval 9"/>
          <p:cNvSpPr/>
          <p:nvPr/>
        </p:nvSpPr>
        <p:spPr>
          <a:xfrm>
            <a:off x="548640" y="2432304"/>
            <a:ext cx="182880" cy="182880"/>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267712"/>
            <a:ext cx="11091672" cy="292608"/>
          </a:xfrm>
          <a:prstGeom prst="rect">
            <a:avLst/>
          </a:prstGeom>
          <a:noFill/>
        </p:spPr>
        <p:txBody>
          <a:bodyPr wrap="square" lIns="45720" rIns="45720" tIns="18288" bIns="18288" anchor="t">
            <a:spAutoFit/>
          </a:bodyPr>
          <a:lstStyle/>
          <a:p>
            <a:pPr algn="l"/>
            <a:r>
              <a:rPr sz="1300" b="1" i="0">
                <a:solidFill>
                  <a:srgbClr val="1F2937"/>
                </a:solidFill>
                <a:latin typeface="Calibri"/>
              </a:rPr>
              <a:t>{{BULLET_2_LABEL}}</a:t>
            </a:r>
          </a:p>
        </p:txBody>
      </p:sp>
      <p:sp>
        <p:nvSpPr>
          <p:cNvPr id="12" name="TextBox 11"/>
          <p:cNvSpPr txBox="1"/>
          <p:nvPr/>
        </p:nvSpPr>
        <p:spPr>
          <a:xfrm>
            <a:off x="914400" y="2596896"/>
            <a:ext cx="10725912" cy="594360"/>
          </a:xfrm>
          <a:prstGeom prst="rect">
            <a:avLst/>
          </a:prstGeom>
          <a:noFill/>
        </p:spPr>
        <p:txBody>
          <a:bodyPr wrap="square" lIns="45720" rIns="45720" tIns="18288" bIns="18288" anchor="t">
            <a:spAutoFit/>
          </a:bodyPr>
          <a:lstStyle/>
          <a:p>
            <a:pPr algn="l"/>
            <a:r>
              <a:rPr sz="1100" b="0" i="0">
                <a:solidFill>
                  <a:srgbClr val="1F2937"/>
                </a:solidFill>
                <a:latin typeface="Calibri"/>
              </a:rPr>
              <a:t>{{BULLET_2_BODY}}</a:t>
            </a:r>
          </a:p>
        </p:txBody>
      </p:sp>
      <p:sp>
        <p:nvSpPr>
          <p:cNvPr id="13" name="Oval 12"/>
          <p:cNvSpPr/>
          <p:nvPr/>
        </p:nvSpPr>
        <p:spPr>
          <a:xfrm>
            <a:off x="548640" y="3419856"/>
            <a:ext cx="182880" cy="182880"/>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255264"/>
            <a:ext cx="11091672" cy="292608"/>
          </a:xfrm>
          <a:prstGeom prst="rect">
            <a:avLst/>
          </a:prstGeom>
          <a:noFill/>
        </p:spPr>
        <p:txBody>
          <a:bodyPr wrap="square" lIns="45720" rIns="45720" tIns="18288" bIns="18288" anchor="t">
            <a:spAutoFit/>
          </a:bodyPr>
          <a:lstStyle/>
          <a:p>
            <a:pPr algn="l"/>
            <a:r>
              <a:rPr sz="1300" b="1" i="0">
                <a:solidFill>
                  <a:srgbClr val="1F2937"/>
                </a:solidFill>
                <a:latin typeface="Calibri"/>
              </a:rPr>
              <a:t>{{BULLET_3_LABEL}}</a:t>
            </a:r>
          </a:p>
        </p:txBody>
      </p:sp>
      <p:sp>
        <p:nvSpPr>
          <p:cNvPr id="15" name="TextBox 14"/>
          <p:cNvSpPr txBox="1"/>
          <p:nvPr/>
        </p:nvSpPr>
        <p:spPr>
          <a:xfrm>
            <a:off x="914400" y="3584448"/>
            <a:ext cx="10725912" cy="594360"/>
          </a:xfrm>
          <a:prstGeom prst="rect">
            <a:avLst/>
          </a:prstGeom>
          <a:noFill/>
        </p:spPr>
        <p:txBody>
          <a:bodyPr wrap="square" lIns="45720" rIns="45720" tIns="18288" bIns="18288" anchor="t">
            <a:spAutoFit/>
          </a:bodyPr>
          <a:lstStyle/>
          <a:p>
            <a:pPr algn="l"/>
            <a:r>
              <a:rPr sz="1100" b="0" i="0">
                <a:solidFill>
                  <a:srgbClr val="1F2937"/>
                </a:solidFill>
                <a:latin typeface="Calibri"/>
              </a:rPr>
              <a:t>{{BULLET_3_BODY}}</a:t>
            </a:r>
          </a:p>
        </p:txBody>
      </p:sp>
      <p:sp>
        <p:nvSpPr>
          <p:cNvPr id="16" name="Oval 15"/>
          <p:cNvSpPr/>
          <p:nvPr/>
        </p:nvSpPr>
        <p:spPr>
          <a:xfrm>
            <a:off x="548640" y="4407408"/>
            <a:ext cx="182880" cy="182880"/>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242816"/>
            <a:ext cx="11091672" cy="292608"/>
          </a:xfrm>
          <a:prstGeom prst="rect">
            <a:avLst/>
          </a:prstGeom>
          <a:noFill/>
        </p:spPr>
        <p:txBody>
          <a:bodyPr wrap="square" lIns="45720" rIns="45720" tIns="18288" bIns="18288" anchor="t">
            <a:spAutoFit/>
          </a:bodyPr>
          <a:lstStyle/>
          <a:p>
            <a:pPr algn="l"/>
            <a:r>
              <a:rPr sz="1300" b="1" i="0">
                <a:solidFill>
                  <a:srgbClr val="1F2937"/>
                </a:solidFill>
                <a:latin typeface="Calibri"/>
              </a:rPr>
              <a:t>{{BULLET_4_LABEL}}</a:t>
            </a:r>
          </a:p>
        </p:txBody>
      </p:sp>
      <p:sp>
        <p:nvSpPr>
          <p:cNvPr id="18" name="TextBox 17"/>
          <p:cNvSpPr txBox="1"/>
          <p:nvPr/>
        </p:nvSpPr>
        <p:spPr>
          <a:xfrm>
            <a:off x="914400" y="4572000"/>
            <a:ext cx="10725912" cy="594360"/>
          </a:xfrm>
          <a:prstGeom prst="rect">
            <a:avLst/>
          </a:prstGeom>
          <a:noFill/>
        </p:spPr>
        <p:txBody>
          <a:bodyPr wrap="square" lIns="45720" rIns="45720" tIns="18288" bIns="18288" anchor="t">
            <a:spAutoFit/>
          </a:bodyPr>
          <a:lstStyle/>
          <a:p>
            <a:pPr algn="l"/>
            <a:r>
              <a:rPr sz="1100" b="0" i="0">
                <a:solidFill>
                  <a:srgbClr val="1F2937"/>
                </a:solidFill>
                <a:latin typeface="Calibri"/>
              </a:rPr>
              <a:t>{{BULLET_4_BODY}}</a:t>
            </a:r>
          </a:p>
        </p:txBody>
      </p:sp>
      <p:sp>
        <p:nvSpPr>
          <p:cNvPr id="19" name="Oval 18"/>
          <p:cNvSpPr/>
          <p:nvPr/>
        </p:nvSpPr>
        <p:spPr>
          <a:xfrm>
            <a:off x="548640" y="5394960"/>
            <a:ext cx="182880" cy="182880"/>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5230368"/>
            <a:ext cx="11091672" cy="292608"/>
          </a:xfrm>
          <a:prstGeom prst="rect">
            <a:avLst/>
          </a:prstGeom>
          <a:noFill/>
        </p:spPr>
        <p:txBody>
          <a:bodyPr wrap="square" lIns="45720" rIns="45720" tIns="18288" bIns="18288" anchor="t">
            <a:spAutoFit/>
          </a:bodyPr>
          <a:lstStyle/>
          <a:p>
            <a:pPr algn="l"/>
            <a:r>
              <a:rPr sz="1300" b="1" i="0">
                <a:solidFill>
                  <a:srgbClr val="1F2937"/>
                </a:solidFill>
                <a:latin typeface="Calibri"/>
              </a:rPr>
              <a:t>{{BULLET_5_LABEL}}</a:t>
            </a:r>
          </a:p>
        </p:txBody>
      </p:sp>
      <p:sp>
        <p:nvSpPr>
          <p:cNvPr id="21" name="TextBox 20"/>
          <p:cNvSpPr txBox="1"/>
          <p:nvPr/>
        </p:nvSpPr>
        <p:spPr>
          <a:xfrm>
            <a:off x="914400" y="5559552"/>
            <a:ext cx="10725912" cy="594360"/>
          </a:xfrm>
          <a:prstGeom prst="rect">
            <a:avLst/>
          </a:prstGeom>
          <a:noFill/>
        </p:spPr>
        <p:txBody>
          <a:bodyPr wrap="square" lIns="45720" rIns="45720" tIns="18288" bIns="18288" anchor="t">
            <a:spAutoFit/>
          </a:bodyPr>
          <a:lstStyle/>
          <a:p>
            <a:pPr algn="l"/>
            <a:r>
              <a:rPr sz="1100" b="0" i="0">
                <a:solidFill>
                  <a:srgbClr val="1F2937"/>
                </a:solidFill>
                <a:latin typeface="Calibri"/>
              </a:rPr>
              <a:t>{{BULLET_5_BODY}}</a:t>
            </a:r>
          </a:p>
        </p:txBody>
      </p:sp>
      <p:sp>
        <p:nvSpPr>
          <p:cNvPr id="22" name="TextBox 21"/>
          <p:cNvSpPr txBox="1"/>
          <p:nvPr/>
        </p:nvSpPr>
        <p:spPr>
          <a:xfrm>
            <a:off x="548640" y="6492240"/>
            <a:ext cx="8229600" cy="274320"/>
          </a:xfrm>
          <a:prstGeom prst="rect">
            <a:avLst/>
          </a:prstGeom>
          <a:noFill/>
        </p:spPr>
        <p:txBody>
          <a:bodyPr wrap="square" lIns="45720" rIns="45720" tIns="18288" bIns="18288" anchor="t">
            <a:spAutoFit/>
          </a:bodyPr>
          <a:lstStyle/>
          <a:p>
            <a:pPr algn="l"/>
            <a:r>
              <a:rPr sz="900" b="0" i="1">
                <a:solidFill>
                  <a:srgbClr val="9CA3AF"/>
                </a:solidFill>
                <a:latin typeface="Calibri"/>
              </a:rPr>
              <a:t>{{FOOTER_LEFT}}</a:t>
            </a:r>
          </a:p>
        </p:txBody>
      </p:sp>
      <p:sp>
        <p:nvSpPr>
          <p:cNvPr id="23" name="TextBox 22"/>
          <p:cNvSpPr txBox="1"/>
          <p:nvPr/>
        </p:nvSpPr>
        <p:spPr>
          <a:xfrm>
            <a:off x="10058400" y="6492240"/>
            <a:ext cx="1645920" cy="274320"/>
          </a:xfrm>
          <a:prstGeom prst="rect">
            <a:avLst/>
          </a:prstGeom>
          <a:noFill/>
        </p:spPr>
        <p:txBody>
          <a:bodyPr wrap="square" lIns="45720" rIns="45720" tIns="18288" bIns="18288" anchor="t">
            <a:spAutoFit/>
          </a:bodyPr>
          <a:lstStyle/>
          <a:p>
            <a:pPr algn="r"/>
            <a:r>
              <a:rPr sz="900" b="0" i="0">
                <a:solidFill>
                  <a:srgbClr val="9CA3AF"/>
                </a:solidFill>
                <a:latin typeface="Calibri"/>
              </a:rPr>
              <a:t>{{PAGE_NUM}}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name="STAT_CALLOUT_GRID_4CELL">
    <p:spTree>
      <p:nvGrpSpPr>
        <p:cNvPr id="1" name=""/>
        <p:cNvGrpSpPr/>
        <p:nvPr/>
      </p:nvGrpSpPr>
      <p:grpSpPr/>
      <p:sp>
        <p:nvSpPr>
          <p:cNvPr id="2" name="Rectangle 1"/>
          <p:cNvSpPr/>
          <p:nvPr/>
        </p:nvSpPr>
        <p:spPr>
          <a:xfrm>
            <a:off x="457200" y="274320"/>
            <a:ext cx="73152" cy="32004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594359"/>
            <a:ext cx="73152" cy="320040"/>
          </a:xfrm>
          <a:prstGeom prst="rect">
            <a:avLst/>
          </a:prstGeom>
          <a:solidFill>
            <a:srgbClr val="B47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74320"/>
            <a:ext cx="10972800" cy="365760"/>
          </a:xfrm>
          <a:prstGeom prst="rect">
            <a:avLst/>
          </a:prstGeom>
          <a:noFill/>
        </p:spPr>
        <p:txBody>
          <a:bodyPr wrap="square" lIns="45720" rIns="45720" tIns="18288" bIns="18288" anchor="t">
            <a:spAutoFit/>
          </a:bodyPr>
          <a:lstStyle/>
          <a:p>
            <a:pPr algn="l"/>
            <a:r>
              <a:rPr sz="2400" b="1" i="0">
                <a:solidFill>
                  <a:srgbClr val="1F2937"/>
                </a:solidFill>
                <a:latin typeface="Calibri"/>
              </a:rPr>
              <a:t>{{SECTION_TITLE}}</a:t>
            </a:r>
          </a:p>
        </p:txBody>
      </p:sp>
      <p:sp>
        <p:nvSpPr>
          <p:cNvPr id="5" name="TextBox 4"/>
          <p:cNvSpPr txBox="1"/>
          <p:nvPr/>
        </p:nvSpPr>
        <p:spPr>
          <a:xfrm>
            <a:off x="594360" y="640080"/>
            <a:ext cx="10972800" cy="274320"/>
          </a:xfrm>
          <a:prstGeom prst="rect">
            <a:avLst/>
          </a:prstGeom>
          <a:noFill/>
        </p:spPr>
        <p:txBody>
          <a:bodyPr wrap="square" lIns="45720" rIns="45720" tIns="18288" bIns="18288" anchor="t">
            <a:spAutoFit/>
          </a:bodyPr>
          <a:lstStyle/>
          <a:p>
            <a:pPr algn="l"/>
            <a:r>
              <a:rPr sz="1100" b="0" i="1">
                <a:solidFill>
                  <a:srgbClr val="6B7280"/>
                </a:solidFill>
                <a:latin typeface="Calibri"/>
              </a:rPr>
              <a:t>{{SECTION_SUB}}</a:t>
            </a:r>
          </a:p>
        </p:txBody>
      </p:sp>
      <p:sp>
        <p:nvSpPr>
          <p:cNvPr id="6" name="Rectangle 5"/>
          <p:cNvSpPr/>
          <p:nvPr/>
        </p:nvSpPr>
        <p:spPr>
          <a:xfrm>
            <a:off x="548640" y="1005840"/>
            <a:ext cx="11091672" cy="18288"/>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280160"/>
            <a:ext cx="2704338" cy="1188720"/>
          </a:xfrm>
          <a:prstGeom prst="roundRect">
            <a:avLst>
              <a:gd name="adj" fmla="val 4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325880"/>
            <a:ext cx="73152" cy="109728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371600"/>
            <a:ext cx="2430018" cy="228600"/>
          </a:xfrm>
          <a:prstGeom prst="rect">
            <a:avLst/>
          </a:prstGeom>
          <a:noFill/>
        </p:spPr>
        <p:txBody>
          <a:bodyPr wrap="square" lIns="45720" rIns="45720" tIns="18288" bIns="18288" anchor="t">
            <a:spAutoFit/>
          </a:bodyPr>
          <a:lstStyle/>
          <a:p>
            <a:pPr algn="l"/>
            <a:r>
              <a:rPr sz="900" b="0" i="0">
                <a:solidFill>
                  <a:srgbClr val="6B7280"/>
                </a:solidFill>
                <a:latin typeface="Calibri"/>
              </a:rPr>
              <a:t>Giá mục tiêu ngắn hạn</a:t>
            </a:r>
          </a:p>
        </p:txBody>
      </p:sp>
      <p:sp>
        <p:nvSpPr>
          <p:cNvPr id="10" name="TextBox 9"/>
          <p:cNvSpPr txBox="1"/>
          <p:nvPr/>
        </p:nvSpPr>
        <p:spPr>
          <a:xfrm>
            <a:off x="731520" y="1645919"/>
            <a:ext cx="2430018" cy="502920"/>
          </a:xfrm>
          <a:prstGeom prst="rect">
            <a:avLst/>
          </a:prstGeom>
          <a:noFill/>
        </p:spPr>
        <p:txBody>
          <a:bodyPr wrap="square" lIns="45720" rIns="45720" tIns="18288" bIns="18288" anchor="t">
            <a:spAutoFit/>
          </a:bodyPr>
          <a:lstStyle/>
          <a:p>
            <a:pPr algn="l"/>
            <a:r>
              <a:rPr sz="2200" b="1" i="0">
                <a:solidFill>
                  <a:srgbClr val="8B5CF6"/>
                </a:solidFill>
                <a:latin typeface="Calibri"/>
              </a:rPr>
              <a:t>{{TARGET_SHORT}}</a:t>
            </a:r>
          </a:p>
        </p:txBody>
      </p:sp>
      <p:sp>
        <p:nvSpPr>
          <p:cNvPr id="11" name="TextBox 10"/>
          <p:cNvSpPr txBox="1"/>
          <p:nvPr/>
        </p:nvSpPr>
        <p:spPr>
          <a:xfrm>
            <a:off x="731520" y="2103120"/>
            <a:ext cx="2430018" cy="274320"/>
          </a:xfrm>
          <a:prstGeom prst="rect">
            <a:avLst/>
          </a:prstGeom>
          <a:noFill/>
        </p:spPr>
        <p:txBody>
          <a:bodyPr wrap="square" lIns="45720" rIns="45720" tIns="18288" bIns="18288" anchor="t">
            <a:spAutoFit/>
          </a:bodyPr>
          <a:lstStyle/>
          <a:p>
            <a:pPr algn="l"/>
            <a:r>
              <a:rPr sz="900" b="1" i="0">
                <a:solidFill>
                  <a:srgbClr val="25B770"/>
                </a:solidFill>
                <a:latin typeface="Calibri"/>
              </a:rPr>
              <a:t>{{UPSIDE_SHORT}}</a:t>
            </a:r>
          </a:p>
        </p:txBody>
      </p:sp>
      <p:sp>
        <p:nvSpPr>
          <p:cNvPr id="12" name="Rounded Rectangle 11"/>
          <p:cNvSpPr/>
          <p:nvPr/>
        </p:nvSpPr>
        <p:spPr>
          <a:xfrm>
            <a:off x="3344418" y="1280160"/>
            <a:ext cx="2704338" cy="1188720"/>
          </a:xfrm>
          <a:prstGeom prst="roundRect">
            <a:avLst>
              <a:gd name="adj" fmla="val 4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44418" y="1325880"/>
            <a:ext cx="73152" cy="109728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27298" y="1371600"/>
            <a:ext cx="2430018" cy="228600"/>
          </a:xfrm>
          <a:prstGeom prst="rect">
            <a:avLst/>
          </a:prstGeom>
          <a:noFill/>
        </p:spPr>
        <p:txBody>
          <a:bodyPr wrap="square" lIns="45720" rIns="45720" tIns="18288" bIns="18288" anchor="t">
            <a:spAutoFit/>
          </a:bodyPr>
          <a:lstStyle/>
          <a:p>
            <a:pPr algn="l"/>
            <a:r>
              <a:rPr sz="900" b="0" i="0">
                <a:solidFill>
                  <a:srgbClr val="6B7280"/>
                </a:solidFill>
                <a:latin typeface="Calibri"/>
              </a:rPr>
              <a:t>Giá mục tiêu trung hạn</a:t>
            </a:r>
          </a:p>
        </p:txBody>
      </p:sp>
      <p:sp>
        <p:nvSpPr>
          <p:cNvPr id="15" name="TextBox 14"/>
          <p:cNvSpPr txBox="1"/>
          <p:nvPr/>
        </p:nvSpPr>
        <p:spPr>
          <a:xfrm>
            <a:off x="3527298" y="1645919"/>
            <a:ext cx="2430018" cy="502920"/>
          </a:xfrm>
          <a:prstGeom prst="rect">
            <a:avLst/>
          </a:prstGeom>
          <a:noFill/>
        </p:spPr>
        <p:txBody>
          <a:bodyPr wrap="square" lIns="45720" rIns="45720" tIns="18288" bIns="18288" anchor="t">
            <a:spAutoFit/>
          </a:bodyPr>
          <a:lstStyle/>
          <a:p>
            <a:pPr algn="l"/>
            <a:r>
              <a:rPr sz="2200" b="1" i="0">
                <a:solidFill>
                  <a:srgbClr val="8B5CF6"/>
                </a:solidFill>
                <a:latin typeface="Calibri"/>
              </a:rPr>
              <a:t>{{TARGET_MID}}</a:t>
            </a:r>
          </a:p>
        </p:txBody>
      </p:sp>
      <p:sp>
        <p:nvSpPr>
          <p:cNvPr id="16" name="TextBox 15"/>
          <p:cNvSpPr txBox="1"/>
          <p:nvPr/>
        </p:nvSpPr>
        <p:spPr>
          <a:xfrm>
            <a:off x="3527298" y="2103120"/>
            <a:ext cx="2430018" cy="274320"/>
          </a:xfrm>
          <a:prstGeom prst="rect">
            <a:avLst/>
          </a:prstGeom>
          <a:noFill/>
        </p:spPr>
        <p:txBody>
          <a:bodyPr wrap="square" lIns="45720" rIns="45720" tIns="18288" bIns="18288" anchor="t">
            <a:spAutoFit/>
          </a:bodyPr>
          <a:lstStyle/>
          <a:p>
            <a:pPr algn="l"/>
            <a:r>
              <a:rPr sz="900" b="1" i="0">
                <a:solidFill>
                  <a:srgbClr val="25B770"/>
                </a:solidFill>
                <a:latin typeface="Calibri"/>
              </a:rPr>
              <a:t>{{UPSIDE_MID}}</a:t>
            </a:r>
          </a:p>
        </p:txBody>
      </p:sp>
      <p:sp>
        <p:nvSpPr>
          <p:cNvPr id="17" name="Rounded Rectangle 16"/>
          <p:cNvSpPr/>
          <p:nvPr/>
        </p:nvSpPr>
        <p:spPr>
          <a:xfrm>
            <a:off x="6140196" y="1280160"/>
            <a:ext cx="2704338" cy="1188720"/>
          </a:xfrm>
          <a:prstGeom prst="roundRect">
            <a:avLst>
              <a:gd name="adj" fmla="val 4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40196" y="1325880"/>
            <a:ext cx="73152" cy="109728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23076" y="1371600"/>
            <a:ext cx="2430018" cy="228600"/>
          </a:xfrm>
          <a:prstGeom prst="rect">
            <a:avLst/>
          </a:prstGeom>
          <a:noFill/>
        </p:spPr>
        <p:txBody>
          <a:bodyPr wrap="square" lIns="45720" rIns="45720" tIns="18288" bIns="18288" anchor="t">
            <a:spAutoFit/>
          </a:bodyPr>
          <a:lstStyle/>
          <a:p>
            <a:pPr algn="l"/>
            <a:r>
              <a:rPr sz="900" b="0" i="0">
                <a:solidFill>
                  <a:srgbClr val="6B7280"/>
                </a:solidFill>
                <a:latin typeface="Calibri"/>
              </a:rPr>
              <a:t>Mức cắt lỗ</a:t>
            </a:r>
          </a:p>
        </p:txBody>
      </p:sp>
      <p:sp>
        <p:nvSpPr>
          <p:cNvPr id="20" name="TextBox 19"/>
          <p:cNvSpPr txBox="1"/>
          <p:nvPr/>
        </p:nvSpPr>
        <p:spPr>
          <a:xfrm>
            <a:off x="6323076" y="1645919"/>
            <a:ext cx="2430018" cy="502920"/>
          </a:xfrm>
          <a:prstGeom prst="rect">
            <a:avLst/>
          </a:prstGeom>
          <a:noFill/>
        </p:spPr>
        <p:txBody>
          <a:bodyPr wrap="square" lIns="45720" rIns="45720" tIns="18288" bIns="18288" anchor="t">
            <a:spAutoFit/>
          </a:bodyPr>
          <a:lstStyle/>
          <a:p>
            <a:pPr algn="l"/>
            <a:r>
              <a:rPr sz="2200" b="1" i="0">
                <a:solidFill>
                  <a:srgbClr val="8B5CF6"/>
                </a:solidFill>
                <a:latin typeface="Calibri"/>
              </a:rPr>
              <a:t>{{STOPLOSS}}</a:t>
            </a:r>
          </a:p>
        </p:txBody>
      </p:sp>
      <p:sp>
        <p:nvSpPr>
          <p:cNvPr id="21" name="TextBox 20"/>
          <p:cNvSpPr txBox="1"/>
          <p:nvPr/>
        </p:nvSpPr>
        <p:spPr>
          <a:xfrm>
            <a:off x="6323076" y="2103120"/>
            <a:ext cx="2430018" cy="274320"/>
          </a:xfrm>
          <a:prstGeom prst="rect">
            <a:avLst/>
          </a:prstGeom>
          <a:noFill/>
        </p:spPr>
        <p:txBody>
          <a:bodyPr wrap="square" lIns="45720" rIns="45720" tIns="18288" bIns="18288" anchor="t">
            <a:spAutoFit/>
          </a:bodyPr>
          <a:lstStyle/>
          <a:p>
            <a:pPr algn="l"/>
            <a:r>
              <a:rPr sz="900" b="1" i="0">
                <a:solidFill>
                  <a:srgbClr val="E14040"/>
                </a:solidFill>
                <a:latin typeface="Calibri"/>
              </a:rPr>
              <a:t>{{DOWNSIDE_STOP}}</a:t>
            </a:r>
          </a:p>
        </p:txBody>
      </p:sp>
      <p:sp>
        <p:nvSpPr>
          <p:cNvPr id="22" name="Rounded Rectangle 21"/>
          <p:cNvSpPr/>
          <p:nvPr/>
        </p:nvSpPr>
        <p:spPr>
          <a:xfrm>
            <a:off x="8935974" y="1280160"/>
            <a:ext cx="2704338" cy="1188720"/>
          </a:xfrm>
          <a:prstGeom prst="roundRect">
            <a:avLst>
              <a:gd name="adj" fmla="val 4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935974" y="1325880"/>
            <a:ext cx="73152" cy="109728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18853" y="1371600"/>
            <a:ext cx="2430018" cy="228600"/>
          </a:xfrm>
          <a:prstGeom prst="rect">
            <a:avLst/>
          </a:prstGeom>
          <a:noFill/>
        </p:spPr>
        <p:txBody>
          <a:bodyPr wrap="square" lIns="45720" rIns="45720" tIns="18288" bIns="18288" anchor="t">
            <a:spAutoFit/>
          </a:bodyPr>
          <a:lstStyle/>
          <a:p>
            <a:pPr algn="l"/>
            <a:r>
              <a:rPr sz="900" b="0" i="0">
                <a:solidFill>
                  <a:srgbClr val="6B7280"/>
                </a:solidFill>
                <a:latin typeface="Calibri"/>
              </a:rPr>
              <a:t>Tỷ lệ lời-lỗ</a:t>
            </a:r>
          </a:p>
        </p:txBody>
      </p:sp>
      <p:sp>
        <p:nvSpPr>
          <p:cNvPr id="25" name="TextBox 24"/>
          <p:cNvSpPr txBox="1"/>
          <p:nvPr/>
        </p:nvSpPr>
        <p:spPr>
          <a:xfrm>
            <a:off x="9118853" y="1645919"/>
            <a:ext cx="2430018" cy="502920"/>
          </a:xfrm>
          <a:prstGeom prst="rect">
            <a:avLst/>
          </a:prstGeom>
          <a:noFill/>
        </p:spPr>
        <p:txBody>
          <a:bodyPr wrap="square" lIns="45720" rIns="45720" tIns="18288" bIns="18288" anchor="t">
            <a:spAutoFit/>
          </a:bodyPr>
          <a:lstStyle/>
          <a:p>
            <a:pPr algn="l"/>
            <a:r>
              <a:rPr sz="2200" b="1" i="0">
                <a:solidFill>
                  <a:srgbClr val="8B5CF6"/>
                </a:solidFill>
                <a:latin typeface="Calibri"/>
              </a:rPr>
              <a:t>{{RR_RATIO}}</a:t>
            </a:r>
          </a:p>
        </p:txBody>
      </p:sp>
      <p:sp>
        <p:nvSpPr>
          <p:cNvPr id="26" name="TextBox 25"/>
          <p:cNvSpPr txBox="1"/>
          <p:nvPr/>
        </p:nvSpPr>
        <p:spPr>
          <a:xfrm>
            <a:off x="9118853" y="2103120"/>
            <a:ext cx="2430018" cy="274320"/>
          </a:xfrm>
          <a:prstGeom prst="rect">
            <a:avLst/>
          </a:prstGeom>
          <a:noFill/>
        </p:spPr>
        <p:txBody>
          <a:bodyPr wrap="square" lIns="45720" rIns="45720" tIns="18288" bIns="18288" anchor="t">
            <a:spAutoFit/>
          </a:bodyPr>
          <a:lstStyle/>
          <a:p>
            <a:pPr algn="l"/>
            <a:r>
              <a:rPr sz="900" b="1" i="0">
                <a:solidFill>
                  <a:srgbClr val="8B5CF6"/>
                </a:solidFill>
                <a:latin typeface="Calibri"/>
              </a:rPr>
              <a:t>{{RR_VERDICT}}</a:t>
            </a:r>
          </a:p>
        </p:txBody>
      </p:sp>
      <p:sp>
        <p:nvSpPr>
          <p:cNvPr id="27" name="Rounded Rectangle 26"/>
          <p:cNvSpPr/>
          <p:nvPr/>
        </p:nvSpPr>
        <p:spPr>
          <a:xfrm>
            <a:off x="548640" y="2697480"/>
            <a:ext cx="11091672" cy="411480"/>
          </a:xfrm>
          <a:prstGeom prst="roundRect">
            <a:avLst>
              <a:gd name="adj" fmla="val 5000"/>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8640" y="2697480"/>
            <a:ext cx="11091672" cy="411480"/>
          </a:xfrm>
          <a:prstGeom prst="rect">
            <a:avLst/>
          </a:prstGeom>
          <a:noFill/>
        </p:spPr>
        <p:txBody>
          <a:bodyPr wrap="square" lIns="45720" rIns="45720" tIns="18288" bIns="18288" anchor="ctr">
            <a:spAutoFit/>
          </a:bodyPr>
          <a:lstStyle/>
          <a:p>
            <a:pPr algn="l"/>
            <a:r>
              <a:rPr sz="1100" b="1" i="0">
                <a:solidFill>
                  <a:srgbClr val="FFFFFF"/>
                </a:solidFill>
                <a:latin typeface="Calibri"/>
              </a:rPr>
              <a:t>LUẬN ĐIỂM CỐT LÕI</a:t>
            </a:r>
          </a:p>
        </p:txBody>
      </p:sp>
      <p:sp>
        <p:nvSpPr>
          <p:cNvPr id="29" name="Rounded Rectangle 28"/>
          <p:cNvSpPr/>
          <p:nvPr/>
        </p:nvSpPr>
        <p:spPr>
          <a:xfrm>
            <a:off x="548640" y="3246120"/>
            <a:ext cx="5500116" cy="1417320"/>
          </a:xfrm>
          <a:prstGeom prst="roundRect">
            <a:avLst>
              <a:gd name="adj" fmla="val 4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31520" y="3429000"/>
            <a:ext cx="411480" cy="411480"/>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3429000"/>
            <a:ext cx="411480" cy="411480"/>
          </a:xfrm>
          <a:prstGeom prst="rect">
            <a:avLst/>
          </a:prstGeom>
          <a:noFill/>
        </p:spPr>
        <p:txBody>
          <a:bodyPr wrap="square" lIns="45720" rIns="45720" tIns="18288" bIns="18288" anchor="ctr">
            <a:spAutoFit/>
          </a:bodyPr>
          <a:lstStyle/>
          <a:p>
            <a:pPr algn="ctr"/>
            <a:r>
              <a:rPr sz="1200" b="1" i="0">
                <a:solidFill>
                  <a:srgbClr val="FFFFFF"/>
                </a:solidFill>
                <a:latin typeface="Calibri"/>
              </a:rPr>
              <a:t>01</a:t>
            </a:r>
          </a:p>
        </p:txBody>
      </p:sp>
      <p:sp>
        <p:nvSpPr>
          <p:cNvPr id="32" name="TextBox 31"/>
          <p:cNvSpPr txBox="1"/>
          <p:nvPr/>
        </p:nvSpPr>
        <p:spPr>
          <a:xfrm>
            <a:off x="1280160" y="3429000"/>
            <a:ext cx="4631436" cy="320040"/>
          </a:xfrm>
          <a:prstGeom prst="rect">
            <a:avLst/>
          </a:prstGeom>
          <a:noFill/>
        </p:spPr>
        <p:txBody>
          <a:bodyPr wrap="square" lIns="45720" rIns="45720" tIns="18288" bIns="18288" anchor="t">
            <a:spAutoFit/>
          </a:bodyPr>
          <a:lstStyle/>
          <a:p>
            <a:pPr algn="l"/>
            <a:r>
              <a:rPr sz="1100" b="1" i="0">
                <a:solidFill>
                  <a:srgbClr val="8B5CF6"/>
                </a:solidFill>
                <a:latin typeface="Calibri"/>
              </a:rPr>
              <a:t>{{POINT_1_TITLE}}</a:t>
            </a:r>
          </a:p>
        </p:txBody>
      </p:sp>
      <p:sp>
        <p:nvSpPr>
          <p:cNvPr id="33" name="TextBox 32"/>
          <p:cNvSpPr txBox="1"/>
          <p:nvPr/>
        </p:nvSpPr>
        <p:spPr>
          <a:xfrm>
            <a:off x="1280160" y="3749040"/>
            <a:ext cx="4631436" cy="822960"/>
          </a:xfrm>
          <a:prstGeom prst="rect">
            <a:avLst/>
          </a:prstGeom>
          <a:noFill/>
        </p:spPr>
        <p:txBody>
          <a:bodyPr wrap="square" lIns="45720" rIns="45720" tIns="18288" bIns="18288" anchor="t">
            <a:spAutoFit/>
          </a:bodyPr>
          <a:lstStyle/>
          <a:p>
            <a:pPr algn="l"/>
            <a:r>
              <a:rPr sz="1000" b="0" i="0">
                <a:solidFill>
                  <a:srgbClr val="1F2937"/>
                </a:solidFill>
                <a:latin typeface="Calibri"/>
              </a:rPr>
              <a:t>{{POINT_1_BODY}}</a:t>
            </a:r>
          </a:p>
        </p:txBody>
      </p:sp>
      <p:sp>
        <p:nvSpPr>
          <p:cNvPr id="34" name="Rounded Rectangle 33"/>
          <p:cNvSpPr/>
          <p:nvPr/>
        </p:nvSpPr>
        <p:spPr>
          <a:xfrm>
            <a:off x="6140196" y="3246120"/>
            <a:ext cx="5500116" cy="1417320"/>
          </a:xfrm>
          <a:prstGeom prst="roundRect">
            <a:avLst>
              <a:gd name="adj" fmla="val 4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6323076" y="3429000"/>
            <a:ext cx="411480" cy="411480"/>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23076" y="3429000"/>
            <a:ext cx="411480" cy="411480"/>
          </a:xfrm>
          <a:prstGeom prst="rect">
            <a:avLst/>
          </a:prstGeom>
          <a:noFill/>
        </p:spPr>
        <p:txBody>
          <a:bodyPr wrap="square" lIns="45720" rIns="45720" tIns="18288" bIns="18288" anchor="ctr">
            <a:spAutoFit/>
          </a:bodyPr>
          <a:lstStyle/>
          <a:p>
            <a:pPr algn="ctr"/>
            <a:r>
              <a:rPr sz="1200" b="1" i="0">
                <a:solidFill>
                  <a:srgbClr val="FFFFFF"/>
                </a:solidFill>
                <a:latin typeface="Calibri"/>
              </a:rPr>
              <a:t>02</a:t>
            </a:r>
          </a:p>
        </p:txBody>
      </p:sp>
      <p:sp>
        <p:nvSpPr>
          <p:cNvPr id="37" name="TextBox 36"/>
          <p:cNvSpPr txBox="1"/>
          <p:nvPr/>
        </p:nvSpPr>
        <p:spPr>
          <a:xfrm>
            <a:off x="6871716" y="3429000"/>
            <a:ext cx="4631436" cy="320040"/>
          </a:xfrm>
          <a:prstGeom prst="rect">
            <a:avLst/>
          </a:prstGeom>
          <a:noFill/>
        </p:spPr>
        <p:txBody>
          <a:bodyPr wrap="square" lIns="45720" rIns="45720" tIns="18288" bIns="18288" anchor="t">
            <a:spAutoFit/>
          </a:bodyPr>
          <a:lstStyle/>
          <a:p>
            <a:pPr algn="l"/>
            <a:r>
              <a:rPr sz="1100" b="1" i="0">
                <a:solidFill>
                  <a:srgbClr val="8B5CF6"/>
                </a:solidFill>
                <a:latin typeface="Calibri"/>
              </a:rPr>
              <a:t>{{POINT_2_TITLE}}</a:t>
            </a:r>
          </a:p>
        </p:txBody>
      </p:sp>
      <p:sp>
        <p:nvSpPr>
          <p:cNvPr id="38" name="TextBox 37"/>
          <p:cNvSpPr txBox="1"/>
          <p:nvPr/>
        </p:nvSpPr>
        <p:spPr>
          <a:xfrm>
            <a:off x="6871716" y="3749040"/>
            <a:ext cx="4631436" cy="822960"/>
          </a:xfrm>
          <a:prstGeom prst="rect">
            <a:avLst/>
          </a:prstGeom>
          <a:noFill/>
        </p:spPr>
        <p:txBody>
          <a:bodyPr wrap="square" lIns="45720" rIns="45720" tIns="18288" bIns="18288" anchor="t">
            <a:spAutoFit/>
          </a:bodyPr>
          <a:lstStyle/>
          <a:p>
            <a:pPr algn="l"/>
            <a:r>
              <a:rPr sz="1000" b="0" i="0">
                <a:solidFill>
                  <a:srgbClr val="1F2937"/>
                </a:solidFill>
                <a:latin typeface="Calibri"/>
              </a:rPr>
              <a:t>{{POINT_2_BODY}}</a:t>
            </a:r>
          </a:p>
        </p:txBody>
      </p:sp>
      <p:sp>
        <p:nvSpPr>
          <p:cNvPr id="39" name="Rounded Rectangle 38"/>
          <p:cNvSpPr/>
          <p:nvPr/>
        </p:nvSpPr>
        <p:spPr>
          <a:xfrm>
            <a:off x="548640" y="4846320"/>
            <a:ext cx="5500116" cy="1417320"/>
          </a:xfrm>
          <a:prstGeom prst="roundRect">
            <a:avLst>
              <a:gd name="adj" fmla="val 4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731520" y="5029200"/>
            <a:ext cx="411480" cy="411480"/>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31520" y="5029200"/>
            <a:ext cx="411480" cy="411480"/>
          </a:xfrm>
          <a:prstGeom prst="rect">
            <a:avLst/>
          </a:prstGeom>
          <a:noFill/>
        </p:spPr>
        <p:txBody>
          <a:bodyPr wrap="square" lIns="45720" rIns="45720" tIns="18288" bIns="18288" anchor="ctr">
            <a:spAutoFit/>
          </a:bodyPr>
          <a:lstStyle/>
          <a:p>
            <a:pPr algn="ctr"/>
            <a:r>
              <a:rPr sz="1200" b="1" i="0">
                <a:solidFill>
                  <a:srgbClr val="FFFFFF"/>
                </a:solidFill>
                <a:latin typeface="Calibri"/>
              </a:rPr>
              <a:t>03</a:t>
            </a:r>
          </a:p>
        </p:txBody>
      </p:sp>
      <p:sp>
        <p:nvSpPr>
          <p:cNvPr id="42" name="TextBox 41"/>
          <p:cNvSpPr txBox="1"/>
          <p:nvPr/>
        </p:nvSpPr>
        <p:spPr>
          <a:xfrm>
            <a:off x="1280160" y="5029200"/>
            <a:ext cx="4631436" cy="320040"/>
          </a:xfrm>
          <a:prstGeom prst="rect">
            <a:avLst/>
          </a:prstGeom>
          <a:noFill/>
        </p:spPr>
        <p:txBody>
          <a:bodyPr wrap="square" lIns="45720" rIns="45720" tIns="18288" bIns="18288" anchor="t">
            <a:spAutoFit/>
          </a:bodyPr>
          <a:lstStyle/>
          <a:p>
            <a:pPr algn="l"/>
            <a:r>
              <a:rPr sz="1100" b="1" i="0">
                <a:solidFill>
                  <a:srgbClr val="8B5CF6"/>
                </a:solidFill>
                <a:latin typeface="Calibri"/>
              </a:rPr>
              <a:t>{{POINT_3_TITLE}}</a:t>
            </a:r>
          </a:p>
        </p:txBody>
      </p:sp>
      <p:sp>
        <p:nvSpPr>
          <p:cNvPr id="43" name="TextBox 42"/>
          <p:cNvSpPr txBox="1"/>
          <p:nvPr/>
        </p:nvSpPr>
        <p:spPr>
          <a:xfrm>
            <a:off x="1280160" y="5349240"/>
            <a:ext cx="4631436" cy="822960"/>
          </a:xfrm>
          <a:prstGeom prst="rect">
            <a:avLst/>
          </a:prstGeom>
          <a:noFill/>
        </p:spPr>
        <p:txBody>
          <a:bodyPr wrap="square" lIns="45720" rIns="45720" tIns="18288" bIns="18288" anchor="t">
            <a:spAutoFit/>
          </a:bodyPr>
          <a:lstStyle/>
          <a:p>
            <a:pPr algn="l"/>
            <a:r>
              <a:rPr sz="1000" b="0" i="0">
                <a:solidFill>
                  <a:srgbClr val="1F2937"/>
                </a:solidFill>
                <a:latin typeface="Calibri"/>
              </a:rPr>
              <a:t>{{POINT_3_BODY}}</a:t>
            </a:r>
          </a:p>
        </p:txBody>
      </p:sp>
      <p:sp>
        <p:nvSpPr>
          <p:cNvPr id="44" name="Rounded Rectangle 43"/>
          <p:cNvSpPr/>
          <p:nvPr/>
        </p:nvSpPr>
        <p:spPr>
          <a:xfrm>
            <a:off x="6140196" y="4846320"/>
            <a:ext cx="5500116" cy="1417320"/>
          </a:xfrm>
          <a:prstGeom prst="roundRect">
            <a:avLst>
              <a:gd name="adj" fmla="val 4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6323076" y="5029200"/>
            <a:ext cx="411480" cy="411480"/>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323076" y="5029200"/>
            <a:ext cx="411480" cy="411480"/>
          </a:xfrm>
          <a:prstGeom prst="rect">
            <a:avLst/>
          </a:prstGeom>
          <a:noFill/>
        </p:spPr>
        <p:txBody>
          <a:bodyPr wrap="square" lIns="45720" rIns="45720" tIns="18288" bIns="18288" anchor="ctr">
            <a:spAutoFit/>
          </a:bodyPr>
          <a:lstStyle/>
          <a:p>
            <a:pPr algn="ctr"/>
            <a:r>
              <a:rPr sz="1200" b="1" i="0">
                <a:solidFill>
                  <a:srgbClr val="FFFFFF"/>
                </a:solidFill>
                <a:latin typeface="Calibri"/>
              </a:rPr>
              <a:t>04</a:t>
            </a:r>
          </a:p>
        </p:txBody>
      </p:sp>
      <p:sp>
        <p:nvSpPr>
          <p:cNvPr id="47" name="TextBox 46"/>
          <p:cNvSpPr txBox="1"/>
          <p:nvPr/>
        </p:nvSpPr>
        <p:spPr>
          <a:xfrm>
            <a:off x="6871716" y="5029200"/>
            <a:ext cx="4631436" cy="320040"/>
          </a:xfrm>
          <a:prstGeom prst="rect">
            <a:avLst/>
          </a:prstGeom>
          <a:noFill/>
        </p:spPr>
        <p:txBody>
          <a:bodyPr wrap="square" lIns="45720" rIns="45720" tIns="18288" bIns="18288" anchor="t">
            <a:spAutoFit/>
          </a:bodyPr>
          <a:lstStyle/>
          <a:p>
            <a:pPr algn="l"/>
            <a:r>
              <a:rPr sz="1100" b="1" i="0">
                <a:solidFill>
                  <a:srgbClr val="8B5CF6"/>
                </a:solidFill>
                <a:latin typeface="Calibri"/>
              </a:rPr>
              <a:t>{{POINT_4_TITLE}}</a:t>
            </a:r>
          </a:p>
        </p:txBody>
      </p:sp>
      <p:sp>
        <p:nvSpPr>
          <p:cNvPr id="48" name="TextBox 47"/>
          <p:cNvSpPr txBox="1"/>
          <p:nvPr/>
        </p:nvSpPr>
        <p:spPr>
          <a:xfrm>
            <a:off x="6871716" y="5349240"/>
            <a:ext cx="4631436" cy="822960"/>
          </a:xfrm>
          <a:prstGeom prst="rect">
            <a:avLst/>
          </a:prstGeom>
          <a:noFill/>
        </p:spPr>
        <p:txBody>
          <a:bodyPr wrap="square" lIns="45720" rIns="45720" tIns="18288" bIns="18288" anchor="t">
            <a:spAutoFit/>
          </a:bodyPr>
          <a:lstStyle/>
          <a:p>
            <a:pPr algn="l"/>
            <a:r>
              <a:rPr sz="1000" b="0" i="0">
                <a:solidFill>
                  <a:srgbClr val="1F2937"/>
                </a:solidFill>
                <a:latin typeface="Calibri"/>
              </a:rPr>
              <a:t>{{POINT_4_BODY}}</a:t>
            </a:r>
          </a:p>
        </p:txBody>
      </p:sp>
      <p:sp>
        <p:nvSpPr>
          <p:cNvPr id="49" name="TextBox 48"/>
          <p:cNvSpPr txBox="1"/>
          <p:nvPr/>
        </p:nvSpPr>
        <p:spPr>
          <a:xfrm>
            <a:off x="548640" y="6492240"/>
            <a:ext cx="8229600" cy="274320"/>
          </a:xfrm>
          <a:prstGeom prst="rect">
            <a:avLst/>
          </a:prstGeom>
          <a:noFill/>
        </p:spPr>
        <p:txBody>
          <a:bodyPr wrap="square" lIns="45720" rIns="45720" tIns="18288" bIns="18288" anchor="t">
            <a:spAutoFit/>
          </a:bodyPr>
          <a:lstStyle/>
          <a:p>
            <a:pPr algn="l"/>
            <a:r>
              <a:rPr sz="900" b="0" i="1">
                <a:solidFill>
                  <a:srgbClr val="9CA3AF"/>
                </a:solidFill>
                <a:latin typeface="Calibri"/>
              </a:rPr>
              <a:t>{{FOOTER_LEFT}}</a:t>
            </a:r>
          </a:p>
        </p:txBody>
      </p:sp>
      <p:sp>
        <p:nvSpPr>
          <p:cNvPr id="50" name="TextBox 49"/>
          <p:cNvSpPr txBox="1"/>
          <p:nvPr/>
        </p:nvSpPr>
        <p:spPr>
          <a:xfrm>
            <a:off x="10058400" y="6492240"/>
            <a:ext cx="1645920" cy="274320"/>
          </a:xfrm>
          <a:prstGeom prst="rect">
            <a:avLst/>
          </a:prstGeom>
          <a:noFill/>
        </p:spPr>
        <p:txBody>
          <a:bodyPr wrap="square" lIns="45720" rIns="45720" tIns="18288" bIns="18288" anchor="t">
            <a:spAutoFit/>
          </a:bodyPr>
          <a:lstStyle/>
          <a:p>
            <a:pPr algn="r"/>
            <a:r>
              <a:rPr sz="900" b="0" i="0">
                <a:solidFill>
                  <a:srgbClr val="9CA3AF"/>
                </a:solidFill>
                <a:latin typeface="Calibri"/>
              </a:rPr>
              <a:t>{{PAGE_NUM}}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name="BIG_STAT_SUBPOINTS">
    <p:spTree>
      <p:nvGrpSpPr>
        <p:cNvPr id="1" name=""/>
        <p:cNvGrpSpPr/>
        <p:nvPr/>
      </p:nvGrpSpPr>
      <p:grpSpPr/>
      <p:sp>
        <p:nvSpPr>
          <p:cNvPr id="2" name="Rectangle 1"/>
          <p:cNvSpPr/>
          <p:nvPr/>
        </p:nvSpPr>
        <p:spPr>
          <a:xfrm>
            <a:off x="457200" y="274320"/>
            <a:ext cx="73152" cy="32004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594359"/>
            <a:ext cx="73152" cy="320040"/>
          </a:xfrm>
          <a:prstGeom prst="rect">
            <a:avLst/>
          </a:prstGeom>
          <a:solidFill>
            <a:srgbClr val="B47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74320"/>
            <a:ext cx="10972800" cy="365760"/>
          </a:xfrm>
          <a:prstGeom prst="rect">
            <a:avLst/>
          </a:prstGeom>
          <a:noFill/>
        </p:spPr>
        <p:txBody>
          <a:bodyPr wrap="square" lIns="45720" rIns="45720" tIns="18288" bIns="18288" anchor="t">
            <a:spAutoFit/>
          </a:bodyPr>
          <a:lstStyle/>
          <a:p>
            <a:pPr algn="l"/>
            <a:r>
              <a:rPr sz="2400" b="1" i="0">
                <a:solidFill>
                  <a:srgbClr val="1F2937"/>
                </a:solidFill>
                <a:latin typeface="Calibri"/>
              </a:rPr>
              <a:t>{{LUANDIEM_TITLE}}</a:t>
            </a:r>
          </a:p>
        </p:txBody>
      </p:sp>
      <p:sp>
        <p:nvSpPr>
          <p:cNvPr id="5" name="TextBox 4"/>
          <p:cNvSpPr txBox="1"/>
          <p:nvPr/>
        </p:nvSpPr>
        <p:spPr>
          <a:xfrm>
            <a:off x="594360" y="640080"/>
            <a:ext cx="10972800" cy="274320"/>
          </a:xfrm>
          <a:prstGeom prst="rect">
            <a:avLst/>
          </a:prstGeom>
          <a:noFill/>
        </p:spPr>
        <p:txBody>
          <a:bodyPr wrap="square" lIns="45720" rIns="45720" tIns="18288" bIns="18288" anchor="t">
            <a:spAutoFit/>
          </a:bodyPr>
          <a:lstStyle/>
          <a:p>
            <a:pPr algn="l"/>
            <a:r>
              <a:rPr sz="1100" b="0" i="1">
                <a:solidFill>
                  <a:srgbClr val="6B7280"/>
                </a:solidFill>
                <a:latin typeface="Calibri"/>
              </a:rPr>
              <a:t>{{LUANDIEM_SUB}}</a:t>
            </a:r>
          </a:p>
        </p:txBody>
      </p:sp>
      <p:sp>
        <p:nvSpPr>
          <p:cNvPr id="6" name="Rectangle 5"/>
          <p:cNvSpPr/>
          <p:nvPr/>
        </p:nvSpPr>
        <p:spPr>
          <a:xfrm>
            <a:off x="548640" y="1005840"/>
            <a:ext cx="11091672" cy="18288"/>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280160"/>
            <a:ext cx="4114800" cy="2926080"/>
          </a:xfrm>
          <a:prstGeom prst="roundRect">
            <a:avLst>
              <a:gd name="adj" fmla="val 5000"/>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508760"/>
            <a:ext cx="3657600" cy="457200"/>
          </a:xfrm>
          <a:prstGeom prst="rect">
            <a:avLst/>
          </a:prstGeom>
          <a:noFill/>
        </p:spPr>
        <p:txBody>
          <a:bodyPr wrap="square" lIns="45720" rIns="45720" tIns="18288" bIns="18288" anchor="t">
            <a:spAutoFit/>
          </a:bodyPr>
          <a:lstStyle/>
          <a:p>
            <a:pPr algn="l"/>
            <a:r>
              <a:rPr sz="1400" b="1" i="0">
                <a:solidFill>
                  <a:srgbClr val="B47EFF"/>
                </a:solidFill>
                <a:latin typeface="Calibri"/>
              </a:rPr>
              <a:t>{{KPI_LABEL}}</a:t>
            </a:r>
          </a:p>
        </p:txBody>
      </p:sp>
      <p:sp>
        <p:nvSpPr>
          <p:cNvPr id="9" name="TextBox 8"/>
          <p:cNvSpPr txBox="1"/>
          <p:nvPr/>
        </p:nvSpPr>
        <p:spPr>
          <a:xfrm>
            <a:off x="777240" y="2011680"/>
            <a:ext cx="3657600" cy="1188720"/>
          </a:xfrm>
          <a:prstGeom prst="rect">
            <a:avLst/>
          </a:prstGeom>
          <a:noFill/>
        </p:spPr>
        <p:txBody>
          <a:bodyPr wrap="square" lIns="45720" rIns="45720" tIns="18288" bIns="18288" anchor="ctr">
            <a:spAutoFit/>
          </a:bodyPr>
          <a:lstStyle/>
          <a:p>
            <a:pPr algn="ctr"/>
            <a:r>
              <a:rPr sz="7200" b="1" i="0">
                <a:solidFill>
                  <a:srgbClr val="FFFFFF"/>
                </a:solidFill>
                <a:latin typeface="Calibri"/>
              </a:rPr>
              <a:t>{{KPI_VALUE}}</a:t>
            </a:r>
          </a:p>
        </p:txBody>
      </p:sp>
      <p:sp>
        <p:nvSpPr>
          <p:cNvPr id="10" name="TextBox 9"/>
          <p:cNvSpPr txBox="1"/>
          <p:nvPr/>
        </p:nvSpPr>
        <p:spPr>
          <a:xfrm>
            <a:off x="777240" y="3291840"/>
            <a:ext cx="3657600" cy="365760"/>
          </a:xfrm>
          <a:prstGeom prst="rect">
            <a:avLst/>
          </a:prstGeom>
          <a:noFill/>
        </p:spPr>
        <p:txBody>
          <a:bodyPr wrap="square" lIns="45720" rIns="45720" tIns="18288" bIns="18288" anchor="t">
            <a:spAutoFit/>
          </a:bodyPr>
          <a:lstStyle/>
          <a:p>
            <a:pPr algn="ctr"/>
            <a:r>
              <a:rPr sz="1100" b="0" i="1">
                <a:solidFill>
                  <a:srgbClr val="FFFFFF"/>
                </a:solidFill>
                <a:latin typeface="Calibri"/>
              </a:rPr>
              <a:t>{{KPI_NOTE}}</a:t>
            </a:r>
          </a:p>
        </p:txBody>
      </p:sp>
      <p:sp>
        <p:nvSpPr>
          <p:cNvPr id="11" name="TextBox 10"/>
          <p:cNvSpPr txBox="1"/>
          <p:nvPr/>
        </p:nvSpPr>
        <p:spPr>
          <a:xfrm>
            <a:off x="777240" y="3749039"/>
            <a:ext cx="3657600" cy="365760"/>
          </a:xfrm>
          <a:prstGeom prst="rect">
            <a:avLst/>
          </a:prstGeom>
          <a:noFill/>
        </p:spPr>
        <p:txBody>
          <a:bodyPr wrap="square" lIns="45720" rIns="45720" tIns="18288" bIns="18288" anchor="t">
            <a:spAutoFit/>
          </a:bodyPr>
          <a:lstStyle/>
          <a:p>
            <a:pPr algn="ctr"/>
            <a:r>
              <a:rPr sz="1100" b="0" i="0">
                <a:solidFill>
                  <a:srgbClr val="FFFFFF"/>
                </a:solidFill>
                <a:latin typeface="Calibri"/>
              </a:rPr>
              <a:t>{{KPI_SUB}}</a:t>
            </a:r>
          </a:p>
        </p:txBody>
      </p:sp>
      <p:sp>
        <p:nvSpPr>
          <p:cNvPr id="12" name="Rounded Rectangle 11"/>
          <p:cNvSpPr/>
          <p:nvPr/>
        </p:nvSpPr>
        <p:spPr>
          <a:xfrm>
            <a:off x="4937759" y="1280160"/>
            <a:ext cx="6702552" cy="1417320"/>
          </a:xfrm>
          <a:prstGeom prst="roundRect">
            <a:avLst>
              <a:gd name="adj" fmla="val 4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937759" y="1325880"/>
            <a:ext cx="73152" cy="132588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20640" y="1371600"/>
            <a:ext cx="6428232" cy="320040"/>
          </a:xfrm>
          <a:prstGeom prst="rect">
            <a:avLst/>
          </a:prstGeom>
          <a:noFill/>
        </p:spPr>
        <p:txBody>
          <a:bodyPr wrap="square" lIns="45720" rIns="45720" tIns="18288" bIns="18288" anchor="t">
            <a:spAutoFit/>
          </a:bodyPr>
          <a:lstStyle/>
          <a:p>
            <a:pPr algn="l"/>
            <a:r>
              <a:rPr sz="1300" b="1" i="0">
                <a:solidFill>
                  <a:srgbClr val="1F2937"/>
                </a:solidFill>
                <a:latin typeface="Calibri"/>
              </a:rPr>
              <a:t>{{SUBPOINT_1_TITLE}}</a:t>
            </a:r>
          </a:p>
        </p:txBody>
      </p:sp>
      <p:sp>
        <p:nvSpPr>
          <p:cNvPr id="15" name="TextBox 14"/>
          <p:cNvSpPr txBox="1"/>
          <p:nvPr/>
        </p:nvSpPr>
        <p:spPr>
          <a:xfrm>
            <a:off x="5120640" y="1691639"/>
            <a:ext cx="6428232" cy="914400"/>
          </a:xfrm>
          <a:prstGeom prst="rect">
            <a:avLst/>
          </a:prstGeom>
          <a:noFill/>
        </p:spPr>
        <p:txBody>
          <a:bodyPr wrap="square" lIns="45720" rIns="45720" tIns="18288" bIns="18288" anchor="t">
            <a:spAutoFit/>
          </a:bodyPr>
          <a:lstStyle/>
          <a:p>
            <a:pPr algn="l"/>
            <a:r>
              <a:rPr sz="1100" b="0" i="0">
                <a:solidFill>
                  <a:srgbClr val="1F2937"/>
                </a:solidFill>
                <a:latin typeface="Calibri"/>
              </a:rPr>
              <a:t>{{SUBPOINT_1_BODY}}</a:t>
            </a:r>
          </a:p>
        </p:txBody>
      </p:sp>
      <p:sp>
        <p:nvSpPr>
          <p:cNvPr id="16" name="Rounded Rectangle 15"/>
          <p:cNvSpPr/>
          <p:nvPr/>
        </p:nvSpPr>
        <p:spPr>
          <a:xfrm>
            <a:off x="4937759" y="2788920"/>
            <a:ext cx="6702552" cy="1417320"/>
          </a:xfrm>
          <a:prstGeom prst="roundRect">
            <a:avLst>
              <a:gd name="adj" fmla="val 4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937759" y="2834639"/>
            <a:ext cx="73152" cy="132588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20640" y="2880360"/>
            <a:ext cx="6428232" cy="320040"/>
          </a:xfrm>
          <a:prstGeom prst="rect">
            <a:avLst/>
          </a:prstGeom>
          <a:noFill/>
        </p:spPr>
        <p:txBody>
          <a:bodyPr wrap="square" lIns="45720" rIns="45720" tIns="18288" bIns="18288" anchor="t">
            <a:spAutoFit/>
          </a:bodyPr>
          <a:lstStyle/>
          <a:p>
            <a:pPr algn="l"/>
            <a:r>
              <a:rPr sz="1300" b="1" i="0">
                <a:solidFill>
                  <a:srgbClr val="1F2937"/>
                </a:solidFill>
                <a:latin typeface="Calibri"/>
              </a:rPr>
              <a:t>{{SUBPOINT_2_TITLE}}</a:t>
            </a:r>
          </a:p>
        </p:txBody>
      </p:sp>
      <p:sp>
        <p:nvSpPr>
          <p:cNvPr id="19" name="TextBox 18"/>
          <p:cNvSpPr txBox="1"/>
          <p:nvPr/>
        </p:nvSpPr>
        <p:spPr>
          <a:xfrm>
            <a:off x="5120640" y="3200400"/>
            <a:ext cx="6428232" cy="914400"/>
          </a:xfrm>
          <a:prstGeom prst="rect">
            <a:avLst/>
          </a:prstGeom>
          <a:noFill/>
        </p:spPr>
        <p:txBody>
          <a:bodyPr wrap="square" lIns="45720" rIns="45720" tIns="18288" bIns="18288" anchor="t">
            <a:spAutoFit/>
          </a:bodyPr>
          <a:lstStyle/>
          <a:p>
            <a:pPr algn="l"/>
            <a:r>
              <a:rPr sz="1100" b="0" i="0">
                <a:solidFill>
                  <a:srgbClr val="1F2937"/>
                </a:solidFill>
                <a:latin typeface="Calibri"/>
              </a:rPr>
              <a:t>{{SUBPOINT_2_BODY}}</a:t>
            </a:r>
          </a:p>
        </p:txBody>
      </p:sp>
      <p:sp>
        <p:nvSpPr>
          <p:cNvPr id="20" name="Rounded Rectangle 19"/>
          <p:cNvSpPr/>
          <p:nvPr/>
        </p:nvSpPr>
        <p:spPr>
          <a:xfrm>
            <a:off x="4937759" y="4297680"/>
            <a:ext cx="6702552" cy="1417320"/>
          </a:xfrm>
          <a:prstGeom prst="roundRect">
            <a:avLst>
              <a:gd name="adj" fmla="val 4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937759" y="4343400"/>
            <a:ext cx="73152" cy="132588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120640" y="4389120"/>
            <a:ext cx="6428232" cy="320040"/>
          </a:xfrm>
          <a:prstGeom prst="rect">
            <a:avLst/>
          </a:prstGeom>
          <a:noFill/>
        </p:spPr>
        <p:txBody>
          <a:bodyPr wrap="square" lIns="45720" rIns="45720" tIns="18288" bIns="18288" anchor="t">
            <a:spAutoFit/>
          </a:bodyPr>
          <a:lstStyle/>
          <a:p>
            <a:pPr algn="l"/>
            <a:r>
              <a:rPr sz="1300" b="1" i="0">
                <a:solidFill>
                  <a:srgbClr val="1F2937"/>
                </a:solidFill>
                <a:latin typeface="Calibri"/>
              </a:rPr>
              <a:t>{{SUBPOINT_3_TITLE}}</a:t>
            </a:r>
          </a:p>
        </p:txBody>
      </p:sp>
      <p:sp>
        <p:nvSpPr>
          <p:cNvPr id="23" name="TextBox 22"/>
          <p:cNvSpPr txBox="1"/>
          <p:nvPr/>
        </p:nvSpPr>
        <p:spPr>
          <a:xfrm>
            <a:off x="5120640" y="4709160"/>
            <a:ext cx="6428232" cy="914400"/>
          </a:xfrm>
          <a:prstGeom prst="rect">
            <a:avLst/>
          </a:prstGeom>
          <a:noFill/>
        </p:spPr>
        <p:txBody>
          <a:bodyPr wrap="square" lIns="45720" rIns="45720" tIns="18288" bIns="18288" anchor="t">
            <a:spAutoFit/>
          </a:bodyPr>
          <a:lstStyle/>
          <a:p>
            <a:pPr algn="l"/>
            <a:r>
              <a:rPr sz="1100" b="0" i="0">
                <a:solidFill>
                  <a:srgbClr val="1F2937"/>
                </a:solidFill>
                <a:latin typeface="Calibri"/>
              </a:rPr>
              <a:t>{{SUBPOINT_3_BODY}}</a:t>
            </a:r>
          </a:p>
        </p:txBody>
      </p:sp>
      <p:sp>
        <p:nvSpPr>
          <p:cNvPr id="24" name="Rounded Rectangle 23"/>
          <p:cNvSpPr/>
          <p:nvPr/>
        </p:nvSpPr>
        <p:spPr>
          <a:xfrm>
            <a:off x="548640" y="4389120"/>
            <a:ext cx="4114800" cy="1783080"/>
          </a:xfrm>
          <a:prstGeom prst="roundRect">
            <a:avLst>
              <a:gd name="adj" fmla="val 4000"/>
            </a:avLst>
          </a:prstGeom>
          <a:solidFill>
            <a:srgbClr val="F3E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4480559"/>
            <a:ext cx="3840480" cy="274320"/>
          </a:xfrm>
          <a:prstGeom prst="rect">
            <a:avLst/>
          </a:prstGeom>
          <a:noFill/>
        </p:spPr>
        <p:txBody>
          <a:bodyPr wrap="square" lIns="45720" rIns="45720" tIns="18288" bIns="18288" anchor="t">
            <a:spAutoFit/>
          </a:bodyPr>
          <a:lstStyle/>
          <a:p>
            <a:pPr algn="l"/>
            <a:r>
              <a:rPr sz="1000" b="1" i="0">
                <a:solidFill>
                  <a:srgbClr val="8B5CF6"/>
                </a:solidFill>
                <a:latin typeface="Calibri"/>
              </a:rPr>
              <a:t>CHỈ SỐ ĐỊNH GIÁ THAM CHIẾU</a:t>
            </a:r>
          </a:p>
        </p:txBody>
      </p:sp>
      <p:sp>
        <p:nvSpPr>
          <p:cNvPr id="26" name="Rectangle 25"/>
          <p:cNvSpPr/>
          <p:nvPr/>
        </p:nvSpPr>
        <p:spPr>
          <a:xfrm>
            <a:off x="731520" y="4773168"/>
            <a:ext cx="3840480" cy="2286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4846320"/>
            <a:ext cx="2112264" cy="256032"/>
          </a:xfrm>
          <a:prstGeom prst="rect">
            <a:avLst/>
          </a:prstGeom>
          <a:noFill/>
        </p:spPr>
        <p:txBody>
          <a:bodyPr wrap="square" lIns="45720" rIns="45720" tIns="18288" bIns="18288" anchor="t">
            <a:spAutoFit/>
          </a:bodyPr>
          <a:lstStyle/>
          <a:p>
            <a:pPr algn="l"/>
            <a:r>
              <a:rPr sz="1000" b="0" i="0">
                <a:solidFill>
                  <a:srgbClr val="6B7280"/>
                </a:solidFill>
                <a:latin typeface="Calibri"/>
              </a:rPr>
              <a:t>{{KPI_ROW_1_LABEL}}</a:t>
            </a:r>
          </a:p>
        </p:txBody>
      </p:sp>
      <p:sp>
        <p:nvSpPr>
          <p:cNvPr id="28" name="TextBox 27"/>
          <p:cNvSpPr txBox="1"/>
          <p:nvPr/>
        </p:nvSpPr>
        <p:spPr>
          <a:xfrm>
            <a:off x="2843784" y="4846320"/>
            <a:ext cx="1728216" cy="256032"/>
          </a:xfrm>
          <a:prstGeom prst="rect">
            <a:avLst/>
          </a:prstGeom>
          <a:noFill/>
        </p:spPr>
        <p:txBody>
          <a:bodyPr wrap="square" lIns="45720" rIns="45720" tIns="18288" bIns="18288" anchor="t">
            <a:spAutoFit/>
          </a:bodyPr>
          <a:lstStyle/>
          <a:p>
            <a:pPr algn="r"/>
            <a:r>
              <a:rPr sz="1100" b="1" i="0">
                <a:solidFill>
                  <a:srgbClr val="1F2937"/>
                </a:solidFill>
                <a:latin typeface="Calibri"/>
              </a:rPr>
              <a:t>{{KPI_ROW_1_VALUE}}</a:t>
            </a:r>
          </a:p>
        </p:txBody>
      </p:sp>
      <p:sp>
        <p:nvSpPr>
          <p:cNvPr id="29" name="TextBox 28"/>
          <p:cNvSpPr txBox="1"/>
          <p:nvPr/>
        </p:nvSpPr>
        <p:spPr>
          <a:xfrm>
            <a:off x="731520" y="5102352"/>
            <a:ext cx="2112264" cy="256032"/>
          </a:xfrm>
          <a:prstGeom prst="rect">
            <a:avLst/>
          </a:prstGeom>
          <a:noFill/>
        </p:spPr>
        <p:txBody>
          <a:bodyPr wrap="square" lIns="45720" rIns="45720" tIns="18288" bIns="18288" anchor="t">
            <a:spAutoFit/>
          </a:bodyPr>
          <a:lstStyle/>
          <a:p>
            <a:pPr algn="l"/>
            <a:r>
              <a:rPr sz="1000" b="0" i="0">
                <a:solidFill>
                  <a:srgbClr val="6B7280"/>
                </a:solidFill>
                <a:latin typeface="Calibri"/>
              </a:rPr>
              <a:t>{{KPI_ROW_2_LABEL}}</a:t>
            </a:r>
          </a:p>
        </p:txBody>
      </p:sp>
      <p:sp>
        <p:nvSpPr>
          <p:cNvPr id="30" name="TextBox 29"/>
          <p:cNvSpPr txBox="1"/>
          <p:nvPr/>
        </p:nvSpPr>
        <p:spPr>
          <a:xfrm>
            <a:off x="2843784" y="5102352"/>
            <a:ext cx="1728216" cy="256032"/>
          </a:xfrm>
          <a:prstGeom prst="rect">
            <a:avLst/>
          </a:prstGeom>
          <a:noFill/>
        </p:spPr>
        <p:txBody>
          <a:bodyPr wrap="square" lIns="45720" rIns="45720" tIns="18288" bIns="18288" anchor="t">
            <a:spAutoFit/>
          </a:bodyPr>
          <a:lstStyle/>
          <a:p>
            <a:pPr algn="r"/>
            <a:r>
              <a:rPr sz="1100" b="1" i="0">
                <a:solidFill>
                  <a:srgbClr val="1F2937"/>
                </a:solidFill>
                <a:latin typeface="Calibri"/>
              </a:rPr>
              <a:t>{{KPI_ROW_2_VALUE}}</a:t>
            </a:r>
          </a:p>
        </p:txBody>
      </p:sp>
      <p:sp>
        <p:nvSpPr>
          <p:cNvPr id="31" name="TextBox 30"/>
          <p:cNvSpPr txBox="1"/>
          <p:nvPr/>
        </p:nvSpPr>
        <p:spPr>
          <a:xfrm>
            <a:off x="731520" y="5358384"/>
            <a:ext cx="2112264" cy="256032"/>
          </a:xfrm>
          <a:prstGeom prst="rect">
            <a:avLst/>
          </a:prstGeom>
          <a:noFill/>
        </p:spPr>
        <p:txBody>
          <a:bodyPr wrap="square" lIns="45720" rIns="45720" tIns="18288" bIns="18288" anchor="t">
            <a:spAutoFit/>
          </a:bodyPr>
          <a:lstStyle/>
          <a:p>
            <a:pPr algn="l"/>
            <a:r>
              <a:rPr sz="1000" b="0" i="0">
                <a:solidFill>
                  <a:srgbClr val="6B7280"/>
                </a:solidFill>
                <a:latin typeface="Calibri"/>
              </a:rPr>
              <a:t>{{KPI_ROW_3_LABEL}}</a:t>
            </a:r>
          </a:p>
        </p:txBody>
      </p:sp>
      <p:sp>
        <p:nvSpPr>
          <p:cNvPr id="32" name="TextBox 31"/>
          <p:cNvSpPr txBox="1"/>
          <p:nvPr/>
        </p:nvSpPr>
        <p:spPr>
          <a:xfrm>
            <a:off x="2843784" y="5358384"/>
            <a:ext cx="1728216" cy="256032"/>
          </a:xfrm>
          <a:prstGeom prst="rect">
            <a:avLst/>
          </a:prstGeom>
          <a:noFill/>
        </p:spPr>
        <p:txBody>
          <a:bodyPr wrap="square" lIns="45720" rIns="45720" tIns="18288" bIns="18288" anchor="t">
            <a:spAutoFit/>
          </a:bodyPr>
          <a:lstStyle/>
          <a:p>
            <a:pPr algn="r"/>
            <a:r>
              <a:rPr sz="1100" b="1" i="0">
                <a:solidFill>
                  <a:srgbClr val="1F2937"/>
                </a:solidFill>
                <a:latin typeface="Calibri"/>
              </a:rPr>
              <a:t>{{KPI_ROW_3_VALUE}}</a:t>
            </a:r>
          </a:p>
        </p:txBody>
      </p:sp>
      <p:sp>
        <p:nvSpPr>
          <p:cNvPr id="33" name="TextBox 32"/>
          <p:cNvSpPr txBox="1"/>
          <p:nvPr/>
        </p:nvSpPr>
        <p:spPr>
          <a:xfrm>
            <a:off x="731520" y="5614416"/>
            <a:ext cx="2112264" cy="256032"/>
          </a:xfrm>
          <a:prstGeom prst="rect">
            <a:avLst/>
          </a:prstGeom>
          <a:noFill/>
        </p:spPr>
        <p:txBody>
          <a:bodyPr wrap="square" lIns="45720" rIns="45720" tIns="18288" bIns="18288" anchor="t">
            <a:spAutoFit/>
          </a:bodyPr>
          <a:lstStyle/>
          <a:p>
            <a:pPr algn="l"/>
            <a:r>
              <a:rPr sz="1000" b="0" i="0">
                <a:solidFill>
                  <a:srgbClr val="6B7280"/>
                </a:solidFill>
                <a:latin typeface="Calibri"/>
              </a:rPr>
              <a:t>{{KPI_ROW_4_LABEL}}</a:t>
            </a:r>
          </a:p>
        </p:txBody>
      </p:sp>
      <p:sp>
        <p:nvSpPr>
          <p:cNvPr id="34" name="TextBox 33"/>
          <p:cNvSpPr txBox="1"/>
          <p:nvPr/>
        </p:nvSpPr>
        <p:spPr>
          <a:xfrm>
            <a:off x="2843784" y="5614416"/>
            <a:ext cx="1728216" cy="256032"/>
          </a:xfrm>
          <a:prstGeom prst="rect">
            <a:avLst/>
          </a:prstGeom>
          <a:noFill/>
        </p:spPr>
        <p:txBody>
          <a:bodyPr wrap="square" lIns="45720" rIns="45720" tIns="18288" bIns="18288" anchor="t">
            <a:spAutoFit/>
          </a:bodyPr>
          <a:lstStyle/>
          <a:p>
            <a:pPr algn="r"/>
            <a:r>
              <a:rPr sz="1100" b="1" i="0">
                <a:solidFill>
                  <a:srgbClr val="1F2937"/>
                </a:solidFill>
                <a:latin typeface="Calibri"/>
              </a:rPr>
              <a:t>{{KPI_ROW_4_VALUE}}</a:t>
            </a:r>
          </a:p>
        </p:txBody>
      </p:sp>
      <p:sp>
        <p:nvSpPr>
          <p:cNvPr id="35" name="TextBox 34"/>
          <p:cNvSpPr txBox="1"/>
          <p:nvPr/>
        </p:nvSpPr>
        <p:spPr>
          <a:xfrm>
            <a:off x="731520" y="5870448"/>
            <a:ext cx="2112264" cy="256032"/>
          </a:xfrm>
          <a:prstGeom prst="rect">
            <a:avLst/>
          </a:prstGeom>
          <a:noFill/>
        </p:spPr>
        <p:txBody>
          <a:bodyPr wrap="square" lIns="45720" rIns="45720" tIns="18288" bIns="18288" anchor="t">
            <a:spAutoFit/>
          </a:bodyPr>
          <a:lstStyle/>
          <a:p>
            <a:pPr algn="l"/>
            <a:r>
              <a:rPr sz="1000" b="0" i="0">
                <a:solidFill>
                  <a:srgbClr val="6B7280"/>
                </a:solidFill>
                <a:latin typeface="Calibri"/>
              </a:rPr>
              <a:t>{{KPI_ROW_5_LABEL}}</a:t>
            </a:r>
          </a:p>
        </p:txBody>
      </p:sp>
      <p:sp>
        <p:nvSpPr>
          <p:cNvPr id="36" name="TextBox 35"/>
          <p:cNvSpPr txBox="1"/>
          <p:nvPr/>
        </p:nvSpPr>
        <p:spPr>
          <a:xfrm>
            <a:off x="2843784" y="5870448"/>
            <a:ext cx="1728216" cy="256032"/>
          </a:xfrm>
          <a:prstGeom prst="rect">
            <a:avLst/>
          </a:prstGeom>
          <a:noFill/>
        </p:spPr>
        <p:txBody>
          <a:bodyPr wrap="square" lIns="45720" rIns="45720" tIns="18288" bIns="18288" anchor="t">
            <a:spAutoFit/>
          </a:bodyPr>
          <a:lstStyle/>
          <a:p>
            <a:pPr algn="r"/>
            <a:r>
              <a:rPr sz="1100" b="1" i="0">
                <a:solidFill>
                  <a:srgbClr val="1F2937"/>
                </a:solidFill>
                <a:latin typeface="Calibri"/>
              </a:rPr>
              <a:t>{{KPI_ROW_5_VALUE}}</a:t>
            </a:r>
          </a:p>
        </p:txBody>
      </p:sp>
      <p:sp>
        <p:nvSpPr>
          <p:cNvPr id="37" name="TextBox 36"/>
          <p:cNvSpPr txBox="1"/>
          <p:nvPr/>
        </p:nvSpPr>
        <p:spPr>
          <a:xfrm>
            <a:off x="548640" y="6492240"/>
            <a:ext cx="8229600" cy="274320"/>
          </a:xfrm>
          <a:prstGeom prst="rect">
            <a:avLst/>
          </a:prstGeom>
          <a:noFill/>
        </p:spPr>
        <p:txBody>
          <a:bodyPr wrap="square" lIns="45720" rIns="45720" tIns="18288" bIns="18288" anchor="t">
            <a:spAutoFit/>
          </a:bodyPr>
          <a:lstStyle/>
          <a:p>
            <a:pPr algn="l"/>
            <a:r>
              <a:rPr sz="900" b="0" i="1">
                <a:solidFill>
                  <a:srgbClr val="9CA3AF"/>
                </a:solidFill>
                <a:latin typeface="Calibri"/>
              </a:rPr>
              <a:t>{{FOOTER_LEFT}}</a:t>
            </a:r>
          </a:p>
        </p:txBody>
      </p:sp>
      <p:sp>
        <p:nvSpPr>
          <p:cNvPr id="38" name="TextBox 37"/>
          <p:cNvSpPr txBox="1"/>
          <p:nvPr/>
        </p:nvSpPr>
        <p:spPr>
          <a:xfrm>
            <a:off x="10058400" y="6492240"/>
            <a:ext cx="1645920" cy="274320"/>
          </a:xfrm>
          <a:prstGeom prst="rect">
            <a:avLst/>
          </a:prstGeom>
          <a:noFill/>
        </p:spPr>
        <p:txBody>
          <a:bodyPr wrap="square" lIns="45720" rIns="45720" tIns="18288" bIns="18288" anchor="t">
            <a:spAutoFit/>
          </a:bodyPr>
          <a:lstStyle/>
          <a:p>
            <a:pPr algn="r"/>
            <a:r>
              <a:rPr sz="900" b="0" i="0">
                <a:solidFill>
                  <a:srgbClr val="9CA3AF"/>
                </a:solidFill>
                <a:latin typeface="Calibri"/>
              </a:rPr>
              <a:t>{{PAGE_NUM}}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name="TWO_COLUMN_INFO_BUSINESS">
    <p:spTree>
      <p:nvGrpSpPr>
        <p:cNvPr id="1" name=""/>
        <p:cNvGrpSpPr/>
        <p:nvPr/>
      </p:nvGrpSpPr>
      <p:grpSpPr/>
      <p:sp>
        <p:nvSpPr>
          <p:cNvPr id="2" name="Rectangle 1"/>
          <p:cNvSpPr/>
          <p:nvPr/>
        </p:nvSpPr>
        <p:spPr>
          <a:xfrm>
            <a:off x="457200" y="274320"/>
            <a:ext cx="73152" cy="32004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594359"/>
            <a:ext cx="73152" cy="320040"/>
          </a:xfrm>
          <a:prstGeom prst="rect">
            <a:avLst/>
          </a:prstGeom>
          <a:solidFill>
            <a:srgbClr val="B47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74320"/>
            <a:ext cx="10972800" cy="365760"/>
          </a:xfrm>
          <a:prstGeom prst="rect">
            <a:avLst/>
          </a:prstGeom>
          <a:noFill/>
        </p:spPr>
        <p:txBody>
          <a:bodyPr wrap="square" lIns="45720" rIns="45720" tIns="18288" bIns="18288" anchor="t">
            <a:spAutoFit/>
          </a:bodyPr>
          <a:lstStyle/>
          <a:p>
            <a:pPr algn="l"/>
            <a:r>
              <a:rPr sz="2400" b="1" i="0">
                <a:solidFill>
                  <a:srgbClr val="1F2937"/>
                </a:solidFill>
                <a:latin typeface="Calibri"/>
              </a:rPr>
              <a:t>{{SECTION_TITLE}}</a:t>
            </a:r>
          </a:p>
        </p:txBody>
      </p:sp>
      <p:sp>
        <p:nvSpPr>
          <p:cNvPr id="5" name="TextBox 4"/>
          <p:cNvSpPr txBox="1"/>
          <p:nvPr/>
        </p:nvSpPr>
        <p:spPr>
          <a:xfrm>
            <a:off x="594360" y="640080"/>
            <a:ext cx="10972800" cy="274320"/>
          </a:xfrm>
          <a:prstGeom prst="rect">
            <a:avLst/>
          </a:prstGeom>
          <a:noFill/>
        </p:spPr>
        <p:txBody>
          <a:bodyPr wrap="square" lIns="45720" rIns="45720" tIns="18288" bIns="18288" anchor="t">
            <a:spAutoFit/>
          </a:bodyPr>
          <a:lstStyle/>
          <a:p>
            <a:pPr algn="l"/>
            <a:r>
              <a:rPr sz="1100" b="0" i="1">
                <a:solidFill>
                  <a:srgbClr val="6B7280"/>
                </a:solidFill>
                <a:latin typeface="Calibri"/>
              </a:rPr>
              <a:t>{{SECTION_SUB}}</a:t>
            </a:r>
          </a:p>
        </p:txBody>
      </p:sp>
      <p:sp>
        <p:nvSpPr>
          <p:cNvPr id="6" name="Rectangle 5"/>
          <p:cNvSpPr/>
          <p:nvPr/>
        </p:nvSpPr>
        <p:spPr>
          <a:xfrm>
            <a:off x="548640" y="1005840"/>
            <a:ext cx="11091672" cy="18288"/>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280160"/>
            <a:ext cx="5440680" cy="4937760"/>
          </a:xfrm>
          <a:prstGeom prst="roundRect">
            <a:avLst>
              <a:gd name="adj" fmla="val 4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417319"/>
            <a:ext cx="5166360" cy="274320"/>
          </a:xfrm>
          <a:prstGeom prst="rect">
            <a:avLst/>
          </a:prstGeom>
          <a:noFill/>
        </p:spPr>
        <p:txBody>
          <a:bodyPr wrap="square" lIns="45720" rIns="45720" tIns="18288" bIns="18288" anchor="t">
            <a:spAutoFit/>
          </a:bodyPr>
          <a:lstStyle/>
          <a:p>
            <a:pPr algn="l"/>
            <a:r>
              <a:rPr sz="1000" b="1" i="0">
                <a:solidFill>
                  <a:srgbClr val="8B5CF6"/>
                </a:solidFill>
                <a:latin typeface="Calibri"/>
              </a:rPr>
              <a:t>THÔNG TIN CƠ BẢN</a:t>
            </a:r>
          </a:p>
        </p:txBody>
      </p:sp>
      <p:sp>
        <p:nvSpPr>
          <p:cNvPr id="9" name="Rectangle 8"/>
          <p:cNvSpPr/>
          <p:nvPr/>
        </p:nvSpPr>
        <p:spPr>
          <a:xfrm>
            <a:off x="731520" y="1709928"/>
            <a:ext cx="5074920" cy="2286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783080"/>
            <a:ext cx="2791206" cy="292608"/>
          </a:xfrm>
          <a:prstGeom prst="rect">
            <a:avLst/>
          </a:prstGeom>
          <a:noFill/>
        </p:spPr>
        <p:txBody>
          <a:bodyPr wrap="square" lIns="45720" rIns="45720" tIns="18288" bIns="18288" anchor="t">
            <a:spAutoFit/>
          </a:bodyPr>
          <a:lstStyle/>
          <a:p>
            <a:pPr algn="l"/>
            <a:r>
              <a:rPr sz="1000" b="0" i="0">
                <a:solidFill>
                  <a:srgbClr val="6B7280"/>
                </a:solidFill>
                <a:latin typeface="Calibri"/>
              </a:rPr>
              <a:t>Mã cổ phiếu</a:t>
            </a:r>
          </a:p>
        </p:txBody>
      </p:sp>
      <p:sp>
        <p:nvSpPr>
          <p:cNvPr id="11" name="TextBox 10"/>
          <p:cNvSpPr txBox="1"/>
          <p:nvPr/>
        </p:nvSpPr>
        <p:spPr>
          <a:xfrm>
            <a:off x="3522726" y="1783080"/>
            <a:ext cx="2283714" cy="292608"/>
          </a:xfrm>
          <a:prstGeom prst="rect">
            <a:avLst/>
          </a:prstGeom>
          <a:noFill/>
        </p:spPr>
        <p:txBody>
          <a:bodyPr wrap="square" lIns="45720" rIns="45720" tIns="18288" bIns="18288" anchor="t">
            <a:spAutoFit/>
          </a:bodyPr>
          <a:lstStyle/>
          <a:p>
            <a:pPr algn="r"/>
            <a:r>
              <a:rPr sz="1100" b="1" i="0">
                <a:solidFill>
                  <a:srgbClr val="1F2937"/>
                </a:solidFill>
                <a:latin typeface="Calibri"/>
              </a:rPr>
              <a:t>{{INFO_1}}</a:t>
            </a:r>
          </a:p>
        </p:txBody>
      </p:sp>
      <p:sp>
        <p:nvSpPr>
          <p:cNvPr id="12" name="TextBox 11"/>
          <p:cNvSpPr txBox="1"/>
          <p:nvPr/>
        </p:nvSpPr>
        <p:spPr>
          <a:xfrm>
            <a:off x="731520" y="2075688"/>
            <a:ext cx="2791206" cy="292608"/>
          </a:xfrm>
          <a:prstGeom prst="rect">
            <a:avLst/>
          </a:prstGeom>
          <a:noFill/>
        </p:spPr>
        <p:txBody>
          <a:bodyPr wrap="square" lIns="45720" rIns="45720" tIns="18288" bIns="18288" anchor="t">
            <a:spAutoFit/>
          </a:bodyPr>
          <a:lstStyle/>
          <a:p>
            <a:pPr algn="l"/>
            <a:r>
              <a:rPr sz="1000" b="0" i="0">
                <a:solidFill>
                  <a:srgbClr val="6B7280"/>
                </a:solidFill>
                <a:latin typeface="Calibri"/>
              </a:rPr>
              <a:t>Ngày niêm yết</a:t>
            </a:r>
          </a:p>
        </p:txBody>
      </p:sp>
      <p:sp>
        <p:nvSpPr>
          <p:cNvPr id="13" name="TextBox 12"/>
          <p:cNvSpPr txBox="1"/>
          <p:nvPr/>
        </p:nvSpPr>
        <p:spPr>
          <a:xfrm>
            <a:off x="3522726" y="2075688"/>
            <a:ext cx="2283714" cy="292608"/>
          </a:xfrm>
          <a:prstGeom prst="rect">
            <a:avLst/>
          </a:prstGeom>
          <a:noFill/>
        </p:spPr>
        <p:txBody>
          <a:bodyPr wrap="square" lIns="45720" rIns="45720" tIns="18288" bIns="18288" anchor="t">
            <a:spAutoFit/>
          </a:bodyPr>
          <a:lstStyle/>
          <a:p>
            <a:pPr algn="r"/>
            <a:r>
              <a:rPr sz="1100" b="1" i="0">
                <a:solidFill>
                  <a:srgbClr val="1F2937"/>
                </a:solidFill>
                <a:latin typeface="Calibri"/>
              </a:rPr>
              <a:t>{{INFO_2}}</a:t>
            </a:r>
          </a:p>
        </p:txBody>
      </p:sp>
      <p:sp>
        <p:nvSpPr>
          <p:cNvPr id="14" name="TextBox 13"/>
          <p:cNvSpPr txBox="1"/>
          <p:nvPr/>
        </p:nvSpPr>
        <p:spPr>
          <a:xfrm>
            <a:off x="731520" y="2368296"/>
            <a:ext cx="2791206" cy="292608"/>
          </a:xfrm>
          <a:prstGeom prst="rect">
            <a:avLst/>
          </a:prstGeom>
          <a:noFill/>
        </p:spPr>
        <p:txBody>
          <a:bodyPr wrap="square" lIns="45720" rIns="45720" tIns="18288" bIns="18288" anchor="t">
            <a:spAutoFit/>
          </a:bodyPr>
          <a:lstStyle/>
          <a:p>
            <a:pPr algn="l"/>
            <a:r>
              <a:rPr sz="1000" b="0" i="0">
                <a:solidFill>
                  <a:srgbClr val="6B7280"/>
                </a:solidFill>
                <a:latin typeface="Calibri"/>
              </a:rPr>
              <a:t>Vốn điều lệ</a:t>
            </a:r>
          </a:p>
        </p:txBody>
      </p:sp>
      <p:sp>
        <p:nvSpPr>
          <p:cNvPr id="15" name="TextBox 14"/>
          <p:cNvSpPr txBox="1"/>
          <p:nvPr/>
        </p:nvSpPr>
        <p:spPr>
          <a:xfrm>
            <a:off x="3522726" y="2368296"/>
            <a:ext cx="2283714" cy="292608"/>
          </a:xfrm>
          <a:prstGeom prst="rect">
            <a:avLst/>
          </a:prstGeom>
          <a:noFill/>
        </p:spPr>
        <p:txBody>
          <a:bodyPr wrap="square" lIns="45720" rIns="45720" tIns="18288" bIns="18288" anchor="t">
            <a:spAutoFit/>
          </a:bodyPr>
          <a:lstStyle/>
          <a:p>
            <a:pPr algn="r"/>
            <a:r>
              <a:rPr sz="1100" b="1" i="0">
                <a:solidFill>
                  <a:srgbClr val="1F2937"/>
                </a:solidFill>
                <a:latin typeface="Calibri"/>
              </a:rPr>
              <a:t>{{INFO_3}}</a:t>
            </a:r>
          </a:p>
        </p:txBody>
      </p:sp>
      <p:sp>
        <p:nvSpPr>
          <p:cNvPr id="16" name="TextBox 15"/>
          <p:cNvSpPr txBox="1"/>
          <p:nvPr/>
        </p:nvSpPr>
        <p:spPr>
          <a:xfrm>
            <a:off x="731520" y="2660903"/>
            <a:ext cx="2791206" cy="292608"/>
          </a:xfrm>
          <a:prstGeom prst="rect">
            <a:avLst/>
          </a:prstGeom>
          <a:noFill/>
        </p:spPr>
        <p:txBody>
          <a:bodyPr wrap="square" lIns="45720" rIns="45720" tIns="18288" bIns="18288" anchor="t">
            <a:spAutoFit/>
          </a:bodyPr>
          <a:lstStyle/>
          <a:p>
            <a:pPr algn="l"/>
            <a:r>
              <a:rPr sz="1000" b="0" i="0">
                <a:solidFill>
                  <a:srgbClr val="6B7280"/>
                </a:solidFill>
                <a:latin typeface="Calibri"/>
              </a:rPr>
              <a:t>Số cổ phiếu lưu hành</a:t>
            </a:r>
          </a:p>
        </p:txBody>
      </p:sp>
      <p:sp>
        <p:nvSpPr>
          <p:cNvPr id="17" name="TextBox 16"/>
          <p:cNvSpPr txBox="1"/>
          <p:nvPr/>
        </p:nvSpPr>
        <p:spPr>
          <a:xfrm>
            <a:off x="3522726" y="2660903"/>
            <a:ext cx="2283714" cy="292608"/>
          </a:xfrm>
          <a:prstGeom prst="rect">
            <a:avLst/>
          </a:prstGeom>
          <a:noFill/>
        </p:spPr>
        <p:txBody>
          <a:bodyPr wrap="square" lIns="45720" rIns="45720" tIns="18288" bIns="18288" anchor="t">
            <a:spAutoFit/>
          </a:bodyPr>
          <a:lstStyle/>
          <a:p>
            <a:pPr algn="r"/>
            <a:r>
              <a:rPr sz="1100" b="1" i="0">
                <a:solidFill>
                  <a:srgbClr val="1F2937"/>
                </a:solidFill>
                <a:latin typeface="Calibri"/>
              </a:rPr>
              <a:t>{{INFO_4}}</a:t>
            </a:r>
          </a:p>
        </p:txBody>
      </p:sp>
      <p:sp>
        <p:nvSpPr>
          <p:cNvPr id="18" name="TextBox 17"/>
          <p:cNvSpPr txBox="1"/>
          <p:nvPr/>
        </p:nvSpPr>
        <p:spPr>
          <a:xfrm>
            <a:off x="731520" y="2953511"/>
            <a:ext cx="2791206" cy="292608"/>
          </a:xfrm>
          <a:prstGeom prst="rect">
            <a:avLst/>
          </a:prstGeom>
          <a:noFill/>
        </p:spPr>
        <p:txBody>
          <a:bodyPr wrap="square" lIns="45720" rIns="45720" tIns="18288" bIns="18288" anchor="t">
            <a:spAutoFit/>
          </a:bodyPr>
          <a:lstStyle/>
          <a:p>
            <a:pPr algn="l"/>
            <a:r>
              <a:rPr sz="1000" b="0" i="0">
                <a:solidFill>
                  <a:srgbClr val="6B7280"/>
                </a:solidFill>
                <a:latin typeface="Calibri"/>
              </a:rPr>
              <a:t>Vốn hoá thị trường</a:t>
            </a:r>
          </a:p>
        </p:txBody>
      </p:sp>
      <p:sp>
        <p:nvSpPr>
          <p:cNvPr id="19" name="TextBox 18"/>
          <p:cNvSpPr txBox="1"/>
          <p:nvPr/>
        </p:nvSpPr>
        <p:spPr>
          <a:xfrm>
            <a:off x="3522726" y="2953511"/>
            <a:ext cx="2283714" cy="292608"/>
          </a:xfrm>
          <a:prstGeom prst="rect">
            <a:avLst/>
          </a:prstGeom>
          <a:noFill/>
        </p:spPr>
        <p:txBody>
          <a:bodyPr wrap="square" lIns="45720" rIns="45720" tIns="18288" bIns="18288" anchor="t">
            <a:spAutoFit/>
          </a:bodyPr>
          <a:lstStyle/>
          <a:p>
            <a:pPr algn="r"/>
            <a:r>
              <a:rPr sz="1100" b="1" i="0">
                <a:solidFill>
                  <a:srgbClr val="1F2937"/>
                </a:solidFill>
                <a:latin typeface="Calibri"/>
              </a:rPr>
              <a:t>{{INFO_5}}</a:t>
            </a:r>
          </a:p>
        </p:txBody>
      </p:sp>
      <p:sp>
        <p:nvSpPr>
          <p:cNvPr id="20" name="TextBox 19"/>
          <p:cNvSpPr txBox="1"/>
          <p:nvPr/>
        </p:nvSpPr>
        <p:spPr>
          <a:xfrm>
            <a:off x="731520" y="3246119"/>
            <a:ext cx="2791206" cy="292608"/>
          </a:xfrm>
          <a:prstGeom prst="rect">
            <a:avLst/>
          </a:prstGeom>
          <a:noFill/>
        </p:spPr>
        <p:txBody>
          <a:bodyPr wrap="square" lIns="45720" rIns="45720" tIns="18288" bIns="18288" anchor="t">
            <a:spAutoFit/>
          </a:bodyPr>
          <a:lstStyle/>
          <a:p>
            <a:pPr algn="l"/>
            <a:r>
              <a:rPr sz="1000" b="0" i="0">
                <a:solidFill>
                  <a:srgbClr val="6B7280"/>
                </a:solidFill>
                <a:latin typeface="Calibri"/>
              </a:rPr>
              <a:t>Tỷ lệ tự do chuyển nhượng</a:t>
            </a:r>
          </a:p>
        </p:txBody>
      </p:sp>
      <p:sp>
        <p:nvSpPr>
          <p:cNvPr id="21" name="TextBox 20"/>
          <p:cNvSpPr txBox="1"/>
          <p:nvPr/>
        </p:nvSpPr>
        <p:spPr>
          <a:xfrm>
            <a:off x="3522726" y="3246119"/>
            <a:ext cx="2283714" cy="292608"/>
          </a:xfrm>
          <a:prstGeom prst="rect">
            <a:avLst/>
          </a:prstGeom>
          <a:noFill/>
        </p:spPr>
        <p:txBody>
          <a:bodyPr wrap="square" lIns="45720" rIns="45720" tIns="18288" bIns="18288" anchor="t">
            <a:spAutoFit/>
          </a:bodyPr>
          <a:lstStyle/>
          <a:p>
            <a:pPr algn="r"/>
            <a:r>
              <a:rPr sz="1100" b="1" i="0">
                <a:solidFill>
                  <a:srgbClr val="1F2937"/>
                </a:solidFill>
                <a:latin typeface="Calibri"/>
              </a:rPr>
              <a:t>{{INFO_6}}</a:t>
            </a:r>
          </a:p>
        </p:txBody>
      </p:sp>
      <p:sp>
        <p:nvSpPr>
          <p:cNvPr id="22" name="TextBox 21"/>
          <p:cNvSpPr txBox="1"/>
          <p:nvPr/>
        </p:nvSpPr>
        <p:spPr>
          <a:xfrm>
            <a:off x="731520" y="3538727"/>
            <a:ext cx="2791206" cy="292608"/>
          </a:xfrm>
          <a:prstGeom prst="rect">
            <a:avLst/>
          </a:prstGeom>
          <a:noFill/>
        </p:spPr>
        <p:txBody>
          <a:bodyPr wrap="square" lIns="45720" rIns="45720" tIns="18288" bIns="18288" anchor="t">
            <a:spAutoFit/>
          </a:bodyPr>
          <a:lstStyle/>
          <a:p>
            <a:pPr algn="l"/>
            <a:r>
              <a:rPr sz="1000" b="0" i="0">
                <a:solidFill>
                  <a:srgbClr val="6B7280"/>
                </a:solidFill>
                <a:latin typeface="Calibri"/>
              </a:rPr>
              <a:t>Cổ đông lớn nhất</a:t>
            </a:r>
          </a:p>
        </p:txBody>
      </p:sp>
      <p:sp>
        <p:nvSpPr>
          <p:cNvPr id="23" name="TextBox 22"/>
          <p:cNvSpPr txBox="1"/>
          <p:nvPr/>
        </p:nvSpPr>
        <p:spPr>
          <a:xfrm>
            <a:off x="3522726" y="3538727"/>
            <a:ext cx="2283714" cy="292608"/>
          </a:xfrm>
          <a:prstGeom prst="rect">
            <a:avLst/>
          </a:prstGeom>
          <a:noFill/>
        </p:spPr>
        <p:txBody>
          <a:bodyPr wrap="square" lIns="45720" rIns="45720" tIns="18288" bIns="18288" anchor="t">
            <a:spAutoFit/>
          </a:bodyPr>
          <a:lstStyle/>
          <a:p>
            <a:pPr algn="r"/>
            <a:r>
              <a:rPr sz="1100" b="1" i="0">
                <a:solidFill>
                  <a:srgbClr val="1F2937"/>
                </a:solidFill>
                <a:latin typeface="Calibri"/>
              </a:rPr>
              <a:t>{{INFO_7}}</a:t>
            </a:r>
          </a:p>
        </p:txBody>
      </p:sp>
      <p:sp>
        <p:nvSpPr>
          <p:cNvPr id="24" name="TextBox 23"/>
          <p:cNvSpPr txBox="1"/>
          <p:nvPr/>
        </p:nvSpPr>
        <p:spPr>
          <a:xfrm>
            <a:off x="731520" y="3831335"/>
            <a:ext cx="2791206" cy="292608"/>
          </a:xfrm>
          <a:prstGeom prst="rect">
            <a:avLst/>
          </a:prstGeom>
          <a:noFill/>
        </p:spPr>
        <p:txBody>
          <a:bodyPr wrap="square" lIns="45720" rIns="45720" tIns="18288" bIns="18288" anchor="t">
            <a:spAutoFit/>
          </a:bodyPr>
          <a:lstStyle/>
          <a:p>
            <a:pPr algn="l"/>
            <a:r>
              <a:rPr sz="1000" b="0" i="0">
                <a:solidFill>
                  <a:srgbClr val="6B7280"/>
                </a:solidFill>
                <a:latin typeface="Calibri"/>
              </a:rPr>
              <a:t>Tỷ lệ sở hữu nước ngoài</a:t>
            </a:r>
          </a:p>
        </p:txBody>
      </p:sp>
      <p:sp>
        <p:nvSpPr>
          <p:cNvPr id="25" name="TextBox 24"/>
          <p:cNvSpPr txBox="1"/>
          <p:nvPr/>
        </p:nvSpPr>
        <p:spPr>
          <a:xfrm>
            <a:off x="3522726" y="3831335"/>
            <a:ext cx="2283714" cy="292608"/>
          </a:xfrm>
          <a:prstGeom prst="rect">
            <a:avLst/>
          </a:prstGeom>
          <a:noFill/>
        </p:spPr>
        <p:txBody>
          <a:bodyPr wrap="square" lIns="45720" rIns="45720" tIns="18288" bIns="18288" anchor="t">
            <a:spAutoFit/>
          </a:bodyPr>
          <a:lstStyle/>
          <a:p>
            <a:pPr algn="r"/>
            <a:r>
              <a:rPr sz="1100" b="1" i="0">
                <a:solidFill>
                  <a:srgbClr val="1F2937"/>
                </a:solidFill>
                <a:latin typeface="Calibri"/>
              </a:rPr>
              <a:t>{{INFO_8}}</a:t>
            </a:r>
          </a:p>
        </p:txBody>
      </p:sp>
      <p:sp>
        <p:nvSpPr>
          <p:cNvPr id="26" name="TextBox 25"/>
          <p:cNvSpPr txBox="1"/>
          <p:nvPr/>
        </p:nvSpPr>
        <p:spPr>
          <a:xfrm>
            <a:off x="731520" y="4123944"/>
            <a:ext cx="2791206" cy="292608"/>
          </a:xfrm>
          <a:prstGeom prst="rect">
            <a:avLst/>
          </a:prstGeom>
          <a:noFill/>
        </p:spPr>
        <p:txBody>
          <a:bodyPr wrap="square" lIns="45720" rIns="45720" tIns="18288" bIns="18288" anchor="t">
            <a:spAutoFit/>
          </a:bodyPr>
          <a:lstStyle/>
          <a:p>
            <a:pPr algn="l"/>
            <a:r>
              <a:rPr sz="1000" b="0" i="0">
                <a:solidFill>
                  <a:srgbClr val="6B7280"/>
                </a:solidFill>
                <a:latin typeface="Calibri"/>
              </a:rPr>
              <a:t>Ngành</a:t>
            </a:r>
          </a:p>
        </p:txBody>
      </p:sp>
      <p:sp>
        <p:nvSpPr>
          <p:cNvPr id="27" name="TextBox 26"/>
          <p:cNvSpPr txBox="1"/>
          <p:nvPr/>
        </p:nvSpPr>
        <p:spPr>
          <a:xfrm>
            <a:off x="3522726" y="4123944"/>
            <a:ext cx="2283714" cy="292608"/>
          </a:xfrm>
          <a:prstGeom prst="rect">
            <a:avLst/>
          </a:prstGeom>
          <a:noFill/>
        </p:spPr>
        <p:txBody>
          <a:bodyPr wrap="square" lIns="45720" rIns="45720" tIns="18288" bIns="18288" anchor="t">
            <a:spAutoFit/>
          </a:bodyPr>
          <a:lstStyle/>
          <a:p>
            <a:pPr algn="r"/>
            <a:r>
              <a:rPr sz="1100" b="1" i="0">
                <a:solidFill>
                  <a:srgbClr val="1F2937"/>
                </a:solidFill>
                <a:latin typeface="Calibri"/>
              </a:rPr>
              <a:t>{{INFO_9}}</a:t>
            </a:r>
          </a:p>
        </p:txBody>
      </p:sp>
      <p:sp>
        <p:nvSpPr>
          <p:cNvPr id="28" name="TextBox 27"/>
          <p:cNvSpPr txBox="1"/>
          <p:nvPr/>
        </p:nvSpPr>
        <p:spPr>
          <a:xfrm>
            <a:off x="6217920" y="1280160"/>
            <a:ext cx="5422392" cy="274320"/>
          </a:xfrm>
          <a:prstGeom prst="rect">
            <a:avLst/>
          </a:prstGeom>
          <a:noFill/>
        </p:spPr>
        <p:txBody>
          <a:bodyPr wrap="square" lIns="45720" rIns="45720" tIns="18288" bIns="18288" anchor="t">
            <a:spAutoFit/>
          </a:bodyPr>
          <a:lstStyle/>
          <a:p>
            <a:pPr algn="l"/>
            <a:r>
              <a:rPr sz="1000" b="1" i="0">
                <a:solidFill>
                  <a:srgbClr val="8B5CF6"/>
                </a:solidFill>
                <a:latin typeface="Calibri"/>
              </a:rPr>
              <a:t>CƠ CẤU KINH DOANH &amp; TÀI SẢN CỐT LÕI</a:t>
            </a:r>
          </a:p>
        </p:txBody>
      </p:sp>
      <p:sp>
        <p:nvSpPr>
          <p:cNvPr id="29" name="Rounded Rectangle 28"/>
          <p:cNvSpPr/>
          <p:nvPr/>
        </p:nvSpPr>
        <p:spPr>
          <a:xfrm>
            <a:off x="6217920" y="1645919"/>
            <a:ext cx="5422392" cy="868680"/>
          </a:xfrm>
          <a:prstGeom prst="roundRect">
            <a:avLst>
              <a:gd name="adj" fmla="val 4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217920" y="1691639"/>
            <a:ext cx="73152" cy="77724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0" y="1737360"/>
            <a:ext cx="5148072" cy="320040"/>
          </a:xfrm>
          <a:prstGeom prst="rect">
            <a:avLst/>
          </a:prstGeom>
          <a:noFill/>
        </p:spPr>
        <p:txBody>
          <a:bodyPr wrap="square" lIns="45720" rIns="45720" tIns="18288" bIns="18288" anchor="t">
            <a:spAutoFit/>
          </a:bodyPr>
          <a:lstStyle/>
          <a:p>
            <a:pPr algn="l"/>
            <a:r>
              <a:rPr sz="1100" b="1" i="0">
                <a:solidFill>
                  <a:srgbClr val="1F2937"/>
                </a:solidFill>
                <a:latin typeface="Calibri"/>
              </a:rPr>
              <a:t>{{SEGMENT_1_TITLE}}</a:t>
            </a:r>
          </a:p>
        </p:txBody>
      </p:sp>
      <p:sp>
        <p:nvSpPr>
          <p:cNvPr id="32" name="TextBox 31"/>
          <p:cNvSpPr txBox="1"/>
          <p:nvPr/>
        </p:nvSpPr>
        <p:spPr>
          <a:xfrm>
            <a:off x="6400800" y="2057400"/>
            <a:ext cx="5148072" cy="365759"/>
          </a:xfrm>
          <a:prstGeom prst="rect">
            <a:avLst/>
          </a:prstGeom>
          <a:noFill/>
        </p:spPr>
        <p:txBody>
          <a:bodyPr wrap="square" lIns="45720" rIns="45720" tIns="18288" bIns="18288" anchor="t">
            <a:spAutoFit/>
          </a:bodyPr>
          <a:lstStyle/>
          <a:p>
            <a:pPr algn="l"/>
            <a:r>
              <a:rPr sz="1000" b="0" i="0">
                <a:solidFill>
                  <a:srgbClr val="1F2937"/>
                </a:solidFill>
                <a:latin typeface="Calibri"/>
              </a:rPr>
              <a:t>{{SEGMENT_1_BODY}}</a:t>
            </a:r>
          </a:p>
        </p:txBody>
      </p:sp>
      <p:sp>
        <p:nvSpPr>
          <p:cNvPr id="33" name="Rounded Rectangle 32"/>
          <p:cNvSpPr/>
          <p:nvPr/>
        </p:nvSpPr>
        <p:spPr>
          <a:xfrm>
            <a:off x="6217920" y="2560320"/>
            <a:ext cx="5422392" cy="868680"/>
          </a:xfrm>
          <a:prstGeom prst="roundRect">
            <a:avLst>
              <a:gd name="adj" fmla="val 4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217920" y="2606039"/>
            <a:ext cx="73152" cy="77724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0800" y="2651760"/>
            <a:ext cx="5148072" cy="320040"/>
          </a:xfrm>
          <a:prstGeom prst="rect">
            <a:avLst/>
          </a:prstGeom>
          <a:noFill/>
        </p:spPr>
        <p:txBody>
          <a:bodyPr wrap="square" lIns="45720" rIns="45720" tIns="18288" bIns="18288" anchor="t">
            <a:spAutoFit/>
          </a:bodyPr>
          <a:lstStyle/>
          <a:p>
            <a:pPr algn="l"/>
            <a:r>
              <a:rPr sz="1100" b="1" i="0">
                <a:solidFill>
                  <a:srgbClr val="1F2937"/>
                </a:solidFill>
                <a:latin typeface="Calibri"/>
              </a:rPr>
              <a:t>{{SEGMENT_2_TITLE}}</a:t>
            </a:r>
          </a:p>
        </p:txBody>
      </p:sp>
      <p:sp>
        <p:nvSpPr>
          <p:cNvPr id="36" name="TextBox 35"/>
          <p:cNvSpPr txBox="1"/>
          <p:nvPr/>
        </p:nvSpPr>
        <p:spPr>
          <a:xfrm>
            <a:off x="6400800" y="2971800"/>
            <a:ext cx="5148072" cy="365759"/>
          </a:xfrm>
          <a:prstGeom prst="rect">
            <a:avLst/>
          </a:prstGeom>
          <a:noFill/>
        </p:spPr>
        <p:txBody>
          <a:bodyPr wrap="square" lIns="45720" rIns="45720" tIns="18288" bIns="18288" anchor="t">
            <a:spAutoFit/>
          </a:bodyPr>
          <a:lstStyle/>
          <a:p>
            <a:pPr algn="l"/>
            <a:r>
              <a:rPr sz="1000" b="0" i="0">
                <a:solidFill>
                  <a:srgbClr val="1F2937"/>
                </a:solidFill>
                <a:latin typeface="Calibri"/>
              </a:rPr>
              <a:t>{{SEGMENT_2_BODY}}</a:t>
            </a:r>
          </a:p>
        </p:txBody>
      </p:sp>
      <p:sp>
        <p:nvSpPr>
          <p:cNvPr id="37" name="Rounded Rectangle 36"/>
          <p:cNvSpPr/>
          <p:nvPr/>
        </p:nvSpPr>
        <p:spPr>
          <a:xfrm>
            <a:off x="6217920" y="3474720"/>
            <a:ext cx="5422392" cy="868680"/>
          </a:xfrm>
          <a:prstGeom prst="roundRect">
            <a:avLst>
              <a:gd name="adj" fmla="val 4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217920" y="3520439"/>
            <a:ext cx="73152" cy="77724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00800" y="3566160"/>
            <a:ext cx="5148072" cy="320040"/>
          </a:xfrm>
          <a:prstGeom prst="rect">
            <a:avLst/>
          </a:prstGeom>
          <a:noFill/>
        </p:spPr>
        <p:txBody>
          <a:bodyPr wrap="square" lIns="45720" rIns="45720" tIns="18288" bIns="18288" anchor="t">
            <a:spAutoFit/>
          </a:bodyPr>
          <a:lstStyle/>
          <a:p>
            <a:pPr algn="l"/>
            <a:r>
              <a:rPr sz="1100" b="1" i="0">
                <a:solidFill>
                  <a:srgbClr val="1F2937"/>
                </a:solidFill>
                <a:latin typeface="Calibri"/>
              </a:rPr>
              <a:t>{{SEGMENT_3_TITLE}}</a:t>
            </a:r>
          </a:p>
        </p:txBody>
      </p:sp>
      <p:sp>
        <p:nvSpPr>
          <p:cNvPr id="40" name="TextBox 39"/>
          <p:cNvSpPr txBox="1"/>
          <p:nvPr/>
        </p:nvSpPr>
        <p:spPr>
          <a:xfrm>
            <a:off x="6400800" y="3886200"/>
            <a:ext cx="5148072" cy="365759"/>
          </a:xfrm>
          <a:prstGeom prst="rect">
            <a:avLst/>
          </a:prstGeom>
          <a:noFill/>
        </p:spPr>
        <p:txBody>
          <a:bodyPr wrap="square" lIns="45720" rIns="45720" tIns="18288" bIns="18288" anchor="t">
            <a:spAutoFit/>
          </a:bodyPr>
          <a:lstStyle/>
          <a:p>
            <a:pPr algn="l"/>
            <a:r>
              <a:rPr sz="1000" b="0" i="0">
                <a:solidFill>
                  <a:srgbClr val="1F2937"/>
                </a:solidFill>
                <a:latin typeface="Calibri"/>
              </a:rPr>
              <a:t>{{SEGMENT_3_BODY}}</a:t>
            </a:r>
          </a:p>
        </p:txBody>
      </p:sp>
      <p:sp>
        <p:nvSpPr>
          <p:cNvPr id="41" name="Rounded Rectangle 40"/>
          <p:cNvSpPr/>
          <p:nvPr/>
        </p:nvSpPr>
        <p:spPr>
          <a:xfrm>
            <a:off x="6217920" y="4389120"/>
            <a:ext cx="5422392" cy="868680"/>
          </a:xfrm>
          <a:prstGeom prst="roundRect">
            <a:avLst>
              <a:gd name="adj" fmla="val 4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217920" y="4434840"/>
            <a:ext cx="73152" cy="77724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00800" y="4480559"/>
            <a:ext cx="5148072" cy="320040"/>
          </a:xfrm>
          <a:prstGeom prst="rect">
            <a:avLst/>
          </a:prstGeom>
          <a:noFill/>
        </p:spPr>
        <p:txBody>
          <a:bodyPr wrap="square" lIns="45720" rIns="45720" tIns="18288" bIns="18288" anchor="t">
            <a:spAutoFit/>
          </a:bodyPr>
          <a:lstStyle/>
          <a:p>
            <a:pPr algn="l"/>
            <a:r>
              <a:rPr sz="1100" b="1" i="0">
                <a:solidFill>
                  <a:srgbClr val="1F2937"/>
                </a:solidFill>
                <a:latin typeface="Calibri"/>
              </a:rPr>
              <a:t>{{SEGMENT_4_TITLE}}</a:t>
            </a:r>
          </a:p>
        </p:txBody>
      </p:sp>
      <p:sp>
        <p:nvSpPr>
          <p:cNvPr id="44" name="TextBox 43"/>
          <p:cNvSpPr txBox="1"/>
          <p:nvPr/>
        </p:nvSpPr>
        <p:spPr>
          <a:xfrm>
            <a:off x="6400800" y="4800600"/>
            <a:ext cx="5148072" cy="365759"/>
          </a:xfrm>
          <a:prstGeom prst="rect">
            <a:avLst/>
          </a:prstGeom>
          <a:noFill/>
        </p:spPr>
        <p:txBody>
          <a:bodyPr wrap="square" lIns="45720" rIns="45720" tIns="18288" bIns="18288" anchor="t">
            <a:spAutoFit/>
          </a:bodyPr>
          <a:lstStyle/>
          <a:p>
            <a:pPr algn="l"/>
            <a:r>
              <a:rPr sz="1000" b="0" i="0">
                <a:solidFill>
                  <a:srgbClr val="1F2937"/>
                </a:solidFill>
                <a:latin typeface="Calibri"/>
              </a:rPr>
              <a:t>{{SEGMENT_4_BODY}}</a:t>
            </a:r>
          </a:p>
        </p:txBody>
      </p:sp>
      <p:sp>
        <p:nvSpPr>
          <p:cNvPr id="45" name="Rounded Rectangle 44"/>
          <p:cNvSpPr/>
          <p:nvPr/>
        </p:nvSpPr>
        <p:spPr>
          <a:xfrm>
            <a:off x="6217920" y="5303520"/>
            <a:ext cx="5422392" cy="868680"/>
          </a:xfrm>
          <a:prstGeom prst="roundRect">
            <a:avLst>
              <a:gd name="adj" fmla="val 4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217920" y="5349240"/>
            <a:ext cx="73152" cy="77724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400800" y="5394959"/>
            <a:ext cx="5148072" cy="320040"/>
          </a:xfrm>
          <a:prstGeom prst="rect">
            <a:avLst/>
          </a:prstGeom>
          <a:noFill/>
        </p:spPr>
        <p:txBody>
          <a:bodyPr wrap="square" lIns="45720" rIns="45720" tIns="18288" bIns="18288" anchor="t">
            <a:spAutoFit/>
          </a:bodyPr>
          <a:lstStyle/>
          <a:p>
            <a:pPr algn="l"/>
            <a:r>
              <a:rPr sz="1100" b="1" i="0">
                <a:solidFill>
                  <a:srgbClr val="1F2937"/>
                </a:solidFill>
                <a:latin typeface="Calibri"/>
              </a:rPr>
              <a:t>{{SEGMENT_5_TITLE}}</a:t>
            </a:r>
          </a:p>
        </p:txBody>
      </p:sp>
      <p:sp>
        <p:nvSpPr>
          <p:cNvPr id="48" name="TextBox 47"/>
          <p:cNvSpPr txBox="1"/>
          <p:nvPr/>
        </p:nvSpPr>
        <p:spPr>
          <a:xfrm>
            <a:off x="6400800" y="5715000"/>
            <a:ext cx="5148072" cy="365759"/>
          </a:xfrm>
          <a:prstGeom prst="rect">
            <a:avLst/>
          </a:prstGeom>
          <a:noFill/>
        </p:spPr>
        <p:txBody>
          <a:bodyPr wrap="square" lIns="45720" rIns="45720" tIns="18288" bIns="18288" anchor="t">
            <a:spAutoFit/>
          </a:bodyPr>
          <a:lstStyle/>
          <a:p>
            <a:pPr algn="l"/>
            <a:r>
              <a:rPr sz="1000" b="0" i="0">
                <a:solidFill>
                  <a:srgbClr val="1F2937"/>
                </a:solidFill>
                <a:latin typeface="Calibri"/>
              </a:rPr>
              <a:t>{{SEGMENT_5_BODY}}</a:t>
            </a:r>
          </a:p>
        </p:txBody>
      </p:sp>
      <p:sp>
        <p:nvSpPr>
          <p:cNvPr id="49" name="TextBox 48"/>
          <p:cNvSpPr txBox="1"/>
          <p:nvPr/>
        </p:nvSpPr>
        <p:spPr>
          <a:xfrm>
            <a:off x="548640" y="6492240"/>
            <a:ext cx="8229600" cy="274320"/>
          </a:xfrm>
          <a:prstGeom prst="rect">
            <a:avLst/>
          </a:prstGeom>
          <a:noFill/>
        </p:spPr>
        <p:txBody>
          <a:bodyPr wrap="square" lIns="45720" rIns="45720" tIns="18288" bIns="18288" anchor="t">
            <a:spAutoFit/>
          </a:bodyPr>
          <a:lstStyle/>
          <a:p>
            <a:pPr algn="l"/>
            <a:r>
              <a:rPr sz="900" b="0" i="1">
                <a:solidFill>
                  <a:srgbClr val="9CA3AF"/>
                </a:solidFill>
                <a:latin typeface="Calibri"/>
              </a:rPr>
              <a:t>{{FOOTER_LEFT}}</a:t>
            </a:r>
          </a:p>
        </p:txBody>
      </p:sp>
      <p:sp>
        <p:nvSpPr>
          <p:cNvPr id="50" name="TextBox 49"/>
          <p:cNvSpPr txBox="1"/>
          <p:nvPr/>
        </p:nvSpPr>
        <p:spPr>
          <a:xfrm>
            <a:off x="10058400" y="6492240"/>
            <a:ext cx="1645920" cy="274320"/>
          </a:xfrm>
          <a:prstGeom prst="rect">
            <a:avLst/>
          </a:prstGeom>
          <a:noFill/>
        </p:spPr>
        <p:txBody>
          <a:bodyPr wrap="square" lIns="45720" rIns="45720" tIns="18288" bIns="18288" anchor="t">
            <a:spAutoFit/>
          </a:bodyPr>
          <a:lstStyle/>
          <a:p>
            <a:pPr algn="r"/>
            <a:r>
              <a:rPr sz="900" b="0" i="0">
                <a:solidFill>
                  <a:srgbClr val="9CA3AF"/>
                </a:solidFill>
                <a:latin typeface="Calibri"/>
              </a:rPr>
              <a:t>{{PAGE_NUM}}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name="COMPARISON_3CELL_SCENARIOS">
    <p:spTree>
      <p:nvGrpSpPr>
        <p:cNvPr id="1" name=""/>
        <p:cNvGrpSpPr/>
        <p:nvPr/>
      </p:nvGrpSpPr>
      <p:grpSpPr/>
      <p:sp>
        <p:nvSpPr>
          <p:cNvPr id="2" name="Rectangle 1"/>
          <p:cNvSpPr/>
          <p:nvPr/>
        </p:nvSpPr>
        <p:spPr>
          <a:xfrm>
            <a:off x="457200" y="274320"/>
            <a:ext cx="73152" cy="32004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594359"/>
            <a:ext cx="73152" cy="320040"/>
          </a:xfrm>
          <a:prstGeom prst="rect">
            <a:avLst/>
          </a:prstGeom>
          <a:solidFill>
            <a:srgbClr val="B47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74320"/>
            <a:ext cx="10972800" cy="365760"/>
          </a:xfrm>
          <a:prstGeom prst="rect">
            <a:avLst/>
          </a:prstGeom>
          <a:noFill/>
        </p:spPr>
        <p:txBody>
          <a:bodyPr wrap="square" lIns="45720" rIns="45720" tIns="18288" bIns="18288" anchor="t">
            <a:spAutoFit/>
          </a:bodyPr>
          <a:lstStyle/>
          <a:p>
            <a:pPr algn="l"/>
            <a:r>
              <a:rPr sz="2400" b="1" i="0">
                <a:solidFill>
                  <a:srgbClr val="1F2937"/>
                </a:solidFill>
                <a:latin typeface="Calibri"/>
              </a:rPr>
              <a:t>{{SECTION_TITLE}}</a:t>
            </a:r>
          </a:p>
        </p:txBody>
      </p:sp>
      <p:sp>
        <p:nvSpPr>
          <p:cNvPr id="5" name="TextBox 4"/>
          <p:cNvSpPr txBox="1"/>
          <p:nvPr/>
        </p:nvSpPr>
        <p:spPr>
          <a:xfrm>
            <a:off x="594360" y="640080"/>
            <a:ext cx="10972800" cy="274320"/>
          </a:xfrm>
          <a:prstGeom prst="rect">
            <a:avLst/>
          </a:prstGeom>
          <a:noFill/>
        </p:spPr>
        <p:txBody>
          <a:bodyPr wrap="square" lIns="45720" rIns="45720" tIns="18288" bIns="18288" anchor="t">
            <a:spAutoFit/>
          </a:bodyPr>
          <a:lstStyle/>
          <a:p>
            <a:pPr algn="l"/>
            <a:r>
              <a:rPr sz="1100" b="0" i="1">
                <a:solidFill>
                  <a:srgbClr val="6B7280"/>
                </a:solidFill>
                <a:latin typeface="Calibri"/>
              </a:rPr>
              <a:t>{{SECTION_SUB}}</a:t>
            </a:r>
          </a:p>
        </p:txBody>
      </p:sp>
      <p:sp>
        <p:nvSpPr>
          <p:cNvPr id="6" name="Rectangle 5"/>
          <p:cNvSpPr/>
          <p:nvPr/>
        </p:nvSpPr>
        <p:spPr>
          <a:xfrm>
            <a:off x="548640" y="1005840"/>
            <a:ext cx="11091672" cy="18288"/>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280160"/>
            <a:ext cx="11091672" cy="1005840"/>
          </a:xfrm>
          <a:prstGeom prst="roundRect">
            <a:avLst>
              <a:gd name="adj" fmla="val 4000"/>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1417319"/>
            <a:ext cx="10725912" cy="274320"/>
          </a:xfrm>
          <a:prstGeom prst="rect">
            <a:avLst/>
          </a:prstGeom>
          <a:noFill/>
        </p:spPr>
        <p:txBody>
          <a:bodyPr wrap="square" lIns="45720" rIns="45720" tIns="18288" bIns="18288" anchor="t">
            <a:spAutoFit/>
          </a:bodyPr>
          <a:lstStyle/>
          <a:p>
            <a:pPr algn="l"/>
            <a:r>
              <a:rPr sz="900" b="1" i="0">
                <a:solidFill>
                  <a:srgbClr val="B47EFF"/>
                </a:solidFill>
                <a:latin typeface="Calibri"/>
              </a:rPr>
              <a:t>HÀNH ĐỘNG ĐỀ XUẤT</a:t>
            </a:r>
          </a:p>
        </p:txBody>
      </p:sp>
      <p:sp>
        <p:nvSpPr>
          <p:cNvPr id="9" name="Rectangle 8"/>
          <p:cNvSpPr/>
          <p:nvPr/>
        </p:nvSpPr>
        <p:spPr>
          <a:xfrm>
            <a:off x="822959" y="1691639"/>
            <a:ext cx="2286000" cy="22860"/>
          </a:xfrm>
          <a:prstGeom prst="rect">
            <a:avLst/>
          </a:prstGeom>
          <a:solidFill>
            <a:srgbClr val="B47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737360"/>
            <a:ext cx="10725912" cy="502920"/>
          </a:xfrm>
          <a:prstGeom prst="rect">
            <a:avLst/>
          </a:prstGeom>
          <a:noFill/>
        </p:spPr>
        <p:txBody>
          <a:bodyPr wrap="square" lIns="45720" rIns="45720" tIns="18288" bIns="18288" anchor="t">
            <a:spAutoFit/>
          </a:bodyPr>
          <a:lstStyle/>
          <a:p>
            <a:pPr algn="l"/>
            <a:r>
              <a:rPr sz="1100" b="0" i="0">
                <a:solidFill>
                  <a:srgbClr val="FFFFFF"/>
                </a:solidFill>
                <a:latin typeface="Calibri"/>
              </a:rPr>
              <a:t>{{ACTION_RECOMMENDED}}</a:t>
            </a:r>
          </a:p>
        </p:txBody>
      </p:sp>
      <p:sp>
        <p:nvSpPr>
          <p:cNvPr id="11" name="Rounded Rectangle 10"/>
          <p:cNvSpPr/>
          <p:nvPr/>
        </p:nvSpPr>
        <p:spPr>
          <a:xfrm>
            <a:off x="548640" y="2468880"/>
            <a:ext cx="3605784" cy="3657600"/>
          </a:xfrm>
          <a:prstGeom prst="roundRect">
            <a:avLst>
              <a:gd name="adj" fmla="val 5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48640" y="2468880"/>
            <a:ext cx="3605784" cy="594360"/>
          </a:xfrm>
          <a:prstGeom prst="roundRect">
            <a:avLst>
              <a:gd name="adj" fmla="val 10000"/>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2542032"/>
            <a:ext cx="3331464" cy="228600"/>
          </a:xfrm>
          <a:prstGeom prst="rect">
            <a:avLst/>
          </a:prstGeom>
          <a:noFill/>
        </p:spPr>
        <p:txBody>
          <a:bodyPr wrap="square" lIns="45720" rIns="45720" tIns="18288" bIns="18288" anchor="t">
            <a:spAutoFit/>
          </a:bodyPr>
          <a:lstStyle/>
          <a:p>
            <a:pPr algn="l"/>
            <a:r>
              <a:rPr sz="900" b="1" i="0">
                <a:solidFill>
                  <a:srgbClr val="FFFFFF"/>
                </a:solidFill>
                <a:latin typeface="Calibri"/>
              </a:rPr>
              <a:t>KỊCH BẢN CƠ SỞ</a:t>
            </a:r>
          </a:p>
        </p:txBody>
      </p:sp>
      <p:sp>
        <p:nvSpPr>
          <p:cNvPr id="14" name="Rectangle 13"/>
          <p:cNvSpPr/>
          <p:nvPr/>
        </p:nvSpPr>
        <p:spPr>
          <a:xfrm>
            <a:off x="685800" y="2779776"/>
            <a:ext cx="1802892" cy="228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2798064"/>
            <a:ext cx="3331464" cy="228600"/>
          </a:xfrm>
          <a:prstGeom prst="rect">
            <a:avLst/>
          </a:prstGeom>
          <a:noFill/>
        </p:spPr>
        <p:txBody>
          <a:bodyPr wrap="square" lIns="45720" rIns="45720" tIns="18288" bIns="18288" anchor="t">
            <a:spAutoFit/>
          </a:bodyPr>
          <a:lstStyle/>
          <a:p>
            <a:pPr algn="l"/>
            <a:r>
              <a:rPr sz="900" b="0" i="1">
                <a:solidFill>
                  <a:srgbClr val="FFFFFF"/>
                </a:solidFill>
                <a:latin typeface="Calibri"/>
              </a:rPr>
              <a:t>Khả năng cao nhất</a:t>
            </a:r>
          </a:p>
        </p:txBody>
      </p:sp>
      <p:sp>
        <p:nvSpPr>
          <p:cNvPr id="16" name="TextBox 15"/>
          <p:cNvSpPr txBox="1"/>
          <p:nvPr/>
        </p:nvSpPr>
        <p:spPr>
          <a:xfrm>
            <a:off x="731520" y="3246120"/>
            <a:ext cx="3240024" cy="182880"/>
          </a:xfrm>
          <a:prstGeom prst="rect">
            <a:avLst/>
          </a:prstGeom>
          <a:noFill/>
        </p:spPr>
        <p:txBody>
          <a:bodyPr wrap="square" lIns="45720" rIns="45720" tIns="18288" bIns="18288" anchor="t">
            <a:spAutoFit/>
          </a:bodyPr>
          <a:lstStyle/>
          <a:p>
            <a:pPr algn="l"/>
            <a:r>
              <a:rPr sz="900" b="0" i="0">
                <a:solidFill>
                  <a:srgbClr val="6B7280"/>
                </a:solidFill>
                <a:latin typeface="Calibri"/>
              </a:rPr>
              <a:t>Khung thời gian</a:t>
            </a:r>
          </a:p>
        </p:txBody>
      </p:sp>
      <p:sp>
        <p:nvSpPr>
          <p:cNvPr id="17" name="TextBox 16"/>
          <p:cNvSpPr txBox="1"/>
          <p:nvPr/>
        </p:nvSpPr>
        <p:spPr>
          <a:xfrm>
            <a:off x="731520" y="3429000"/>
            <a:ext cx="3240024" cy="274320"/>
          </a:xfrm>
          <a:prstGeom prst="rect">
            <a:avLst/>
          </a:prstGeom>
          <a:noFill/>
        </p:spPr>
        <p:txBody>
          <a:bodyPr wrap="square" lIns="45720" rIns="45720" tIns="18288" bIns="18288" anchor="t">
            <a:spAutoFit/>
          </a:bodyPr>
          <a:lstStyle/>
          <a:p>
            <a:pPr algn="l"/>
            <a:r>
              <a:rPr sz="1100" b="1" i="0">
                <a:solidFill>
                  <a:srgbClr val="1F2937"/>
                </a:solidFill>
                <a:latin typeface="Calibri"/>
              </a:rPr>
              <a:t>{{BASE_TIMEFRAME}}</a:t>
            </a:r>
          </a:p>
        </p:txBody>
      </p:sp>
      <p:sp>
        <p:nvSpPr>
          <p:cNvPr id="18" name="TextBox 17"/>
          <p:cNvSpPr txBox="1"/>
          <p:nvPr/>
        </p:nvSpPr>
        <p:spPr>
          <a:xfrm>
            <a:off x="731520" y="3749040"/>
            <a:ext cx="3240024" cy="182880"/>
          </a:xfrm>
          <a:prstGeom prst="rect">
            <a:avLst/>
          </a:prstGeom>
          <a:noFill/>
        </p:spPr>
        <p:txBody>
          <a:bodyPr wrap="square" lIns="45720" rIns="45720" tIns="18288" bIns="18288" anchor="t">
            <a:spAutoFit/>
          </a:bodyPr>
          <a:lstStyle/>
          <a:p>
            <a:pPr algn="l"/>
            <a:r>
              <a:rPr sz="900" b="0" i="0">
                <a:solidFill>
                  <a:srgbClr val="6B7280"/>
                </a:solidFill>
                <a:latin typeface="Calibri"/>
              </a:rPr>
              <a:t>Giá mục tiêu</a:t>
            </a:r>
          </a:p>
        </p:txBody>
      </p:sp>
      <p:sp>
        <p:nvSpPr>
          <p:cNvPr id="19" name="TextBox 18"/>
          <p:cNvSpPr txBox="1"/>
          <p:nvPr/>
        </p:nvSpPr>
        <p:spPr>
          <a:xfrm>
            <a:off x="731520" y="3931920"/>
            <a:ext cx="3240024" cy="274320"/>
          </a:xfrm>
          <a:prstGeom prst="rect">
            <a:avLst/>
          </a:prstGeom>
          <a:noFill/>
        </p:spPr>
        <p:txBody>
          <a:bodyPr wrap="square" lIns="45720" rIns="45720" tIns="18288" bIns="18288" anchor="t">
            <a:spAutoFit/>
          </a:bodyPr>
          <a:lstStyle/>
          <a:p>
            <a:pPr algn="l"/>
            <a:r>
              <a:rPr sz="1100" b="1" i="0">
                <a:solidFill>
                  <a:srgbClr val="1F2937"/>
                </a:solidFill>
                <a:latin typeface="Calibri"/>
              </a:rPr>
              <a:t>{{BASE_TARGET}}</a:t>
            </a:r>
          </a:p>
        </p:txBody>
      </p:sp>
      <p:sp>
        <p:nvSpPr>
          <p:cNvPr id="20" name="TextBox 19"/>
          <p:cNvSpPr txBox="1"/>
          <p:nvPr/>
        </p:nvSpPr>
        <p:spPr>
          <a:xfrm>
            <a:off x="731520" y="4251960"/>
            <a:ext cx="3240024" cy="182880"/>
          </a:xfrm>
          <a:prstGeom prst="rect">
            <a:avLst/>
          </a:prstGeom>
          <a:noFill/>
        </p:spPr>
        <p:txBody>
          <a:bodyPr wrap="square" lIns="45720" rIns="45720" tIns="18288" bIns="18288" anchor="t">
            <a:spAutoFit/>
          </a:bodyPr>
          <a:lstStyle/>
          <a:p>
            <a:pPr algn="l"/>
            <a:r>
              <a:rPr sz="900" b="0" i="0">
                <a:solidFill>
                  <a:srgbClr val="6B7280"/>
                </a:solidFill>
                <a:latin typeface="Calibri"/>
              </a:rPr>
              <a:t>Tỷ suất kỳ vọng</a:t>
            </a:r>
          </a:p>
        </p:txBody>
      </p:sp>
      <p:sp>
        <p:nvSpPr>
          <p:cNvPr id="21" name="TextBox 20"/>
          <p:cNvSpPr txBox="1"/>
          <p:nvPr/>
        </p:nvSpPr>
        <p:spPr>
          <a:xfrm>
            <a:off x="731520" y="4434840"/>
            <a:ext cx="3240024" cy="274320"/>
          </a:xfrm>
          <a:prstGeom prst="rect">
            <a:avLst/>
          </a:prstGeom>
          <a:noFill/>
        </p:spPr>
        <p:txBody>
          <a:bodyPr wrap="square" lIns="45720" rIns="45720" tIns="18288" bIns="18288" anchor="t">
            <a:spAutoFit/>
          </a:bodyPr>
          <a:lstStyle/>
          <a:p>
            <a:pPr algn="l"/>
            <a:r>
              <a:rPr sz="1100" b="1" i="0">
                <a:solidFill>
                  <a:srgbClr val="1F2937"/>
                </a:solidFill>
                <a:latin typeface="Calibri"/>
              </a:rPr>
              <a:t>{{BASE_RETURN}}</a:t>
            </a:r>
          </a:p>
        </p:txBody>
      </p:sp>
      <p:sp>
        <p:nvSpPr>
          <p:cNvPr id="22" name="TextBox 21"/>
          <p:cNvSpPr txBox="1"/>
          <p:nvPr/>
        </p:nvSpPr>
        <p:spPr>
          <a:xfrm>
            <a:off x="731520" y="4800600"/>
            <a:ext cx="3240024" cy="457200"/>
          </a:xfrm>
          <a:prstGeom prst="rect">
            <a:avLst/>
          </a:prstGeom>
          <a:noFill/>
        </p:spPr>
        <p:txBody>
          <a:bodyPr wrap="square" lIns="45720" rIns="45720" tIns="18288" bIns="18288" anchor="t">
            <a:spAutoFit/>
          </a:bodyPr>
          <a:lstStyle/>
          <a:p>
            <a:pPr algn="l"/>
            <a:r>
              <a:rPr sz="3600" b="1" i="0">
                <a:solidFill>
                  <a:srgbClr val="8B5CF6"/>
                </a:solidFill>
                <a:latin typeface="Calibri"/>
              </a:rPr>
              <a:t>{{BASE_BIG_PCT}}</a:t>
            </a:r>
          </a:p>
        </p:txBody>
      </p:sp>
      <p:sp>
        <p:nvSpPr>
          <p:cNvPr id="23" name="TextBox 22"/>
          <p:cNvSpPr txBox="1"/>
          <p:nvPr/>
        </p:nvSpPr>
        <p:spPr>
          <a:xfrm>
            <a:off x="731520" y="5349240"/>
            <a:ext cx="3240024" cy="914400"/>
          </a:xfrm>
          <a:prstGeom prst="rect">
            <a:avLst/>
          </a:prstGeom>
          <a:noFill/>
        </p:spPr>
        <p:txBody>
          <a:bodyPr wrap="square" lIns="45720" rIns="45720" tIns="18288" bIns="18288" anchor="t">
            <a:spAutoFit/>
          </a:bodyPr>
          <a:lstStyle/>
          <a:p>
            <a:pPr algn="l"/>
            <a:r>
              <a:rPr sz="1000" b="0" i="1">
                <a:solidFill>
                  <a:srgbClr val="1F2937"/>
                </a:solidFill>
                <a:latin typeface="Calibri"/>
              </a:rPr>
              <a:t>{{BASE_BODY}}</a:t>
            </a:r>
          </a:p>
        </p:txBody>
      </p:sp>
      <p:sp>
        <p:nvSpPr>
          <p:cNvPr id="24" name="Rounded Rectangle 23"/>
          <p:cNvSpPr/>
          <p:nvPr/>
        </p:nvSpPr>
        <p:spPr>
          <a:xfrm>
            <a:off x="4291584" y="2468880"/>
            <a:ext cx="3605784" cy="3657600"/>
          </a:xfrm>
          <a:prstGeom prst="roundRect">
            <a:avLst>
              <a:gd name="adj" fmla="val 5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4291584" y="2468880"/>
            <a:ext cx="3605784" cy="594360"/>
          </a:xfrm>
          <a:prstGeom prst="roundRect">
            <a:avLst>
              <a:gd name="adj" fmla="val 10000"/>
            </a:avLst>
          </a:prstGeom>
          <a:solidFill>
            <a:srgbClr val="25B7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28744" y="2542032"/>
            <a:ext cx="3331464" cy="228600"/>
          </a:xfrm>
          <a:prstGeom prst="rect">
            <a:avLst/>
          </a:prstGeom>
          <a:noFill/>
        </p:spPr>
        <p:txBody>
          <a:bodyPr wrap="square" lIns="45720" rIns="45720" tIns="18288" bIns="18288" anchor="t">
            <a:spAutoFit/>
          </a:bodyPr>
          <a:lstStyle/>
          <a:p>
            <a:pPr algn="l"/>
            <a:r>
              <a:rPr sz="900" b="1" i="0">
                <a:solidFill>
                  <a:srgbClr val="FFFFFF"/>
                </a:solidFill>
                <a:latin typeface="Calibri"/>
              </a:rPr>
              <a:t>KỊCH BẢN TÍCH CỰC</a:t>
            </a:r>
          </a:p>
        </p:txBody>
      </p:sp>
      <p:sp>
        <p:nvSpPr>
          <p:cNvPr id="27" name="Rectangle 26"/>
          <p:cNvSpPr/>
          <p:nvPr/>
        </p:nvSpPr>
        <p:spPr>
          <a:xfrm>
            <a:off x="4428744" y="2779776"/>
            <a:ext cx="1802892" cy="228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28744" y="2798064"/>
            <a:ext cx="3331464" cy="228600"/>
          </a:xfrm>
          <a:prstGeom prst="rect">
            <a:avLst/>
          </a:prstGeom>
          <a:noFill/>
        </p:spPr>
        <p:txBody>
          <a:bodyPr wrap="square" lIns="45720" rIns="45720" tIns="18288" bIns="18288" anchor="t">
            <a:spAutoFit/>
          </a:bodyPr>
          <a:lstStyle/>
          <a:p>
            <a:pPr algn="l"/>
            <a:r>
              <a:rPr sz="900" b="0" i="1">
                <a:solidFill>
                  <a:srgbClr val="FFFFFF"/>
                </a:solidFill>
                <a:latin typeface="Calibri"/>
              </a:rPr>
              <a:t>Khả năng vừa phải</a:t>
            </a:r>
          </a:p>
        </p:txBody>
      </p:sp>
      <p:sp>
        <p:nvSpPr>
          <p:cNvPr id="29" name="TextBox 28"/>
          <p:cNvSpPr txBox="1"/>
          <p:nvPr/>
        </p:nvSpPr>
        <p:spPr>
          <a:xfrm>
            <a:off x="4474464" y="3246120"/>
            <a:ext cx="3240024" cy="182880"/>
          </a:xfrm>
          <a:prstGeom prst="rect">
            <a:avLst/>
          </a:prstGeom>
          <a:noFill/>
        </p:spPr>
        <p:txBody>
          <a:bodyPr wrap="square" lIns="45720" rIns="45720" tIns="18288" bIns="18288" anchor="t">
            <a:spAutoFit/>
          </a:bodyPr>
          <a:lstStyle/>
          <a:p>
            <a:pPr algn="l"/>
            <a:r>
              <a:rPr sz="900" b="0" i="0">
                <a:solidFill>
                  <a:srgbClr val="6B7280"/>
                </a:solidFill>
                <a:latin typeface="Calibri"/>
              </a:rPr>
              <a:t>Khung thời gian</a:t>
            </a:r>
          </a:p>
        </p:txBody>
      </p:sp>
      <p:sp>
        <p:nvSpPr>
          <p:cNvPr id="30" name="TextBox 29"/>
          <p:cNvSpPr txBox="1"/>
          <p:nvPr/>
        </p:nvSpPr>
        <p:spPr>
          <a:xfrm>
            <a:off x="4474464" y="3429000"/>
            <a:ext cx="3240024" cy="274320"/>
          </a:xfrm>
          <a:prstGeom prst="rect">
            <a:avLst/>
          </a:prstGeom>
          <a:noFill/>
        </p:spPr>
        <p:txBody>
          <a:bodyPr wrap="square" lIns="45720" rIns="45720" tIns="18288" bIns="18288" anchor="t">
            <a:spAutoFit/>
          </a:bodyPr>
          <a:lstStyle/>
          <a:p>
            <a:pPr algn="l"/>
            <a:r>
              <a:rPr sz="1100" b="1" i="0">
                <a:solidFill>
                  <a:srgbClr val="1F2937"/>
                </a:solidFill>
                <a:latin typeface="Calibri"/>
              </a:rPr>
              <a:t>{{BULL_TIMEFRAME}}</a:t>
            </a:r>
          </a:p>
        </p:txBody>
      </p:sp>
      <p:sp>
        <p:nvSpPr>
          <p:cNvPr id="31" name="TextBox 30"/>
          <p:cNvSpPr txBox="1"/>
          <p:nvPr/>
        </p:nvSpPr>
        <p:spPr>
          <a:xfrm>
            <a:off x="4474464" y="3749040"/>
            <a:ext cx="3240024" cy="182880"/>
          </a:xfrm>
          <a:prstGeom prst="rect">
            <a:avLst/>
          </a:prstGeom>
          <a:noFill/>
        </p:spPr>
        <p:txBody>
          <a:bodyPr wrap="square" lIns="45720" rIns="45720" tIns="18288" bIns="18288" anchor="t">
            <a:spAutoFit/>
          </a:bodyPr>
          <a:lstStyle/>
          <a:p>
            <a:pPr algn="l"/>
            <a:r>
              <a:rPr sz="900" b="0" i="0">
                <a:solidFill>
                  <a:srgbClr val="6B7280"/>
                </a:solidFill>
                <a:latin typeface="Calibri"/>
              </a:rPr>
              <a:t>Giá mục tiêu</a:t>
            </a:r>
          </a:p>
        </p:txBody>
      </p:sp>
      <p:sp>
        <p:nvSpPr>
          <p:cNvPr id="32" name="TextBox 31"/>
          <p:cNvSpPr txBox="1"/>
          <p:nvPr/>
        </p:nvSpPr>
        <p:spPr>
          <a:xfrm>
            <a:off x="4474464" y="3931920"/>
            <a:ext cx="3240024" cy="274320"/>
          </a:xfrm>
          <a:prstGeom prst="rect">
            <a:avLst/>
          </a:prstGeom>
          <a:noFill/>
        </p:spPr>
        <p:txBody>
          <a:bodyPr wrap="square" lIns="45720" rIns="45720" tIns="18288" bIns="18288" anchor="t">
            <a:spAutoFit/>
          </a:bodyPr>
          <a:lstStyle/>
          <a:p>
            <a:pPr algn="l"/>
            <a:r>
              <a:rPr sz="1100" b="1" i="0">
                <a:solidFill>
                  <a:srgbClr val="1F2937"/>
                </a:solidFill>
                <a:latin typeface="Calibri"/>
              </a:rPr>
              <a:t>{{BULL_TARGET}}</a:t>
            </a:r>
          </a:p>
        </p:txBody>
      </p:sp>
      <p:sp>
        <p:nvSpPr>
          <p:cNvPr id="33" name="TextBox 32"/>
          <p:cNvSpPr txBox="1"/>
          <p:nvPr/>
        </p:nvSpPr>
        <p:spPr>
          <a:xfrm>
            <a:off x="4474464" y="4251960"/>
            <a:ext cx="3240024" cy="182880"/>
          </a:xfrm>
          <a:prstGeom prst="rect">
            <a:avLst/>
          </a:prstGeom>
          <a:noFill/>
        </p:spPr>
        <p:txBody>
          <a:bodyPr wrap="square" lIns="45720" rIns="45720" tIns="18288" bIns="18288" anchor="t">
            <a:spAutoFit/>
          </a:bodyPr>
          <a:lstStyle/>
          <a:p>
            <a:pPr algn="l"/>
            <a:r>
              <a:rPr sz="900" b="0" i="0">
                <a:solidFill>
                  <a:srgbClr val="6B7280"/>
                </a:solidFill>
                <a:latin typeface="Calibri"/>
              </a:rPr>
              <a:t>Tỷ suất kỳ vọng</a:t>
            </a:r>
          </a:p>
        </p:txBody>
      </p:sp>
      <p:sp>
        <p:nvSpPr>
          <p:cNvPr id="34" name="TextBox 33"/>
          <p:cNvSpPr txBox="1"/>
          <p:nvPr/>
        </p:nvSpPr>
        <p:spPr>
          <a:xfrm>
            <a:off x="4474464" y="4434840"/>
            <a:ext cx="3240024" cy="274320"/>
          </a:xfrm>
          <a:prstGeom prst="rect">
            <a:avLst/>
          </a:prstGeom>
          <a:noFill/>
        </p:spPr>
        <p:txBody>
          <a:bodyPr wrap="square" lIns="45720" rIns="45720" tIns="18288" bIns="18288" anchor="t">
            <a:spAutoFit/>
          </a:bodyPr>
          <a:lstStyle/>
          <a:p>
            <a:pPr algn="l"/>
            <a:r>
              <a:rPr sz="1100" b="1" i="0">
                <a:solidFill>
                  <a:srgbClr val="1F2937"/>
                </a:solidFill>
                <a:latin typeface="Calibri"/>
              </a:rPr>
              <a:t>{{BULL_RETURN}}</a:t>
            </a:r>
          </a:p>
        </p:txBody>
      </p:sp>
      <p:sp>
        <p:nvSpPr>
          <p:cNvPr id="35" name="TextBox 34"/>
          <p:cNvSpPr txBox="1"/>
          <p:nvPr/>
        </p:nvSpPr>
        <p:spPr>
          <a:xfrm>
            <a:off x="4474464" y="4800600"/>
            <a:ext cx="3240024" cy="457200"/>
          </a:xfrm>
          <a:prstGeom prst="rect">
            <a:avLst/>
          </a:prstGeom>
          <a:noFill/>
        </p:spPr>
        <p:txBody>
          <a:bodyPr wrap="square" lIns="45720" rIns="45720" tIns="18288" bIns="18288" anchor="t">
            <a:spAutoFit/>
          </a:bodyPr>
          <a:lstStyle/>
          <a:p>
            <a:pPr algn="l"/>
            <a:r>
              <a:rPr sz="3600" b="1" i="0">
                <a:solidFill>
                  <a:srgbClr val="25B770"/>
                </a:solidFill>
                <a:latin typeface="Calibri"/>
              </a:rPr>
              <a:t>{{BULL_BIG_PCT}}</a:t>
            </a:r>
          </a:p>
        </p:txBody>
      </p:sp>
      <p:sp>
        <p:nvSpPr>
          <p:cNvPr id="36" name="TextBox 35"/>
          <p:cNvSpPr txBox="1"/>
          <p:nvPr/>
        </p:nvSpPr>
        <p:spPr>
          <a:xfrm>
            <a:off x="4474464" y="5349240"/>
            <a:ext cx="3240024" cy="914400"/>
          </a:xfrm>
          <a:prstGeom prst="rect">
            <a:avLst/>
          </a:prstGeom>
          <a:noFill/>
        </p:spPr>
        <p:txBody>
          <a:bodyPr wrap="square" lIns="45720" rIns="45720" tIns="18288" bIns="18288" anchor="t">
            <a:spAutoFit/>
          </a:bodyPr>
          <a:lstStyle/>
          <a:p>
            <a:pPr algn="l"/>
            <a:r>
              <a:rPr sz="1000" b="0" i="1">
                <a:solidFill>
                  <a:srgbClr val="1F2937"/>
                </a:solidFill>
                <a:latin typeface="Calibri"/>
              </a:rPr>
              <a:t>{{BULL_BODY}}</a:t>
            </a:r>
          </a:p>
        </p:txBody>
      </p:sp>
      <p:sp>
        <p:nvSpPr>
          <p:cNvPr id="37" name="Rounded Rectangle 36"/>
          <p:cNvSpPr/>
          <p:nvPr/>
        </p:nvSpPr>
        <p:spPr>
          <a:xfrm>
            <a:off x="8034528" y="2468880"/>
            <a:ext cx="3605784" cy="3657600"/>
          </a:xfrm>
          <a:prstGeom prst="roundRect">
            <a:avLst>
              <a:gd name="adj" fmla="val 5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8034528" y="2468880"/>
            <a:ext cx="3605784" cy="594360"/>
          </a:xfrm>
          <a:prstGeom prst="roundRect">
            <a:avLst>
              <a:gd name="adj" fmla="val 10000"/>
            </a:avLst>
          </a:prstGeom>
          <a:solidFill>
            <a:srgbClr val="E1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171688" y="2542032"/>
            <a:ext cx="3331464" cy="228600"/>
          </a:xfrm>
          <a:prstGeom prst="rect">
            <a:avLst/>
          </a:prstGeom>
          <a:noFill/>
        </p:spPr>
        <p:txBody>
          <a:bodyPr wrap="square" lIns="45720" rIns="45720" tIns="18288" bIns="18288" anchor="t">
            <a:spAutoFit/>
          </a:bodyPr>
          <a:lstStyle/>
          <a:p>
            <a:pPr algn="l"/>
            <a:r>
              <a:rPr sz="900" b="1" i="0">
                <a:solidFill>
                  <a:srgbClr val="FFFFFF"/>
                </a:solidFill>
                <a:latin typeface="Calibri"/>
              </a:rPr>
              <a:t>KỊCH BẢN THẬN TRỌNG</a:t>
            </a:r>
          </a:p>
        </p:txBody>
      </p:sp>
      <p:sp>
        <p:nvSpPr>
          <p:cNvPr id="40" name="Rectangle 39"/>
          <p:cNvSpPr/>
          <p:nvPr/>
        </p:nvSpPr>
        <p:spPr>
          <a:xfrm>
            <a:off x="8171688" y="2779776"/>
            <a:ext cx="1802892" cy="228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171688" y="2798064"/>
            <a:ext cx="3331464" cy="228600"/>
          </a:xfrm>
          <a:prstGeom prst="rect">
            <a:avLst/>
          </a:prstGeom>
          <a:noFill/>
        </p:spPr>
        <p:txBody>
          <a:bodyPr wrap="square" lIns="45720" rIns="45720" tIns="18288" bIns="18288" anchor="t">
            <a:spAutoFit/>
          </a:bodyPr>
          <a:lstStyle/>
          <a:p>
            <a:pPr algn="l"/>
            <a:r>
              <a:rPr sz="900" b="0" i="1">
                <a:solidFill>
                  <a:srgbClr val="FFFFFF"/>
                </a:solidFill>
                <a:latin typeface="Calibri"/>
              </a:rPr>
              <a:t>Khả năng thấp</a:t>
            </a:r>
          </a:p>
        </p:txBody>
      </p:sp>
      <p:sp>
        <p:nvSpPr>
          <p:cNvPr id="42" name="TextBox 41"/>
          <p:cNvSpPr txBox="1"/>
          <p:nvPr/>
        </p:nvSpPr>
        <p:spPr>
          <a:xfrm>
            <a:off x="8217408" y="3246120"/>
            <a:ext cx="3240024" cy="182880"/>
          </a:xfrm>
          <a:prstGeom prst="rect">
            <a:avLst/>
          </a:prstGeom>
          <a:noFill/>
        </p:spPr>
        <p:txBody>
          <a:bodyPr wrap="square" lIns="45720" rIns="45720" tIns="18288" bIns="18288" anchor="t">
            <a:spAutoFit/>
          </a:bodyPr>
          <a:lstStyle/>
          <a:p>
            <a:pPr algn="l"/>
            <a:r>
              <a:rPr sz="900" b="0" i="0">
                <a:solidFill>
                  <a:srgbClr val="6B7280"/>
                </a:solidFill>
                <a:latin typeface="Calibri"/>
              </a:rPr>
              <a:t>Khung thời gian</a:t>
            </a:r>
          </a:p>
        </p:txBody>
      </p:sp>
      <p:sp>
        <p:nvSpPr>
          <p:cNvPr id="43" name="TextBox 42"/>
          <p:cNvSpPr txBox="1"/>
          <p:nvPr/>
        </p:nvSpPr>
        <p:spPr>
          <a:xfrm>
            <a:off x="8217408" y="3429000"/>
            <a:ext cx="3240024" cy="274320"/>
          </a:xfrm>
          <a:prstGeom prst="rect">
            <a:avLst/>
          </a:prstGeom>
          <a:noFill/>
        </p:spPr>
        <p:txBody>
          <a:bodyPr wrap="square" lIns="45720" rIns="45720" tIns="18288" bIns="18288" anchor="t">
            <a:spAutoFit/>
          </a:bodyPr>
          <a:lstStyle/>
          <a:p>
            <a:pPr algn="l"/>
            <a:r>
              <a:rPr sz="1100" b="1" i="0">
                <a:solidFill>
                  <a:srgbClr val="1F2937"/>
                </a:solidFill>
                <a:latin typeface="Calibri"/>
              </a:rPr>
              <a:t>{{BEAR_TIMEFRAME}}</a:t>
            </a:r>
          </a:p>
        </p:txBody>
      </p:sp>
      <p:sp>
        <p:nvSpPr>
          <p:cNvPr id="44" name="TextBox 43"/>
          <p:cNvSpPr txBox="1"/>
          <p:nvPr/>
        </p:nvSpPr>
        <p:spPr>
          <a:xfrm>
            <a:off x="8217408" y="3749040"/>
            <a:ext cx="3240024" cy="182880"/>
          </a:xfrm>
          <a:prstGeom prst="rect">
            <a:avLst/>
          </a:prstGeom>
          <a:noFill/>
        </p:spPr>
        <p:txBody>
          <a:bodyPr wrap="square" lIns="45720" rIns="45720" tIns="18288" bIns="18288" anchor="t">
            <a:spAutoFit/>
          </a:bodyPr>
          <a:lstStyle/>
          <a:p>
            <a:pPr algn="l"/>
            <a:r>
              <a:rPr sz="900" b="0" i="0">
                <a:solidFill>
                  <a:srgbClr val="6B7280"/>
                </a:solidFill>
                <a:latin typeface="Calibri"/>
              </a:rPr>
              <a:t>Giá mục tiêu</a:t>
            </a:r>
          </a:p>
        </p:txBody>
      </p:sp>
      <p:sp>
        <p:nvSpPr>
          <p:cNvPr id="45" name="TextBox 44"/>
          <p:cNvSpPr txBox="1"/>
          <p:nvPr/>
        </p:nvSpPr>
        <p:spPr>
          <a:xfrm>
            <a:off x="8217408" y="3931920"/>
            <a:ext cx="3240024" cy="274320"/>
          </a:xfrm>
          <a:prstGeom prst="rect">
            <a:avLst/>
          </a:prstGeom>
          <a:noFill/>
        </p:spPr>
        <p:txBody>
          <a:bodyPr wrap="square" lIns="45720" rIns="45720" tIns="18288" bIns="18288" anchor="t">
            <a:spAutoFit/>
          </a:bodyPr>
          <a:lstStyle/>
          <a:p>
            <a:pPr algn="l"/>
            <a:r>
              <a:rPr sz="1100" b="1" i="0">
                <a:solidFill>
                  <a:srgbClr val="1F2937"/>
                </a:solidFill>
                <a:latin typeface="Calibri"/>
              </a:rPr>
              <a:t>{{BEAR_TARGET}}</a:t>
            </a:r>
          </a:p>
        </p:txBody>
      </p:sp>
      <p:sp>
        <p:nvSpPr>
          <p:cNvPr id="46" name="TextBox 45"/>
          <p:cNvSpPr txBox="1"/>
          <p:nvPr/>
        </p:nvSpPr>
        <p:spPr>
          <a:xfrm>
            <a:off x="8217408" y="4251960"/>
            <a:ext cx="3240024" cy="182880"/>
          </a:xfrm>
          <a:prstGeom prst="rect">
            <a:avLst/>
          </a:prstGeom>
          <a:noFill/>
        </p:spPr>
        <p:txBody>
          <a:bodyPr wrap="square" lIns="45720" rIns="45720" tIns="18288" bIns="18288" anchor="t">
            <a:spAutoFit/>
          </a:bodyPr>
          <a:lstStyle/>
          <a:p>
            <a:pPr algn="l"/>
            <a:r>
              <a:rPr sz="900" b="0" i="0">
                <a:solidFill>
                  <a:srgbClr val="6B7280"/>
                </a:solidFill>
                <a:latin typeface="Calibri"/>
              </a:rPr>
              <a:t>Tỷ suất kỳ vọng</a:t>
            </a:r>
          </a:p>
        </p:txBody>
      </p:sp>
      <p:sp>
        <p:nvSpPr>
          <p:cNvPr id="47" name="TextBox 46"/>
          <p:cNvSpPr txBox="1"/>
          <p:nvPr/>
        </p:nvSpPr>
        <p:spPr>
          <a:xfrm>
            <a:off x="8217408" y="4434840"/>
            <a:ext cx="3240024" cy="274320"/>
          </a:xfrm>
          <a:prstGeom prst="rect">
            <a:avLst/>
          </a:prstGeom>
          <a:noFill/>
        </p:spPr>
        <p:txBody>
          <a:bodyPr wrap="square" lIns="45720" rIns="45720" tIns="18288" bIns="18288" anchor="t">
            <a:spAutoFit/>
          </a:bodyPr>
          <a:lstStyle/>
          <a:p>
            <a:pPr algn="l"/>
            <a:r>
              <a:rPr sz="1100" b="1" i="0">
                <a:solidFill>
                  <a:srgbClr val="1F2937"/>
                </a:solidFill>
                <a:latin typeface="Calibri"/>
              </a:rPr>
              <a:t>{{BEAR_RETURN}}</a:t>
            </a:r>
          </a:p>
        </p:txBody>
      </p:sp>
      <p:sp>
        <p:nvSpPr>
          <p:cNvPr id="48" name="TextBox 47"/>
          <p:cNvSpPr txBox="1"/>
          <p:nvPr/>
        </p:nvSpPr>
        <p:spPr>
          <a:xfrm>
            <a:off x="8217408" y="4800600"/>
            <a:ext cx="3240024" cy="457200"/>
          </a:xfrm>
          <a:prstGeom prst="rect">
            <a:avLst/>
          </a:prstGeom>
          <a:noFill/>
        </p:spPr>
        <p:txBody>
          <a:bodyPr wrap="square" lIns="45720" rIns="45720" tIns="18288" bIns="18288" anchor="t">
            <a:spAutoFit/>
          </a:bodyPr>
          <a:lstStyle/>
          <a:p>
            <a:pPr algn="l"/>
            <a:r>
              <a:rPr sz="3600" b="1" i="0">
                <a:solidFill>
                  <a:srgbClr val="E14040"/>
                </a:solidFill>
                <a:latin typeface="Calibri"/>
              </a:rPr>
              <a:t>{{BEAR_BIG_PCT}}</a:t>
            </a:r>
          </a:p>
        </p:txBody>
      </p:sp>
      <p:sp>
        <p:nvSpPr>
          <p:cNvPr id="49" name="TextBox 48"/>
          <p:cNvSpPr txBox="1"/>
          <p:nvPr/>
        </p:nvSpPr>
        <p:spPr>
          <a:xfrm>
            <a:off x="8217408" y="5349240"/>
            <a:ext cx="3240024" cy="914400"/>
          </a:xfrm>
          <a:prstGeom prst="rect">
            <a:avLst/>
          </a:prstGeom>
          <a:noFill/>
        </p:spPr>
        <p:txBody>
          <a:bodyPr wrap="square" lIns="45720" rIns="45720" tIns="18288" bIns="18288" anchor="t">
            <a:spAutoFit/>
          </a:bodyPr>
          <a:lstStyle/>
          <a:p>
            <a:pPr algn="l"/>
            <a:r>
              <a:rPr sz="1000" b="0" i="1">
                <a:solidFill>
                  <a:srgbClr val="1F2937"/>
                </a:solidFill>
                <a:latin typeface="Calibri"/>
              </a:rPr>
              <a:t>{{BEAR_BODY}}</a:t>
            </a:r>
          </a:p>
        </p:txBody>
      </p:sp>
      <p:sp>
        <p:nvSpPr>
          <p:cNvPr id="50" name="TextBox 49"/>
          <p:cNvSpPr txBox="1"/>
          <p:nvPr/>
        </p:nvSpPr>
        <p:spPr>
          <a:xfrm>
            <a:off x="548640" y="6492240"/>
            <a:ext cx="8229600" cy="274320"/>
          </a:xfrm>
          <a:prstGeom prst="rect">
            <a:avLst/>
          </a:prstGeom>
          <a:noFill/>
        </p:spPr>
        <p:txBody>
          <a:bodyPr wrap="square" lIns="45720" rIns="45720" tIns="18288" bIns="18288" anchor="t">
            <a:spAutoFit/>
          </a:bodyPr>
          <a:lstStyle/>
          <a:p>
            <a:pPr algn="l"/>
            <a:r>
              <a:rPr sz="900" b="0" i="1">
                <a:solidFill>
                  <a:srgbClr val="9CA3AF"/>
                </a:solidFill>
                <a:latin typeface="Calibri"/>
              </a:rPr>
              <a:t>{{FOOTER_LEFT}}</a:t>
            </a:r>
          </a:p>
        </p:txBody>
      </p:sp>
      <p:sp>
        <p:nvSpPr>
          <p:cNvPr id="51" name="TextBox 50"/>
          <p:cNvSpPr txBox="1"/>
          <p:nvPr/>
        </p:nvSpPr>
        <p:spPr>
          <a:xfrm>
            <a:off x="10058400" y="6492240"/>
            <a:ext cx="1645920" cy="274320"/>
          </a:xfrm>
          <a:prstGeom prst="rect">
            <a:avLst/>
          </a:prstGeom>
          <a:noFill/>
        </p:spPr>
        <p:txBody>
          <a:bodyPr wrap="square" lIns="45720" rIns="45720" tIns="18288" bIns="18288" anchor="t">
            <a:spAutoFit/>
          </a:bodyPr>
          <a:lstStyle/>
          <a:p>
            <a:pPr algn="r"/>
            <a:r>
              <a:rPr sz="900" b="0" i="0">
                <a:solidFill>
                  <a:srgbClr val="9CA3AF"/>
                </a:solidFill>
                <a:latin typeface="Calibri"/>
              </a:rPr>
              <a:t>{{PAGE_NUM}}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name="STAT_TABLE_COMBO_SESSION">
    <p:spTree>
      <p:nvGrpSpPr>
        <p:cNvPr id="1" name=""/>
        <p:cNvGrpSpPr/>
        <p:nvPr/>
      </p:nvGrpSpPr>
      <p:grpSpPr/>
      <p:sp>
        <p:nvSpPr>
          <p:cNvPr id="2" name="Rectangle 1"/>
          <p:cNvSpPr/>
          <p:nvPr/>
        </p:nvSpPr>
        <p:spPr>
          <a:xfrm>
            <a:off x="457200" y="274320"/>
            <a:ext cx="73152" cy="32004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594359"/>
            <a:ext cx="73152" cy="320040"/>
          </a:xfrm>
          <a:prstGeom prst="rect">
            <a:avLst/>
          </a:prstGeom>
          <a:solidFill>
            <a:srgbClr val="B47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74320"/>
            <a:ext cx="10972800" cy="365760"/>
          </a:xfrm>
          <a:prstGeom prst="rect">
            <a:avLst/>
          </a:prstGeom>
          <a:noFill/>
        </p:spPr>
        <p:txBody>
          <a:bodyPr wrap="square" lIns="45720" rIns="45720" tIns="18288" bIns="18288" anchor="t">
            <a:spAutoFit/>
          </a:bodyPr>
          <a:lstStyle/>
          <a:p>
            <a:pPr algn="l"/>
            <a:r>
              <a:rPr sz="2400" b="1" i="0">
                <a:solidFill>
                  <a:srgbClr val="1F2937"/>
                </a:solidFill>
                <a:latin typeface="Calibri"/>
              </a:rPr>
              <a:t>{{SECTION_TITLE}}</a:t>
            </a:r>
          </a:p>
        </p:txBody>
      </p:sp>
      <p:sp>
        <p:nvSpPr>
          <p:cNvPr id="5" name="TextBox 4"/>
          <p:cNvSpPr txBox="1"/>
          <p:nvPr/>
        </p:nvSpPr>
        <p:spPr>
          <a:xfrm>
            <a:off x="594360" y="640080"/>
            <a:ext cx="10972800" cy="274320"/>
          </a:xfrm>
          <a:prstGeom prst="rect">
            <a:avLst/>
          </a:prstGeom>
          <a:noFill/>
        </p:spPr>
        <p:txBody>
          <a:bodyPr wrap="square" lIns="45720" rIns="45720" tIns="18288" bIns="18288" anchor="t">
            <a:spAutoFit/>
          </a:bodyPr>
          <a:lstStyle/>
          <a:p>
            <a:pPr algn="l"/>
            <a:r>
              <a:rPr sz="1100" b="0" i="1">
                <a:solidFill>
                  <a:srgbClr val="6B7280"/>
                </a:solidFill>
                <a:latin typeface="Calibri"/>
              </a:rPr>
              <a:t>{{SECTION_SUB}}</a:t>
            </a:r>
          </a:p>
        </p:txBody>
      </p:sp>
      <p:sp>
        <p:nvSpPr>
          <p:cNvPr id="6" name="Rectangle 5"/>
          <p:cNvSpPr/>
          <p:nvPr/>
        </p:nvSpPr>
        <p:spPr>
          <a:xfrm>
            <a:off x="548640" y="1005840"/>
            <a:ext cx="11091672" cy="18288"/>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280160"/>
            <a:ext cx="2704338" cy="1188720"/>
          </a:xfrm>
          <a:prstGeom prst="roundRect">
            <a:avLst>
              <a:gd name="adj" fmla="val 4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325880"/>
            <a:ext cx="73152" cy="109728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371600"/>
            <a:ext cx="2430018" cy="228600"/>
          </a:xfrm>
          <a:prstGeom prst="rect">
            <a:avLst/>
          </a:prstGeom>
          <a:noFill/>
        </p:spPr>
        <p:txBody>
          <a:bodyPr wrap="square" lIns="45720" rIns="45720" tIns="18288" bIns="18288" anchor="t">
            <a:spAutoFit/>
          </a:bodyPr>
          <a:lstStyle/>
          <a:p>
            <a:pPr algn="l"/>
            <a:r>
              <a:rPr sz="900" b="0" i="0">
                <a:solidFill>
                  <a:srgbClr val="6B7280"/>
                </a:solidFill>
                <a:latin typeface="Calibri"/>
              </a:rPr>
              <a:t>ĐÓNG CỬA</a:t>
            </a:r>
          </a:p>
        </p:txBody>
      </p:sp>
      <p:sp>
        <p:nvSpPr>
          <p:cNvPr id="10" name="TextBox 9"/>
          <p:cNvSpPr txBox="1"/>
          <p:nvPr/>
        </p:nvSpPr>
        <p:spPr>
          <a:xfrm>
            <a:off x="731520" y="1645919"/>
            <a:ext cx="2430018" cy="502920"/>
          </a:xfrm>
          <a:prstGeom prst="rect">
            <a:avLst/>
          </a:prstGeom>
          <a:noFill/>
        </p:spPr>
        <p:txBody>
          <a:bodyPr wrap="square" lIns="45720" rIns="45720" tIns="18288" bIns="18288" anchor="t">
            <a:spAutoFit/>
          </a:bodyPr>
          <a:lstStyle/>
          <a:p>
            <a:pPr algn="l"/>
            <a:r>
              <a:rPr sz="2200" b="1" i="0">
                <a:solidFill>
                  <a:srgbClr val="8B5CF6"/>
                </a:solidFill>
                <a:latin typeface="Calibri"/>
              </a:rPr>
              <a:t>{{CLOSE_PRICE}}</a:t>
            </a:r>
          </a:p>
        </p:txBody>
      </p:sp>
      <p:sp>
        <p:nvSpPr>
          <p:cNvPr id="11" name="TextBox 10"/>
          <p:cNvSpPr txBox="1"/>
          <p:nvPr/>
        </p:nvSpPr>
        <p:spPr>
          <a:xfrm>
            <a:off x="731520" y="2103120"/>
            <a:ext cx="2430018" cy="274320"/>
          </a:xfrm>
          <a:prstGeom prst="rect">
            <a:avLst/>
          </a:prstGeom>
          <a:noFill/>
        </p:spPr>
        <p:txBody>
          <a:bodyPr wrap="square" lIns="45720" rIns="45720" tIns="18288" bIns="18288" anchor="t">
            <a:spAutoFit/>
          </a:bodyPr>
          <a:lstStyle/>
          <a:p>
            <a:pPr algn="l"/>
            <a:r>
              <a:rPr sz="900" b="1" i="0">
                <a:solidFill>
                  <a:srgbClr val="25B770"/>
                </a:solidFill>
                <a:latin typeface="Calibri"/>
              </a:rPr>
              <a:t>{{CLOSE_CHANGE}}</a:t>
            </a:r>
          </a:p>
        </p:txBody>
      </p:sp>
      <p:sp>
        <p:nvSpPr>
          <p:cNvPr id="12" name="Rounded Rectangle 11"/>
          <p:cNvSpPr/>
          <p:nvPr/>
        </p:nvSpPr>
        <p:spPr>
          <a:xfrm>
            <a:off x="3344418" y="1280160"/>
            <a:ext cx="2704338" cy="1188720"/>
          </a:xfrm>
          <a:prstGeom prst="roundRect">
            <a:avLst>
              <a:gd name="adj" fmla="val 4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44418" y="1325880"/>
            <a:ext cx="73152" cy="109728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27298" y="1371600"/>
            <a:ext cx="2430018" cy="228600"/>
          </a:xfrm>
          <a:prstGeom prst="rect">
            <a:avLst/>
          </a:prstGeom>
          <a:noFill/>
        </p:spPr>
        <p:txBody>
          <a:bodyPr wrap="square" lIns="45720" rIns="45720" tIns="18288" bIns="18288" anchor="t">
            <a:spAutoFit/>
          </a:bodyPr>
          <a:lstStyle/>
          <a:p>
            <a:pPr algn="l"/>
            <a:r>
              <a:rPr sz="900" b="0" i="0">
                <a:solidFill>
                  <a:srgbClr val="6B7280"/>
                </a:solidFill>
                <a:latin typeface="Calibri"/>
              </a:rPr>
              <a:t>CAO NHẤT</a:t>
            </a:r>
          </a:p>
        </p:txBody>
      </p:sp>
      <p:sp>
        <p:nvSpPr>
          <p:cNvPr id="15" name="TextBox 14"/>
          <p:cNvSpPr txBox="1"/>
          <p:nvPr/>
        </p:nvSpPr>
        <p:spPr>
          <a:xfrm>
            <a:off x="3527298" y="1645919"/>
            <a:ext cx="2430018" cy="502920"/>
          </a:xfrm>
          <a:prstGeom prst="rect">
            <a:avLst/>
          </a:prstGeom>
          <a:noFill/>
        </p:spPr>
        <p:txBody>
          <a:bodyPr wrap="square" lIns="45720" rIns="45720" tIns="18288" bIns="18288" anchor="t">
            <a:spAutoFit/>
          </a:bodyPr>
          <a:lstStyle/>
          <a:p>
            <a:pPr algn="l"/>
            <a:r>
              <a:rPr sz="2200" b="1" i="0">
                <a:solidFill>
                  <a:srgbClr val="8B5CF6"/>
                </a:solidFill>
                <a:latin typeface="Calibri"/>
              </a:rPr>
              <a:t>{{HIGH_PRICE}}</a:t>
            </a:r>
          </a:p>
        </p:txBody>
      </p:sp>
      <p:sp>
        <p:nvSpPr>
          <p:cNvPr id="16" name="TextBox 15"/>
          <p:cNvSpPr txBox="1"/>
          <p:nvPr/>
        </p:nvSpPr>
        <p:spPr>
          <a:xfrm>
            <a:off x="3527298" y="2103120"/>
            <a:ext cx="2430018" cy="274320"/>
          </a:xfrm>
          <a:prstGeom prst="rect">
            <a:avLst/>
          </a:prstGeom>
          <a:noFill/>
        </p:spPr>
        <p:txBody>
          <a:bodyPr wrap="square" lIns="45720" rIns="45720" tIns="18288" bIns="18288" anchor="t">
            <a:spAutoFit/>
          </a:bodyPr>
          <a:lstStyle/>
          <a:p>
            <a:pPr algn="l"/>
            <a:r>
              <a:rPr sz="900" b="1" i="0">
                <a:solidFill>
                  <a:srgbClr val="6B7280"/>
                </a:solidFill>
                <a:latin typeface="Calibri"/>
              </a:rPr>
              <a:t>{{HIGH_NOTE}}</a:t>
            </a:r>
          </a:p>
        </p:txBody>
      </p:sp>
      <p:sp>
        <p:nvSpPr>
          <p:cNvPr id="17" name="Rounded Rectangle 16"/>
          <p:cNvSpPr/>
          <p:nvPr/>
        </p:nvSpPr>
        <p:spPr>
          <a:xfrm>
            <a:off x="6140196" y="1280160"/>
            <a:ext cx="2704338" cy="1188720"/>
          </a:xfrm>
          <a:prstGeom prst="roundRect">
            <a:avLst>
              <a:gd name="adj" fmla="val 4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40196" y="1325880"/>
            <a:ext cx="73152" cy="109728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23076" y="1371600"/>
            <a:ext cx="2430018" cy="228600"/>
          </a:xfrm>
          <a:prstGeom prst="rect">
            <a:avLst/>
          </a:prstGeom>
          <a:noFill/>
        </p:spPr>
        <p:txBody>
          <a:bodyPr wrap="square" lIns="45720" rIns="45720" tIns="18288" bIns="18288" anchor="t">
            <a:spAutoFit/>
          </a:bodyPr>
          <a:lstStyle/>
          <a:p>
            <a:pPr algn="l"/>
            <a:r>
              <a:rPr sz="900" b="0" i="0">
                <a:solidFill>
                  <a:srgbClr val="6B7280"/>
                </a:solidFill>
                <a:latin typeface="Calibri"/>
              </a:rPr>
              <a:t>THẤP NHẤT</a:t>
            </a:r>
          </a:p>
        </p:txBody>
      </p:sp>
      <p:sp>
        <p:nvSpPr>
          <p:cNvPr id="20" name="TextBox 19"/>
          <p:cNvSpPr txBox="1"/>
          <p:nvPr/>
        </p:nvSpPr>
        <p:spPr>
          <a:xfrm>
            <a:off x="6323076" y="1645919"/>
            <a:ext cx="2430018" cy="502920"/>
          </a:xfrm>
          <a:prstGeom prst="rect">
            <a:avLst/>
          </a:prstGeom>
          <a:noFill/>
        </p:spPr>
        <p:txBody>
          <a:bodyPr wrap="square" lIns="45720" rIns="45720" tIns="18288" bIns="18288" anchor="t">
            <a:spAutoFit/>
          </a:bodyPr>
          <a:lstStyle/>
          <a:p>
            <a:pPr algn="l"/>
            <a:r>
              <a:rPr sz="2200" b="1" i="0">
                <a:solidFill>
                  <a:srgbClr val="8B5CF6"/>
                </a:solidFill>
                <a:latin typeface="Calibri"/>
              </a:rPr>
              <a:t>{{LOW_PRICE}}</a:t>
            </a:r>
          </a:p>
        </p:txBody>
      </p:sp>
      <p:sp>
        <p:nvSpPr>
          <p:cNvPr id="21" name="TextBox 20"/>
          <p:cNvSpPr txBox="1"/>
          <p:nvPr/>
        </p:nvSpPr>
        <p:spPr>
          <a:xfrm>
            <a:off x="6323076" y="2103120"/>
            <a:ext cx="2430018" cy="274320"/>
          </a:xfrm>
          <a:prstGeom prst="rect">
            <a:avLst/>
          </a:prstGeom>
          <a:noFill/>
        </p:spPr>
        <p:txBody>
          <a:bodyPr wrap="square" lIns="45720" rIns="45720" tIns="18288" bIns="18288" anchor="t">
            <a:spAutoFit/>
          </a:bodyPr>
          <a:lstStyle/>
          <a:p>
            <a:pPr algn="l"/>
            <a:r>
              <a:rPr sz="900" b="1" i="0">
                <a:solidFill>
                  <a:srgbClr val="6B7280"/>
                </a:solidFill>
                <a:latin typeface="Calibri"/>
              </a:rPr>
              <a:t>{{LOW_NOTE}}</a:t>
            </a:r>
          </a:p>
        </p:txBody>
      </p:sp>
      <p:sp>
        <p:nvSpPr>
          <p:cNvPr id="22" name="Rounded Rectangle 21"/>
          <p:cNvSpPr/>
          <p:nvPr/>
        </p:nvSpPr>
        <p:spPr>
          <a:xfrm>
            <a:off x="8935974" y="1280160"/>
            <a:ext cx="2704338" cy="1188720"/>
          </a:xfrm>
          <a:prstGeom prst="roundRect">
            <a:avLst>
              <a:gd name="adj" fmla="val 4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935974" y="1325880"/>
            <a:ext cx="73152" cy="109728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18853" y="1371600"/>
            <a:ext cx="2430018" cy="228600"/>
          </a:xfrm>
          <a:prstGeom prst="rect">
            <a:avLst/>
          </a:prstGeom>
          <a:noFill/>
        </p:spPr>
        <p:txBody>
          <a:bodyPr wrap="square" lIns="45720" rIns="45720" tIns="18288" bIns="18288" anchor="t">
            <a:spAutoFit/>
          </a:bodyPr>
          <a:lstStyle/>
          <a:p>
            <a:pPr algn="l"/>
            <a:r>
              <a:rPr sz="900" b="0" i="0">
                <a:solidFill>
                  <a:srgbClr val="6B7280"/>
                </a:solidFill>
                <a:latin typeface="Calibri"/>
              </a:rPr>
              <a:t>GIÁ TRỊ GIAO DỊCH</a:t>
            </a:r>
          </a:p>
        </p:txBody>
      </p:sp>
      <p:sp>
        <p:nvSpPr>
          <p:cNvPr id="25" name="TextBox 24"/>
          <p:cNvSpPr txBox="1"/>
          <p:nvPr/>
        </p:nvSpPr>
        <p:spPr>
          <a:xfrm>
            <a:off x="9118853" y="1645919"/>
            <a:ext cx="2430018" cy="502920"/>
          </a:xfrm>
          <a:prstGeom prst="rect">
            <a:avLst/>
          </a:prstGeom>
          <a:noFill/>
        </p:spPr>
        <p:txBody>
          <a:bodyPr wrap="square" lIns="45720" rIns="45720" tIns="18288" bIns="18288" anchor="t">
            <a:spAutoFit/>
          </a:bodyPr>
          <a:lstStyle/>
          <a:p>
            <a:pPr algn="l"/>
            <a:r>
              <a:rPr sz="2200" b="1" i="0">
                <a:solidFill>
                  <a:srgbClr val="8B5CF6"/>
                </a:solidFill>
                <a:latin typeface="Calibri"/>
              </a:rPr>
              <a:t>{{VALUE_AMOUNT}}</a:t>
            </a:r>
          </a:p>
        </p:txBody>
      </p:sp>
      <p:sp>
        <p:nvSpPr>
          <p:cNvPr id="26" name="TextBox 25"/>
          <p:cNvSpPr txBox="1"/>
          <p:nvPr/>
        </p:nvSpPr>
        <p:spPr>
          <a:xfrm>
            <a:off x="9118853" y="2103120"/>
            <a:ext cx="2430018" cy="274320"/>
          </a:xfrm>
          <a:prstGeom prst="rect">
            <a:avLst/>
          </a:prstGeom>
          <a:noFill/>
        </p:spPr>
        <p:txBody>
          <a:bodyPr wrap="square" lIns="45720" rIns="45720" tIns="18288" bIns="18288" anchor="t">
            <a:spAutoFit/>
          </a:bodyPr>
          <a:lstStyle/>
          <a:p>
            <a:pPr algn="l"/>
            <a:r>
              <a:rPr sz="900" b="1" i="0">
                <a:solidFill>
                  <a:srgbClr val="6B7280"/>
                </a:solidFill>
                <a:latin typeface="Calibri"/>
              </a:rPr>
              <a:t>{{LIQUIDITY_NOTE}}</a:t>
            </a:r>
          </a:p>
        </p:txBody>
      </p:sp>
      <p:sp>
        <p:nvSpPr>
          <p:cNvPr id="27" name="TextBox 26"/>
          <p:cNvSpPr txBox="1"/>
          <p:nvPr/>
        </p:nvSpPr>
        <p:spPr>
          <a:xfrm>
            <a:off x="548640" y="2743200"/>
            <a:ext cx="11091672" cy="274320"/>
          </a:xfrm>
          <a:prstGeom prst="rect">
            <a:avLst/>
          </a:prstGeom>
          <a:noFill/>
        </p:spPr>
        <p:txBody>
          <a:bodyPr wrap="square" lIns="45720" rIns="45720" tIns="18288" bIns="18288" anchor="t">
            <a:spAutoFit/>
          </a:bodyPr>
          <a:lstStyle/>
          <a:p>
            <a:pPr algn="l"/>
            <a:r>
              <a:rPr sz="1000" b="1" i="0">
                <a:solidFill>
                  <a:srgbClr val="8B5CF6"/>
                </a:solidFill>
                <a:latin typeface="Calibri"/>
              </a:rPr>
              <a:t>CÁC MỨC KỸ THUẬT QUAN TRỌNG</a:t>
            </a:r>
          </a:p>
        </p:txBody>
      </p:sp>
      <p:sp>
        <p:nvSpPr>
          <p:cNvPr id="28" name="Rectangle 27"/>
          <p:cNvSpPr/>
          <p:nvPr/>
        </p:nvSpPr>
        <p:spPr>
          <a:xfrm>
            <a:off x="548640" y="3108960"/>
            <a:ext cx="11247120" cy="36576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3108960"/>
            <a:ext cx="4114800" cy="365760"/>
          </a:xfrm>
          <a:prstGeom prst="rect">
            <a:avLst/>
          </a:prstGeom>
          <a:noFill/>
        </p:spPr>
        <p:txBody>
          <a:bodyPr wrap="square" lIns="45720" rIns="45720" tIns="18288" bIns="18288" anchor="ctr">
            <a:spAutoFit/>
          </a:bodyPr>
          <a:lstStyle/>
          <a:p>
            <a:pPr algn="l"/>
            <a:r>
              <a:rPr sz="900" b="1" i="0">
                <a:solidFill>
                  <a:srgbClr val="FFFFFF"/>
                </a:solidFill>
                <a:latin typeface="Calibri"/>
              </a:rPr>
              <a:t>MỨC KỸ THUẬT</a:t>
            </a:r>
          </a:p>
        </p:txBody>
      </p:sp>
      <p:sp>
        <p:nvSpPr>
          <p:cNvPr id="30" name="TextBox 29"/>
          <p:cNvSpPr txBox="1"/>
          <p:nvPr/>
        </p:nvSpPr>
        <p:spPr>
          <a:xfrm>
            <a:off x="4663440" y="3108960"/>
            <a:ext cx="3200400" cy="365760"/>
          </a:xfrm>
          <a:prstGeom prst="rect">
            <a:avLst/>
          </a:prstGeom>
          <a:noFill/>
        </p:spPr>
        <p:txBody>
          <a:bodyPr wrap="square" lIns="45720" rIns="45720" tIns="18288" bIns="18288" anchor="ctr">
            <a:spAutoFit/>
          </a:bodyPr>
          <a:lstStyle/>
          <a:p>
            <a:pPr algn="r"/>
            <a:r>
              <a:rPr sz="900" b="1" i="0">
                <a:solidFill>
                  <a:srgbClr val="FFFFFF"/>
                </a:solidFill>
                <a:latin typeface="Calibri"/>
              </a:rPr>
              <a:t>GIÁ (đồng)</a:t>
            </a:r>
          </a:p>
        </p:txBody>
      </p:sp>
      <p:sp>
        <p:nvSpPr>
          <p:cNvPr id="31" name="TextBox 30"/>
          <p:cNvSpPr txBox="1"/>
          <p:nvPr/>
        </p:nvSpPr>
        <p:spPr>
          <a:xfrm>
            <a:off x="7863840" y="3108960"/>
            <a:ext cx="3931920" cy="365760"/>
          </a:xfrm>
          <a:prstGeom prst="rect">
            <a:avLst/>
          </a:prstGeom>
          <a:noFill/>
        </p:spPr>
        <p:txBody>
          <a:bodyPr wrap="square" lIns="45720" rIns="45720" tIns="18288" bIns="18288" anchor="ctr">
            <a:spAutoFit/>
          </a:bodyPr>
          <a:lstStyle/>
          <a:p>
            <a:pPr algn="r"/>
            <a:r>
              <a:rPr sz="900" b="1" i="0">
                <a:solidFill>
                  <a:srgbClr val="FFFFFF"/>
                </a:solidFill>
                <a:latin typeface="Calibri"/>
              </a:rPr>
              <a:t>CHÊNH SO GIÁ HIỆN TẠI</a:t>
            </a:r>
          </a:p>
        </p:txBody>
      </p:sp>
      <p:sp>
        <p:nvSpPr>
          <p:cNvPr id="32" name="Rectangle 31"/>
          <p:cNvSpPr/>
          <p:nvPr/>
        </p:nvSpPr>
        <p:spPr>
          <a:xfrm>
            <a:off x="548640" y="3474720"/>
            <a:ext cx="11247120" cy="25603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48640" y="3474720"/>
            <a:ext cx="4114800" cy="256032"/>
          </a:xfrm>
          <a:prstGeom prst="rect">
            <a:avLst/>
          </a:prstGeom>
          <a:noFill/>
        </p:spPr>
        <p:txBody>
          <a:bodyPr wrap="square" lIns="45720" rIns="45720" tIns="18288" bIns="18288" anchor="ctr">
            <a:spAutoFit/>
          </a:bodyPr>
          <a:lstStyle/>
          <a:p>
            <a:pPr algn="l"/>
            <a:r>
              <a:rPr sz="1000" b="0" i="0">
                <a:solidFill>
                  <a:srgbClr val="1F2937"/>
                </a:solidFill>
                <a:latin typeface="Calibri"/>
              </a:rPr>
              <a:t>{{LEVEL_1_NAME}}</a:t>
            </a:r>
          </a:p>
        </p:txBody>
      </p:sp>
      <p:sp>
        <p:nvSpPr>
          <p:cNvPr id="34" name="TextBox 33"/>
          <p:cNvSpPr txBox="1"/>
          <p:nvPr/>
        </p:nvSpPr>
        <p:spPr>
          <a:xfrm>
            <a:off x="4663440" y="3474720"/>
            <a:ext cx="3200400" cy="256032"/>
          </a:xfrm>
          <a:prstGeom prst="rect">
            <a:avLst/>
          </a:prstGeom>
          <a:noFill/>
        </p:spPr>
        <p:txBody>
          <a:bodyPr wrap="square" lIns="45720" rIns="45720" tIns="18288" bIns="18288" anchor="ctr">
            <a:spAutoFit/>
          </a:bodyPr>
          <a:lstStyle/>
          <a:p>
            <a:pPr algn="r"/>
            <a:r>
              <a:rPr sz="1000" b="1" i="0">
                <a:solidFill>
                  <a:srgbClr val="8B5CF6"/>
                </a:solidFill>
                <a:latin typeface="Calibri"/>
              </a:rPr>
              <a:t>{{LEVEL_1_PRICE}}</a:t>
            </a:r>
          </a:p>
        </p:txBody>
      </p:sp>
      <p:sp>
        <p:nvSpPr>
          <p:cNvPr id="35" name="TextBox 34"/>
          <p:cNvSpPr txBox="1"/>
          <p:nvPr/>
        </p:nvSpPr>
        <p:spPr>
          <a:xfrm>
            <a:off x="7863840" y="3474720"/>
            <a:ext cx="3931920" cy="256032"/>
          </a:xfrm>
          <a:prstGeom prst="rect">
            <a:avLst/>
          </a:prstGeom>
          <a:noFill/>
        </p:spPr>
        <p:txBody>
          <a:bodyPr wrap="square" lIns="45720" rIns="45720" tIns="18288" bIns="18288" anchor="ctr">
            <a:spAutoFit/>
          </a:bodyPr>
          <a:lstStyle/>
          <a:p>
            <a:pPr algn="r"/>
            <a:r>
              <a:rPr sz="1000" b="1" i="0">
                <a:solidFill>
                  <a:srgbClr val="1F2937"/>
                </a:solidFill>
                <a:latin typeface="Calibri"/>
              </a:rPr>
              <a:t>{{LEVEL_1_DELTA}}</a:t>
            </a:r>
          </a:p>
        </p:txBody>
      </p:sp>
      <p:sp>
        <p:nvSpPr>
          <p:cNvPr id="36" name="TextBox 35"/>
          <p:cNvSpPr txBox="1"/>
          <p:nvPr/>
        </p:nvSpPr>
        <p:spPr>
          <a:xfrm>
            <a:off x="548640" y="3730752"/>
            <a:ext cx="4114800" cy="256032"/>
          </a:xfrm>
          <a:prstGeom prst="rect">
            <a:avLst/>
          </a:prstGeom>
          <a:noFill/>
        </p:spPr>
        <p:txBody>
          <a:bodyPr wrap="square" lIns="45720" rIns="45720" tIns="18288" bIns="18288" anchor="ctr">
            <a:spAutoFit/>
          </a:bodyPr>
          <a:lstStyle/>
          <a:p>
            <a:pPr algn="l"/>
            <a:r>
              <a:rPr sz="1000" b="0" i="0">
                <a:solidFill>
                  <a:srgbClr val="1F2937"/>
                </a:solidFill>
                <a:latin typeface="Calibri"/>
              </a:rPr>
              <a:t>{{LEVEL_2_NAME}}</a:t>
            </a:r>
          </a:p>
        </p:txBody>
      </p:sp>
      <p:sp>
        <p:nvSpPr>
          <p:cNvPr id="37" name="TextBox 36"/>
          <p:cNvSpPr txBox="1"/>
          <p:nvPr/>
        </p:nvSpPr>
        <p:spPr>
          <a:xfrm>
            <a:off x="4663440" y="3730752"/>
            <a:ext cx="3200400" cy="256032"/>
          </a:xfrm>
          <a:prstGeom prst="rect">
            <a:avLst/>
          </a:prstGeom>
          <a:noFill/>
        </p:spPr>
        <p:txBody>
          <a:bodyPr wrap="square" lIns="45720" rIns="45720" tIns="18288" bIns="18288" anchor="ctr">
            <a:spAutoFit/>
          </a:bodyPr>
          <a:lstStyle/>
          <a:p>
            <a:pPr algn="r"/>
            <a:r>
              <a:rPr sz="1000" b="1" i="0">
                <a:solidFill>
                  <a:srgbClr val="8B5CF6"/>
                </a:solidFill>
                <a:latin typeface="Calibri"/>
              </a:rPr>
              <a:t>{{LEVEL_2_PRICE}}</a:t>
            </a:r>
          </a:p>
        </p:txBody>
      </p:sp>
      <p:sp>
        <p:nvSpPr>
          <p:cNvPr id="38" name="TextBox 37"/>
          <p:cNvSpPr txBox="1"/>
          <p:nvPr/>
        </p:nvSpPr>
        <p:spPr>
          <a:xfrm>
            <a:off x="7863840" y="3730752"/>
            <a:ext cx="3931920" cy="256032"/>
          </a:xfrm>
          <a:prstGeom prst="rect">
            <a:avLst/>
          </a:prstGeom>
          <a:noFill/>
        </p:spPr>
        <p:txBody>
          <a:bodyPr wrap="square" lIns="45720" rIns="45720" tIns="18288" bIns="18288" anchor="ctr">
            <a:spAutoFit/>
          </a:bodyPr>
          <a:lstStyle/>
          <a:p>
            <a:pPr algn="r"/>
            <a:r>
              <a:rPr sz="1000" b="1" i="0">
                <a:solidFill>
                  <a:srgbClr val="1F2937"/>
                </a:solidFill>
                <a:latin typeface="Calibri"/>
              </a:rPr>
              <a:t>{{LEVEL_2_DELTA}}</a:t>
            </a:r>
          </a:p>
        </p:txBody>
      </p:sp>
      <p:sp>
        <p:nvSpPr>
          <p:cNvPr id="39" name="Rectangle 38"/>
          <p:cNvSpPr/>
          <p:nvPr/>
        </p:nvSpPr>
        <p:spPr>
          <a:xfrm>
            <a:off x="548640" y="3986784"/>
            <a:ext cx="11247120" cy="25603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48640" y="3986784"/>
            <a:ext cx="4114800" cy="256032"/>
          </a:xfrm>
          <a:prstGeom prst="rect">
            <a:avLst/>
          </a:prstGeom>
          <a:noFill/>
        </p:spPr>
        <p:txBody>
          <a:bodyPr wrap="square" lIns="45720" rIns="45720" tIns="18288" bIns="18288" anchor="ctr">
            <a:spAutoFit/>
          </a:bodyPr>
          <a:lstStyle/>
          <a:p>
            <a:pPr algn="l"/>
            <a:r>
              <a:rPr sz="1000" b="0" i="0">
                <a:solidFill>
                  <a:srgbClr val="1F2937"/>
                </a:solidFill>
                <a:latin typeface="Calibri"/>
              </a:rPr>
              <a:t>{{LEVEL_3_NAME}}</a:t>
            </a:r>
          </a:p>
        </p:txBody>
      </p:sp>
      <p:sp>
        <p:nvSpPr>
          <p:cNvPr id="41" name="TextBox 40"/>
          <p:cNvSpPr txBox="1"/>
          <p:nvPr/>
        </p:nvSpPr>
        <p:spPr>
          <a:xfrm>
            <a:off x="4663440" y="3986784"/>
            <a:ext cx="3200400" cy="256032"/>
          </a:xfrm>
          <a:prstGeom prst="rect">
            <a:avLst/>
          </a:prstGeom>
          <a:noFill/>
        </p:spPr>
        <p:txBody>
          <a:bodyPr wrap="square" lIns="45720" rIns="45720" tIns="18288" bIns="18288" anchor="ctr">
            <a:spAutoFit/>
          </a:bodyPr>
          <a:lstStyle/>
          <a:p>
            <a:pPr algn="r"/>
            <a:r>
              <a:rPr sz="1000" b="1" i="0">
                <a:solidFill>
                  <a:srgbClr val="8B5CF6"/>
                </a:solidFill>
                <a:latin typeface="Calibri"/>
              </a:rPr>
              <a:t>{{LEVEL_3_PRICE}}</a:t>
            </a:r>
          </a:p>
        </p:txBody>
      </p:sp>
      <p:sp>
        <p:nvSpPr>
          <p:cNvPr id="42" name="TextBox 41"/>
          <p:cNvSpPr txBox="1"/>
          <p:nvPr/>
        </p:nvSpPr>
        <p:spPr>
          <a:xfrm>
            <a:off x="7863840" y="3986784"/>
            <a:ext cx="3931920" cy="256032"/>
          </a:xfrm>
          <a:prstGeom prst="rect">
            <a:avLst/>
          </a:prstGeom>
          <a:noFill/>
        </p:spPr>
        <p:txBody>
          <a:bodyPr wrap="square" lIns="45720" rIns="45720" tIns="18288" bIns="18288" anchor="ctr">
            <a:spAutoFit/>
          </a:bodyPr>
          <a:lstStyle/>
          <a:p>
            <a:pPr algn="r"/>
            <a:r>
              <a:rPr sz="1000" b="1" i="0">
                <a:solidFill>
                  <a:srgbClr val="1F2937"/>
                </a:solidFill>
                <a:latin typeface="Calibri"/>
              </a:rPr>
              <a:t>{{LEVEL_3_DELTA}}</a:t>
            </a:r>
          </a:p>
        </p:txBody>
      </p:sp>
      <p:sp>
        <p:nvSpPr>
          <p:cNvPr id="43" name="TextBox 42"/>
          <p:cNvSpPr txBox="1"/>
          <p:nvPr/>
        </p:nvSpPr>
        <p:spPr>
          <a:xfrm>
            <a:off x="548640" y="4242816"/>
            <a:ext cx="4114800" cy="256032"/>
          </a:xfrm>
          <a:prstGeom prst="rect">
            <a:avLst/>
          </a:prstGeom>
          <a:noFill/>
        </p:spPr>
        <p:txBody>
          <a:bodyPr wrap="square" lIns="45720" rIns="45720" tIns="18288" bIns="18288" anchor="ctr">
            <a:spAutoFit/>
          </a:bodyPr>
          <a:lstStyle/>
          <a:p>
            <a:pPr algn="l"/>
            <a:r>
              <a:rPr sz="1000" b="0" i="0">
                <a:solidFill>
                  <a:srgbClr val="1F2937"/>
                </a:solidFill>
                <a:latin typeface="Calibri"/>
              </a:rPr>
              <a:t>{{LEVEL_4_NAME}}</a:t>
            </a:r>
          </a:p>
        </p:txBody>
      </p:sp>
      <p:sp>
        <p:nvSpPr>
          <p:cNvPr id="44" name="TextBox 43"/>
          <p:cNvSpPr txBox="1"/>
          <p:nvPr/>
        </p:nvSpPr>
        <p:spPr>
          <a:xfrm>
            <a:off x="4663440" y="4242816"/>
            <a:ext cx="3200400" cy="256032"/>
          </a:xfrm>
          <a:prstGeom prst="rect">
            <a:avLst/>
          </a:prstGeom>
          <a:noFill/>
        </p:spPr>
        <p:txBody>
          <a:bodyPr wrap="square" lIns="45720" rIns="45720" tIns="18288" bIns="18288" anchor="ctr">
            <a:spAutoFit/>
          </a:bodyPr>
          <a:lstStyle/>
          <a:p>
            <a:pPr algn="r"/>
            <a:r>
              <a:rPr sz="1000" b="1" i="0">
                <a:solidFill>
                  <a:srgbClr val="8B5CF6"/>
                </a:solidFill>
                <a:latin typeface="Calibri"/>
              </a:rPr>
              <a:t>{{LEVEL_4_PRICE}}</a:t>
            </a:r>
          </a:p>
        </p:txBody>
      </p:sp>
      <p:sp>
        <p:nvSpPr>
          <p:cNvPr id="45" name="TextBox 44"/>
          <p:cNvSpPr txBox="1"/>
          <p:nvPr/>
        </p:nvSpPr>
        <p:spPr>
          <a:xfrm>
            <a:off x="7863840" y="4242816"/>
            <a:ext cx="3931920" cy="256032"/>
          </a:xfrm>
          <a:prstGeom prst="rect">
            <a:avLst/>
          </a:prstGeom>
          <a:noFill/>
        </p:spPr>
        <p:txBody>
          <a:bodyPr wrap="square" lIns="45720" rIns="45720" tIns="18288" bIns="18288" anchor="ctr">
            <a:spAutoFit/>
          </a:bodyPr>
          <a:lstStyle/>
          <a:p>
            <a:pPr algn="r"/>
            <a:r>
              <a:rPr sz="1000" b="1" i="0">
                <a:solidFill>
                  <a:srgbClr val="1F2937"/>
                </a:solidFill>
                <a:latin typeface="Calibri"/>
              </a:rPr>
              <a:t>{{LEVEL_4_DELTA}}</a:t>
            </a:r>
          </a:p>
        </p:txBody>
      </p:sp>
      <p:sp>
        <p:nvSpPr>
          <p:cNvPr id="46" name="Rectangle 45"/>
          <p:cNvSpPr/>
          <p:nvPr/>
        </p:nvSpPr>
        <p:spPr>
          <a:xfrm>
            <a:off x="548640" y="4498848"/>
            <a:ext cx="11247120" cy="25603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48640" y="4498848"/>
            <a:ext cx="4114800" cy="256032"/>
          </a:xfrm>
          <a:prstGeom prst="rect">
            <a:avLst/>
          </a:prstGeom>
          <a:noFill/>
        </p:spPr>
        <p:txBody>
          <a:bodyPr wrap="square" lIns="45720" rIns="45720" tIns="18288" bIns="18288" anchor="ctr">
            <a:spAutoFit/>
          </a:bodyPr>
          <a:lstStyle/>
          <a:p>
            <a:pPr algn="l"/>
            <a:r>
              <a:rPr sz="1000" b="0" i="0">
                <a:solidFill>
                  <a:srgbClr val="1F2937"/>
                </a:solidFill>
                <a:latin typeface="Calibri"/>
              </a:rPr>
              <a:t>{{LEVEL_5_NAME}}</a:t>
            </a:r>
          </a:p>
        </p:txBody>
      </p:sp>
      <p:sp>
        <p:nvSpPr>
          <p:cNvPr id="48" name="TextBox 47"/>
          <p:cNvSpPr txBox="1"/>
          <p:nvPr/>
        </p:nvSpPr>
        <p:spPr>
          <a:xfrm>
            <a:off x="4663440" y="4498848"/>
            <a:ext cx="3200400" cy="256032"/>
          </a:xfrm>
          <a:prstGeom prst="rect">
            <a:avLst/>
          </a:prstGeom>
          <a:noFill/>
        </p:spPr>
        <p:txBody>
          <a:bodyPr wrap="square" lIns="45720" rIns="45720" tIns="18288" bIns="18288" anchor="ctr">
            <a:spAutoFit/>
          </a:bodyPr>
          <a:lstStyle/>
          <a:p>
            <a:pPr algn="r"/>
            <a:r>
              <a:rPr sz="1000" b="1" i="0">
                <a:solidFill>
                  <a:srgbClr val="8B5CF6"/>
                </a:solidFill>
                <a:latin typeface="Calibri"/>
              </a:rPr>
              <a:t>{{LEVEL_5_PRICE}}</a:t>
            </a:r>
          </a:p>
        </p:txBody>
      </p:sp>
      <p:sp>
        <p:nvSpPr>
          <p:cNvPr id="49" name="TextBox 48"/>
          <p:cNvSpPr txBox="1"/>
          <p:nvPr/>
        </p:nvSpPr>
        <p:spPr>
          <a:xfrm>
            <a:off x="7863840" y="4498848"/>
            <a:ext cx="3931920" cy="256032"/>
          </a:xfrm>
          <a:prstGeom prst="rect">
            <a:avLst/>
          </a:prstGeom>
          <a:noFill/>
        </p:spPr>
        <p:txBody>
          <a:bodyPr wrap="square" lIns="45720" rIns="45720" tIns="18288" bIns="18288" anchor="ctr">
            <a:spAutoFit/>
          </a:bodyPr>
          <a:lstStyle/>
          <a:p>
            <a:pPr algn="r"/>
            <a:r>
              <a:rPr sz="1000" b="1" i="0">
                <a:solidFill>
                  <a:srgbClr val="1F2937"/>
                </a:solidFill>
                <a:latin typeface="Calibri"/>
              </a:rPr>
              <a:t>{{LEVEL_5_DELTA}}</a:t>
            </a:r>
          </a:p>
        </p:txBody>
      </p:sp>
      <p:sp>
        <p:nvSpPr>
          <p:cNvPr id="50" name="TextBox 49"/>
          <p:cNvSpPr txBox="1"/>
          <p:nvPr/>
        </p:nvSpPr>
        <p:spPr>
          <a:xfrm>
            <a:off x="548640" y="4754880"/>
            <a:ext cx="4114800" cy="256032"/>
          </a:xfrm>
          <a:prstGeom prst="rect">
            <a:avLst/>
          </a:prstGeom>
          <a:noFill/>
        </p:spPr>
        <p:txBody>
          <a:bodyPr wrap="square" lIns="45720" rIns="45720" tIns="18288" bIns="18288" anchor="ctr">
            <a:spAutoFit/>
          </a:bodyPr>
          <a:lstStyle/>
          <a:p>
            <a:pPr algn="l"/>
            <a:r>
              <a:rPr sz="1000" b="0" i="0">
                <a:solidFill>
                  <a:srgbClr val="1F2937"/>
                </a:solidFill>
                <a:latin typeface="Calibri"/>
              </a:rPr>
              <a:t>{{LEVEL_6_NAME}}</a:t>
            </a:r>
          </a:p>
        </p:txBody>
      </p:sp>
      <p:sp>
        <p:nvSpPr>
          <p:cNvPr id="51" name="TextBox 50"/>
          <p:cNvSpPr txBox="1"/>
          <p:nvPr/>
        </p:nvSpPr>
        <p:spPr>
          <a:xfrm>
            <a:off x="4663440" y="4754880"/>
            <a:ext cx="3200400" cy="256032"/>
          </a:xfrm>
          <a:prstGeom prst="rect">
            <a:avLst/>
          </a:prstGeom>
          <a:noFill/>
        </p:spPr>
        <p:txBody>
          <a:bodyPr wrap="square" lIns="45720" rIns="45720" tIns="18288" bIns="18288" anchor="ctr">
            <a:spAutoFit/>
          </a:bodyPr>
          <a:lstStyle/>
          <a:p>
            <a:pPr algn="r"/>
            <a:r>
              <a:rPr sz="1000" b="1" i="0">
                <a:solidFill>
                  <a:srgbClr val="8B5CF6"/>
                </a:solidFill>
                <a:latin typeface="Calibri"/>
              </a:rPr>
              <a:t>{{LEVEL_6_PRICE}}</a:t>
            </a:r>
          </a:p>
        </p:txBody>
      </p:sp>
      <p:sp>
        <p:nvSpPr>
          <p:cNvPr id="52" name="TextBox 51"/>
          <p:cNvSpPr txBox="1"/>
          <p:nvPr/>
        </p:nvSpPr>
        <p:spPr>
          <a:xfrm>
            <a:off x="7863840" y="4754880"/>
            <a:ext cx="3931920" cy="256032"/>
          </a:xfrm>
          <a:prstGeom prst="rect">
            <a:avLst/>
          </a:prstGeom>
          <a:noFill/>
        </p:spPr>
        <p:txBody>
          <a:bodyPr wrap="square" lIns="45720" rIns="45720" tIns="18288" bIns="18288" anchor="ctr">
            <a:spAutoFit/>
          </a:bodyPr>
          <a:lstStyle/>
          <a:p>
            <a:pPr algn="r"/>
            <a:r>
              <a:rPr sz="1000" b="1" i="0">
                <a:solidFill>
                  <a:srgbClr val="1F2937"/>
                </a:solidFill>
                <a:latin typeface="Calibri"/>
              </a:rPr>
              <a:t>{{LEVEL_6_DELTA}}</a:t>
            </a:r>
          </a:p>
        </p:txBody>
      </p:sp>
      <p:sp>
        <p:nvSpPr>
          <p:cNvPr id="53" name="Rectangle 52"/>
          <p:cNvSpPr/>
          <p:nvPr/>
        </p:nvSpPr>
        <p:spPr>
          <a:xfrm>
            <a:off x="548640" y="5010912"/>
            <a:ext cx="11247120" cy="25603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48640" y="5010912"/>
            <a:ext cx="4114800" cy="256032"/>
          </a:xfrm>
          <a:prstGeom prst="rect">
            <a:avLst/>
          </a:prstGeom>
          <a:noFill/>
        </p:spPr>
        <p:txBody>
          <a:bodyPr wrap="square" lIns="45720" rIns="45720" tIns="18288" bIns="18288" anchor="ctr">
            <a:spAutoFit/>
          </a:bodyPr>
          <a:lstStyle/>
          <a:p>
            <a:pPr algn="l"/>
            <a:r>
              <a:rPr sz="1000" b="0" i="0">
                <a:solidFill>
                  <a:srgbClr val="1F2937"/>
                </a:solidFill>
                <a:latin typeface="Calibri"/>
              </a:rPr>
              <a:t>{{LEVEL_7_NAME}}</a:t>
            </a:r>
          </a:p>
        </p:txBody>
      </p:sp>
      <p:sp>
        <p:nvSpPr>
          <p:cNvPr id="55" name="TextBox 54"/>
          <p:cNvSpPr txBox="1"/>
          <p:nvPr/>
        </p:nvSpPr>
        <p:spPr>
          <a:xfrm>
            <a:off x="4663440" y="5010912"/>
            <a:ext cx="3200400" cy="256032"/>
          </a:xfrm>
          <a:prstGeom prst="rect">
            <a:avLst/>
          </a:prstGeom>
          <a:noFill/>
        </p:spPr>
        <p:txBody>
          <a:bodyPr wrap="square" lIns="45720" rIns="45720" tIns="18288" bIns="18288" anchor="ctr">
            <a:spAutoFit/>
          </a:bodyPr>
          <a:lstStyle/>
          <a:p>
            <a:pPr algn="r"/>
            <a:r>
              <a:rPr sz="1000" b="1" i="0">
                <a:solidFill>
                  <a:srgbClr val="8B5CF6"/>
                </a:solidFill>
                <a:latin typeface="Calibri"/>
              </a:rPr>
              <a:t>{{LEVEL_7_PRICE}}</a:t>
            </a:r>
          </a:p>
        </p:txBody>
      </p:sp>
      <p:sp>
        <p:nvSpPr>
          <p:cNvPr id="56" name="TextBox 55"/>
          <p:cNvSpPr txBox="1"/>
          <p:nvPr/>
        </p:nvSpPr>
        <p:spPr>
          <a:xfrm>
            <a:off x="7863840" y="5010912"/>
            <a:ext cx="3931920" cy="256032"/>
          </a:xfrm>
          <a:prstGeom prst="rect">
            <a:avLst/>
          </a:prstGeom>
          <a:noFill/>
        </p:spPr>
        <p:txBody>
          <a:bodyPr wrap="square" lIns="45720" rIns="45720" tIns="18288" bIns="18288" anchor="ctr">
            <a:spAutoFit/>
          </a:bodyPr>
          <a:lstStyle/>
          <a:p>
            <a:pPr algn="r"/>
            <a:r>
              <a:rPr sz="1000" b="1" i="0">
                <a:solidFill>
                  <a:srgbClr val="1F2937"/>
                </a:solidFill>
                <a:latin typeface="Calibri"/>
              </a:rPr>
              <a:t>{{LEVEL_7_DELTA}}</a:t>
            </a:r>
          </a:p>
        </p:txBody>
      </p:sp>
      <p:sp>
        <p:nvSpPr>
          <p:cNvPr id="57" name="TextBox 56"/>
          <p:cNvSpPr txBox="1"/>
          <p:nvPr/>
        </p:nvSpPr>
        <p:spPr>
          <a:xfrm>
            <a:off x="548640" y="5266944"/>
            <a:ext cx="4114800" cy="256032"/>
          </a:xfrm>
          <a:prstGeom prst="rect">
            <a:avLst/>
          </a:prstGeom>
          <a:noFill/>
        </p:spPr>
        <p:txBody>
          <a:bodyPr wrap="square" lIns="45720" rIns="45720" tIns="18288" bIns="18288" anchor="ctr">
            <a:spAutoFit/>
          </a:bodyPr>
          <a:lstStyle/>
          <a:p>
            <a:pPr algn="l"/>
            <a:r>
              <a:rPr sz="1000" b="0" i="0">
                <a:solidFill>
                  <a:srgbClr val="1F2937"/>
                </a:solidFill>
                <a:latin typeface="Calibri"/>
              </a:rPr>
              <a:t>{{LEVEL_8_NAME}}</a:t>
            </a:r>
          </a:p>
        </p:txBody>
      </p:sp>
      <p:sp>
        <p:nvSpPr>
          <p:cNvPr id="58" name="TextBox 57"/>
          <p:cNvSpPr txBox="1"/>
          <p:nvPr/>
        </p:nvSpPr>
        <p:spPr>
          <a:xfrm>
            <a:off x="4663440" y="5266944"/>
            <a:ext cx="3200400" cy="256032"/>
          </a:xfrm>
          <a:prstGeom prst="rect">
            <a:avLst/>
          </a:prstGeom>
          <a:noFill/>
        </p:spPr>
        <p:txBody>
          <a:bodyPr wrap="square" lIns="45720" rIns="45720" tIns="18288" bIns="18288" anchor="ctr">
            <a:spAutoFit/>
          </a:bodyPr>
          <a:lstStyle/>
          <a:p>
            <a:pPr algn="r"/>
            <a:r>
              <a:rPr sz="1000" b="1" i="0">
                <a:solidFill>
                  <a:srgbClr val="8B5CF6"/>
                </a:solidFill>
                <a:latin typeface="Calibri"/>
              </a:rPr>
              <a:t>{{LEVEL_8_PRICE}}</a:t>
            </a:r>
          </a:p>
        </p:txBody>
      </p:sp>
      <p:sp>
        <p:nvSpPr>
          <p:cNvPr id="59" name="TextBox 58"/>
          <p:cNvSpPr txBox="1"/>
          <p:nvPr/>
        </p:nvSpPr>
        <p:spPr>
          <a:xfrm>
            <a:off x="7863840" y="5266944"/>
            <a:ext cx="3931920" cy="256032"/>
          </a:xfrm>
          <a:prstGeom prst="rect">
            <a:avLst/>
          </a:prstGeom>
          <a:noFill/>
        </p:spPr>
        <p:txBody>
          <a:bodyPr wrap="square" lIns="45720" rIns="45720" tIns="18288" bIns="18288" anchor="ctr">
            <a:spAutoFit/>
          </a:bodyPr>
          <a:lstStyle/>
          <a:p>
            <a:pPr algn="r"/>
            <a:r>
              <a:rPr sz="1000" b="1" i="0">
                <a:solidFill>
                  <a:srgbClr val="1F2937"/>
                </a:solidFill>
                <a:latin typeface="Calibri"/>
              </a:rPr>
              <a:t>{{LEVEL_8_DELTA}}</a:t>
            </a:r>
          </a:p>
        </p:txBody>
      </p:sp>
      <p:sp>
        <p:nvSpPr>
          <p:cNvPr id="60" name="TextBox 59"/>
          <p:cNvSpPr txBox="1"/>
          <p:nvPr/>
        </p:nvSpPr>
        <p:spPr>
          <a:xfrm>
            <a:off x="548640" y="6492240"/>
            <a:ext cx="8229600" cy="274320"/>
          </a:xfrm>
          <a:prstGeom prst="rect">
            <a:avLst/>
          </a:prstGeom>
          <a:noFill/>
        </p:spPr>
        <p:txBody>
          <a:bodyPr wrap="square" lIns="45720" rIns="45720" tIns="18288" bIns="18288" anchor="t">
            <a:spAutoFit/>
          </a:bodyPr>
          <a:lstStyle/>
          <a:p>
            <a:pPr algn="l"/>
            <a:r>
              <a:rPr sz="900" b="0" i="1">
                <a:solidFill>
                  <a:srgbClr val="9CA3AF"/>
                </a:solidFill>
                <a:latin typeface="Calibri"/>
              </a:rPr>
              <a:t>{{FOOTER_LEFT}}</a:t>
            </a:r>
          </a:p>
        </p:txBody>
      </p:sp>
      <p:sp>
        <p:nvSpPr>
          <p:cNvPr id="61" name="TextBox 60"/>
          <p:cNvSpPr txBox="1"/>
          <p:nvPr/>
        </p:nvSpPr>
        <p:spPr>
          <a:xfrm>
            <a:off x="10058400" y="6492240"/>
            <a:ext cx="1645920" cy="274320"/>
          </a:xfrm>
          <a:prstGeom prst="rect">
            <a:avLst/>
          </a:prstGeom>
          <a:noFill/>
        </p:spPr>
        <p:txBody>
          <a:bodyPr wrap="square" lIns="45720" rIns="45720" tIns="18288" bIns="18288" anchor="t">
            <a:spAutoFit/>
          </a:bodyPr>
          <a:lstStyle/>
          <a:p>
            <a:pPr algn="r"/>
            <a:r>
              <a:rPr sz="900" b="0" i="0">
                <a:solidFill>
                  <a:srgbClr val="9CA3AF"/>
                </a:solidFill>
                <a:latin typeface="Calibri"/>
              </a:rPr>
              <a:t>{{PAGE_NUM}}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name="DATA_TABLE_FULL">
    <p:spTree>
      <p:nvGrpSpPr>
        <p:cNvPr id="1" name=""/>
        <p:cNvGrpSpPr/>
        <p:nvPr/>
      </p:nvGrpSpPr>
      <p:grpSpPr/>
      <p:sp>
        <p:nvSpPr>
          <p:cNvPr id="2" name="Rectangle 1"/>
          <p:cNvSpPr/>
          <p:nvPr/>
        </p:nvSpPr>
        <p:spPr>
          <a:xfrm>
            <a:off x="457200" y="274320"/>
            <a:ext cx="73152" cy="32004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594359"/>
            <a:ext cx="73152" cy="320040"/>
          </a:xfrm>
          <a:prstGeom prst="rect">
            <a:avLst/>
          </a:prstGeom>
          <a:solidFill>
            <a:srgbClr val="B47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74320"/>
            <a:ext cx="10972800" cy="365760"/>
          </a:xfrm>
          <a:prstGeom prst="rect">
            <a:avLst/>
          </a:prstGeom>
          <a:noFill/>
        </p:spPr>
        <p:txBody>
          <a:bodyPr wrap="square" lIns="45720" rIns="45720" tIns="18288" bIns="18288" anchor="t">
            <a:spAutoFit/>
          </a:bodyPr>
          <a:lstStyle/>
          <a:p>
            <a:pPr algn="l"/>
            <a:r>
              <a:rPr sz="2400" b="1" i="0">
                <a:solidFill>
                  <a:srgbClr val="1F2937"/>
                </a:solidFill>
                <a:latin typeface="Calibri"/>
              </a:rPr>
              <a:t>{{SECTION_TITLE}}</a:t>
            </a:r>
          </a:p>
        </p:txBody>
      </p:sp>
      <p:sp>
        <p:nvSpPr>
          <p:cNvPr id="5" name="TextBox 4"/>
          <p:cNvSpPr txBox="1"/>
          <p:nvPr/>
        </p:nvSpPr>
        <p:spPr>
          <a:xfrm>
            <a:off x="594360" y="640080"/>
            <a:ext cx="10972800" cy="274320"/>
          </a:xfrm>
          <a:prstGeom prst="rect">
            <a:avLst/>
          </a:prstGeom>
          <a:noFill/>
        </p:spPr>
        <p:txBody>
          <a:bodyPr wrap="square" lIns="45720" rIns="45720" tIns="18288" bIns="18288" anchor="t">
            <a:spAutoFit/>
          </a:bodyPr>
          <a:lstStyle/>
          <a:p>
            <a:pPr algn="l"/>
            <a:r>
              <a:rPr sz="1100" b="0" i="1">
                <a:solidFill>
                  <a:srgbClr val="6B7280"/>
                </a:solidFill>
                <a:latin typeface="Calibri"/>
              </a:rPr>
              <a:t>{{SECTION_SUB}}</a:t>
            </a:r>
          </a:p>
        </p:txBody>
      </p:sp>
      <p:sp>
        <p:nvSpPr>
          <p:cNvPr id="6" name="Rectangle 5"/>
          <p:cNvSpPr/>
          <p:nvPr/>
        </p:nvSpPr>
        <p:spPr>
          <a:xfrm>
            <a:off x="548640" y="1005840"/>
            <a:ext cx="11091672" cy="18288"/>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280160"/>
            <a:ext cx="11247120" cy="36576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280160"/>
            <a:ext cx="548640" cy="365760"/>
          </a:xfrm>
          <a:prstGeom prst="rect">
            <a:avLst/>
          </a:prstGeom>
          <a:noFill/>
        </p:spPr>
        <p:txBody>
          <a:bodyPr wrap="square" lIns="45720" rIns="45720" tIns="18288" bIns="18288" anchor="ctr">
            <a:spAutoFit/>
          </a:bodyPr>
          <a:lstStyle/>
          <a:p>
            <a:pPr algn="ctr"/>
            <a:r>
              <a:rPr sz="900" b="1" i="0">
                <a:solidFill>
                  <a:srgbClr val="FFFFFF"/>
                </a:solidFill>
                <a:latin typeface="Calibri"/>
              </a:rPr>
              <a:t>{{COL_1_HEAD}}</a:t>
            </a:r>
          </a:p>
        </p:txBody>
      </p:sp>
      <p:sp>
        <p:nvSpPr>
          <p:cNvPr id="9" name="TextBox 8"/>
          <p:cNvSpPr txBox="1"/>
          <p:nvPr/>
        </p:nvSpPr>
        <p:spPr>
          <a:xfrm>
            <a:off x="1097280" y="1280160"/>
            <a:ext cx="3200400" cy="365760"/>
          </a:xfrm>
          <a:prstGeom prst="rect">
            <a:avLst/>
          </a:prstGeom>
          <a:noFill/>
        </p:spPr>
        <p:txBody>
          <a:bodyPr wrap="square" lIns="45720" rIns="45720" tIns="18288" bIns="18288" anchor="ctr">
            <a:spAutoFit/>
          </a:bodyPr>
          <a:lstStyle/>
          <a:p>
            <a:pPr algn="l"/>
            <a:r>
              <a:rPr sz="900" b="1" i="0">
                <a:solidFill>
                  <a:srgbClr val="FFFFFF"/>
                </a:solidFill>
                <a:latin typeface="Calibri"/>
              </a:rPr>
              <a:t>{{COL_2_HEAD}}</a:t>
            </a:r>
          </a:p>
        </p:txBody>
      </p:sp>
      <p:sp>
        <p:nvSpPr>
          <p:cNvPr id="10" name="TextBox 9"/>
          <p:cNvSpPr txBox="1"/>
          <p:nvPr/>
        </p:nvSpPr>
        <p:spPr>
          <a:xfrm>
            <a:off x="4297680" y="1280160"/>
            <a:ext cx="1463040" cy="365760"/>
          </a:xfrm>
          <a:prstGeom prst="rect">
            <a:avLst/>
          </a:prstGeom>
          <a:noFill/>
        </p:spPr>
        <p:txBody>
          <a:bodyPr wrap="square" lIns="45720" rIns="45720" tIns="18288" bIns="18288" anchor="ctr">
            <a:spAutoFit/>
          </a:bodyPr>
          <a:lstStyle/>
          <a:p>
            <a:pPr algn="r"/>
            <a:r>
              <a:rPr sz="900" b="1" i="0">
                <a:solidFill>
                  <a:srgbClr val="FFFFFF"/>
                </a:solidFill>
                <a:latin typeface="Calibri"/>
              </a:rPr>
              <a:t>{{COL_3_HEAD}}</a:t>
            </a:r>
          </a:p>
        </p:txBody>
      </p:sp>
      <p:sp>
        <p:nvSpPr>
          <p:cNvPr id="11" name="TextBox 10"/>
          <p:cNvSpPr txBox="1"/>
          <p:nvPr/>
        </p:nvSpPr>
        <p:spPr>
          <a:xfrm>
            <a:off x="5760720" y="1280160"/>
            <a:ext cx="1463040" cy="365760"/>
          </a:xfrm>
          <a:prstGeom prst="rect">
            <a:avLst/>
          </a:prstGeom>
          <a:noFill/>
        </p:spPr>
        <p:txBody>
          <a:bodyPr wrap="square" lIns="45720" rIns="45720" tIns="18288" bIns="18288" anchor="ctr">
            <a:spAutoFit/>
          </a:bodyPr>
          <a:lstStyle/>
          <a:p>
            <a:pPr algn="r"/>
            <a:r>
              <a:rPr sz="900" b="1" i="0">
                <a:solidFill>
                  <a:srgbClr val="FFFFFF"/>
                </a:solidFill>
                <a:latin typeface="Calibri"/>
              </a:rPr>
              <a:t>{{COL_4_HEAD}}</a:t>
            </a:r>
          </a:p>
        </p:txBody>
      </p:sp>
      <p:sp>
        <p:nvSpPr>
          <p:cNvPr id="12" name="TextBox 11"/>
          <p:cNvSpPr txBox="1"/>
          <p:nvPr/>
        </p:nvSpPr>
        <p:spPr>
          <a:xfrm>
            <a:off x="7223760" y="1280160"/>
            <a:ext cx="1280160" cy="365760"/>
          </a:xfrm>
          <a:prstGeom prst="rect">
            <a:avLst/>
          </a:prstGeom>
          <a:noFill/>
        </p:spPr>
        <p:txBody>
          <a:bodyPr wrap="square" lIns="45720" rIns="45720" tIns="18288" bIns="18288" anchor="ctr">
            <a:spAutoFit/>
          </a:bodyPr>
          <a:lstStyle/>
          <a:p>
            <a:pPr algn="r"/>
            <a:r>
              <a:rPr sz="900" b="1" i="0">
                <a:solidFill>
                  <a:srgbClr val="FFFFFF"/>
                </a:solidFill>
                <a:latin typeface="Calibri"/>
              </a:rPr>
              <a:t>{{COL_5_HEAD}}</a:t>
            </a:r>
          </a:p>
        </p:txBody>
      </p:sp>
      <p:sp>
        <p:nvSpPr>
          <p:cNvPr id="13" name="TextBox 12"/>
          <p:cNvSpPr txBox="1"/>
          <p:nvPr/>
        </p:nvSpPr>
        <p:spPr>
          <a:xfrm>
            <a:off x="8503920" y="1280160"/>
            <a:ext cx="1280160" cy="365760"/>
          </a:xfrm>
          <a:prstGeom prst="rect">
            <a:avLst/>
          </a:prstGeom>
          <a:noFill/>
        </p:spPr>
        <p:txBody>
          <a:bodyPr wrap="square" lIns="45720" rIns="45720" tIns="18288" bIns="18288" anchor="ctr">
            <a:spAutoFit/>
          </a:bodyPr>
          <a:lstStyle/>
          <a:p>
            <a:pPr algn="r"/>
            <a:r>
              <a:rPr sz="900" b="1" i="0">
                <a:solidFill>
                  <a:srgbClr val="FFFFFF"/>
                </a:solidFill>
                <a:latin typeface="Calibri"/>
              </a:rPr>
              <a:t>{{COL_6_HEAD}}</a:t>
            </a:r>
          </a:p>
        </p:txBody>
      </p:sp>
      <p:sp>
        <p:nvSpPr>
          <p:cNvPr id="14" name="TextBox 13"/>
          <p:cNvSpPr txBox="1"/>
          <p:nvPr/>
        </p:nvSpPr>
        <p:spPr>
          <a:xfrm>
            <a:off x="9784080" y="1280160"/>
            <a:ext cx="1097280" cy="365760"/>
          </a:xfrm>
          <a:prstGeom prst="rect">
            <a:avLst/>
          </a:prstGeom>
          <a:noFill/>
        </p:spPr>
        <p:txBody>
          <a:bodyPr wrap="square" lIns="45720" rIns="45720" tIns="18288" bIns="18288" anchor="ctr">
            <a:spAutoFit/>
          </a:bodyPr>
          <a:lstStyle/>
          <a:p>
            <a:pPr algn="r"/>
            <a:r>
              <a:rPr sz="900" b="1" i="0">
                <a:solidFill>
                  <a:srgbClr val="FFFFFF"/>
                </a:solidFill>
                <a:latin typeface="Calibri"/>
              </a:rPr>
              <a:t>{{COL_7_HEAD}}</a:t>
            </a:r>
          </a:p>
        </p:txBody>
      </p:sp>
      <p:sp>
        <p:nvSpPr>
          <p:cNvPr id="15" name="TextBox 14"/>
          <p:cNvSpPr txBox="1"/>
          <p:nvPr/>
        </p:nvSpPr>
        <p:spPr>
          <a:xfrm>
            <a:off x="10881360" y="1280160"/>
            <a:ext cx="914400" cy="365760"/>
          </a:xfrm>
          <a:prstGeom prst="rect">
            <a:avLst/>
          </a:prstGeom>
          <a:noFill/>
        </p:spPr>
        <p:txBody>
          <a:bodyPr wrap="square" lIns="45720" rIns="45720" tIns="18288" bIns="18288" anchor="ctr">
            <a:spAutoFit/>
          </a:bodyPr>
          <a:lstStyle/>
          <a:p>
            <a:pPr algn="r"/>
            <a:r>
              <a:rPr sz="900" b="1" i="0">
                <a:solidFill>
                  <a:srgbClr val="FFFFFF"/>
                </a:solidFill>
                <a:latin typeface="Calibri"/>
              </a:rPr>
              <a:t>{{COL_8_HEAD}}</a:t>
            </a:r>
          </a:p>
        </p:txBody>
      </p:sp>
      <p:sp>
        <p:nvSpPr>
          <p:cNvPr id="16" name="Rectangle 15"/>
          <p:cNvSpPr/>
          <p:nvPr/>
        </p:nvSpPr>
        <p:spPr>
          <a:xfrm>
            <a:off x="548640" y="1645919"/>
            <a:ext cx="11247120" cy="38404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1645919"/>
            <a:ext cx="548640" cy="384048"/>
          </a:xfrm>
          <a:prstGeom prst="rect">
            <a:avLst/>
          </a:prstGeom>
          <a:noFill/>
        </p:spPr>
        <p:txBody>
          <a:bodyPr wrap="square" lIns="45720" rIns="45720" tIns="18288" bIns="18288" anchor="ctr">
            <a:spAutoFit/>
          </a:bodyPr>
          <a:lstStyle/>
          <a:p>
            <a:pPr algn="ctr"/>
            <a:r>
              <a:rPr sz="1000" b="0" i="0">
                <a:solidFill>
                  <a:srgbClr val="6B7280"/>
                </a:solidFill>
                <a:latin typeface="Calibri"/>
              </a:rPr>
              <a:t>{{R1_C1}}</a:t>
            </a:r>
          </a:p>
        </p:txBody>
      </p:sp>
      <p:sp>
        <p:nvSpPr>
          <p:cNvPr id="18" name="TextBox 17"/>
          <p:cNvSpPr txBox="1"/>
          <p:nvPr/>
        </p:nvSpPr>
        <p:spPr>
          <a:xfrm>
            <a:off x="1097280" y="1645919"/>
            <a:ext cx="3200400" cy="384048"/>
          </a:xfrm>
          <a:prstGeom prst="rect">
            <a:avLst/>
          </a:prstGeom>
          <a:noFill/>
        </p:spPr>
        <p:txBody>
          <a:bodyPr wrap="square" lIns="45720" rIns="45720" tIns="18288" bIns="18288" anchor="ctr">
            <a:spAutoFit/>
          </a:bodyPr>
          <a:lstStyle/>
          <a:p>
            <a:pPr algn="l"/>
            <a:r>
              <a:rPr sz="1000" b="1" i="0">
                <a:solidFill>
                  <a:srgbClr val="1F2937"/>
                </a:solidFill>
                <a:latin typeface="Calibri"/>
              </a:rPr>
              <a:t>{{R1_C2}}</a:t>
            </a:r>
          </a:p>
        </p:txBody>
      </p:sp>
      <p:sp>
        <p:nvSpPr>
          <p:cNvPr id="19" name="TextBox 18"/>
          <p:cNvSpPr txBox="1"/>
          <p:nvPr/>
        </p:nvSpPr>
        <p:spPr>
          <a:xfrm>
            <a:off x="4297680" y="1645919"/>
            <a:ext cx="1463040" cy="384048"/>
          </a:xfrm>
          <a:prstGeom prst="rect">
            <a:avLst/>
          </a:prstGeom>
          <a:noFill/>
        </p:spPr>
        <p:txBody>
          <a:bodyPr wrap="square" lIns="45720" rIns="45720" tIns="18288" bIns="18288" anchor="ctr">
            <a:spAutoFit/>
          </a:bodyPr>
          <a:lstStyle/>
          <a:p>
            <a:pPr algn="r"/>
            <a:r>
              <a:rPr sz="1000" b="0" i="0">
                <a:solidFill>
                  <a:srgbClr val="1F2937"/>
                </a:solidFill>
                <a:latin typeface="Calibri"/>
              </a:rPr>
              <a:t>{{R1_C3}}</a:t>
            </a:r>
          </a:p>
        </p:txBody>
      </p:sp>
      <p:sp>
        <p:nvSpPr>
          <p:cNvPr id="20" name="TextBox 19"/>
          <p:cNvSpPr txBox="1"/>
          <p:nvPr/>
        </p:nvSpPr>
        <p:spPr>
          <a:xfrm>
            <a:off x="5760720" y="1645919"/>
            <a:ext cx="1463040" cy="384048"/>
          </a:xfrm>
          <a:prstGeom prst="rect">
            <a:avLst/>
          </a:prstGeom>
          <a:noFill/>
        </p:spPr>
        <p:txBody>
          <a:bodyPr wrap="square" lIns="45720" rIns="45720" tIns="18288" bIns="18288" anchor="ctr">
            <a:spAutoFit/>
          </a:bodyPr>
          <a:lstStyle/>
          <a:p>
            <a:pPr algn="r"/>
            <a:r>
              <a:rPr sz="1000" b="0" i="0">
                <a:solidFill>
                  <a:srgbClr val="1F2937"/>
                </a:solidFill>
                <a:latin typeface="Calibri"/>
              </a:rPr>
              <a:t>{{R1_C4}}</a:t>
            </a:r>
          </a:p>
        </p:txBody>
      </p:sp>
      <p:sp>
        <p:nvSpPr>
          <p:cNvPr id="21" name="TextBox 20"/>
          <p:cNvSpPr txBox="1"/>
          <p:nvPr/>
        </p:nvSpPr>
        <p:spPr>
          <a:xfrm>
            <a:off x="7223760" y="1645919"/>
            <a:ext cx="1280160" cy="384048"/>
          </a:xfrm>
          <a:prstGeom prst="rect">
            <a:avLst/>
          </a:prstGeom>
          <a:noFill/>
        </p:spPr>
        <p:txBody>
          <a:bodyPr wrap="square" lIns="45720" rIns="45720" tIns="18288" bIns="18288" anchor="ctr">
            <a:spAutoFit/>
          </a:bodyPr>
          <a:lstStyle/>
          <a:p>
            <a:pPr algn="r"/>
            <a:r>
              <a:rPr sz="1000" b="0" i="0">
                <a:solidFill>
                  <a:srgbClr val="1F2937"/>
                </a:solidFill>
                <a:latin typeface="Calibri"/>
              </a:rPr>
              <a:t>{{R1_C5}}</a:t>
            </a:r>
          </a:p>
        </p:txBody>
      </p:sp>
      <p:sp>
        <p:nvSpPr>
          <p:cNvPr id="22" name="TextBox 21"/>
          <p:cNvSpPr txBox="1"/>
          <p:nvPr/>
        </p:nvSpPr>
        <p:spPr>
          <a:xfrm>
            <a:off x="8503920" y="1645919"/>
            <a:ext cx="1280160" cy="384048"/>
          </a:xfrm>
          <a:prstGeom prst="rect">
            <a:avLst/>
          </a:prstGeom>
          <a:noFill/>
        </p:spPr>
        <p:txBody>
          <a:bodyPr wrap="square" lIns="45720" rIns="45720" tIns="18288" bIns="18288" anchor="ctr">
            <a:spAutoFit/>
          </a:bodyPr>
          <a:lstStyle/>
          <a:p>
            <a:pPr algn="r"/>
            <a:r>
              <a:rPr sz="1000" b="0" i="0">
                <a:solidFill>
                  <a:srgbClr val="1F2937"/>
                </a:solidFill>
                <a:latin typeface="Calibri"/>
              </a:rPr>
              <a:t>{{R1_C6}}</a:t>
            </a:r>
          </a:p>
        </p:txBody>
      </p:sp>
      <p:sp>
        <p:nvSpPr>
          <p:cNvPr id="23" name="TextBox 22"/>
          <p:cNvSpPr txBox="1"/>
          <p:nvPr/>
        </p:nvSpPr>
        <p:spPr>
          <a:xfrm>
            <a:off x="9784080" y="1645919"/>
            <a:ext cx="1097280" cy="384048"/>
          </a:xfrm>
          <a:prstGeom prst="rect">
            <a:avLst/>
          </a:prstGeom>
          <a:noFill/>
        </p:spPr>
        <p:txBody>
          <a:bodyPr wrap="square" lIns="45720" rIns="45720" tIns="18288" bIns="18288" anchor="ctr">
            <a:spAutoFit/>
          </a:bodyPr>
          <a:lstStyle/>
          <a:p>
            <a:pPr algn="r"/>
            <a:r>
              <a:rPr sz="1000" b="0" i="0">
                <a:solidFill>
                  <a:srgbClr val="1F2937"/>
                </a:solidFill>
                <a:latin typeface="Calibri"/>
              </a:rPr>
              <a:t>{{R1_C7}}</a:t>
            </a:r>
          </a:p>
        </p:txBody>
      </p:sp>
      <p:sp>
        <p:nvSpPr>
          <p:cNvPr id="24" name="TextBox 23"/>
          <p:cNvSpPr txBox="1"/>
          <p:nvPr/>
        </p:nvSpPr>
        <p:spPr>
          <a:xfrm>
            <a:off x="10881360" y="1645919"/>
            <a:ext cx="914400" cy="384048"/>
          </a:xfrm>
          <a:prstGeom prst="rect">
            <a:avLst/>
          </a:prstGeom>
          <a:noFill/>
        </p:spPr>
        <p:txBody>
          <a:bodyPr wrap="square" lIns="45720" rIns="45720" tIns="18288" bIns="18288" anchor="ctr">
            <a:spAutoFit/>
          </a:bodyPr>
          <a:lstStyle/>
          <a:p>
            <a:pPr algn="r"/>
            <a:r>
              <a:rPr sz="1000" b="0" i="0">
                <a:solidFill>
                  <a:srgbClr val="1F2937"/>
                </a:solidFill>
                <a:latin typeface="Calibri"/>
              </a:rPr>
              <a:t>{{R1_C8}}</a:t>
            </a:r>
          </a:p>
        </p:txBody>
      </p:sp>
      <p:sp>
        <p:nvSpPr>
          <p:cNvPr id="25" name="TextBox 24"/>
          <p:cNvSpPr txBox="1"/>
          <p:nvPr/>
        </p:nvSpPr>
        <p:spPr>
          <a:xfrm>
            <a:off x="548640" y="2029967"/>
            <a:ext cx="548640" cy="384048"/>
          </a:xfrm>
          <a:prstGeom prst="rect">
            <a:avLst/>
          </a:prstGeom>
          <a:noFill/>
        </p:spPr>
        <p:txBody>
          <a:bodyPr wrap="square" lIns="45720" rIns="45720" tIns="18288" bIns="18288" anchor="ctr">
            <a:spAutoFit/>
          </a:bodyPr>
          <a:lstStyle/>
          <a:p>
            <a:pPr algn="ctr"/>
            <a:r>
              <a:rPr sz="1000" b="0" i="0">
                <a:solidFill>
                  <a:srgbClr val="6B7280"/>
                </a:solidFill>
                <a:latin typeface="Calibri"/>
              </a:rPr>
              <a:t>{{R2_C1}}</a:t>
            </a:r>
          </a:p>
        </p:txBody>
      </p:sp>
      <p:sp>
        <p:nvSpPr>
          <p:cNvPr id="26" name="TextBox 25"/>
          <p:cNvSpPr txBox="1"/>
          <p:nvPr/>
        </p:nvSpPr>
        <p:spPr>
          <a:xfrm>
            <a:off x="1097280" y="2029967"/>
            <a:ext cx="3200400" cy="384048"/>
          </a:xfrm>
          <a:prstGeom prst="rect">
            <a:avLst/>
          </a:prstGeom>
          <a:noFill/>
        </p:spPr>
        <p:txBody>
          <a:bodyPr wrap="square" lIns="45720" rIns="45720" tIns="18288" bIns="18288" anchor="ctr">
            <a:spAutoFit/>
          </a:bodyPr>
          <a:lstStyle/>
          <a:p>
            <a:pPr algn="l"/>
            <a:r>
              <a:rPr sz="1000" b="1" i="0">
                <a:solidFill>
                  <a:srgbClr val="1F2937"/>
                </a:solidFill>
                <a:latin typeface="Calibri"/>
              </a:rPr>
              <a:t>{{R2_C2}}</a:t>
            </a:r>
          </a:p>
        </p:txBody>
      </p:sp>
      <p:sp>
        <p:nvSpPr>
          <p:cNvPr id="27" name="TextBox 26"/>
          <p:cNvSpPr txBox="1"/>
          <p:nvPr/>
        </p:nvSpPr>
        <p:spPr>
          <a:xfrm>
            <a:off x="4297680" y="2029967"/>
            <a:ext cx="1463040" cy="384048"/>
          </a:xfrm>
          <a:prstGeom prst="rect">
            <a:avLst/>
          </a:prstGeom>
          <a:noFill/>
        </p:spPr>
        <p:txBody>
          <a:bodyPr wrap="square" lIns="45720" rIns="45720" tIns="18288" bIns="18288" anchor="ctr">
            <a:spAutoFit/>
          </a:bodyPr>
          <a:lstStyle/>
          <a:p>
            <a:pPr algn="r"/>
            <a:r>
              <a:rPr sz="1000" b="0" i="0">
                <a:solidFill>
                  <a:srgbClr val="1F2937"/>
                </a:solidFill>
                <a:latin typeface="Calibri"/>
              </a:rPr>
              <a:t>{{R2_C3}}</a:t>
            </a:r>
          </a:p>
        </p:txBody>
      </p:sp>
      <p:sp>
        <p:nvSpPr>
          <p:cNvPr id="28" name="TextBox 27"/>
          <p:cNvSpPr txBox="1"/>
          <p:nvPr/>
        </p:nvSpPr>
        <p:spPr>
          <a:xfrm>
            <a:off x="5760720" y="2029967"/>
            <a:ext cx="1463040" cy="384048"/>
          </a:xfrm>
          <a:prstGeom prst="rect">
            <a:avLst/>
          </a:prstGeom>
          <a:noFill/>
        </p:spPr>
        <p:txBody>
          <a:bodyPr wrap="square" lIns="45720" rIns="45720" tIns="18288" bIns="18288" anchor="ctr">
            <a:spAutoFit/>
          </a:bodyPr>
          <a:lstStyle/>
          <a:p>
            <a:pPr algn="r"/>
            <a:r>
              <a:rPr sz="1000" b="0" i="0">
                <a:solidFill>
                  <a:srgbClr val="1F2937"/>
                </a:solidFill>
                <a:latin typeface="Calibri"/>
              </a:rPr>
              <a:t>{{R2_C4}}</a:t>
            </a:r>
          </a:p>
        </p:txBody>
      </p:sp>
      <p:sp>
        <p:nvSpPr>
          <p:cNvPr id="29" name="TextBox 28"/>
          <p:cNvSpPr txBox="1"/>
          <p:nvPr/>
        </p:nvSpPr>
        <p:spPr>
          <a:xfrm>
            <a:off x="7223760" y="2029967"/>
            <a:ext cx="1280160" cy="384048"/>
          </a:xfrm>
          <a:prstGeom prst="rect">
            <a:avLst/>
          </a:prstGeom>
          <a:noFill/>
        </p:spPr>
        <p:txBody>
          <a:bodyPr wrap="square" lIns="45720" rIns="45720" tIns="18288" bIns="18288" anchor="ctr">
            <a:spAutoFit/>
          </a:bodyPr>
          <a:lstStyle/>
          <a:p>
            <a:pPr algn="r"/>
            <a:r>
              <a:rPr sz="1000" b="0" i="0">
                <a:solidFill>
                  <a:srgbClr val="1F2937"/>
                </a:solidFill>
                <a:latin typeface="Calibri"/>
              </a:rPr>
              <a:t>{{R2_C5}}</a:t>
            </a:r>
          </a:p>
        </p:txBody>
      </p:sp>
      <p:sp>
        <p:nvSpPr>
          <p:cNvPr id="30" name="TextBox 29"/>
          <p:cNvSpPr txBox="1"/>
          <p:nvPr/>
        </p:nvSpPr>
        <p:spPr>
          <a:xfrm>
            <a:off x="8503920" y="2029967"/>
            <a:ext cx="1280160" cy="384048"/>
          </a:xfrm>
          <a:prstGeom prst="rect">
            <a:avLst/>
          </a:prstGeom>
          <a:noFill/>
        </p:spPr>
        <p:txBody>
          <a:bodyPr wrap="square" lIns="45720" rIns="45720" tIns="18288" bIns="18288" anchor="ctr">
            <a:spAutoFit/>
          </a:bodyPr>
          <a:lstStyle/>
          <a:p>
            <a:pPr algn="r"/>
            <a:r>
              <a:rPr sz="1000" b="0" i="0">
                <a:solidFill>
                  <a:srgbClr val="1F2937"/>
                </a:solidFill>
                <a:latin typeface="Calibri"/>
              </a:rPr>
              <a:t>{{R2_C6}}</a:t>
            </a:r>
          </a:p>
        </p:txBody>
      </p:sp>
      <p:sp>
        <p:nvSpPr>
          <p:cNvPr id="31" name="TextBox 30"/>
          <p:cNvSpPr txBox="1"/>
          <p:nvPr/>
        </p:nvSpPr>
        <p:spPr>
          <a:xfrm>
            <a:off x="9784080" y="2029967"/>
            <a:ext cx="1097280" cy="384048"/>
          </a:xfrm>
          <a:prstGeom prst="rect">
            <a:avLst/>
          </a:prstGeom>
          <a:noFill/>
        </p:spPr>
        <p:txBody>
          <a:bodyPr wrap="square" lIns="45720" rIns="45720" tIns="18288" bIns="18288" anchor="ctr">
            <a:spAutoFit/>
          </a:bodyPr>
          <a:lstStyle/>
          <a:p>
            <a:pPr algn="r"/>
            <a:r>
              <a:rPr sz="1000" b="0" i="0">
                <a:solidFill>
                  <a:srgbClr val="1F2937"/>
                </a:solidFill>
                <a:latin typeface="Calibri"/>
              </a:rPr>
              <a:t>{{R2_C7}}</a:t>
            </a:r>
          </a:p>
        </p:txBody>
      </p:sp>
      <p:sp>
        <p:nvSpPr>
          <p:cNvPr id="32" name="TextBox 31"/>
          <p:cNvSpPr txBox="1"/>
          <p:nvPr/>
        </p:nvSpPr>
        <p:spPr>
          <a:xfrm>
            <a:off x="10881360" y="2029967"/>
            <a:ext cx="914400" cy="384048"/>
          </a:xfrm>
          <a:prstGeom prst="rect">
            <a:avLst/>
          </a:prstGeom>
          <a:noFill/>
        </p:spPr>
        <p:txBody>
          <a:bodyPr wrap="square" lIns="45720" rIns="45720" tIns="18288" bIns="18288" anchor="ctr">
            <a:spAutoFit/>
          </a:bodyPr>
          <a:lstStyle/>
          <a:p>
            <a:pPr algn="r"/>
            <a:r>
              <a:rPr sz="1000" b="0" i="0">
                <a:solidFill>
                  <a:srgbClr val="1F2937"/>
                </a:solidFill>
                <a:latin typeface="Calibri"/>
              </a:rPr>
              <a:t>{{R2_C8}}</a:t>
            </a:r>
          </a:p>
        </p:txBody>
      </p:sp>
      <p:sp>
        <p:nvSpPr>
          <p:cNvPr id="33" name="Rectangle 32"/>
          <p:cNvSpPr/>
          <p:nvPr/>
        </p:nvSpPr>
        <p:spPr>
          <a:xfrm>
            <a:off x="548640" y="2414015"/>
            <a:ext cx="11247120" cy="38404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48640" y="2414015"/>
            <a:ext cx="548640" cy="384048"/>
          </a:xfrm>
          <a:prstGeom prst="rect">
            <a:avLst/>
          </a:prstGeom>
          <a:noFill/>
        </p:spPr>
        <p:txBody>
          <a:bodyPr wrap="square" lIns="45720" rIns="45720" tIns="18288" bIns="18288" anchor="ctr">
            <a:spAutoFit/>
          </a:bodyPr>
          <a:lstStyle/>
          <a:p>
            <a:pPr algn="ctr"/>
            <a:r>
              <a:rPr sz="1000" b="0" i="0">
                <a:solidFill>
                  <a:srgbClr val="6B7280"/>
                </a:solidFill>
                <a:latin typeface="Calibri"/>
              </a:rPr>
              <a:t>{{R3_C1}}</a:t>
            </a:r>
          </a:p>
        </p:txBody>
      </p:sp>
      <p:sp>
        <p:nvSpPr>
          <p:cNvPr id="35" name="TextBox 34"/>
          <p:cNvSpPr txBox="1"/>
          <p:nvPr/>
        </p:nvSpPr>
        <p:spPr>
          <a:xfrm>
            <a:off x="1097280" y="2414015"/>
            <a:ext cx="3200400" cy="384048"/>
          </a:xfrm>
          <a:prstGeom prst="rect">
            <a:avLst/>
          </a:prstGeom>
          <a:noFill/>
        </p:spPr>
        <p:txBody>
          <a:bodyPr wrap="square" lIns="45720" rIns="45720" tIns="18288" bIns="18288" anchor="ctr">
            <a:spAutoFit/>
          </a:bodyPr>
          <a:lstStyle/>
          <a:p>
            <a:pPr algn="l"/>
            <a:r>
              <a:rPr sz="1000" b="1" i="0">
                <a:solidFill>
                  <a:srgbClr val="1F2937"/>
                </a:solidFill>
                <a:latin typeface="Calibri"/>
              </a:rPr>
              <a:t>{{R3_C2}}</a:t>
            </a:r>
          </a:p>
        </p:txBody>
      </p:sp>
      <p:sp>
        <p:nvSpPr>
          <p:cNvPr id="36" name="TextBox 35"/>
          <p:cNvSpPr txBox="1"/>
          <p:nvPr/>
        </p:nvSpPr>
        <p:spPr>
          <a:xfrm>
            <a:off x="4297680" y="2414015"/>
            <a:ext cx="1463040" cy="384048"/>
          </a:xfrm>
          <a:prstGeom prst="rect">
            <a:avLst/>
          </a:prstGeom>
          <a:noFill/>
        </p:spPr>
        <p:txBody>
          <a:bodyPr wrap="square" lIns="45720" rIns="45720" tIns="18288" bIns="18288" anchor="ctr">
            <a:spAutoFit/>
          </a:bodyPr>
          <a:lstStyle/>
          <a:p>
            <a:pPr algn="r"/>
            <a:r>
              <a:rPr sz="1000" b="0" i="0">
                <a:solidFill>
                  <a:srgbClr val="1F2937"/>
                </a:solidFill>
                <a:latin typeface="Calibri"/>
              </a:rPr>
              <a:t>{{R3_C3}}</a:t>
            </a:r>
          </a:p>
        </p:txBody>
      </p:sp>
      <p:sp>
        <p:nvSpPr>
          <p:cNvPr id="37" name="TextBox 36"/>
          <p:cNvSpPr txBox="1"/>
          <p:nvPr/>
        </p:nvSpPr>
        <p:spPr>
          <a:xfrm>
            <a:off x="5760720" y="2414015"/>
            <a:ext cx="1463040" cy="384048"/>
          </a:xfrm>
          <a:prstGeom prst="rect">
            <a:avLst/>
          </a:prstGeom>
          <a:noFill/>
        </p:spPr>
        <p:txBody>
          <a:bodyPr wrap="square" lIns="45720" rIns="45720" tIns="18288" bIns="18288" anchor="ctr">
            <a:spAutoFit/>
          </a:bodyPr>
          <a:lstStyle/>
          <a:p>
            <a:pPr algn="r"/>
            <a:r>
              <a:rPr sz="1000" b="0" i="0">
                <a:solidFill>
                  <a:srgbClr val="1F2937"/>
                </a:solidFill>
                <a:latin typeface="Calibri"/>
              </a:rPr>
              <a:t>{{R3_C4}}</a:t>
            </a:r>
          </a:p>
        </p:txBody>
      </p:sp>
      <p:sp>
        <p:nvSpPr>
          <p:cNvPr id="38" name="TextBox 37"/>
          <p:cNvSpPr txBox="1"/>
          <p:nvPr/>
        </p:nvSpPr>
        <p:spPr>
          <a:xfrm>
            <a:off x="7223760" y="2414015"/>
            <a:ext cx="1280160" cy="384048"/>
          </a:xfrm>
          <a:prstGeom prst="rect">
            <a:avLst/>
          </a:prstGeom>
          <a:noFill/>
        </p:spPr>
        <p:txBody>
          <a:bodyPr wrap="square" lIns="45720" rIns="45720" tIns="18288" bIns="18288" anchor="ctr">
            <a:spAutoFit/>
          </a:bodyPr>
          <a:lstStyle/>
          <a:p>
            <a:pPr algn="r"/>
            <a:r>
              <a:rPr sz="1000" b="0" i="0">
                <a:solidFill>
                  <a:srgbClr val="1F2937"/>
                </a:solidFill>
                <a:latin typeface="Calibri"/>
              </a:rPr>
              <a:t>{{R3_C5}}</a:t>
            </a:r>
          </a:p>
        </p:txBody>
      </p:sp>
      <p:sp>
        <p:nvSpPr>
          <p:cNvPr id="39" name="TextBox 38"/>
          <p:cNvSpPr txBox="1"/>
          <p:nvPr/>
        </p:nvSpPr>
        <p:spPr>
          <a:xfrm>
            <a:off x="8503920" y="2414015"/>
            <a:ext cx="1280160" cy="384048"/>
          </a:xfrm>
          <a:prstGeom prst="rect">
            <a:avLst/>
          </a:prstGeom>
          <a:noFill/>
        </p:spPr>
        <p:txBody>
          <a:bodyPr wrap="square" lIns="45720" rIns="45720" tIns="18288" bIns="18288" anchor="ctr">
            <a:spAutoFit/>
          </a:bodyPr>
          <a:lstStyle/>
          <a:p>
            <a:pPr algn="r"/>
            <a:r>
              <a:rPr sz="1000" b="0" i="0">
                <a:solidFill>
                  <a:srgbClr val="1F2937"/>
                </a:solidFill>
                <a:latin typeface="Calibri"/>
              </a:rPr>
              <a:t>{{R3_C6}}</a:t>
            </a:r>
          </a:p>
        </p:txBody>
      </p:sp>
      <p:sp>
        <p:nvSpPr>
          <p:cNvPr id="40" name="TextBox 39"/>
          <p:cNvSpPr txBox="1"/>
          <p:nvPr/>
        </p:nvSpPr>
        <p:spPr>
          <a:xfrm>
            <a:off x="9784080" y="2414015"/>
            <a:ext cx="1097280" cy="384048"/>
          </a:xfrm>
          <a:prstGeom prst="rect">
            <a:avLst/>
          </a:prstGeom>
          <a:noFill/>
        </p:spPr>
        <p:txBody>
          <a:bodyPr wrap="square" lIns="45720" rIns="45720" tIns="18288" bIns="18288" anchor="ctr">
            <a:spAutoFit/>
          </a:bodyPr>
          <a:lstStyle/>
          <a:p>
            <a:pPr algn="r"/>
            <a:r>
              <a:rPr sz="1000" b="0" i="0">
                <a:solidFill>
                  <a:srgbClr val="1F2937"/>
                </a:solidFill>
                <a:latin typeface="Calibri"/>
              </a:rPr>
              <a:t>{{R3_C7}}</a:t>
            </a:r>
          </a:p>
        </p:txBody>
      </p:sp>
      <p:sp>
        <p:nvSpPr>
          <p:cNvPr id="41" name="TextBox 40"/>
          <p:cNvSpPr txBox="1"/>
          <p:nvPr/>
        </p:nvSpPr>
        <p:spPr>
          <a:xfrm>
            <a:off x="10881360" y="2414015"/>
            <a:ext cx="914400" cy="384048"/>
          </a:xfrm>
          <a:prstGeom prst="rect">
            <a:avLst/>
          </a:prstGeom>
          <a:noFill/>
        </p:spPr>
        <p:txBody>
          <a:bodyPr wrap="square" lIns="45720" rIns="45720" tIns="18288" bIns="18288" anchor="ctr">
            <a:spAutoFit/>
          </a:bodyPr>
          <a:lstStyle/>
          <a:p>
            <a:pPr algn="r"/>
            <a:r>
              <a:rPr sz="1000" b="0" i="0">
                <a:solidFill>
                  <a:srgbClr val="1F2937"/>
                </a:solidFill>
                <a:latin typeface="Calibri"/>
              </a:rPr>
              <a:t>{{R3_C8}}</a:t>
            </a:r>
          </a:p>
        </p:txBody>
      </p:sp>
      <p:sp>
        <p:nvSpPr>
          <p:cNvPr id="42" name="TextBox 41"/>
          <p:cNvSpPr txBox="1"/>
          <p:nvPr/>
        </p:nvSpPr>
        <p:spPr>
          <a:xfrm>
            <a:off x="548640" y="2798063"/>
            <a:ext cx="548640" cy="384048"/>
          </a:xfrm>
          <a:prstGeom prst="rect">
            <a:avLst/>
          </a:prstGeom>
          <a:noFill/>
        </p:spPr>
        <p:txBody>
          <a:bodyPr wrap="square" lIns="45720" rIns="45720" tIns="18288" bIns="18288" anchor="ctr">
            <a:spAutoFit/>
          </a:bodyPr>
          <a:lstStyle/>
          <a:p>
            <a:pPr algn="ctr"/>
            <a:r>
              <a:rPr sz="1000" b="0" i="0">
                <a:solidFill>
                  <a:srgbClr val="6B7280"/>
                </a:solidFill>
                <a:latin typeface="Calibri"/>
              </a:rPr>
              <a:t>{{R4_C1}}</a:t>
            </a:r>
          </a:p>
        </p:txBody>
      </p:sp>
      <p:sp>
        <p:nvSpPr>
          <p:cNvPr id="43" name="TextBox 42"/>
          <p:cNvSpPr txBox="1"/>
          <p:nvPr/>
        </p:nvSpPr>
        <p:spPr>
          <a:xfrm>
            <a:off x="1097280" y="2798063"/>
            <a:ext cx="3200400" cy="384048"/>
          </a:xfrm>
          <a:prstGeom prst="rect">
            <a:avLst/>
          </a:prstGeom>
          <a:noFill/>
        </p:spPr>
        <p:txBody>
          <a:bodyPr wrap="square" lIns="45720" rIns="45720" tIns="18288" bIns="18288" anchor="ctr">
            <a:spAutoFit/>
          </a:bodyPr>
          <a:lstStyle/>
          <a:p>
            <a:pPr algn="l"/>
            <a:r>
              <a:rPr sz="1000" b="1" i="0">
                <a:solidFill>
                  <a:srgbClr val="1F2937"/>
                </a:solidFill>
                <a:latin typeface="Calibri"/>
              </a:rPr>
              <a:t>{{R4_C2}}</a:t>
            </a:r>
          </a:p>
        </p:txBody>
      </p:sp>
      <p:sp>
        <p:nvSpPr>
          <p:cNvPr id="44" name="TextBox 43"/>
          <p:cNvSpPr txBox="1"/>
          <p:nvPr/>
        </p:nvSpPr>
        <p:spPr>
          <a:xfrm>
            <a:off x="4297680" y="2798063"/>
            <a:ext cx="1463040" cy="384048"/>
          </a:xfrm>
          <a:prstGeom prst="rect">
            <a:avLst/>
          </a:prstGeom>
          <a:noFill/>
        </p:spPr>
        <p:txBody>
          <a:bodyPr wrap="square" lIns="45720" rIns="45720" tIns="18288" bIns="18288" anchor="ctr">
            <a:spAutoFit/>
          </a:bodyPr>
          <a:lstStyle/>
          <a:p>
            <a:pPr algn="r"/>
            <a:r>
              <a:rPr sz="1000" b="0" i="0">
                <a:solidFill>
                  <a:srgbClr val="1F2937"/>
                </a:solidFill>
                <a:latin typeface="Calibri"/>
              </a:rPr>
              <a:t>{{R4_C3}}</a:t>
            </a:r>
          </a:p>
        </p:txBody>
      </p:sp>
      <p:sp>
        <p:nvSpPr>
          <p:cNvPr id="45" name="TextBox 44"/>
          <p:cNvSpPr txBox="1"/>
          <p:nvPr/>
        </p:nvSpPr>
        <p:spPr>
          <a:xfrm>
            <a:off x="5760720" y="2798063"/>
            <a:ext cx="1463040" cy="384048"/>
          </a:xfrm>
          <a:prstGeom prst="rect">
            <a:avLst/>
          </a:prstGeom>
          <a:noFill/>
        </p:spPr>
        <p:txBody>
          <a:bodyPr wrap="square" lIns="45720" rIns="45720" tIns="18288" bIns="18288" anchor="ctr">
            <a:spAutoFit/>
          </a:bodyPr>
          <a:lstStyle/>
          <a:p>
            <a:pPr algn="r"/>
            <a:r>
              <a:rPr sz="1000" b="0" i="0">
                <a:solidFill>
                  <a:srgbClr val="1F2937"/>
                </a:solidFill>
                <a:latin typeface="Calibri"/>
              </a:rPr>
              <a:t>{{R4_C4}}</a:t>
            </a:r>
          </a:p>
        </p:txBody>
      </p:sp>
      <p:sp>
        <p:nvSpPr>
          <p:cNvPr id="46" name="TextBox 45"/>
          <p:cNvSpPr txBox="1"/>
          <p:nvPr/>
        </p:nvSpPr>
        <p:spPr>
          <a:xfrm>
            <a:off x="7223760" y="2798063"/>
            <a:ext cx="1280160" cy="384048"/>
          </a:xfrm>
          <a:prstGeom prst="rect">
            <a:avLst/>
          </a:prstGeom>
          <a:noFill/>
        </p:spPr>
        <p:txBody>
          <a:bodyPr wrap="square" lIns="45720" rIns="45720" tIns="18288" bIns="18288" anchor="ctr">
            <a:spAutoFit/>
          </a:bodyPr>
          <a:lstStyle/>
          <a:p>
            <a:pPr algn="r"/>
            <a:r>
              <a:rPr sz="1000" b="0" i="0">
                <a:solidFill>
                  <a:srgbClr val="1F2937"/>
                </a:solidFill>
                <a:latin typeface="Calibri"/>
              </a:rPr>
              <a:t>{{R4_C5}}</a:t>
            </a:r>
          </a:p>
        </p:txBody>
      </p:sp>
      <p:sp>
        <p:nvSpPr>
          <p:cNvPr id="47" name="TextBox 46"/>
          <p:cNvSpPr txBox="1"/>
          <p:nvPr/>
        </p:nvSpPr>
        <p:spPr>
          <a:xfrm>
            <a:off x="8503920" y="2798063"/>
            <a:ext cx="1280160" cy="384048"/>
          </a:xfrm>
          <a:prstGeom prst="rect">
            <a:avLst/>
          </a:prstGeom>
          <a:noFill/>
        </p:spPr>
        <p:txBody>
          <a:bodyPr wrap="square" lIns="45720" rIns="45720" tIns="18288" bIns="18288" anchor="ctr">
            <a:spAutoFit/>
          </a:bodyPr>
          <a:lstStyle/>
          <a:p>
            <a:pPr algn="r"/>
            <a:r>
              <a:rPr sz="1000" b="0" i="0">
                <a:solidFill>
                  <a:srgbClr val="1F2937"/>
                </a:solidFill>
                <a:latin typeface="Calibri"/>
              </a:rPr>
              <a:t>{{R4_C6}}</a:t>
            </a:r>
          </a:p>
        </p:txBody>
      </p:sp>
      <p:sp>
        <p:nvSpPr>
          <p:cNvPr id="48" name="TextBox 47"/>
          <p:cNvSpPr txBox="1"/>
          <p:nvPr/>
        </p:nvSpPr>
        <p:spPr>
          <a:xfrm>
            <a:off x="9784080" y="2798063"/>
            <a:ext cx="1097280" cy="384048"/>
          </a:xfrm>
          <a:prstGeom prst="rect">
            <a:avLst/>
          </a:prstGeom>
          <a:noFill/>
        </p:spPr>
        <p:txBody>
          <a:bodyPr wrap="square" lIns="45720" rIns="45720" tIns="18288" bIns="18288" anchor="ctr">
            <a:spAutoFit/>
          </a:bodyPr>
          <a:lstStyle/>
          <a:p>
            <a:pPr algn="r"/>
            <a:r>
              <a:rPr sz="1000" b="0" i="0">
                <a:solidFill>
                  <a:srgbClr val="1F2937"/>
                </a:solidFill>
                <a:latin typeface="Calibri"/>
              </a:rPr>
              <a:t>{{R4_C7}}</a:t>
            </a:r>
          </a:p>
        </p:txBody>
      </p:sp>
      <p:sp>
        <p:nvSpPr>
          <p:cNvPr id="49" name="TextBox 48"/>
          <p:cNvSpPr txBox="1"/>
          <p:nvPr/>
        </p:nvSpPr>
        <p:spPr>
          <a:xfrm>
            <a:off x="10881360" y="2798063"/>
            <a:ext cx="914400" cy="384048"/>
          </a:xfrm>
          <a:prstGeom prst="rect">
            <a:avLst/>
          </a:prstGeom>
          <a:noFill/>
        </p:spPr>
        <p:txBody>
          <a:bodyPr wrap="square" lIns="45720" rIns="45720" tIns="18288" bIns="18288" anchor="ctr">
            <a:spAutoFit/>
          </a:bodyPr>
          <a:lstStyle/>
          <a:p>
            <a:pPr algn="r"/>
            <a:r>
              <a:rPr sz="1000" b="0" i="0">
                <a:solidFill>
                  <a:srgbClr val="1F2937"/>
                </a:solidFill>
                <a:latin typeface="Calibri"/>
              </a:rPr>
              <a:t>{{R4_C8}}</a:t>
            </a:r>
          </a:p>
        </p:txBody>
      </p:sp>
      <p:sp>
        <p:nvSpPr>
          <p:cNvPr id="50" name="Rectangle 49"/>
          <p:cNvSpPr/>
          <p:nvPr/>
        </p:nvSpPr>
        <p:spPr>
          <a:xfrm>
            <a:off x="548640" y="3182111"/>
            <a:ext cx="11247120" cy="38404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48640" y="3182111"/>
            <a:ext cx="548640" cy="384048"/>
          </a:xfrm>
          <a:prstGeom prst="rect">
            <a:avLst/>
          </a:prstGeom>
          <a:noFill/>
        </p:spPr>
        <p:txBody>
          <a:bodyPr wrap="square" lIns="45720" rIns="45720" tIns="18288" bIns="18288" anchor="ctr">
            <a:spAutoFit/>
          </a:bodyPr>
          <a:lstStyle/>
          <a:p>
            <a:pPr algn="ctr"/>
            <a:r>
              <a:rPr sz="1000" b="0" i="0">
                <a:solidFill>
                  <a:srgbClr val="6B7280"/>
                </a:solidFill>
                <a:latin typeface="Calibri"/>
              </a:rPr>
              <a:t>{{R5_C1}}</a:t>
            </a:r>
          </a:p>
        </p:txBody>
      </p:sp>
      <p:sp>
        <p:nvSpPr>
          <p:cNvPr id="52" name="TextBox 51"/>
          <p:cNvSpPr txBox="1"/>
          <p:nvPr/>
        </p:nvSpPr>
        <p:spPr>
          <a:xfrm>
            <a:off x="1097280" y="3182111"/>
            <a:ext cx="3200400" cy="384048"/>
          </a:xfrm>
          <a:prstGeom prst="rect">
            <a:avLst/>
          </a:prstGeom>
          <a:noFill/>
        </p:spPr>
        <p:txBody>
          <a:bodyPr wrap="square" lIns="45720" rIns="45720" tIns="18288" bIns="18288" anchor="ctr">
            <a:spAutoFit/>
          </a:bodyPr>
          <a:lstStyle/>
          <a:p>
            <a:pPr algn="l"/>
            <a:r>
              <a:rPr sz="1000" b="1" i="0">
                <a:solidFill>
                  <a:srgbClr val="1F2937"/>
                </a:solidFill>
                <a:latin typeface="Calibri"/>
              </a:rPr>
              <a:t>{{R5_C2}}</a:t>
            </a:r>
          </a:p>
        </p:txBody>
      </p:sp>
      <p:sp>
        <p:nvSpPr>
          <p:cNvPr id="53" name="TextBox 52"/>
          <p:cNvSpPr txBox="1"/>
          <p:nvPr/>
        </p:nvSpPr>
        <p:spPr>
          <a:xfrm>
            <a:off x="4297680" y="3182111"/>
            <a:ext cx="1463040" cy="384048"/>
          </a:xfrm>
          <a:prstGeom prst="rect">
            <a:avLst/>
          </a:prstGeom>
          <a:noFill/>
        </p:spPr>
        <p:txBody>
          <a:bodyPr wrap="square" lIns="45720" rIns="45720" tIns="18288" bIns="18288" anchor="ctr">
            <a:spAutoFit/>
          </a:bodyPr>
          <a:lstStyle/>
          <a:p>
            <a:pPr algn="r"/>
            <a:r>
              <a:rPr sz="1000" b="0" i="0">
                <a:solidFill>
                  <a:srgbClr val="1F2937"/>
                </a:solidFill>
                <a:latin typeface="Calibri"/>
              </a:rPr>
              <a:t>{{R5_C3}}</a:t>
            </a:r>
          </a:p>
        </p:txBody>
      </p:sp>
      <p:sp>
        <p:nvSpPr>
          <p:cNvPr id="54" name="TextBox 53"/>
          <p:cNvSpPr txBox="1"/>
          <p:nvPr/>
        </p:nvSpPr>
        <p:spPr>
          <a:xfrm>
            <a:off x="5760720" y="3182111"/>
            <a:ext cx="1463040" cy="384048"/>
          </a:xfrm>
          <a:prstGeom prst="rect">
            <a:avLst/>
          </a:prstGeom>
          <a:noFill/>
        </p:spPr>
        <p:txBody>
          <a:bodyPr wrap="square" lIns="45720" rIns="45720" tIns="18288" bIns="18288" anchor="ctr">
            <a:spAutoFit/>
          </a:bodyPr>
          <a:lstStyle/>
          <a:p>
            <a:pPr algn="r"/>
            <a:r>
              <a:rPr sz="1000" b="0" i="0">
                <a:solidFill>
                  <a:srgbClr val="1F2937"/>
                </a:solidFill>
                <a:latin typeface="Calibri"/>
              </a:rPr>
              <a:t>{{R5_C4}}</a:t>
            </a:r>
          </a:p>
        </p:txBody>
      </p:sp>
      <p:sp>
        <p:nvSpPr>
          <p:cNvPr id="55" name="TextBox 54"/>
          <p:cNvSpPr txBox="1"/>
          <p:nvPr/>
        </p:nvSpPr>
        <p:spPr>
          <a:xfrm>
            <a:off x="7223760" y="3182111"/>
            <a:ext cx="1280160" cy="384048"/>
          </a:xfrm>
          <a:prstGeom prst="rect">
            <a:avLst/>
          </a:prstGeom>
          <a:noFill/>
        </p:spPr>
        <p:txBody>
          <a:bodyPr wrap="square" lIns="45720" rIns="45720" tIns="18288" bIns="18288" anchor="ctr">
            <a:spAutoFit/>
          </a:bodyPr>
          <a:lstStyle/>
          <a:p>
            <a:pPr algn="r"/>
            <a:r>
              <a:rPr sz="1000" b="0" i="0">
                <a:solidFill>
                  <a:srgbClr val="1F2937"/>
                </a:solidFill>
                <a:latin typeface="Calibri"/>
              </a:rPr>
              <a:t>{{R5_C5}}</a:t>
            </a:r>
          </a:p>
        </p:txBody>
      </p:sp>
      <p:sp>
        <p:nvSpPr>
          <p:cNvPr id="56" name="TextBox 55"/>
          <p:cNvSpPr txBox="1"/>
          <p:nvPr/>
        </p:nvSpPr>
        <p:spPr>
          <a:xfrm>
            <a:off x="8503920" y="3182111"/>
            <a:ext cx="1280160" cy="384048"/>
          </a:xfrm>
          <a:prstGeom prst="rect">
            <a:avLst/>
          </a:prstGeom>
          <a:noFill/>
        </p:spPr>
        <p:txBody>
          <a:bodyPr wrap="square" lIns="45720" rIns="45720" tIns="18288" bIns="18288" anchor="ctr">
            <a:spAutoFit/>
          </a:bodyPr>
          <a:lstStyle/>
          <a:p>
            <a:pPr algn="r"/>
            <a:r>
              <a:rPr sz="1000" b="0" i="0">
                <a:solidFill>
                  <a:srgbClr val="1F2937"/>
                </a:solidFill>
                <a:latin typeface="Calibri"/>
              </a:rPr>
              <a:t>{{R5_C6}}</a:t>
            </a:r>
          </a:p>
        </p:txBody>
      </p:sp>
      <p:sp>
        <p:nvSpPr>
          <p:cNvPr id="57" name="TextBox 56"/>
          <p:cNvSpPr txBox="1"/>
          <p:nvPr/>
        </p:nvSpPr>
        <p:spPr>
          <a:xfrm>
            <a:off x="9784080" y="3182111"/>
            <a:ext cx="1097280" cy="384048"/>
          </a:xfrm>
          <a:prstGeom prst="rect">
            <a:avLst/>
          </a:prstGeom>
          <a:noFill/>
        </p:spPr>
        <p:txBody>
          <a:bodyPr wrap="square" lIns="45720" rIns="45720" tIns="18288" bIns="18288" anchor="ctr">
            <a:spAutoFit/>
          </a:bodyPr>
          <a:lstStyle/>
          <a:p>
            <a:pPr algn="r"/>
            <a:r>
              <a:rPr sz="1000" b="0" i="0">
                <a:solidFill>
                  <a:srgbClr val="1F2937"/>
                </a:solidFill>
                <a:latin typeface="Calibri"/>
              </a:rPr>
              <a:t>{{R5_C7}}</a:t>
            </a:r>
          </a:p>
        </p:txBody>
      </p:sp>
      <p:sp>
        <p:nvSpPr>
          <p:cNvPr id="58" name="TextBox 57"/>
          <p:cNvSpPr txBox="1"/>
          <p:nvPr/>
        </p:nvSpPr>
        <p:spPr>
          <a:xfrm>
            <a:off x="10881360" y="3182111"/>
            <a:ext cx="914400" cy="384048"/>
          </a:xfrm>
          <a:prstGeom prst="rect">
            <a:avLst/>
          </a:prstGeom>
          <a:noFill/>
        </p:spPr>
        <p:txBody>
          <a:bodyPr wrap="square" lIns="45720" rIns="45720" tIns="18288" bIns="18288" anchor="ctr">
            <a:spAutoFit/>
          </a:bodyPr>
          <a:lstStyle/>
          <a:p>
            <a:pPr algn="r"/>
            <a:r>
              <a:rPr sz="1000" b="0" i="0">
                <a:solidFill>
                  <a:srgbClr val="1F2937"/>
                </a:solidFill>
                <a:latin typeface="Calibri"/>
              </a:rPr>
              <a:t>{{R5_C8}}</a:t>
            </a:r>
          </a:p>
        </p:txBody>
      </p:sp>
      <p:sp>
        <p:nvSpPr>
          <p:cNvPr id="59" name="TextBox 58"/>
          <p:cNvSpPr txBox="1"/>
          <p:nvPr/>
        </p:nvSpPr>
        <p:spPr>
          <a:xfrm>
            <a:off x="548640" y="3566159"/>
            <a:ext cx="548640" cy="384048"/>
          </a:xfrm>
          <a:prstGeom prst="rect">
            <a:avLst/>
          </a:prstGeom>
          <a:noFill/>
        </p:spPr>
        <p:txBody>
          <a:bodyPr wrap="square" lIns="45720" rIns="45720" tIns="18288" bIns="18288" anchor="ctr">
            <a:spAutoFit/>
          </a:bodyPr>
          <a:lstStyle/>
          <a:p>
            <a:pPr algn="ctr"/>
            <a:r>
              <a:rPr sz="1000" b="0" i="0">
                <a:solidFill>
                  <a:srgbClr val="6B7280"/>
                </a:solidFill>
                <a:latin typeface="Calibri"/>
              </a:rPr>
              <a:t>{{R6_C1}}</a:t>
            </a:r>
          </a:p>
        </p:txBody>
      </p:sp>
      <p:sp>
        <p:nvSpPr>
          <p:cNvPr id="60" name="TextBox 59"/>
          <p:cNvSpPr txBox="1"/>
          <p:nvPr/>
        </p:nvSpPr>
        <p:spPr>
          <a:xfrm>
            <a:off x="1097280" y="3566159"/>
            <a:ext cx="3200400" cy="384048"/>
          </a:xfrm>
          <a:prstGeom prst="rect">
            <a:avLst/>
          </a:prstGeom>
          <a:noFill/>
        </p:spPr>
        <p:txBody>
          <a:bodyPr wrap="square" lIns="45720" rIns="45720" tIns="18288" bIns="18288" anchor="ctr">
            <a:spAutoFit/>
          </a:bodyPr>
          <a:lstStyle/>
          <a:p>
            <a:pPr algn="l"/>
            <a:r>
              <a:rPr sz="1000" b="1" i="0">
                <a:solidFill>
                  <a:srgbClr val="1F2937"/>
                </a:solidFill>
                <a:latin typeface="Calibri"/>
              </a:rPr>
              <a:t>{{R6_C2}}</a:t>
            </a:r>
          </a:p>
        </p:txBody>
      </p:sp>
      <p:sp>
        <p:nvSpPr>
          <p:cNvPr id="61" name="TextBox 60"/>
          <p:cNvSpPr txBox="1"/>
          <p:nvPr/>
        </p:nvSpPr>
        <p:spPr>
          <a:xfrm>
            <a:off x="4297680" y="3566159"/>
            <a:ext cx="1463040" cy="384048"/>
          </a:xfrm>
          <a:prstGeom prst="rect">
            <a:avLst/>
          </a:prstGeom>
          <a:noFill/>
        </p:spPr>
        <p:txBody>
          <a:bodyPr wrap="square" lIns="45720" rIns="45720" tIns="18288" bIns="18288" anchor="ctr">
            <a:spAutoFit/>
          </a:bodyPr>
          <a:lstStyle/>
          <a:p>
            <a:pPr algn="r"/>
            <a:r>
              <a:rPr sz="1000" b="0" i="0">
                <a:solidFill>
                  <a:srgbClr val="1F2937"/>
                </a:solidFill>
                <a:latin typeface="Calibri"/>
              </a:rPr>
              <a:t>{{R6_C3}}</a:t>
            </a:r>
          </a:p>
        </p:txBody>
      </p:sp>
      <p:sp>
        <p:nvSpPr>
          <p:cNvPr id="62" name="TextBox 61"/>
          <p:cNvSpPr txBox="1"/>
          <p:nvPr/>
        </p:nvSpPr>
        <p:spPr>
          <a:xfrm>
            <a:off x="5760720" y="3566159"/>
            <a:ext cx="1463040" cy="384048"/>
          </a:xfrm>
          <a:prstGeom prst="rect">
            <a:avLst/>
          </a:prstGeom>
          <a:noFill/>
        </p:spPr>
        <p:txBody>
          <a:bodyPr wrap="square" lIns="45720" rIns="45720" tIns="18288" bIns="18288" anchor="ctr">
            <a:spAutoFit/>
          </a:bodyPr>
          <a:lstStyle/>
          <a:p>
            <a:pPr algn="r"/>
            <a:r>
              <a:rPr sz="1000" b="0" i="0">
                <a:solidFill>
                  <a:srgbClr val="1F2937"/>
                </a:solidFill>
                <a:latin typeface="Calibri"/>
              </a:rPr>
              <a:t>{{R6_C4}}</a:t>
            </a:r>
          </a:p>
        </p:txBody>
      </p:sp>
      <p:sp>
        <p:nvSpPr>
          <p:cNvPr id="63" name="TextBox 62"/>
          <p:cNvSpPr txBox="1"/>
          <p:nvPr/>
        </p:nvSpPr>
        <p:spPr>
          <a:xfrm>
            <a:off x="7223760" y="3566159"/>
            <a:ext cx="1280160" cy="384048"/>
          </a:xfrm>
          <a:prstGeom prst="rect">
            <a:avLst/>
          </a:prstGeom>
          <a:noFill/>
        </p:spPr>
        <p:txBody>
          <a:bodyPr wrap="square" lIns="45720" rIns="45720" tIns="18288" bIns="18288" anchor="ctr">
            <a:spAutoFit/>
          </a:bodyPr>
          <a:lstStyle/>
          <a:p>
            <a:pPr algn="r"/>
            <a:r>
              <a:rPr sz="1000" b="0" i="0">
                <a:solidFill>
                  <a:srgbClr val="1F2937"/>
                </a:solidFill>
                <a:latin typeface="Calibri"/>
              </a:rPr>
              <a:t>{{R6_C5}}</a:t>
            </a:r>
          </a:p>
        </p:txBody>
      </p:sp>
      <p:sp>
        <p:nvSpPr>
          <p:cNvPr id="64" name="TextBox 63"/>
          <p:cNvSpPr txBox="1"/>
          <p:nvPr/>
        </p:nvSpPr>
        <p:spPr>
          <a:xfrm>
            <a:off x="8503920" y="3566159"/>
            <a:ext cx="1280160" cy="384048"/>
          </a:xfrm>
          <a:prstGeom prst="rect">
            <a:avLst/>
          </a:prstGeom>
          <a:noFill/>
        </p:spPr>
        <p:txBody>
          <a:bodyPr wrap="square" lIns="45720" rIns="45720" tIns="18288" bIns="18288" anchor="ctr">
            <a:spAutoFit/>
          </a:bodyPr>
          <a:lstStyle/>
          <a:p>
            <a:pPr algn="r"/>
            <a:r>
              <a:rPr sz="1000" b="0" i="0">
                <a:solidFill>
                  <a:srgbClr val="1F2937"/>
                </a:solidFill>
                <a:latin typeface="Calibri"/>
              </a:rPr>
              <a:t>{{R6_C6}}</a:t>
            </a:r>
          </a:p>
        </p:txBody>
      </p:sp>
      <p:sp>
        <p:nvSpPr>
          <p:cNvPr id="65" name="TextBox 64"/>
          <p:cNvSpPr txBox="1"/>
          <p:nvPr/>
        </p:nvSpPr>
        <p:spPr>
          <a:xfrm>
            <a:off x="9784080" y="3566159"/>
            <a:ext cx="1097280" cy="384048"/>
          </a:xfrm>
          <a:prstGeom prst="rect">
            <a:avLst/>
          </a:prstGeom>
          <a:noFill/>
        </p:spPr>
        <p:txBody>
          <a:bodyPr wrap="square" lIns="45720" rIns="45720" tIns="18288" bIns="18288" anchor="ctr">
            <a:spAutoFit/>
          </a:bodyPr>
          <a:lstStyle/>
          <a:p>
            <a:pPr algn="r"/>
            <a:r>
              <a:rPr sz="1000" b="0" i="0">
                <a:solidFill>
                  <a:srgbClr val="1F2937"/>
                </a:solidFill>
                <a:latin typeface="Calibri"/>
              </a:rPr>
              <a:t>{{R6_C7}}</a:t>
            </a:r>
          </a:p>
        </p:txBody>
      </p:sp>
      <p:sp>
        <p:nvSpPr>
          <p:cNvPr id="66" name="TextBox 65"/>
          <p:cNvSpPr txBox="1"/>
          <p:nvPr/>
        </p:nvSpPr>
        <p:spPr>
          <a:xfrm>
            <a:off x="10881360" y="3566159"/>
            <a:ext cx="914400" cy="384048"/>
          </a:xfrm>
          <a:prstGeom prst="rect">
            <a:avLst/>
          </a:prstGeom>
          <a:noFill/>
        </p:spPr>
        <p:txBody>
          <a:bodyPr wrap="square" lIns="45720" rIns="45720" tIns="18288" bIns="18288" anchor="ctr">
            <a:spAutoFit/>
          </a:bodyPr>
          <a:lstStyle/>
          <a:p>
            <a:pPr algn="r"/>
            <a:r>
              <a:rPr sz="1000" b="0" i="0">
                <a:solidFill>
                  <a:srgbClr val="1F2937"/>
                </a:solidFill>
                <a:latin typeface="Calibri"/>
              </a:rPr>
              <a:t>{{R6_C8}}</a:t>
            </a:r>
          </a:p>
        </p:txBody>
      </p:sp>
      <p:sp>
        <p:nvSpPr>
          <p:cNvPr id="67" name="Rectangle 66"/>
          <p:cNvSpPr/>
          <p:nvPr/>
        </p:nvSpPr>
        <p:spPr>
          <a:xfrm>
            <a:off x="548640" y="3950207"/>
            <a:ext cx="11247120" cy="38404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548640" y="3950207"/>
            <a:ext cx="548640" cy="384048"/>
          </a:xfrm>
          <a:prstGeom prst="rect">
            <a:avLst/>
          </a:prstGeom>
          <a:noFill/>
        </p:spPr>
        <p:txBody>
          <a:bodyPr wrap="square" lIns="45720" rIns="45720" tIns="18288" bIns="18288" anchor="ctr">
            <a:spAutoFit/>
          </a:bodyPr>
          <a:lstStyle/>
          <a:p>
            <a:pPr algn="ctr"/>
            <a:r>
              <a:rPr sz="1000" b="0" i="0">
                <a:solidFill>
                  <a:srgbClr val="6B7280"/>
                </a:solidFill>
                <a:latin typeface="Calibri"/>
              </a:rPr>
              <a:t>{{R7_C1}}</a:t>
            </a:r>
          </a:p>
        </p:txBody>
      </p:sp>
      <p:sp>
        <p:nvSpPr>
          <p:cNvPr id="69" name="TextBox 68"/>
          <p:cNvSpPr txBox="1"/>
          <p:nvPr/>
        </p:nvSpPr>
        <p:spPr>
          <a:xfrm>
            <a:off x="1097280" y="3950207"/>
            <a:ext cx="3200400" cy="384048"/>
          </a:xfrm>
          <a:prstGeom prst="rect">
            <a:avLst/>
          </a:prstGeom>
          <a:noFill/>
        </p:spPr>
        <p:txBody>
          <a:bodyPr wrap="square" lIns="45720" rIns="45720" tIns="18288" bIns="18288" anchor="ctr">
            <a:spAutoFit/>
          </a:bodyPr>
          <a:lstStyle/>
          <a:p>
            <a:pPr algn="l"/>
            <a:r>
              <a:rPr sz="1000" b="1" i="0">
                <a:solidFill>
                  <a:srgbClr val="1F2937"/>
                </a:solidFill>
                <a:latin typeface="Calibri"/>
              </a:rPr>
              <a:t>{{R7_C2}}</a:t>
            </a:r>
          </a:p>
        </p:txBody>
      </p:sp>
      <p:sp>
        <p:nvSpPr>
          <p:cNvPr id="70" name="TextBox 69"/>
          <p:cNvSpPr txBox="1"/>
          <p:nvPr/>
        </p:nvSpPr>
        <p:spPr>
          <a:xfrm>
            <a:off x="4297680" y="3950207"/>
            <a:ext cx="1463040" cy="384048"/>
          </a:xfrm>
          <a:prstGeom prst="rect">
            <a:avLst/>
          </a:prstGeom>
          <a:noFill/>
        </p:spPr>
        <p:txBody>
          <a:bodyPr wrap="square" lIns="45720" rIns="45720" tIns="18288" bIns="18288" anchor="ctr">
            <a:spAutoFit/>
          </a:bodyPr>
          <a:lstStyle/>
          <a:p>
            <a:pPr algn="r"/>
            <a:r>
              <a:rPr sz="1000" b="0" i="0">
                <a:solidFill>
                  <a:srgbClr val="1F2937"/>
                </a:solidFill>
                <a:latin typeface="Calibri"/>
              </a:rPr>
              <a:t>{{R7_C3}}</a:t>
            </a:r>
          </a:p>
        </p:txBody>
      </p:sp>
      <p:sp>
        <p:nvSpPr>
          <p:cNvPr id="71" name="TextBox 70"/>
          <p:cNvSpPr txBox="1"/>
          <p:nvPr/>
        </p:nvSpPr>
        <p:spPr>
          <a:xfrm>
            <a:off x="5760720" y="3950207"/>
            <a:ext cx="1463040" cy="384048"/>
          </a:xfrm>
          <a:prstGeom prst="rect">
            <a:avLst/>
          </a:prstGeom>
          <a:noFill/>
        </p:spPr>
        <p:txBody>
          <a:bodyPr wrap="square" lIns="45720" rIns="45720" tIns="18288" bIns="18288" anchor="ctr">
            <a:spAutoFit/>
          </a:bodyPr>
          <a:lstStyle/>
          <a:p>
            <a:pPr algn="r"/>
            <a:r>
              <a:rPr sz="1000" b="0" i="0">
                <a:solidFill>
                  <a:srgbClr val="1F2937"/>
                </a:solidFill>
                <a:latin typeface="Calibri"/>
              </a:rPr>
              <a:t>{{R7_C4}}</a:t>
            </a:r>
          </a:p>
        </p:txBody>
      </p:sp>
      <p:sp>
        <p:nvSpPr>
          <p:cNvPr id="72" name="TextBox 71"/>
          <p:cNvSpPr txBox="1"/>
          <p:nvPr/>
        </p:nvSpPr>
        <p:spPr>
          <a:xfrm>
            <a:off x="7223760" y="3950207"/>
            <a:ext cx="1280160" cy="384048"/>
          </a:xfrm>
          <a:prstGeom prst="rect">
            <a:avLst/>
          </a:prstGeom>
          <a:noFill/>
        </p:spPr>
        <p:txBody>
          <a:bodyPr wrap="square" lIns="45720" rIns="45720" tIns="18288" bIns="18288" anchor="ctr">
            <a:spAutoFit/>
          </a:bodyPr>
          <a:lstStyle/>
          <a:p>
            <a:pPr algn="r"/>
            <a:r>
              <a:rPr sz="1000" b="0" i="0">
                <a:solidFill>
                  <a:srgbClr val="1F2937"/>
                </a:solidFill>
                <a:latin typeface="Calibri"/>
              </a:rPr>
              <a:t>{{R7_C5}}</a:t>
            </a:r>
          </a:p>
        </p:txBody>
      </p:sp>
      <p:sp>
        <p:nvSpPr>
          <p:cNvPr id="73" name="TextBox 72"/>
          <p:cNvSpPr txBox="1"/>
          <p:nvPr/>
        </p:nvSpPr>
        <p:spPr>
          <a:xfrm>
            <a:off x="8503920" y="3950207"/>
            <a:ext cx="1280160" cy="384048"/>
          </a:xfrm>
          <a:prstGeom prst="rect">
            <a:avLst/>
          </a:prstGeom>
          <a:noFill/>
        </p:spPr>
        <p:txBody>
          <a:bodyPr wrap="square" lIns="45720" rIns="45720" tIns="18288" bIns="18288" anchor="ctr">
            <a:spAutoFit/>
          </a:bodyPr>
          <a:lstStyle/>
          <a:p>
            <a:pPr algn="r"/>
            <a:r>
              <a:rPr sz="1000" b="0" i="0">
                <a:solidFill>
                  <a:srgbClr val="1F2937"/>
                </a:solidFill>
                <a:latin typeface="Calibri"/>
              </a:rPr>
              <a:t>{{R7_C6}}</a:t>
            </a:r>
          </a:p>
        </p:txBody>
      </p:sp>
      <p:sp>
        <p:nvSpPr>
          <p:cNvPr id="74" name="TextBox 73"/>
          <p:cNvSpPr txBox="1"/>
          <p:nvPr/>
        </p:nvSpPr>
        <p:spPr>
          <a:xfrm>
            <a:off x="9784080" y="3950207"/>
            <a:ext cx="1097280" cy="384048"/>
          </a:xfrm>
          <a:prstGeom prst="rect">
            <a:avLst/>
          </a:prstGeom>
          <a:noFill/>
        </p:spPr>
        <p:txBody>
          <a:bodyPr wrap="square" lIns="45720" rIns="45720" tIns="18288" bIns="18288" anchor="ctr">
            <a:spAutoFit/>
          </a:bodyPr>
          <a:lstStyle/>
          <a:p>
            <a:pPr algn="r"/>
            <a:r>
              <a:rPr sz="1000" b="0" i="0">
                <a:solidFill>
                  <a:srgbClr val="1F2937"/>
                </a:solidFill>
                <a:latin typeface="Calibri"/>
              </a:rPr>
              <a:t>{{R7_C7}}</a:t>
            </a:r>
          </a:p>
        </p:txBody>
      </p:sp>
      <p:sp>
        <p:nvSpPr>
          <p:cNvPr id="75" name="TextBox 74"/>
          <p:cNvSpPr txBox="1"/>
          <p:nvPr/>
        </p:nvSpPr>
        <p:spPr>
          <a:xfrm>
            <a:off x="10881360" y="3950207"/>
            <a:ext cx="914400" cy="384048"/>
          </a:xfrm>
          <a:prstGeom prst="rect">
            <a:avLst/>
          </a:prstGeom>
          <a:noFill/>
        </p:spPr>
        <p:txBody>
          <a:bodyPr wrap="square" lIns="45720" rIns="45720" tIns="18288" bIns="18288" anchor="ctr">
            <a:spAutoFit/>
          </a:bodyPr>
          <a:lstStyle/>
          <a:p>
            <a:pPr algn="r"/>
            <a:r>
              <a:rPr sz="1000" b="0" i="0">
                <a:solidFill>
                  <a:srgbClr val="1F2937"/>
                </a:solidFill>
                <a:latin typeface="Calibri"/>
              </a:rPr>
              <a:t>{{R7_C8}}</a:t>
            </a:r>
          </a:p>
        </p:txBody>
      </p:sp>
      <p:sp>
        <p:nvSpPr>
          <p:cNvPr id="76" name="TextBox 75"/>
          <p:cNvSpPr txBox="1"/>
          <p:nvPr/>
        </p:nvSpPr>
        <p:spPr>
          <a:xfrm>
            <a:off x="548640" y="4334255"/>
            <a:ext cx="548640" cy="384048"/>
          </a:xfrm>
          <a:prstGeom prst="rect">
            <a:avLst/>
          </a:prstGeom>
          <a:noFill/>
        </p:spPr>
        <p:txBody>
          <a:bodyPr wrap="square" lIns="45720" rIns="45720" tIns="18288" bIns="18288" anchor="ctr">
            <a:spAutoFit/>
          </a:bodyPr>
          <a:lstStyle/>
          <a:p>
            <a:pPr algn="ctr"/>
            <a:r>
              <a:rPr sz="1000" b="0" i="0">
                <a:solidFill>
                  <a:srgbClr val="6B7280"/>
                </a:solidFill>
                <a:latin typeface="Calibri"/>
              </a:rPr>
              <a:t>{{R8_C1}}</a:t>
            </a:r>
          </a:p>
        </p:txBody>
      </p:sp>
      <p:sp>
        <p:nvSpPr>
          <p:cNvPr id="77" name="TextBox 76"/>
          <p:cNvSpPr txBox="1"/>
          <p:nvPr/>
        </p:nvSpPr>
        <p:spPr>
          <a:xfrm>
            <a:off x="1097280" y="4334255"/>
            <a:ext cx="3200400" cy="384048"/>
          </a:xfrm>
          <a:prstGeom prst="rect">
            <a:avLst/>
          </a:prstGeom>
          <a:noFill/>
        </p:spPr>
        <p:txBody>
          <a:bodyPr wrap="square" lIns="45720" rIns="45720" tIns="18288" bIns="18288" anchor="ctr">
            <a:spAutoFit/>
          </a:bodyPr>
          <a:lstStyle/>
          <a:p>
            <a:pPr algn="l"/>
            <a:r>
              <a:rPr sz="1000" b="1" i="0">
                <a:solidFill>
                  <a:srgbClr val="1F2937"/>
                </a:solidFill>
                <a:latin typeface="Calibri"/>
              </a:rPr>
              <a:t>{{R8_C2}}</a:t>
            </a:r>
          </a:p>
        </p:txBody>
      </p:sp>
      <p:sp>
        <p:nvSpPr>
          <p:cNvPr id="78" name="TextBox 77"/>
          <p:cNvSpPr txBox="1"/>
          <p:nvPr/>
        </p:nvSpPr>
        <p:spPr>
          <a:xfrm>
            <a:off x="4297680" y="4334255"/>
            <a:ext cx="1463040" cy="384048"/>
          </a:xfrm>
          <a:prstGeom prst="rect">
            <a:avLst/>
          </a:prstGeom>
          <a:noFill/>
        </p:spPr>
        <p:txBody>
          <a:bodyPr wrap="square" lIns="45720" rIns="45720" tIns="18288" bIns="18288" anchor="ctr">
            <a:spAutoFit/>
          </a:bodyPr>
          <a:lstStyle/>
          <a:p>
            <a:pPr algn="r"/>
            <a:r>
              <a:rPr sz="1000" b="0" i="0">
                <a:solidFill>
                  <a:srgbClr val="1F2937"/>
                </a:solidFill>
                <a:latin typeface="Calibri"/>
              </a:rPr>
              <a:t>{{R8_C3}}</a:t>
            </a:r>
          </a:p>
        </p:txBody>
      </p:sp>
      <p:sp>
        <p:nvSpPr>
          <p:cNvPr id="79" name="TextBox 78"/>
          <p:cNvSpPr txBox="1"/>
          <p:nvPr/>
        </p:nvSpPr>
        <p:spPr>
          <a:xfrm>
            <a:off x="5760720" y="4334255"/>
            <a:ext cx="1463040" cy="384048"/>
          </a:xfrm>
          <a:prstGeom prst="rect">
            <a:avLst/>
          </a:prstGeom>
          <a:noFill/>
        </p:spPr>
        <p:txBody>
          <a:bodyPr wrap="square" lIns="45720" rIns="45720" tIns="18288" bIns="18288" anchor="ctr">
            <a:spAutoFit/>
          </a:bodyPr>
          <a:lstStyle/>
          <a:p>
            <a:pPr algn="r"/>
            <a:r>
              <a:rPr sz="1000" b="0" i="0">
                <a:solidFill>
                  <a:srgbClr val="1F2937"/>
                </a:solidFill>
                <a:latin typeface="Calibri"/>
              </a:rPr>
              <a:t>{{R8_C4}}</a:t>
            </a:r>
          </a:p>
        </p:txBody>
      </p:sp>
      <p:sp>
        <p:nvSpPr>
          <p:cNvPr id="80" name="TextBox 79"/>
          <p:cNvSpPr txBox="1"/>
          <p:nvPr/>
        </p:nvSpPr>
        <p:spPr>
          <a:xfrm>
            <a:off x="7223760" y="4334255"/>
            <a:ext cx="1280160" cy="384048"/>
          </a:xfrm>
          <a:prstGeom prst="rect">
            <a:avLst/>
          </a:prstGeom>
          <a:noFill/>
        </p:spPr>
        <p:txBody>
          <a:bodyPr wrap="square" lIns="45720" rIns="45720" tIns="18288" bIns="18288" anchor="ctr">
            <a:spAutoFit/>
          </a:bodyPr>
          <a:lstStyle/>
          <a:p>
            <a:pPr algn="r"/>
            <a:r>
              <a:rPr sz="1000" b="0" i="0">
                <a:solidFill>
                  <a:srgbClr val="1F2937"/>
                </a:solidFill>
                <a:latin typeface="Calibri"/>
              </a:rPr>
              <a:t>{{R8_C5}}</a:t>
            </a:r>
          </a:p>
        </p:txBody>
      </p:sp>
      <p:sp>
        <p:nvSpPr>
          <p:cNvPr id="81" name="TextBox 80"/>
          <p:cNvSpPr txBox="1"/>
          <p:nvPr/>
        </p:nvSpPr>
        <p:spPr>
          <a:xfrm>
            <a:off x="8503920" y="4334255"/>
            <a:ext cx="1280160" cy="384048"/>
          </a:xfrm>
          <a:prstGeom prst="rect">
            <a:avLst/>
          </a:prstGeom>
          <a:noFill/>
        </p:spPr>
        <p:txBody>
          <a:bodyPr wrap="square" lIns="45720" rIns="45720" tIns="18288" bIns="18288" anchor="ctr">
            <a:spAutoFit/>
          </a:bodyPr>
          <a:lstStyle/>
          <a:p>
            <a:pPr algn="r"/>
            <a:r>
              <a:rPr sz="1000" b="0" i="0">
                <a:solidFill>
                  <a:srgbClr val="1F2937"/>
                </a:solidFill>
                <a:latin typeface="Calibri"/>
              </a:rPr>
              <a:t>{{R8_C6}}</a:t>
            </a:r>
          </a:p>
        </p:txBody>
      </p:sp>
      <p:sp>
        <p:nvSpPr>
          <p:cNvPr id="82" name="TextBox 81"/>
          <p:cNvSpPr txBox="1"/>
          <p:nvPr/>
        </p:nvSpPr>
        <p:spPr>
          <a:xfrm>
            <a:off x="9784080" y="4334255"/>
            <a:ext cx="1097280" cy="384048"/>
          </a:xfrm>
          <a:prstGeom prst="rect">
            <a:avLst/>
          </a:prstGeom>
          <a:noFill/>
        </p:spPr>
        <p:txBody>
          <a:bodyPr wrap="square" lIns="45720" rIns="45720" tIns="18288" bIns="18288" anchor="ctr">
            <a:spAutoFit/>
          </a:bodyPr>
          <a:lstStyle/>
          <a:p>
            <a:pPr algn="r"/>
            <a:r>
              <a:rPr sz="1000" b="0" i="0">
                <a:solidFill>
                  <a:srgbClr val="1F2937"/>
                </a:solidFill>
                <a:latin typeface="Calibri"/>
              </a:rPr>
              <a:t>{{R8_C7}}</a:t>
            </a:r>
          </a:p>
        </p:txBody>
      </p:sp>
      <p:sp>
        <p:nvSpPr>
          <p:cNvPr id="83" name="TextBox 82"/>
          <p:cNvSpPr txBox="1"/>
          <p:nvPr/>
        </p:nvSpPr>
        <p:spPr>
          <a:xfrm>
            <a:off x="10881360" y="4334255"/>
            <a:ext cx="914400" cy="384048"/>
          </a:xfrm>
          <a:prstGeom prst="rect">
            <a:avLst/>
          </a:prstGeom>
          <a:noFill/>
        </p:spPr>
        <p:txBody>
          <a:bodyPr wrap="square" lIns="45720" rIns="45720" tIns="18288" bIns="18288" anchor="ctr">
            <a:spAutoFit/>
          </a:bodyPr>
          <a:lstStyle/>
          <a:p>
            <a:pPr algn="r"/>
            <a:r>
              <a:rPr sz="1000" b="0" i="0">
                <a:solidFill>
                  <a:srgbClr val="1F2937"/>
                </a:solidFill>
                <a:latin typeface="Calibri"/>
              </a:rPr>
              <a:t>{{R8_C8}}</a:t>
            </a:r>
          </a:p>
        </p:txBody>
      </p:sp>
      <p:sp>
        <p:nvSpPr>
          <p:cNvPr id="84" name="TextBox 83"/>
          <p:cNvSpPr txBox="1"/>
          <p:nvPr/>
        </p:nvSpPr>
        <p:spPr>
          <a:xfrm>
            <a:off x="548640" y="4901183"/>
            <a:ext cx="11091672" cy="274320"/>
          </a:xfrm>
          <a:prstGeom prst="rect">
            <a:avLst/>
          </a:prstGeom>
          <a:noFill/>
        </p:spPr>
        <p:txBody>
          <a:bodyPr wrap="square" lIns="45720" rIns="45720" tIns="18288" bIns="18288" anchor="t">
            <a:spAutoFit/>
          </a:bodyPr>
          <a:lstStyle/>
          <a:p>
            <a:pPr algn="l"/>
            <a:r>
              <a:rPr sz="900" b="0" i="1">
                <a:solidFill>
                  <a:srgbClr val="9CA3AF"/>
                </a:solidFill>
                <a:latin typeface="Calibri"/>
              </a:rPr>
              <a:t>{{TABLE_NOTE}}</a:t>
            </a:r>
          </a:p>
        </p:txBody>
      </p:sp>
      <p:sp>
        <p:nvSpPr>
          <p:cNvPr id="85" name="TextBox 84"/>
          <p:cNvSpPr txBox="1"/>
          <p:nvPr/>
        </p:nvSpPr>
        <p:spPr>
          <a:xfrm>
            <a:off x="548640" y="6492240"/>
            <a:ext cx="8229600" cy="274320"/>
          </a:xfrm>
          <a:prstGeom prst="rect">
            <a:avLst/>
          </a:prstGeom>
          <a:noFill/>
        </p:spPr>
        <p:txBody>
          <a:bodyPr wrap="square" lIns="45720" rIns="45720" tIns="18288" bIns="18288" anchor="t">
            <a:spAutoFit/>
          </a:bodyPr>
          <a:lstStyle/>
          <a:p>
            <a:pPr algn="l"/>
            <a:r>
              <a:rPr sz="900" b="0" i="1">
                <a:solidFill>
                  <a:srgbClr val="9CA3AF"/>
                </a:solidFill>
                <a:latin typeface="Calibri"/>
              </a:rPr>
              <a:t>{{FOOTER_LEFT}}</a:t>
            </a:r>
          </a:p>
        </p:txBody>
      </p:sp>
      <p:sp>
        <p:nvSpPr>
          <p:cNvPr id="86" name="TextBox 85"/>
          <p:cNvSpPr txBox="1"/>
          <p:nvPr/>
        </p:nvSpPr>
        <p:spPr>
          <a:xfrm>
            <a:off x="10058400" y="6492240"/>
            <a:ext cx="1645920" cy="274320"/>
          </a:xfrm>
          <a:prstGeom prst="rect">
            <a:avLst/>
          </a:prstGeom>
          <a:noFill/>
        </p:spPr>
        <p:txBody>
          <a:bodyPr wrap="square" lIns="45720" rIns="45720" tIns="18288" bIns="18288" anchor="t">
            <a:spAutoFit/>
          </a:bodyPr>
          <a:lstStyle/>
          <a:p>
            <a:pPr algn="r"/>
            <a:r>
              <a:rPr sz="900" b="0" i="0">
                <a:solidFill>
                  <a:srgbClr val="9CA3AF"/>
                </a:solidFill>
                <a:latin typeface="Calibri"/>
              </a:rPr>
              <a:t>{{PAGE_NUM}}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name="TIMELINE_NEWS">
    <p:spTree>
      <p:nvGrpSpPr>
        <p:cNvPr id="1" name=""/>
        <p:cNvGrpSpPr/>
        <p:nvPr/>
      </p:nvGrpSpPr>
      <p:grpSpPr/>
      <p:sp>
        <p:nvSpPr>
          <p:cNvPr id="2" name="Rectangle 1"/>
          <p:cNvSpPr/>
          <p:nvPr/>
        </p:nvSpPr>
        <p:spPr>
          <a:xfrm>
            <a:off x="457200" y="274320"/>
            <a:ext cx="73152" cy="32004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594359"/>
            <a:ext cx="73152" cy="320040"/>
          </a:xfrm>
          <a:prstGeom prst="rect">
            <a:avLst/>
          </a:prstGeom>
          <a:solidFill>
            <a:srgbClr val="B47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74320"/>
            <a:ext cx="10972800" cy="365760"/>
          </a:xfrm>
          <a:prstGeom prst="rect">
            <a:avLst/>
          </a:prstGeom>
          <a:noFill/>
        </p:spPr>
        <p:txBody>
          <a:bodyPr wrap="square" lIns="45720" rIns="45720" tIns="18288" bIns="18288" anchor="t">
            <a:spAutoFit/>
          </a:bodyPr>
          <a:lstStyle/>
          <a:p>
            <a:pPr algn="l"/>
            <a:r>
              <a:rPr sz="2400" b="1" i="0">
                <a:solidFill>
                  <a:srgbClr val="1F2937"/>
                </a:solidFill>
                <a:latin typeface="Calibri"/>
              </a:rPr>
              <a:t>{{SECTION_TITLE}}</a:t>
            </a:r>
          </a:p>
        </p:txBody>
      </p:sp>
      <p:sp>
        <p:nvSpPr>
          <p:cNvPr id="5" name="TextBox 4"/>
          <p:cNvSpPr txBox="1"/>
          <p:nvPr/>
        </p:nvSpPr>
        <p:spPr>
          <a:xfrm>
            <a:off x="594360" y="640080"/>
            <a:ext cx="10972800" cy="274320"/>
          </a:xfrm>
          <a:prstGeom prst="rect">
            <a:avLst/>
          </a:prstGeom>
          <a:noFill/>
        </p:spPr>
        <p:txBody>
          <a:bodyPr wrap="square" lIns="45720" rIns="45720" tIns="18288" bIns="18288" anchor="t">
            <a:spAutoFit/>
          </a:bodyPr>
          <a:lstStyle/>
          <a:p>
            <a:pPr algn="l"/>
            <a:r>
              <a:rPr sz="1100" b="0" i="1">
                <a:solidFill>
                  <a:srgbClr val="6B7280"/>
                </a:solidFill>
                <a:latin typeface="Calibri"/>
              </a:rPr>
              <a:t>{{SECTION_SUB}}</a:t>
            </a:r>
          </a:p>
        </p:txBody>
      </p:sp>
      <p:sp>
        <p:nvSpPr>
          <p:cNvPr id="6" name="Rectangle 5"/>
          <p:cNvSpPr/>
          <p:nvPr/>
        </p:nvSpPr>
        <p:spPr>
          <a:xfrm>
            <a:off x="548640" y="1005840"/>
            <a:ext cx="11091672" cy="18288"/>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993392" y="1280160"/>
            <a:ext cx="36576" cy="4846320"/>
          </a:xfrm>
          <a:prstGeom prst="rect">
            <a:avLst/>
          </a:prstGeom>
          <a:solidFill>
            <a:srgbClr val="B47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371600"/>
            <a:ext cx="1280160" cy="365760"/>
          </a:xfrm>
          <a:prstGeom prst="rect">
            <a:avLst/>
          </a:prstGeom>
          <a:noFill/>
        </p:spPr>
        <p:txBody>
          <a:bodyPr wrap="square" lIns="45720" rIns="45720" tIns="18288" bIns="18288" anchor="t">
            <a:spAutoFit/>
          </a:bodyPr>
          <a:lstStyle/>
          <a:p>
            <a:pPr algn="r"/>
            <a:r>
              <a:rPr sz="1100" b="1" i="0">
                <a:solidFill>
                  <a:srgbClr val="8B5CF6"/>
                </a:solidFill>
                <a:latin typeface="Calibri"/>
              </a:rPr>
              <a:t>{{EVENT_1_DATE}}</a:t>
            </a:r>
          </a:p>
        </p:txBody>
      </p:sp>
      <p:sp>
        <p:nvSpPr>
          <p:cNvPr id="9" name="Oval 8"/>
          <p:cNvSpPr/>
          <p:nvPr/>
        </p:nvSpPr>
        <p:spPr>
          <a:xfrm>
            <a:off x="1901952" y="1444751"/>
            <a:ext cx="219456" cy="219456"/>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286000" y="1280160"/>
            <a:ext cx="9354312" cy="1188720"/>
          </a:xfrm>
          <a:prstGeom prst="roundRect">
            <a:avLst>
              <a:gd name="adj" fmla="val 4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86000" y="1325880"/>
            <a:ext cx="73152" cy="109728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68880" y="1371600"/>
            <a:ext cx="9079992" cy="320040"/>
          </a:xfrm>
          <a:prstGeom prst="rect">
            <a:avLst/>
          </a:prstGeom>
          <a:noFill/>
        </p:spPr>
        <p:txBody>
          <a:bodyPr wrap="square" lIns="45720" rIns="45720" tIns="18288" bIns="18288" anchor="t">
            <a:spAutoFit/>
          </a:bodyPr>
          <a:lstStyle/>
          <a:p>
            <a:pPr algn="l"/>
            <a:r>
              <a:rPr sz="1100" b="1" i="0">
                <a:solidFill>
                  <a:srgbClr val="1F2937"/>
                </a:solidFill>
                <a:latin typeface="Calibri"/>
              </a:rPr>
              <a:t>{{EVENT_1_TITLE}}</a:t>
            </a:r>
          </a:p>
        </p:txBody>
      </p:sp>
      <p:sp>
        <p:nvSpPr>
          <p:cNvPr id="13" name="TextBox 12"/>
          <p:cNvSpPr txBox="1"/>
          <p:nvPr/>
        </p:nvSpPr>
        <p:spPr>
          <a:xfrm>
            <a:off x="2468880" y="1691639"/>
            <a:ext cx="9079992" cy="457200"/>
          </a:xfrm>
          <a:prstGeom prst="rect">
            <a:avLst/>
          </a:prstGeom>
          <a:noFill/>
        </p:spPr>
        <p:txBody>
          <a:bodyPr wrap="square" lIns="45720" rIns="45720" tIns="18288" bIns="18288" anchor="t">
            <a:spAutoFit/>
          </a:bodyPr>
          <a:lstStyle/>
          <a:p>
            <a:pPr algn="l"/>
            <a:r>
              <a:rPr sz="1000" b="0" i="0">
                <a:solidFill>
                  <a:srgbClr val="1F2937"/>
                </a:solidFill>
                <a:latin typeface="Calibri"/>
              </a:rPr>
              <a:t>{{EVENT_1_BODY}}</a:t>
            </a:r>
          </a:p>
        </p:txBody>
      </p:sp>
      <p:sp>
        <p:nvSpPr>
          <p:cNvPr id="14" name="TextBox 13"/>
          <p:cNvSpPr txBox="1"/>
          <p:nvPr/>
        </p:nvSpPr>
        <p:spPr>
          <a:xfrm>
            <a:off x="2468880" y="2148839"/>
            <a:ext cx="9079992" cy="274320"/>
          </a:xfrm>
          <a:prstGeom prst="rect">
            <a:avLst/>
          </a:prstGeom>
          <a:noFill/>
        </p:spPr>
        <p:txBody>
          <a:bodyPr wrap="square" lIns="45720" rIns="45720" tIns="18288" bIns="18288" anchor="t">
            <a:spAutoFit/>
          </a:bodyPr>
          <a:lstStyle/>
          <a:p>
            <a:pPr algn="l"/>
            <a:r>
              <a:rPr sz="900" b="1" i="1">
                <a:solidFill>
                  <a:srgbClr val="25B770"/>
                </a:solidFill>
                <a:latin typeface="Calibri"/>
              </a:rPr>
              <a:t>{{EVENT_1_TAG}}</a:t>
            </a:r>
          </a:p>
        </p:txBody>
      </p:sp>
      <p:sp>
        <p:nvSpPr>
          <p:cNvPr id="15" name="TextBox 14"/>
          <p:cNvSpPr txBox="1"/>
          <p:nvPr/>
        </p:nvSpPr>
        <p:spPr>
          <a:xfrm>
            <a:off x="548640" y="2606040"/>
            <a:ext cx="1280160" cy="365760"/>
          </a:xfrm>
          <a:prstGeom prst="rect">
            <a:avLst/>
          </a:prstGeom>
          <a:noFill/>
        </p:spPr>
        <p:txBody>
          <a:bodyPr wrap="square" lIns="45720" rIns="45720" tIns="18288" bIns="18288" anchor="t">
            <a:spAutoFit/>
          </a:bodyPr>
          <a:lstStyle/>
          <a:p>
            <a:pPr algn="r"/>
            <a:r>
              <a:rPr sz="1100" b="1" i="0">
                <a:solidFill>
                  <a:srgbClr val="8B5CF6"/>
                </a:solidFill>
                <a:latin typeface="Calibri"/>
              </a:rPr>
              <a:t>{{EVENT_2_DATE}}</a:t>
            </a:r>
          </a:p>
        </p:txBody>
      </p:sp>
      <p:sp>
        <p:nvSpPr>
          <p:cNvPr id="16" name="Oval 15"/>
          <p:cNvSpPr/>
          <p:nvPr/>
        </p:nvSpPr>
        <p:spPr>
          <a:xfrm>
            <a:off x="1901952" y="2679192"/>
            <a:ext cx="219456" cy="219456"/>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2286000" y="2514600"/>
            <a:ext cx="9354312" cy="1188720"/>
          </a:xfrm>
          <a:prstGeom prst="roundRect">
            <a:avLst>
              <a:gd name="adj" fmla="val 4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286000" y="2560320"/>
            <a:ext cx="73152" cy="109728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468880" y="2606040"/>
            <a:ext cx="9079992" cy="320040"/>
          </a:xfrm>
          <a:prstGeom prst="rect">
            <a:avLst/>
          </a:prstGeom>
          <a:noFill/>
        </p:spPr>
        <p:txBody>
          <a:bodyPr wrap="square" lIns="45720" rIns="45720" tIns="18288" bIns="18288" anchor="t">
            <a:spAutoFit/>
          </a:bodyPr>
          <a:lstStyle/>
          <a:p>
            <a:pPr algn="l"/>
            <a:r>
              <a:rPr sz="1100" b="1" i="0">
                <a:solidFill>
                  <a:srgbClr val="1F2937"/>
                </a:solidFill>
                <a:latin typeface="Calibri"/>
              </a:rPr>
              <a:t>{{EVENT_2_TITLE}}</a:t>
            </a:r>
          </a:p>
        </p:txBody>
      </p:sp>
      <p:sp>
        <p:nvSpPr>
          <p:cNvPr id="20" name="TextBox 19"/>
          <p:cNvSpPr txBox="1"/>
          <p:nvPr/>
        </p:nvSpPr>
        <p:spPr>
          <a:xfrm>
            <a:off x="2468880" y="2926080"/>
            <a:ext cx="9079992" cy="457200"/>
          </a:xfrm>
          <a:prstGeom prst="rect">
            <a:avLst/>
          </a:prstGeom>
          <a:noFill/>
        </p:spPr>
        <p:txBody>
          <a:bodyPr wrap="square" lIns="45720" rIns="45720" tIns="18288" bIns="18288" anchor="t">
            <a:spAutoFit/>
          </a:bodyPr>
          <a:lstStyle/>
          <a:p>
            <a:pPr algn="l"/>
            <a:r>
              <a:rPr sz="1000" b="0" i="0">
                <a:solidFill>
                  <a:srgbClr val="1F2937"/>
                </a:solidFill>
                <a:latin typeface="Calibri"/>
              </a:rPr>
              <a:t>{{EVENT_2_BODY}}</a:t>
            </a:r>
          </a:p>
        </p:txBody>
      </p:sp>
      <p:sp>
        <p:nvSpPr>
          <p:cNvPr id="21" name="TextBox 20"/>
          <p:cNvSpPr txBox="1"/>
          <p:nvPr/>
        </p:nvSpPr>
        <p:spPr>
          <a:xfrm>
            <a:off x="2468880" y="3383280"/>
            <a:ext cx="9079992" cy="274320"/>
          </a:xfrm>
          <a:prstGeom prst="rect">
            <a:avLst/>
          </a:prstGeom>
          <a:noFill/>
        </p:spPr>
        <p:txBody>
          <a:bodyPr wrap="square" lIns="45720" rIns="45720" tIns="18288" bIns="18288" anchor="t">
            <a:spAutoFit/>
          </a:bodyPr>
          <a:lstStyle/>
          <a:p>
            <a:pPr algn="l"/>
            <a:r>
              <a:rPr sz="900" b="1" i="1">
                <a:solidFill>
                  <a:srgbClr val="25B770"/>
                </a:solidFill>
                <a:latin typeface="Calibri"/>
              </a:rPr>
              <a:t>{{EVENT_2_TAG}}</a:t>
            </a:r>
          </a:p>
        </p:txBody>
      </p:sp>
      <p:sp>
        <p:nvSpPr>
          <p:cNvPr id="22" name="TextBox 21"/>
          <p:cNvSpPr txBox="1"/>
          <p:nvPr/>
        </p:nvSpPr>
        <p:spPr>
          <a:xfrm>
            <a:off x="548640" y="3840479"/>
            <a:ext cx="1280160" cy="365760"/>
          </a:xfrm>
          <a:prstGeom prst="rect">
            <a:avLst/>
          </a:prstGeom>
          <a:noFill/>
        </p:spPr>
        <p:txBody>
          <a:bodyPr wrap="square" lIns="45720" rIns="45720" tIns="18288" bIns="18288" anchor="t">
            <a:spAutoFit/>
          </a:bodyPr>
          <a:lstStyle/>
          <a:p>
            <a:pPr algn="r"/>
            <a:r>
              <a:rPr sz="1100" b="1" i="0">
                <a:solidFill>
                  <a:srgbClr val="8B5CF6"/>
                </a:solidFill>
                <a:latin typeface="Calibri"/>
              </a:rPr>
              <a:t>{{EVENT_3_DATE}}</a:t>
            </a:r>
          </a:p>
        </p:txBody>
      </p:sp>
      <p:sp>
        <p:nvSpPr>
          <p:cNvPr id="23" name="Oval 22"/>
          <p:cNvSpPr/>
          <p:nvPr/>
        </p:nvSpPr>
        <p:spPr>
          <a:xfrm>
            <a:off x="1901952" y="3913631"/>
            <a:ext cx="219456" cy="219456"/>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286000" y="3749039"/>
            <a:ext cx="9354312" cy="1188720"/>
          </a:xfrm>
          <a:prstGeom prst="roundRect">
            <a:avLst>
              <a:gd name="adj" fmla="val 4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286000" y="3794759"/>
            <a:ext cx="73152" cy="109728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468880" y="3840479"/>
            <a:ext cx="9079992" cy="320040"/>
          </a:xfrm>
          <a:prstGeom prst="rect">
            <a:avLst/>
          </a:prstGeom>
          <a:noFill/>
        </p:spPr>
        <p:txBody>
          <a:bodyPr wrap="square" lIns="45720" rIns="45720" tIns="18288" bIns="18288" anchor="t">
            <a:spAutoFit/>
          </a:bodyPr>
          <a:lstStyle/>
          <a:p>
            <a:pPr algn="l"/>
            <a:r>
              <a:rPr sz="1100" b="1" i="0">
                <a:solidFill>
                  <a:srgbClr val="1F2937"/>
                </a:solidFill>
                <a:latin typeface="Calibri"/>
              </a:rPr>
              <a:t>{{EVENT_3_TITLE}}</a:t>
            </a:r>
          </a:p>
        </p:txBody>
      </p:sp>
      <p:sp>
        <p:nvSpPr>
          <p:cNvPr id="27" name="TextBox 26"/>
          <p:cNvSpPr txBox="1"/>
          <p:nvPr/>
        </p:nvSpPr>
        <p:spPr>
          <a:xfrm>
            <a:off x="2468880" y="4160520"/>
            <a:ext cx="9079992" cy="457200"/>
          </a:xfrm>
          <a:prstGeom prst="rect">
            <a:avLst/>
          </a:prstGeom>
          <a:noFill/>
        </p:spPr>
        <p:txBody>
          <a:bodyPr wrap="square" lIns="45720" rIns="45720" tIns="18288" bIns="18288" anchor="t">
            <a:spAutoFit/>
          </a:bodyPr>
          <a:lstStyle/>
          <a:p>
            <a:pPr algn="l"/>
            <a:r>
              <a:rPr sz="1000" b="0" i="0">
                <a:solidFill>
                  <a:srgbClr val="1F2937"/>
                </a:solidFill>
                <a:latin typeface="Calibri"/>
              </a:rPr>
              <a:t>{{EVENT_3_BODY}}</a:t>
            </a:r>
          </a:p>
        </p:txBody>
      </p:sp>
      <p:sp>
        <p:nvSpPr>
          <p:cNvPr id="28" name="TextBox 27"/>
          <p:cNvSpPr txBox="1"/>
          <p:nvPr/>
        </p:nvSpPr>
        <p:spPr>
          <a:xfrm>
            <a:off x="2468880" y="4617720"/>
            <a:ext cx="9079992" cy="274320"/>
          </a:xfrm>
          <a:prstGeom prst="rect">
            <a:avLst/>
          </a:prstGeom>
          <a:noFill/>
        </p:spPr>
        <p:txBody>
          <a:bodyPr wrap="square" lIns="45720" rIns="45720" tIns="18288" bIns="18288" anchor="t">
            <a:spAutoFit/>
          </a:bodyPr>
          <a:lstStyle/>
          <a:p>
            <a:pPr algn="l"/>
            <a:r>
              <a:rPr sz="900" b="1" i="1">
                <a:solidFill>
                  <a:srgbClr val="25B770"/>
                </a:solidFill>
                <a:latin typeface="Calibri"/>
              </a:rPr>
              <a:t>{{EVENT_3_TAG}}</a:t>
            </a:r>
          </a:p>
        </p:txBody>
      </p:sp>
      <p:sp>
        <p:nvSpPr>
          <p:cNvPr id="29" name="TextBox 28"/>
          <p:cNvSpPr txBox="1"/>
          <p:nvPr/>
        </p:nvSpPr>
        <p:spPr>
          <a:xfrm>
            <a:off x="548640" y="5074919"/>
            <a:ext cx="1280160" cy="365760"/>
          </a:xfrm>
          <a:prstGeom prst="rect">
            <a:avLst/>
          </a:prstGeom>
          <a:noFill/>
        </p:spPr>
        <p:txBody>
          <a:bodyPr wrap="square" lIns="45720" rIns="45720" tIns="18288" bIns="18288" anchor="t">
            <a:spAutoFit/>
          </a:bodyPr>
          <a:lstStyle/>
          <a:p>
            <a:pPr algn="r"/>
            <a:r>
              <a:rPr sz="1100" b="1" i="0">
                <a:solidFill>
                  <a:srgbClr val="8B5CF6"/>
                </a:solidFill>
                <a:latin typeface="Calibri"/>
              </a:rPr>
              <a:t>{{EVENT_4_DATE}}</a:t>
            </a:r>
          </a:p>
        </p:txBody>
      </p:sp>
      <p:sp>
        <p:nvSpPr>
          <p:cNvPr id="30" name="Oval 29"/>
          <p:cNvSpPr/>
          <p:nvPr/>
        </p:nvSpPr>
        <p:spPr>
          <a:xfrm>
            <a:off x="1901952" y="5148071"/>
            <a:ext cx="219456" cy="219456"/>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2286000" y="4983479"/>
            <a:ext cx="9354312" cy="1188720"/>
          </a:xfrm>
          <a:prstGeom prst="roundRect">
            <a:avLst>
              <a:gd name="adj" fmla="val 4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2286000" y="5029199"/>
            <a:ext cx="73152" cy="109728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468880" y="5074919"/>
            <a:ext cx="9079992" cy="320040"/>
          </a:xfrm>
          <a:prstGeom prst="rect">
            <a:avLst/>
          </a:prstGeom>
          <a:noFill/>
        </p:spPr>
        <p:txBody>
          <a:bodyPr wrap="square" lIns="45720" rIns="45720" tIns="18288" bIns="18288" anchor="t">
            <a:spAutoFit/>
          </a:bodyPr>
          <a:lstStyle/>
          <a:p>
            <a:pPr algn="l"/>
            <a:r>
              <a:rPr sz="1100" b="1" i="0">
                <a:solidFill>
                  <a:srgbClr val="1F2937"/>
                </a:solidFill>
                <a:latin typeface="Calibri"/>
              </a:rPr>
              <a:t>{{EVENT_4_TITLE}}</a:t>
            </a:r>
          </a:p>
        </p:txBody>
      </p:sp>
      <p:sp>
        <p:nvSpPr>
          <p:cNvPr id="34" name="TextBox 33"/>
          <p:cNvSpPr txBox="1"/>
          <p:nvPr/>
        </p:nvSpPr>
        <p:spPr>
          <a:xfrm>
            <a:off x="2468880" y="5394959"/>
            <a:ext cx="9079992" cy="457200"/>
          </a:xfrm>
          <a:prstGeom prst="rect">
            <a:avLst/>
          </a:prstGeom>
          <a:noFill/>
        </p:spPr>
        <p:txBody>
          <a:bodyPr wrap="square" lIns="45720" rIns="45720" tIns="18288" bIns="18288" anchor="t">
            <a:spAutoFit/>
          </a:bodyPr>
          <a:lstStyle/>
          <a:p>
            <a:pPr algn="l"/>
            <a:r>
              <a:rPr sz="1000" b="0" i="0">
                <a:solidFill>
                  <a:srgbClr val="1F2937"/>
                </a:solidFill>
                <a:latin typeface="Calibri"/>
              </a:rPr>
              <a:t>{{EVENT_4_BODY}}</a:t>
            </a:r>
          </a:p>
        </p:txBody>
      </p:sp>
      <p:sp>
        <p:nvSpPr>
          <p:cNvPr id="35" name="TextBox 34"/>
          <p:cNvSpPr txBox="1"/>
          <p:nvPr/>
        </p:nvSpPr>
        <p:spPr>
          <a:xfrm>
            <a:off x="2468880" y="5852159"/>
            <a:ext cx="9079992" cy="274320"/>
          </a:xfrm>
          <a:prstGeom prst="rect">
            <a:avLst/>
          </a:prstGeom>
          <a:noFill/>
        </p:spPr>
        <p:txBody>
          <a:bodyPr wrap="square" lIns="45720" rIns="45720" tIns="18288" bIns="18288" anchor="t">
            <a:spAutoFit/>
          </a:bodyPr>
          <a:lstStyle/>
          <a:p>
            <a:pPr algn="l"/>
            <a:r>
              <a:rPr sz="900" b="1" i="1">
                <a:solidFill>
                  <a:srgbClr val="25B770"/>
                </a:solidFill>
                <a:latin typeface="Calibri"/>
              </a:rPr>
              <a:t>{{EVENT_4_TAG}}</a:t>
            </a:r>
          </a:p>
        </p:txBody>
      </p:sp>
      <p:sp>
        <p:nvSpPr>
          <p:cNvPr id="36" name="TextBox 35"/>
          <p:cNvSpPr txBox="1"/>
          <p:nvPr/>
        </p:nvSpPr>
        <p:spPr>
          <a:xfrm>
            <a:off x="548640" y="6492240"/>
            <a:ext cx="8229600" cy="274320"/>
          </a:xfrm>
          <a:prstGeom prst="rect">
            <a:avLst/>
          </a:prstGeom>
          <a:noFill/>
        </p:spPr>
        <p:txBody>
          <a:bodyPr wrap="square" lIns="45720" rIns="45720" tIns="18288" bIns="18288" anchor="t">
            <a:spAutoFit/>
          </a:bodyPr>
          <a:lstStyle/>
          <a:p>
            <a:pPr algn="l"/>
            <a:r>
              <a:rPr sz="900" b="0" i="1">
                <a:solidFill>
                  <a:srgbClr val="9CA3AF"/>
                </a:solidFill>
                <a:latin typeface="Calibri"/>
              </a:rPr>
              <a:t>{{FOOTER_LEFT}}</a:t>
            </a:r>
          </a:p>
        </p:txBody>
      </p:sp>
      <p:sp>
        <p:nvSpPr>
          <p:cNvPr id="37" name="TextBox 36"/>
          <p:cNvSpPr txBox="1"/>
          <p:nvPr/>
        </p:nvSpPr>
        <p:spPr>
          <a:xfrm>
            <a:off x="10058400" y="6492240"/>
            <a:ext cx="1645920" cy="274320"/>
          </a:xfrm>
          <a:prstGeom prst="rect">
            <a:avLst/>
          </a:prstGeom>
          <a:noFill/>
        </p:spPr>
        <p:txBody>
          <a:bodyPr wrap="square" lIns="45720" rIns="45720" tIns="18288" bIns="18288" anchor="t">
            <a:spAutoFit/>
          </a:bodyPr>
          <a:lstStyle/>
          <a:p>
            <a:pPr algn="r"/>
            <a:r>
              <a:rPr sz="900" b="0" i="0">
                <a:solidFill>
                  <a:srgbClr val="9CA3AF"/>
                </a:solidFill>
                <a:latin typeface="Calibri"/>
              </a:rPr>
              <a:t>{{PAGE_NUM}}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name="RISK_GRID_STEELMAN">
    <p:spTree>
      <p:nvGrpSpPr>
        <p:cNvPr id="1" name=""/>
        <p:cNvGrpSpPr/>
        <p:nvPr/>
      </p:nvGrpSpPr>
      <p:grpSpPr/>
      <p:sp>
        <p:nvSpPr>
          <p:cNvPr id="2" name="Rectangle 1"/>
          <p:cNvSpPr/>
          <p:nvPr/>
        </p:nvSpPr>
        <p:spPr>
          <a:xfrm>
            <a:off x="457200" y="274320"/>
            <a:ext cx="73152" cy="32004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594359"/>
            <a:ext cx="73152" cy="320040"/>
          </a:xfrm>
          <a:prstGeom prst="rect">
            <a:avLst/>
          </a:prstGeom>
          <a:solidFill>
            <a:srgbClr val="B47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74320"/>
            <a:ext cx="10972800" cy="365760"/>
          </a:xfrm>
          <a:prstGeom prst="rect">
            <a:avLst/>
          </a:prstGeom>
          <a:noFill/>
        </p:spPr>
        <p:txBody>
          <a:bodyPr wrap="square" lIns="45720" rIns="45720" tIns="18288" bIns="18288" anchor="t">
            <a:spAutoFit/>
          </a:bodyPr>
          <a:lstStyle/>
          <a:p>
            <a:pPr algn="l"/>
            <a:r>
              <a:rPr sz="2400" b="1" i="0">
                <a:solidFill>
                  <a:srgbClr val="1F2937"/>
                </a:solidFill>
                <a:latin typeface="Calibri"/>
              </a:rPr>
              <a:t>{{SECTION_TITLE}}</a:t>
            </a:r>
          </a:p>
        </p:txBody>
      </p:sp>
      <p:sp>
        <p:nvSpPr>
          <p:cNvPr id="5" name="TextBox 4"/>
          <p:cNvSpPr txBox="1"/>
          <p:nvPr/>
        </p:nvSpPr>
        <p:spPr>
          <a:xfrm>
            <a:off x="594360" y="640080"/>
            <a:ext cx="10972800" cy="274320"/>
          </a:xfrm>
          <a:prstGeom prst="rect">
            <a:avLst/>
          </a:prstGeom>
          <a:noFill/>
        </p:spPr>
        <p:txBody>
          <a:bodyPr wrap="square" lIns="45720" rIns="45720" tIns="18288" bIns="18288" anchor="t">
            <a:spAutoFit/>
          </a:bodyPr>
          <a:lstStyle/>
          <a:p>
            <a:pPr algn="l"/>
            <a:r>
              <a:rPr sz="1100" b="0" i="1">
                <a:solidFill>
                  <a:srgbClr val="6B7280"/>
                </a:solidFill>
                <a:latin typeface="Calibri"/>
              </a:rPr>
              <a:t>{{SECTION_SUB}}</a:t>
            </a:r>
          </a:p>
        </p:txBody>
      </p:sp>
      <p:sp>
        <p:nvSpPr>
          <p:cNvPr id="6" name="Rectangle 5"/>
          <p:cNvSpPr/>
          <p:nvPr/>
        </p:nvSpPr>
        <p:spPr>
          <a:xfrm>
            <a:off x="548640" y="1005840"/>
            <a:ext cx="11091672" cy="18288"/>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280160"/>
            <a:ext cx="5454396" cy="1508760"/>
          </a:xfrm>
          <a:prstGeom prst="roundRect">
            <a:avLst>
              <a:gd name="adj" fmla="val 4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371600"/>
            <a:ext cx="73152" cy="132588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4360" y="1371600"/>
            <a:ext cx="2011679" cy="1325880"/>
          </a:xfrm>
          <a:prstGeom prst="rect">
            <a:avLst/>
          </a:prstGeom>
          <a:solidFill>
            <a:srgbClr val="F3E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94360" y="1371600"/>
            <a:ext cx="73152" cy="132588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17319"/>
            <a:ext cx="1828799" cy="228600"/>
          </a:xfrm>
          <a:prstGeom prst="rect">
            <a:avLst/>
          </a:prstGeom>
          <a:noFill/>
        </p:spPr>
        <p:txBody>
          <a:bodyPr wrap="square" lIns="45720" rIns="45720" tIns="18288" bIns="18288" anchor="t">
            <a:spAutoFit/>
          </a:bodyPr>
          <a:lstStyle/>
          <a:p>
            <a:pPr algn="l"/>
            <a:r>
              <a:rPr sz="900" b="1" i="0">
                <a:solidFill>
                  <a:srgbClr val="E14040"/>
                </a:solidFill>
                <a:latin typeface="Calibri"/>
              </a:rPr>
              <a:t>LO NGẠI</a:t>
            </a:r>
          </a:p>
        </p:txBody>
      </p:sp>
      <p:sp>
        <p:nvSpPr>
          <p:cNvPr id="12" name="TextBox 11"/>
          <p:cNvSpPr txBox="1"/>
          <p:nvPr/>
        </p:nvSpPr>
        <p:spPr>
          <a:xfrm>
            <a:off x="731520" y="1691639"/>
            <a:ext cx="1828799" cy="1005839"/>
          </a:xfrm>
          <a:prstGeom prst="rect">
            <a:avLst/>
          </a:prstGeom>
          <a:noFill/>
        </p:spPr>
        <p:txBody>
          <a:bodyPr wrap="square" lIns="45720" rIns="45720" tIns="18288" bIns="18288" anchor="t">
            <a:spAutoFit/>
          </a:bodyPr>
          <a:lstStyle/>
          <a:p>
            <a:pPr algn="l"/>
            <a:r>
              <a:rPr sz="1100" b="1" i="0">
                <a:solidFill>
                  <a:srgbClr val="1F2937"/>
                </a:solidFill>
                <a:latin typeface="Calibri"/>
              </a:rPr>
              <a:t>{{CONCERN_1}}</a:t>
            </a:r>
          </a:p>
        </p:txBody>
      </p:sp>
      <p:sp>
        <p:nvSpPr>
          <p:cNvPr id="13" name="TextBox 12"/>
          <p:cNvSpPr txBox="1"/>
          <p:nvPr/>
        </p:nvSpPr>
        <p:spPr>
          <a:xfrm>
            <a:off x="2834640" y="1417319"/>
            <a:ext cx="3076956" cy="228600"/>
          </a:xfrm>
          <a:prstGeom prst="rect">
            <a:avLst/>
          </a:prstGeom>
          <a:noFill/>
        </p:spPr>
        <p:txBody>
          <a:bodyPr wrap="square" lIns="45720" rIns="45720" tIns="18288" bIns="18288" anchor="t">
            <a:spAutoFit/>
          </a:bodyPr>
          <a:lstStyle/>
          <a:p>
            <a:pPr algn="l"/>
            <a:r>
              <a:rPr sz="900" b="1" i="0">
                <a:solidFill>
                  <a:srgbClr val="25B770"/>
                </a:solidFill>
                <a:latin typeface="Calibri"/>
              </a:rPr>
              <a:t>PHẢN BIỆN</a:t>
            </a:r>
          </a:p>
        </p:txBody>
      </p:sp>
      <p:sp>
        <p:nvSpPr>
          <p:cNvPr id="14" name="TextBox 13"/>
          <p:cNvSpPr txBox="1"/>
          <p:nvPr/>
        </p:nvSpPr>
        <p:spPr>
          <a:xfrm>
            <a:off x="2834640" y="1691639"/>
            <a:ext cx="3076956" cy="1005839"/>
          </a:xfrm>
          <a:prstGeom prst="rect">
            <a:avLst/>
          </a:prstGeom>
          <a:noFill/>
        </p:spPr>
        <p:txBody>
          <a:bodyPr wrap="square" lIns="45720" rIns="45720" tIns="18288" bIns="18288" anchor="t">
            <a:spAutoFit/>
          </a:bodyPr>
          <a:lstStyle/>
          <a:p>
            <a:pPr algn="l"/>
            <a:r>
              <a:rPr sz="1000" b="0" i="0">
                <a:solidFill>
                  <a:srgbClr val="1F2937"/>
                </a:solidFill>
                <a:latin typeface="Calibri"/>
              </a:rPr>
              <a:t>{{REBUT_1}}</a:t>
            </a:r>
          </a:p>
        </p:txBody>
      </p:sp>
      <p:sp>
        <p:nvSpPr>
          <p:cNvPr id="15" name="Rounded Rectangle 14"/>
          <p:cNvSpPr/>
          <p:nvPr/>
        </p:nvSpPr>
        <p:spPr>
          <a:xfrm>
            <a:off x="6185916" y="1280160"/>
            <a:ext cx="5454396" cy="1508760"/>
          </a:xfrm>
          <a:prstGeom prst="roundRect">
            <a:avLst>
              <a:gd name="adj" fmla="val 4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371600"/>
            <a:ext cx="73152" cy="132588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31636" y="1371600"/>
            <a:ext cx="2011679" cy="1325880"/>
          </a:xfrm>
          <a:prstGeom prst="rect">
            <a:avLst/>
          </a:prstGeom>
          <a:solidFill>
            <a:srgbClr val="F3E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31636" y="1371600"/>
            <a:ext cx="73152" cy="132588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68796" y="1417319"/>
            <a:ext cx="1828799" cy="228600"/>
          </a:xfrm>
          <a:prstGeom prst="rect">
            <a:avLst/>
          </a:prstGeom>
          <a:noFill/>
        </p:spPr>
        <p:txBody>
          <a:bodyPr wrap="square" lIns="45720" rIns="45720" tIns="18288" bIns="18288" anchor="t">
            <a:spAutoFit/>
          </a:bodyPr>
          <a:lstStyle/>
          <a:p>
            <a:pPr algn="l"/>
            <a:r>
              <a:rPr sz="900" b="1" i="0">
                <a:solidFill>
                  <a:srgbClr val="E14040"/>
                </a:solidFill>
                <a:latin typeface="Calibri"/>
              </a:rPr>
              <a:t>LO NGẠI</a:t>
            </a:r>
          </a:p>
        </p:txBody>
      </p:sp>
      <p:sp>
        <p:nvSpPr>
          <p:cNvPr id="20" name="TextBox 19"/>
          <p:cNvSpPr txBox="1"/>
          <p:nvPr/>
        </p:nvSpPr>
        <p:spPr>
          <a:xfrm>
            <a:off x="6368796" y="1691639"/>
            <a:ext cx="1828799" cy="1005839"/>
          </a:xfrm>
          <a:prstGeom prst="rect">
            <a:avLst/>
          </a:prstGeom>
          <a:noFill/>
        </p:spPr>
        <p:txBody>
          <a:bodyPr wrap="square" lIns="45720" rIns="45720" tIns="18288" bIns="18288" anchor="t">
            <a:spAutoFit/>
          </a:bodyPr>
          <a:lstStyle/>
          <a:p>
            <a:pPr algn="l"/>
            <a:r>
              <a:rPr sz="1100" b="1" i="0">
                <a:solidFill>
                  <a:srgbClr val="1F2937"/>
                </a:solidFill>
                <a:latin typeface="Calibri"/>
              </a:rPr>
              <a:t>{{CONCERN_2}}</a:t>
            </a:r>
          </a:p>
        </p:txBody>
      </p:sp>
      <p:sp>
        <p:nvSpPr>
          <p:cNvPr id="21" name="TextBox 20"/>
          <p:cNvSpPr txBox="1"/>
          <p:nvPr/>
        </p:nvSpPr>
        <p:spPr>
          <a:xfrm>
            <a:off x="8471916" y="1417319"/>
            <a:ext cx="3076956" cy="228600"/>
          </a:xfrm>
          <a:prstGeom prst="rect">
            <a:avLst/>
          </a:prstGeom>
          <a:noFill/>
        </p:spPr>
        <p:txBody>
          <a:bodyPr wrap="square" lIns="45720" rIns="45720" tIns="18288" bIns="18288" anchor="t">
            <a:spAutoFit/>
          </a:bodyPr>
          <a:lstStyle/>
          <a:p>
            <a:pPr algn="l"/>
            <a:r>
              <a:rPr sz="900" b="1" i="0">
                <a:solidFill>
                  <a:srgbClr val="25B770"/>
                </a:solidFill>
                <a:latin typeface="Calibri"/>
              </a:rPr>
              <a:t>PHẢN BIỆN</a:t>
            </a:r>
          </a:p>
        </p:txBody>
      </p:sp>
      <p:sp>
        <p:nvSpPr>
          <p:cNvPr id="22" name="TextBox 21"/>
          <p:cNvSpPr txBox="1"/>
          <p:nvPr/>
        </p:nvSpPr>
        <p:spPr>
          <a:xfrm>
            <a:off x="8471916" y="1691639"/>
            <a:ext cx="3076956" cy="1005839"/>
          </a:xfrm>
          <a:prstGeom prst="rect">
            <a:avLst/>
          </a:prstGeom>
          <a:noFill/>
        </p:spPr>
        <p:txBody>
          <a:bodyPr wrap="square" lIns="45720" rIns="45720" tIns="18288" bIns="18288" anchor="t">
            <a:spAutoFit/>
          </a:bodyPr>
          <a:lstStyle/>
          <a:p>
            <a:pPr algn="l"/>
            <a:r>
              <a:rPr sz="1000" b="0" i="0">
                <a:solidFill>
                  <a:srgbClr val="1F2937"/>
                </a:solidFill>
                <a:latin typeface="Calibri"/>
              </a:rPr>
              <a:t>{{REBUT_2}}</a:t>
            </a:r>
          </a:p>
        </p:txBody>
      </p:sp>
      <p:sp>
        <p:nvSpPr>
          <p:cNvPr id="23" name="Rounded Rectangle 22"/>
          <p:cNvSpPr/>
          <p:nvPr/>
        </p:nvSpPr>
        <p:spPr>
          <a:xfrm>
            <a:off x="548640" y="2926079"/>
            <a:ext cx="5454396" cy="1508760"/>
          </a:xfrm>
          <a:prstGeom prst="roundRect">
            <a:avLst>
              <a:gd name="adj" fmla="val 4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94360" y="3017520"/>
            <a:ext cx="73152" cy="132588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94360" y="3017520"/>
            <a:ext cx="2011679" cy="1325880"/>
          </a:xfrm>
          <a:prstGeom prst="rect">
            <a:avLst/>
          </a:prstGeom>
          <a:solidFill>
            <a:srgbClr val="F3E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94360" y="3017520"/>
            <a:ext cx="73152" cy="132588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3063239"/>
            <a:ext cx="1828799" cy="228600"/>
          </a:xfrm>
          <a:prstGeom prst="rect">
            <a:avLst/>
          </a:prstGeom>
          <a:noFill/>
        </p:spPr>
        <p:txBody>
          <a:bodyPr wrap="square" lIns="45720" rIns="45720" tIns="18288" bIns="18288" anchor="t">
            <a:spAutoFit/>
          </a:bodyPr>
          <a:lstStyle/>
          <a:p>
            <a:pPr algn="l"/>
            <a:r>
              <a:rPr sz="900" b="1" i="0">
                <a:solidFill>
                  <a:srgbClr val="E14040"/>
                </a:solidFill>
                <a:latin typeface="Calibri"/>
              </a:rPr>
              <a:t>LO NGẠI</a:t>
            </a:r>
          </a:p>
        </p:txBody>
      </p:sp>
      <p:sp>
        <p:nvSpPr>
          <p:cNvPr id="28" name="TextBox 27"/>
          <p:cNvSpPr txBox="1"/>
          <p:nvPr/>
        </p:nvSpPr>
        <p:spPr>
          <a:xfrm>
            <a:off x="731520" y="3337560"/>
            <a:ext cx="1828799" cy="1005839"/>
          </a:xfrm>
          <a:prstGeom prst="rect">
            <a:avLst/>
          </a:prstGeom>
          <a:noFill/>
        </p:spPr>
        <p:txBody>
          <a:bodyPr wrap="square" lIns="45720" rIns="45720" tIns="18288" bIns="18288" anchor="t">
            <a:spAutoFit/>
          </a:bodyPr>
          <a:lstStyle/>
          <a:p>
            <a:pPr algn="l"/>
            <a:r>
              <a:rPr sz="1100" b="1" i="0">
                <a:solidFill>
                  <a:srgbClr val="1F2937"/>
                </a:solidFill>
                <a:latin typeface="Calibri"/>
              </a:rPr>
              <a:t>{{CONCERN_3}}</a:t>
            </a:r>
          </a:p>
        </p:txBody>
      </p:sp>
      <p:sp>
        <p:nvSpPr>
          <p:cNvPr id="29" name="TextBox 28"/>
          <p:cNvSpPr txBox="1"/>
          <p:nvPr/>
        </p:nvSpPr>
        <p:spPr>
          <a:xfrm>
            <a:off x="2834640" y="3063239"/>
            <a:ext cx="3076956" cy="228600"/>
          </a:xfrm>
          <a:prstGeom prst="rect">
            <a:avLst/>
          </a:prstGeom>
          <a:noFill/>
        </p:spPr>
        <p:txBody>
          <a:bodyPr wrap="square" lIns="45720" rIns="45720" tIns="18288" bIns="18288" anchor="t">
            <a:spAutoFit/>
          </a:bodyPr>
          <a:lstStyle/>
          <a:p>
            <a:pPr algn="l"/>
            <a:r>
              <a:rPr sz="900" b="1" i="0">
                <a:solidFill>
                  <a:srgbClr val="25B770"/>
                </a:solidFill>
                <a:latin typeface="Calibri"/>
              </a:rPr>
              <a:t>PHẢN BIỆN</a:t>
            </a:r>
          </a:p>
        </p:txBody>
      </p:sp>
      <p:sp>
        <p:nvSpPr>
          <p:cNvPr id="30" name="TextBox 29"/>
          <p:cNvSpPr txBox="1"/>
          <p:nvPr/>
        </p:nvSpPr>
        <p:spPr>
          <a:xfrm>
            <a:off x="2834640" y="3337560"/>
            <a:ext cx="3076956" cy="1005839"/>
          </a:xfrm>
          <a:prstGeom prst="rect">
            <a:avLst/>
          </a:prstGeom>
          <a:noFill/>
        </p:spPr>
        <p:txBody>
          <a:bodyPr wrap="square" lIns="45720" rIns="45720" tIns="18288" bIns="18288" anchor="t">
            <a:spAutoFit/>
          </a:bodyPr>
          <a:lstStyle/>
          <a:p>
            <a:pPr algn="l"/>
            <a:r>
              <a:rPr sz="1000" b="0" i="0">
                <a:solidFill>
                  <a:srgbClr val="1F2937"/>
                </a:solidFill>
                <a:latin typeface="Calibri"/>
              </a:rPr>
              <a:t>{{REBUT_3}}</a:t>
            </a:r>
          </a:p>
        </p:txBody>
      </p:sp>
      <p:sp>
        <p:nvSpPr>
          <p:cNvPr id="31" name="Rounded Rectangle 30"/>
          <p:cNvSpPr/>
          <p:nvPr/>
        </p:nvSpPr>
        <p:spPr>
          <a:xfrm>
            <a:off x="6185916" y="2926079"/>
            <a:ext cx="5454396" cy="1508760"/>
          </a:xfrm>
          <a:prstGeom prst="roundRect">
            <a:avLst>
              <a:gd name="adj" fmla="val 4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31636" y="3017520"/>
            <a:ext cx="73152" cy="132588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3017520"/>
            <a:ext cx="2011679" cy="1325880"/>
          </a:xfrm>
          <a:prstGeom prst="rect">
            <a:avLst/>
          </a:prstGeom>
          <a:solidFill>
            <a:srgbClr val="F3E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231636" y="3017520"/>
            <a:ext cx="73152" cy="132588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68796" y="3063239"/>
            <a:ext cx="1828799" cy="228600"/>
          </a:xfrm>
          <a:prstGeom prst="rect">
            <a:avLst/>
          </a:prstGeom>
          <a:noFill/>
        </p:spPr>
        <p:txBody>
          <a:bodyPr wrap="square" lIns="45720" rIns="45720" tIns="18288" bIns="18288" anchor="t">
            <a:spAutoFit/>
          </a:bodyPr>
          <a:lstStyle/>
          <a:p>
            <a:pPr algn="l"/>
            <a:r>
              <a:rPr sz="900" b="1" i="0">
                <a:solidFill>
                  <a:srgbClr val="E14040"/>
                </a:solidFill>
                <a:latin typeface="Calibri"/>
              </a:rPr>
              <a:t>LO NGẠI</a:t>
            </a:r>
          </a:p>
        </p:txBody>
      </p:sp>
      <p:sp>
        <p:nvSpPr>
          <p:cNvPr id="36" name="TextBox 35"/>
          <p:cNvSpPr txBox="1"/>
          <p:nvPr/>
        </p:nvSpPr>
        <p:spPr>
          <a:xfrm>
            <a:off x="6368796" y="3337560"/>
            <a:ext cx="1828799" cy="1005839"/>
          </a:xfrm>
          <a:prstGeom prst="rect">
            <a:avLst/>
          </a:prstGeom>
          <a:noFill/>
        </p:spPr>
        <p:txBody>
          <a:bodyPr wrap="square" lIns="45720" rIns="45720" tIns="18288" bIns="18288" anchor="t">
            <a:spAutoFit/>
          </a:bodyPr>
          <a:lstStyle/>
          <a:p>
            <a:pPr algn="l"/>
            <a:r>
              <a:rPr sz="1100" b="1" i="0">
                <a:solidFill>
                  <a:srgbClr val="1F2937"/>
                </a:solidFill>
                <a:latin typeface="Calibri"/>
              </a:rPr>
              <a:t>{{CONCERN_4}}</a:t>
            </a:r>
          </a:p>
        </p:txBody>
      </p:sp>
      <p:sp>
        <p:nvSpPr>
          <p:cNvPr id="37" name="TextBox 36"/>
          <p:cNvSpPr txBox="1"/>
          <p:nvPr/>
        </p:nvSpPr>
        <p:spPr>
          <a:xfrm>
            <a:off x="8471916" y="3063239"/>
            <a:ext cx="3076956" cy="228600"/>
          </a:xfrm>
          <a:prstGeom prst="rect">
            <a:avLst/>
          </a:prstGeom>
          <a:noFill/>
        </p:spPr>
        <p:txBody>
          <a:bodyPr wrap="square" lIns="45720" rIns="45720" tIns="18288" bIns="18288" anchor="t">
            <a:spAutoFit/>
          </a:bodyPr>
          <a:lstStyle/>
          <a:p>
            <a:pPr algn="l"/>
            <a:r>
              <a:rPr sz="900" b="1" i="0">
                <a:solidFill>
                  <a:srgbClr val="25B770"/>
                </a:solidFill>
                <a:latin typeface="Calibri"/>
              </a:rPr>
              <a:t>PHẢN BIỆN</a:t>
            </a:r>
          </a:p>
        </p:txBody>
      </p:sp>
      <p:sp>
        <p:nvSpPr>
          <p:cNvPr id="38" name="TextBox 37"/>
          <p:cNvSpPr txBox="1"/>
          <p:nvPr/>
        </p:nvSpPr>
        <p:spPr>
          <a:xfrm>
            <a:off x="8471916" y="3337560"/>
            <a:ext cx="3076956" cy="1005839"/>
          </a:xfrm>
          <a:prstGeom prst="rect">
            <a:avLst/>
          </a:prstGeom>
          <a:noFill/>
        </p:spPr>
        <p:txBody>
          <a:bodyPr wrap="square" lIns="45720" rIns="45720" tIns="18288" bIns="18288" anchor="t">
            <a:spAutoFit/>
          </a:bodyPr>
          <a:lstStyle/>
          <a:p>
            <a:pPr algn="l"/>
            <a:r>
              <a:rPr sz="1000" b="0" i="0">
                <a:solidFill>
                  <a:srgbClr val="1F2937"/>
                </a:solidFill>
                <a:latin typeface="Calibri"/>
              </a:rPr>
              <a:t>{{REBUT_4}}</a:t>
            </a:r>
          </a:p>
        </p:txBody>
      </p:sp>
      <p:sp>
        <p:nvSpPr>
          <p:cNvPr id="39" name="Rounded Rectangle 38"/>
          <p:cNvSpPr/>
          <p:nvPr/>
        </p:nvSpPr>
        <p:spPr>
          <a:xfrm>
            <a:off x="548640" y="4572000"/>
            <a:ext cx="5454396" cy="1508760"/>
          </a:xfrm>
          <a:prstGeom prst="roundRect">
            <a:avLst>
              <a:gd name="adj" fmla="val 4000"/>
            </a:avLst>
          </a:prstGeom>
          <a:solidFill>
            <a:srgbClr val="FD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94360" y="4663440"/>
            <a:ext cx="73152" cy="1325880"/>
          </a:xfrm>
          <a:prstGeom prst="rect">
            <a:avLst/>
          </a:prstGeom>
          <a:solidFill>
            <a:srgbClr val="E1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31520" y="4709160"/>
            <a:ext cx="1828799" cy="228600"/>
          </a:xfrm>
          <a:prstGeom prst="rect">
            <a:avLst/>
          </a:prstGeom>
          <a:noFill/>
        </p:spPr>
        <p:txBody>
          <a:bodyPr wrap="square" lIns="45720" rIns="45720" tIns="18288" bIns="18288" anchor="t">
            <a:spAutoFit/>
          </a:bodyPr>
          <a:lstStyle/>
          <a:p>
            <a:pPr algn="l"/>
            <a:r>
              <a:rPr sz="900" b="1" i="0">
                <a:solidFill>
                  <a:srgbClr val="E14040"/>
                </a:solidFill>
                <a:latin typeface="Calibri"/>
              </a:rPr>
              <a:t>LO NGẠI CÒN YẾU</a:t>
            </a:r>
          </a:p>
        </p:txBody>
      </p:sp>
      <p:sp>
        <p:nvSpPr>
          <p:cNvPr id="42" name="TextBox 41"/>
          <p:cNvSpPr txBox="1"/>
          <p:nvPr/>
        </p:nvSpPr>
        <p:spPr>
          <a:xfrm>
            <a:off x="731520" y="4983480"/>
            <a:ext cx="1828799" cy="1005839"/>
          </a:xfrm>
          <a:prstGeom prst="rect">
            <a:avLst/>
          </a:prstGeom>
          <a:noFill/>
        </p:spPr>
        <p:txBody>
          <a:bodyPr wrap="square" lIns="45720" rIns="45720" tIns="18288" bIns="18288" anchor="t">
            <a:spAutoFit/>
          </a:bodyPr>
          <a:lstStyle/>
          <a:p>
            <a:pPr algn="l"/>
            <a:r>
              <a:rPr sz="1100" b="1" i="0">
                <a:solidFill>
                  <a:srgbClr val="1F2937"/>
                </a:solidFill>
                <a:latin typeface="Calibri"/>
              </a:rPr>
              <a:t>{{CONCERN_5}}</a:t>
            </a:r>
          </a:p>
        </p:txBody>
      </p:sp>
      <p:sp>
        <p:nvSpPr>
          <p:cNvPr id="43" name="TextBox 42"/>
          <p:cNvSpPr txBox="1"/>
          <p:nvPr/>
        </p:nvSpPr>
        <p:spPr>
          <a:xfrm>
            <a:off x="2834640" y="4709160"/>
            <a:ext cx="3076956" cy="228600"/>
          </a:xfrm>
          <a:prstGeom prst="rect">
            <a:avLst/>
          </a:prstGeom>
          <a:noFill/>
        </p:spPr>
        <p:txBody>
          <a:bodyPr wrap="square" lIns="45720" rIns="45720" tIns="18288" bIns="18288" anchor="t">
            <a:spAutoFit/>
          </a:bodyPr>
          <a:lstStyle/>
          <a:p>
            <a:pPr algn="l"/>
            <a:r>
              <a:rPr sz="900" b="1" i="0">
                <a:solidFill>
                  <a:srgbClr val="E14040"/>
                </a:solidFill>
                <a:latin typeface="Calibri"/>
              </a:rPr>
              <a:t>PHẢN BIỆN</a:t>
            </a:r>
          </a:p>
        </p:txBody>
      </p:sp>
      <p:sp>
        <p:nvSpPr>
          <p:cNvPr id="44" name="TextBox 43"/>
          <p:cNvSpPr txBox="1"/>
          <p:nvPr/>
        </p:nvSpPr>
        <p:spPr>
          <a:xfrm>
            <a:off x="2834640" y="4983480"/>
            <a:ext cx="3076956" cy="1005839"/>
          </a:xfrm>
          <a:prstGeom prst="rect">
            <a:avLst/>
          </a:prstGeom>
          <a:noFill/>
        </p:spPr>
        <p:txBody>
          <a:bodyPr wrap="square" lIns="45720" rIns="45720" tIns="18288" bIns="18288" anchor="t">
            <a:spAutoFit/>
          </a:bodyPr>
          <a:lstStyle/>
          <a:p>
            <a:pPr algn="l"/>
            <a:r>
              <a:rPr sz="1000" b="0" i="0">
                <a:solidFill>
                  <a:srgbClr val="1F2937"/>
                </a:solidFill>
                <a:latin typeface="Calibri"/>
              </a:rPr>
              <a:t>{{REBUT_5}}</a:t>
            </a:r>
          </a:p>
        </p:txBody>
      </p:sp>
      <p:sp>
        <p:nvSpPr>
          <p:cNvPr id="45" name="Rounded Rectangle 44"/>
          <p:cNvSpPr/>
          <p:nvPr/>
        </p:nvSpPr>
        <p:spPr>
          <a:xfrm>
            <a:off x="6185916" y="4572000"/>
            <a:ext cx="5454396" cy="1508760"/>
          </a:xfrm>
          <a:prstGeom prst="roundRect">
            <a:avLst>
              <a:gd name="adj" fmla="val 4000"/>
            </a:avLst>
          </a:prstGeom>
          <a:solidFill>
            <a:srgbClr val="FD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231636" y="4663440"/>
            <a:ext cx="73152" cy="1325880"/>
          </a:xfrm>
          <a:prstGeom prst="rect">
            <a:avLst/>
          </a:prstGeom>
          <a:solidFill>
            <a:srgbClr val="E1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368796" y="4709160"/>
            <a:ext cx="1828799" cy="228600"/>
          </a:xfrm>
          <a:prstGeom prst="rect">
            <a:avLst/>
          </a:prstGeom>
          <a:noFill/>
        </p:spPr>
        <p:txBody>
          <a:bodyPr wrap="square" lIns="45720" rIns="45720" tIns="18288" bIns="18288" anchor="t">
            <a:spAutoFit/>
          </a:bodyPr>
          <a:lstStyle/>
          <a:p>
            <a:pPr algn="l"/>
            <a:r>
              <a:rPr sz="900" b="1" i="0">
                <a:solidFill>
                  <a:srgbClr val="E14040"/>
                </a:solidFill>
                <a:latin typeface="Calibri"/>
              </a:rPr>
              <a:t>LO NGẠI CÒN YẾU</a:t>
            </a:r>
          </a:p>
        </p:txBody>
      </p:sp>
      <p:sp>
        <p:nvSpPr>
          <p:cNvPr id="48" name="TextBox 47"/>
          <p:cNvSpPr txBox="1"/>
          <p:nvPr/>
        </p:nvSpPr>
        <p:spPr>
          <a:xfrm>
            <a:off x="6368796" y="4983480"/>
            <a:ext cx="1828799" cy="1005839"/>
          </a:xfrm>
          <a:prstGeom prst="rect">
            <a:avLst/>
          </a:prstGeom>
          <a:noFill/>
        </p:spPr>
        <p:txBody>
          <a:bodyPr wrap="square" lIns="45720" rIns="45720" tIns="18288" bIns="18288" anchor="t">
            <a:spAutoFit/>
          </a:bodyPr>
          <a:lstStyle/>
          <a:p>
            <a:pPr algn="l"/>
            <a:r>
              <a:rPr sz="1100" b="1" i="0">
                <a:solidFill>
                  <a:srgbClr val="1F2937"/>
                </a:solidFill>
                <a:latin typeface="Calibri"/>
              </a:rPr>
              <a:t>{{CONCERN_6}}</a:t>
            </a:r>
          </a:p>
        </p:txBody>
      </p:sp>
      <p:sp>
        <p:nvSpPr>
          <p:cNvPr id="49" name="TextBox 48"/>
          <p:cNvSpPr txBox="1"/>
          <p:nvPr/>
        </p:nvSpPr>
        <p:spPr>
          <a:xfrm>
            <a:off x="8471916" y="4709160"/>
            <a:ext cx="3076956" cy="228600"/>
          </a:xfrm>
          <a:prstGeom prst="rect">
            <a:avLst/>
          </a:prstGeom>
          <a:noFill/>
        </p:spPr>
        <p:txBody>
          <a:bodyPr wrap="square" lIns="45720" rIns="45720" tIns="18288" bIns="18288" anchor="t">
            <a:spAutoFit/>
          </a:bodyPr>
          <a:lstStyle/>
          <a:p>
            <a:pPr algn="l"/>
            <a:r>
              <a:rPr sz="900" b="1" i="0">
                <a:solidFill>
                  <a:srgbClr val="E14040"/>
                </a:solidFill>
                <a:latin typeface="Calibri"/>
              </a:rPr>
              <a:t>PHẢN BIỆN</a:t>
            </a:r>
          </a:p>
        </p:txBody>
      </p:sp>
      <p:sp>
        <p:nvSpPr>
          <p:cNvPr id="50" name="TextBox 49"/>
          <p:cNvSpPr txBox="1"/>
          <p:nvPr/>
        </p:nvSpPr>
        <p:spPr>
          <a:xfrm>
            <a:off x="8471916" y="4983480"/>
            <a:ext cx="3076956" cy="1005839"/>
          </a:xfrm>
          <a:prstGeom prst="rect">
            <a:avLst/>
          </a:prstGeom>
          <a:noFill/>
        </p:spPr>
        <p:txBody>
          <a:bodyPr wrap="square" lIns="45720" rIns="45720" tIns="18288" bIns="18288" anchor="t">
            <a:spAutoFit/>
          </a:bodyPr>
          <a:lstStyle/>
          <a:p>
            <a:pPr algn="l"/>
            <a:r>
              <a:rPr sz="1000" b="0" i="0">
                <a:solidFill>
                  <a:srgbClr val="1F2937"/>
                </a:solidFill>
                <a:latin typeface="Calibri"/>
              </a:rPr>
              <a:t>{{REBUT_6}}</a:t>
            </a:r>
          </a:p>
        </p:txBody>
      </p:sp>
      <p:sp>
        <p:nvSpPr>
          <p:cNvPr id="51" name="TextBox 50"/>
          <p:cNvSpPr txBox="1"/>
          <p:nvPr/>
        </p:nvSpPr>
        <p:spPr>
          <a:xfrm>
            <a:off x="548640" y="6492240"/>
            <a:ext cx="8229600" cy="274320"/>
          </a:xfrm>
          <a:prstGeom prst="rect">
            <a:avLst/>
          </a:prstGeom>
          <a:noFill/>
        </p:spPr>
        <p:txBody>
          <a:bodyPr wrap="square" lIns="45720" rIns="45720" tIns="18288" bIns="18288" anchor="t">
            <a:spAutoFit/>
          </a:bodyPr>
          <a:lstStyle/>
          <a:p>
            <a:pPr algn="l"/>
            <a:r>
              <a:rPr sz="900" b="0" i="1">
                <a:solidFill>
                  <a:srgbClr val="9CA3AF"/>
                </a:solidFill>
                <a:latin typeface="Calibri"/>
              </a:rPr>
              <a:t>{{FOOTER_LEFT}}</a:t>
            </a:r>
          </a:p>
        </p:txBody>
      </p:sp>
      <p:sp>
        <p:nvSpPr>
          <p:cNvPr id="52" name="TextBox 51"/>
          <p:cNvSpPr txBox="1"/>
          <p:nvPr/>
        </p:nvSpPr>
        <p:spPr>
          <a:xfrm>
            <a:off x="10058400" y="6492240"/>
            <a:ext cx="1645920" cy="274320"/>
          </a:xfrm>
          <a:prstGeom prst="rect">
            <a:avLst/>
          </a:prstGeom>
          <a:noFill/>
        </p:spPr>
        <p:txBody>
          <a:bodyPr wrap="square" lIns="45720" rIns="45720" tIns="18288" bIns="18288" anchor="t">
            <a:spAutoFit/>
          </a:bodyPr>
          <a:lstStyle/>
          <a:p>
            <a:pPr algn="r"/>
            <a:r>
              <a:rPr sz="900" b="0" i="0">
                <a:solidFill>
                  <a:srgbClr val="9CA3AF"/>
                </a:solidFill>
                <a:latin typeface="Calibri"/>
              </a:rPr>
              <a:t>{{PAGE_NUM}}</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name="VARIANT_PERCEPTION">
    <p:spTree>
      <p:nvGrpSpPr>
        <p:cNvPr id="1" name=""/>
        <p:cNvGrpSpPr/>
        <p:nvPr/>
      </p:nvGrpSpPr>
      <p:grpSpPr/>
      <p:sp>
        <p:nvSpPr>
          <p:cNvPr id="2" name="Rectangle 1"/>
          <p:cNvSpPr/>
          <p:nvPr/>
        </p:nvSpPr>
        <p:spPr>
          <a:xfrm>
            <a:off x="457200" y="274320"/>
            <a:ext cx="73152" cy="32004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594359"/>
            <a:ext cx="73152" cy="320040"/>
          </a:xfrm>
          <a:prstGeom prst="rect">
            <a:avLst/>
          </a:prstGeom>
          <a:solidFill>
            <a:srgbClr val="B47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74320"/>
            <a:ext cx="10972800" cy="365760"/>
          </a:xfrm>
          <a:prstGeom prst="rect">
            <a:avLst/>
          </a:prstGeom>
          <a:noFill/>
        </p:spPr>
        <p:txBody>
          <a:bodyPr wrap="square" lIns="45720" rIns="45720" tIns="18288" bIns="18288" anchor="t">
            <a:spAutoFit/>
          </a:bodyPr>
          <a:lstStyle/>
          <a:p>
            <a:pPr algn="l"/>
            <a:r>
              <a:rPr sz="2400" b="1" i="0">
                <a:solidFill>
                  <a:srgbClr val="1F2937"/>
                </a:solidFill>
                <a:latin typeface="Calibri"/>
              </a:rPr>
              <a:t>{{SECTION_TITLE}}</a:t>
            </a:r>
          </a:p>
        </p:txBody>
      </p:sp>
      <p:sp>
        <p:nvSpPr>
          <p:cNvPr id="5" name="TextBox 4"/>
          <p:cNvSpPr txBox="1"/>
          <p:nvPr/>
        </p:nvSpPr>
        <p:spPr>
          <a:xfrm>
            <a:off x="594360" y="640080"/>
            <a:ext cx="10972800" cy="274320"/>
          </a:xfrm>
          <a:prstGeom prst="rect">
            <a:avLst/>
          </a:prstGeom>
          <a:noFill/>
        </p:spPr>
        <p:txBody>
          <a:bodyPr wrap="square" lIns="45720" rIns="45720" tIns="18288" bIns="18288" anchor="t">
            <a:spAutoFit/>
          </a:bodyPr>
          <a:lstStyle/>
          <a:p>
            <a:pPr algn="l"/>
            <a:r>
              <a:rPr sz="1100" b="0" i="1">
                <a:solidFill>
                  <a:srgbClr val="6B7280"/>
                </a:solidFill>
                <a:latin typeface="Calibri"/>
              </a:rPr>
              <a:t>{{SECTION_SUB}}</a:t>
            </a:r>
          </a:p>
        </p:txBody>
      </p:sp>
      <p:sp>
        <p:nvSpPr>
          <p:cNvPr id="6" name="Rectangle 5"/>
          <p:cNvSpPr/>
          <p:nvPr/>
        </p:nvSpPr>
        <p:spPr>
          <a:xfrm>
            <a:off x="548640" y="1005840"/>
            <a:ext cx="11091672" cy="18288"/>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280160"/>
            <a:ext cx="11091672" cy="1920240"/>
          </a:xfrm>
          <a:prstGeom prst="roundRect">
            <a:avLst>
              <a:gd name="adj" fmla="val 4000"/>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1371600"/>
            <a:ext cx="914400" cy="914400"/>
          </a:xfrm>
          <a:prstGeom prst="rect">
            <a:avLst/>
          </a:prstGeom>
          <a:noFill/>
        </p:spPr>
        <p:txBody>
          <a:bodyPr wrap="square" lIns="45720" rIns="45720" tIns="18288" bIns="18288" anchor="t">
            <a:spAutoFit/>
          </a:bodyPr>
          <a:lstStyle/>
          <a:p>
            <a:pPr algn="l"/>
            <a:r>
              <a:rPr sz="7200" b="1" i="0">
                <a:solidFill>
                  <a:srgbClr val="B47EFF"/>
                </a:solidFill>
                <a:latin typeface="Calibri"/>
              </a:rPr>
              <a:t>❝</a:t>
            </a:r>
          </a:p>
        </p:txBody>
      </p:sp>
      <p:sp>
        <p:nvSpPr>
          <p:cNvPr id="9" name="TextBox 8"/>
          <p:cNvSpPr txBox="1"/>
          <p:nvPr/>
        </p:nvSpPr>
        <p:spPr>
          <a:xfrm>
            <a:off x="1828800" y="1645919"/>
            <a:ext cx="9445752" cy="1188720"/>
          </a:xfrm>
          <a:prstGeom prst="rect">
            <a:avLst/>
          </a:prstGeom>
          <a:noFill/>
        </p:spPr>
        <p:txBody>
          <a:bodyPr wrap="square" lIns="45720" rIns="45720" tIns="18288" bIns="18288" anchor="ctr">
            <a:spAutoFit/>
          </a:bodyPr>
          <a:lstStyle/>
          <a:p>
            <a:pPr algn="l"/>
            <a:r>
              <a:rPr sz="2000" b="0" i="1">
                <a:solidFill>
                  <a:srgbClr val="FFFFFF"/>
                </a:solidFill>
                <a:latin typeface="Calibri"/>
              </a:rPr>
              <a:t>{{INSIGHT_KEY}}</a:t>
            </a:r>
          </a:p>
        </p:txBody>
      </p:sp>
      <p:sp>
        <p:nvSpPr>
          <p:cNvPr id="10" name="Rounded Rectangle 9"/>
          <p:cNvSpPr/>
          <p:nvPr/>
        </p:nvSpPr>
        <p:spPr>
          <a:xfrm>
            <a:off x="548640" y="3474720"/>
            <a:ext cx="3575304" cy="411480"/>
          </a:xfrm>
          <a:prstGeom prst="roundRect">
            <a:avLst>
              <a:gd name="adj" fmla="val 10000"/>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3474720"/>
            <a:ext cx="3300984" cy="411480"/>
          </a:xfrm>
          <a:prstGeom prst="rect">
            <a:avLst/>
          </a:prstGeom>
          <a:noFill/>
        </p:spPr>
        <p:txBody>
          <a:bodyPr wrap="square" lIns="45720" rIns="45720" tIns="18288" bIns="18288" anchor="ctr">
            <a:spAutoFit/>
          </a:bodyPr>
          <a:lstStyle/>
          <a:p>
            <a:pPr algn="l"/>
            <a:r>
              <a:rPr sz="1000" b="1" i="0">
                <a:solidFill>
                  <a:srgbClr val="FFFFFF"/>
                </a:solidFill>
                <a:latin typeface="Calibri"/>
              </a:rPr>
              <a:t>ĐỒNG THUẬN THỊ TRƯỜNG</a:t>
            </a:r>
          </a:p>
        </p:txBody>
      </p:sp>
      <p:sp>
        <p:nvSpPr>
          <p:cNvPr id="12" name="Rounded Rectangle 11"/>
          <p:cNvSpPr/>
          <p:nvPr/>
        </p:nvSpPr>
        <p:spPr>
          <a:xfrm>
            <a:off x="548640" y="3886200"/>
            <a:ext cx="3575304" cy="1783080"/>
          </a:xfrm>
          <a:prstGeom prst="roundRect">
            <a:avLst>
              <a:gd name="adj" fmla="val 4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023360"/>
            <a:ext cx="3209544" cy="1508760"/>
          </a:xfrm>
          <a:prstGeom prst="rect">
            <a:avLst/>
          </a:prstGeom>
          <a:noFill/>
        </p:spPr>
        <p:txBody>
          <a:bodyPr wrap="square" lIns="45720" rIns="45720" tIns="18288" bIns="18288" anchor="t">
            <a:spAutoFit/>
          </a:bodyPr>
          <a:lstStyle/>
          <a:p>
            <a:pPr algn="l"/>
            <a:r>
              <a:rPr sz="1000" b="0" i="0">
                <a:solidFill>
                  <a:srgbClr val="1F2937"/>
                </a:solidFill>
                <a:latin typeface="Calibri"/>
              </a:rPr>
              <a:t>{{CONSENSUS_VIEW}}</a:t>
            </a:r>
          </a:p>
        </p:txBody>
      </p:sp>
      <p:sp>
        <p:nvSpPr>
          <p:cNvPr id="14" name="Rounded Rectangle 13"/>
          <p:cNvSpPr/>
          <p:nvPr/>
        </p:nvSpPr>
        <p:spPr>
          <a:xfrm>
            <a:off x="4306824" y="3474720"/>
            <a:ext cx="3575304" cy="411480"/>
          </a:xfrm>
          <a:prstGeom prst="roundRect">
            <a:avLst>
              <a:gd name="adj" fmla="val 10000"/>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43984" y="3474720"/>
            <a:ext cx="3300984" cy="411480"/>
          </a:xfrm>
          <a:prstGeom prst="rect">
            <a:avLst/>
          </a:prstGeom>
          <a:noFill/>
        </p:spPr>
        <p:txBody>
          <a:bodyPr wrap="square" lIns="45720" rIns="45720" tIns="18288" bIns="18288" anchor="ctr">
            <a:spAutoFit/>
          </a:bodyPr>
          <a:lstStyle/>
          <a:p>
            <a:pPr algn="l"/>
            <a:r>
              <a:rPr sz="1000" b="1" i="0">
                <a:solidFill>
                  <a:srgbClr val="FFFFFF"/>
                </a:solidFill>
                <a:latin typeface="Calibri"/>
              </a:rPr>
              <a:t>TÂM LÝ NHÀ ĐẦU TƯ CÁ NHÂN</a:t>
            </a:r>
          </a:p>
        </p:txBody>
      </p:sp>
      <p:sp>
        <p:nvSpPr>
          <p:cNvPr id="16" name="Rounded Rectangle 15"/>
          <p:cNvSpPr/>
          <p:nvPr/>
        </p:nvSpPr>
        <p:spPr>
          <a:xfrm>
            <a:off x="4306824" y="3886200"/>
            <a:ext cx="3575304" cy="1783080"/>
          </a:xfrm>
          <a:prstGeom prst="roundRect">
            <a:avLst>
              <a:gd name="adj" fmla="val 4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89704" y="4023360"/>
            <a:ext cx="3209544" cy="1508760"/>
          </a:xfrm>
          <a:prstGeom prst="rect">
            <a:avLst/>
          </a:prstGeom>
          <a:noFill/>
        </p:spPr>
        <p:txBody>
          <a:bodyPr wrap="square" lIns="45720" rIns="45720" tIns="18288" bIns="18288" anchor="t">
            <a:spAutoFit/>
          </a:bodyPr>
          <a:lstStyle/>
          <a:p>
            <a:pPr algn="l"/>
            <a:r>
              <a:rPr sz="1000" b="0" i="0">
                <a:solidFill>
                  <a:srgbClr val="1F2937"/>
                </a:solidFill>
                <a:latin typeface="Calibri"/>
              </a:rPr>
              <a:t>{{RETAIL_VIEW}}</a:t>
            </a:r>
          </a:p>
        </p:txBody>
      </p:sp>
      <p:sp>
        <p:nvSpPr>
          <p:cNvPr id="18" name="Rounded Rectangle 17"/>
          <p:cNvSpPr/>
          <p:nvPr/>
        </p:nvSpPr>
        <p:spPr>
          <a:xfrm>
            <a:off x="8065008" y="3474720"/>
            <a:ext cx="3575304" cy="411480"/>
          </a:xfrm>
          <a:prstGeom prst="roundRect">
            <a:avLst>
              <a:gd name="adj" fmla="val 10000"/>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02168" y="3474720"/>
            <a:ext cx="3300984" cy="411480"/>
          </a:xfrm>
          <a:prstGeom prst="rect">
            <a:avLst/>
          </a:prstGeom>
          <a:noFill/>
        </p:spPr>
        <p:txBody>
          <a:bodyPr wrap="square" lIns="45720" rIns="45720" tIns="18288" bIns="18288" anchor="ctr">
            <a:spAutoFit/>
          </a:bodyPr>
          <a:lstStyle/>
          <a:p>
            <a:pPr algn="l"/>
            <a:r>
              <a:rPr sz="1000" b="1" i="0">
                <a:solidFill>
                  <a:srgbClr val="FFFFFF"/>
                </a:solidFill>
                <a:latin typeface="Calibri"/>
              </a:rPr>
              <a:t>GÓC NHÌN KHÁC ĐỒNG THUẬN</a:t>
            </a:r>
          </a:p>
        </p:txBody>
      </p:sp>
      <p:sp>
        <p:nvSpPr>
          <p:cNvPr id="20" name="Rounded Rectangle 19"/>
          <p:cNvSpPr/>
          <p:nvPr/>
        </p:nvSpPr>
        <p:spPr>
          <a:xfrm>
            <a:off x="8065008" y="3886200"/>
            <a:ext cx="3575304" cy="1783080"/>
          </a:xfrm>
          <a:prstGeom prst="roundRect">
            <a:avLst>
              <a:gd name="adj" fmla="val 4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47888" y="4023360"/>
            <a:ext cx="3209544" cy="1508760"/>
          </a:xfrm>
          <a:prstGeom prst="rect">
            <a:avLst/>
          </a:prstGeom>
          <a:noFill/>
        </p:spPr>
        <p:txBody>
          <a:bodyPr wrap="square" lIns="45720" rIns="45720" tIns="18288" bIns="18288" anchor="t">
            <a:spAutoFit/>
          </a:bodyPr>
          <a:lstStyle/>
          <a:p>
            <a:pPr algn="l"/>
            <a:r>
              <a:rPr sz="1000" b="0" i="0">
                <a:solidFill>
                  <a:srgbClr val="1F2937"/>
                </a:solidFill>
                <a:latin typeface="Calibri"/>
              </a:rPr>
              <a:t>{{DIFFERENT_VIEW}}</a:t>
            </a:r>
          </a:p>
        </p:txBody>
      </p:sp>
      <p:sp>
        <p:nvSpPr>
          <p:cNvPr id="22" name="TextBox 21"/>
          <p:cNvSpPr txBox="1"/>
          <p:nvPr/>
        </p:nvSpPr>
        <p:spPr>
          <a:xfrm>
            <a:off x="548640" y="6492240"/>
            <a:ext cx="8229600" cy="274320"/>
          </a:xfrm>
          <a:prstGeom prst="rect">
            <a:avLst/>
          </a:prstGeom>
          <a:noFill/>
        </p:spPr>
        <p:txBody>
          <a:bodyPr wrap="square" lIns="45720" rIns="45720" tIns="18288" bIns="18288" anchor="t">
            <a:spAutoFit/>
          </a:bodyPr>
          <a:lstStyle/>
          <a:p>
            <a:pPr algn="l"/>
            <a:r>
              <a:rPr sz="900" b="0" i="1">
                <a:solidFill>
                  <a:srgbClr val="9CA3AF"/>
                </a:solidFill>
                <a:latin typeface="Calibri"/>
              </a:rPr>
              <a:t>{{FOOTER_LEFT}}</a:t>
            </a:r>
          </a:p>
        </p:txBody>
      </p:sp>
      <p:sp>
        <p:nvSpPr>
          <p:cNvPr id="23" name="TextBox 22"/>
          <p:cNvSpPr txBox="1"/>
          <p:nvPr/>
        </p:nvSpPr>
        <p:spPr>
          <a:xfrm>
            <a:off x="10058400" y="6492240"/>
            <a:ext cx="1645920" cy="274320"/>
          </a:xfrm>
          <a:prstGeom prst="rect">
            <a:avLst/>
          </a:prstGeom>
          <a:noFill/>
        </p:spPr>
        <p:txBody>
          <a:bodyPr wrap="square" lIns="45720" rIns="45720" tIns="18288" bIns="18288" anchor="t">
            <a:spAutoFit/>
          </a:bodyPr>
          <a:lstStyle/>
          <a:p>
            <a:pPr algn="r"/>
            <a:r>
              <a:rPr sz="900" b="0" i="0">
                <a:solidFill>
                  <a:srgbClr val="9CA3AF"/>
                </a:solidFill>
                <a:latin typeface="Calibri"/>
              </a:rPr>
              <a:t>{{PAGE_NUM}}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name="BUY_STRUCTURE_FLEX">
    <p:spTree>
      <p:nvGrpSpPr>
        <p:cNvPr id="1" name=""/>
        <p:cNvGrpSpPr/>
        <p:nvPr/>
      </p:nvGrpSpPr>
      <p:grpSpPr/>
      <p:sp>
        <p:nvSpPr>
          <p:cNvPr id="2" name="Rectangle 1"/>
          <p:cNvSpPr/>
          <p:nvPr/>
        </p:nvSpPr>
        <p:spPr>
          <a:xfrm>
            <a:off x="457200" y="274320"/>
            <a:ext cx="73152" cy="32004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594359"/>
            <a:ext cx="73152" cy="320040"/>
          </a:xfrm>
          <a:prstGeom prst="rect">
            <a:avLst/>
          </a:prstGeom>
          <a:solidFill>
            <a:srgbClr val="B47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74320"/>
            <a:ext cx="10972800" cy="365760"/>
          </a:xfrm>
          <a:prstGeom prst="rect">
            <a:avLst/>
          </a:prstGeom>
          <a:noFill/>
        </p:spPr>
        <p:txBody>
          <a:bodyPr wrap="square" lIns="45720" rIns="45720" tIns="18288" bIns="18288" anchor="t">
            <a:spAutoFit/>
          </a:bodyPr>
          <a:lstStyle/>
          <a:p>
            <a:pPr algn="l"/>
            <a:r>
              <a:rPr sz="2400" b="1" i="0">
                <a:solidFill>
                  <a:srgbClr val="1F2937"/>
                </a:solidFill>
                <a:latin typeface="Calibri"/>
              </a:rPr>
              <a:t>{{SECTION_TITLE}}</a:t>
            </a:r>
          </a:p>
        </p:txBody>
      </p:sp>
      <p:sp>
        <p:nvSpPr>
          <p:cNvPr id="5" name="TextBox 4"/>
          <p:cNvSpPr txBox="1"/>
          <p:nvPr/>
        </p:nvSpPr>
        <p:spPr>
          <a:xfrm>
            <a:off x="594360" y="640080"/>
            <a:ext cx="10972800" cy="274320"/>
          </a:xfrm>
          <a:prstGeom prst="rect">
            <a:avLst/>
          </a:prstGeom>
          <a:noFill/>
        </p:spPr>
        <p:txBody>
          <a:bodyPr wrap="square" lIns="45720" rIns="45720" tIns="18288" bIns="18288" anchor="t">
            <a:spAutoFit/>
          </a:bodyPr>
          <a:lstStyle/>
          <a:p>
            <a:pPr algn="l"/>
            <a:r>
              <a:rPr sz="1100" b="0" i="1">
                <a:solidFill>
                  <a:srgbClr val="6B7280"/>
                </a:solidFill>
                <a:latin typeface="Calibri"/>
              </a:rPr>
              <a:t>{{SECTION_SUB}}</a:t>
            </a:r>
          </a:p>
        </p:txBody>
      </p:sp>
      <p:sp>
        <p:nvSpPr>
          <p:cNvPr id="6" name="Rectangle 5"/>
          <p:cNvSpPr/>
          <p:nvPr/>
        </p:nvSpPr>
        <p:spPr>
          <a:xfrm>
            <a:off x="548640" y="1005840"/>
            <a:ext cx="11091672" cy="18288"/>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280160"/>
            <a:ext cx="11091672" cy="640080"/>
          </a:xfrm>
          <a:prstGeom prst="roundRect">
            <a:avLst>
              <a:gd name="adj" fmla="val 4000"/>
            </a:avLst>
          </a:prstGeom>
          <a:solidFill>
            <a:srgbClr val="F3E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325880"/>
            <a:ext cx="4572000" cy="274320"/>
          </a:xfrm>
          <a:prstGeom prst="rect">
            <a:avLst/>
          </a:prstGeom>
          <a:noFill/>
        </p:spPr>
        <p:txBody>
          <a:bodyPr wrap="square" lIns="45720" rIns="45720" tIns="18288" bIns="18288" anchor="t">
            <a:spAutoFit/>
          </a:bodyPr>
          <a:lstStyle/>
          <a:p>
            <a:pPr algn="l"/>
            <a:r>
              <a:rPr sz="1100" b="1" i="0">
                <a:solidFill>
                  <a:srgbClr val="8B5CF6"/>
                </a:solidFill>
                <a:latin typeface="Calibri"/>
              </a:rPr>
              <a:t>CẤU TRÚC MUA {{LAYER_COUNT}} LỚP</a:t>
            </a:r>
          </a:p>
        </p:txBody>
      </p:sp>
      <p:sp>
        <p:nvSpPr>
          <p:cNvPr id="9" name="TextBox 8"/>
          <p:cNvSpPr txBox="1"/>
          <p:nvPr/>
        </p:nvSpPr>
        <p:spPr>
          <a:xfrm>
            <a:off x="731520" y="1600200"/>
            <a:ext cx="10725912" cy="274320"/>
          </a:xfrm>
          <a:prstGeom prst="rect">
            <a:avLst/>
          </a:prstGeom>
          <a:noFill/>
        </p:spPr>
        <p:txBody>
          <a:bodyPr wrap="square" lIns="45720" rIns="45720" tIns="18288" bIns="18288" anchor="t">
            <a:spAutoFit/>
          </a:bodyPr>
          <a:lstStyle/>
          <a:p>
            <a:pPr algn="l"/>
            <a:r>
              <a:rPr sz="1000" b="0" i="1">
                <a:solidFill>
                  <a:srgbClr val="1F2937"/>
                </a:solidFill>
                <a:latin typeface="Calibri"/>
              </a:rPr>
              <a:t>{{STRUCTURE_NOTE}}</a:t>
            </a:r>
          </a:p>
        </p:txBody>
      </p:sp>
      <p:sp>
        <p:nvSpPr>
          <p:cNvPr id="10" name="Rounded Rectangle 9"/>
          <p:cNvSpPr/>
          <p:nvPr/>
        </p:nvSpPr>
        <p:spPr>
          <a:xfrm>
            <a:off x="548640" y="2103120"/>
            <a:ext cx="2145182" cy="2834640"/>
          </a:xfrm>
          <a:prstGeom prst="roundRect">
            <a:avLst>
              <a:gd name="adj" fmla="val 5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48640" y="2103120"/>
            <a:ext cx="2145182" cy="731520"/>
          </a:xfrm>
          <a:prstGeom prst="roundRect">
            <a:avLst>
              <a:gd name="adj" fmla="val 8000"/>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176272"/>
            <a:ext cx="1870862" cy="228600"/>
          </a:xfrm>
          <a:prstGeom prst="rect">
            <a:avLst/>
          </a:prstGeom>
          <a:noFill/>
        </p:spPr>
        <p:txBody>
          <a:bodyPr wrap="square" lIns="45720" rIns="45720" tIns="18288" bIns="18288" anchor="t">
            <a:spAutoFit/>
          </a:bodyPr>
          <a:lstStyle/>
          <a:p>
            <a:pPr algn="l"/>
            <a:r>
              <a:rPr sz="900" b="1" i="0">
                <a:solidFill>
                  <a:srgbClr val="B47EFF"/>
                </a:solidFill>
                <a:latin typeface="Calibri"/>
              </a:rPr>
              <a:t>{{LAYER_1_LABEL}}</a:t>
            </a:r>
          </a:p>
        </p:txBody>
      </p:sp>
      <p:sp>
        <p:nvSpPr>
          <p:cNvPr id="13" name="TextBox 12"/>
          <p:cNvSpPr txBox="1"/>
          <p:nvPr/>
        </p:nvSpPr>
        <p:spPr>
          <a:xfrm>
            <a:off x="685800" y="2404872"/>
            <a:ext cx="1870862" cy="365760"/>
          </a:xfrm>
          <a:prstGeom prst="rect">
            <a:avLst/>
          </a:prstGeom>
          <a:noFill/>
        </p:spPr>
        <p:txBody>
          <a:bodyPr wrap="square" lIns="45720" rIns="45720" tIns="18288" bIns="18288" anchor="t">
            <a:spAutoFit/>
          </a:bodyPr>
          <a:lstStyle/>
          <a:p>
            <a:pPr algn="l"/>
            <a:r>
              <a:rPr sz="1100" b="1" i="0">
                <a:solidFill>
                  <a:srgbClr val="FFFFFF"/>
                </a:solidFill>
                <a:latin typeface="Calibri"/>
              </a:rPr>
              <a:t>{{LAYER_1_ACTION}}</a:t>
            </a:r>
          </a:p>
        </p:txBody>
      </p:sp>
      <p:sp>
        <p:nvSpPr>
          <p:cNvPr id="14" name="TextBox 13"/>
          <p:cNvSpPr txBox="1"/>
          <p:nvPr/>
        </p:nvSpPr>
        <p:spPr>
          <a:xfrm>
            <a:off x="685800" y="2971799"/>
            <a:ext cx="1870862" cy="228600"/>
          </a:xfrm>
          <a:prstGeom prst="rect">
            <a:avLst/>
          </a:prstGeom>
          <a:noFill/>
        </p:spPr>
        <p:txBody>
          <a:bodyPr wrap="square" lIns="45720" rIns="45720" tIns="18288" bIns="18288" anchor="t">
            <a:spAutoFit/>
          </a:bodyPr>
          <a:lstStyle/>
          <a:p>
            <a:pPr algn="l"/>
            <a:r>
              <a:rPr sz="900" b="0" i="0">
                <a:solidFill>
                  <a:srgbClr val="6B7280"/>
                </a:solidFill>
                <a:latin typeface="Calibri"/>
              </a:rPr>
              <a:t>Vùng giá</a:t>
            </a:r>
          </a:p>
        </p:txBody>
      </p:sp>
      <p:sp>
        <p:nvSpPr>
          <p:cNvPr id="15" name="TextBox 14"/>
          <p:cNvSpPr txBox="1"/>
          <p:nvPr/>
        </p:nvSpPr>
        <p:spPr>
          <a:xfrm>
            <a:off x="685800" y="3200399"/>
            <a:ext cx="1870862" cy="274320"/>
          </a:xfrm>
          <a:prstGeom prst="rect">
            <a:avLst/>
          </a:prstGeom>
          <a:noFill/>
        </p:spPr>
        <p:txBody>
          <a:bodyPr wrap="square" lIns="45720" rIns="45720" tIns="18288" bIns="18288" anchor="t">
            <a:spAutoFit/>
          </a:bodyPr>
          <a:lstStyle/>
          <a:p>
            <a:pPr algn="l"/>
            <a:r>
              <a:rPr sz="1100" b="1" i="0">
                <a:solidFill>
                  <a:srgbClr val="8B5CF6"/>
                </a:solidFill>
                <a:latin typeface="Calibri"/>
              </a:rPr>
              <a:t>{{LAYER_1_PRICE_ZONE}}</a:t>
            </a:r>
          </a:p>
        </p:txBody>
      </p:sp>
      <p:sp>
        <p:nvSpPr>
          <p:cNvPr id="16" name="TextBox 15"/>
          <p:cNvSpPr txBox="1"/>
          <p:nvPr/>
        </p:nvSpPr>
        <p:spPr>
          <a:xfrm>
            <a:off x="685800" y="3566159"/>
            <a:ext cx="1870862" cy="228600"/>
          </a:xfrm>
          <a:prstGeom prst="rect">
            <a:avLst/>
          </a:prstGeom>
          <a:noFill/>
        </p:spPr>
        <p:txBody>
          <a:bodyPr wrap="square" lIns="45720" rIns="45720" tIns="18288" bIns="18288" anchor="t">
            <a:spAutoFit/>
          </a:bodyPr>
          <a:lstStyle/>
          <a:p>
            <a:pPr algn="l"/>
            <a:r>
              <a:rPr sz="900" b="0" i="0">
                <a:solidFill>
                  <a:srgbClr val="6B7280"/>
                </a:solidFill>
                <a:latin typeface="Calibri"/>
              </a:rPr>
              <a:t>Tỷ trọng vị thế</a:t>
            </a:r>
          </a:p>
        </p:txBody>
      </p:sp>
      <p:sp>
        <p:nvSpPr>
          <p:cNvPr id="17" name="TextBox 16"/>
          <p:cNvSpPr txBox="1"/>
          <p:nvPr/>
        </p:nvSpPr>
        <p:spPr>
          <a:xfrm>
            <a:off x="685800" y="3794759"/>
            <a:ext cx="1870862" cy="274320"/>
          </a:xfrm>
          <a:prstGeom prst="rect">
            <a:avLst/>
          </a:prstGeom>
          <a:noFill/>
        </p:spPr>
        <p:txBody>
          <a:bodyPr wrap="square" lIns="45720" rIns="45720" tIns="18288" bIns="18288" anchor="t">
            <a:spAutoFit/>
          </a:bodyPr>
          <a:lstStyle/>
          <a:p>
            <a:pPr algn="l"/>
            <a:r>
              <a:rPr sz="1100" b="1" i="0">
                <a:solidFill>
                  <a:srgbClr val="7C3AED"/>
                </a:solidFill>
                <a:latin typeface="Calibri"/>
              </a:rPr>
              <a:t>{{LAYER_1_ALLOCATION}}</a:t>
            </a:r>
          </a:p>
        </p:txBody>
      </p:sp>
      <p:sp>
        <p:nvSpPr>
          <p:cNvPr id="18" name="Rectangle 17"/>
          <p:cNvSpPr/>
          <p:nvPr/>
        </p:nvSpPr>
        <p:spPr>
          <a:xfrm>
            <a:off x="685800" y="4160520"/>
            <a:ext cx="1870862" cy="2286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4251959"/>
            <a:ext cx="1870862" cy="594360"/>
          </a:xfrm>
          <a:prstGeom prst="rect">
            <a:avLst/>
          </a:prstGeom>
          <a:noFill/>
        </p:spPr>
        <p:txBody>
          <a:bodyPr wrap="square" lIns="45720" rIns="45720" tIns="18288" bIns="18288" anchor="t">
            <a:spAutoFit/>
          </a:bodyPr>
          <a:lstStyle/>
          <a:p>
            <a:pPr algn="l"/>
            <a:r>
              <a:rPr sz="1000" b="0" i="0">
                <a:solidFill>
                  <a:srgbClr val="1F2937"/>
                </a:solidFill>
                <a:latin typeface="Calibri"/>
              </a:rPr>
              <a:t>{{LAYER_1_TRIGGER}}</a:t>
            </a:r>
          </a:p>
        </p:txBody>
      </p:sp>
      <p:sp>
        <p:nvSpPr>
          <p:cNvPr id="20" name="Rounded Rectangle 19"/>
          <p:cNvSpPr/>
          <p:nvPr/>
        </p:nvSpPr>
        <p:spPr>
          <a:xfrm>
            <a:off x="2785262" y="2103120"/>
            <a:ext cx="2145182" cy="2834640"/>
          </a:xfrm>
          <a:prstGeom prst="roundRect">
            <a:avLst>
              <a:gd name="adj" fmla="val 5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785262" y="2103120"/>
            <a:ext cx="2145182" cy="731520"/>
          </a:xfrm>
          <a:prstGeom prst="roundRect">
            <a:avLst>
              <a:gd name="adj" fmla="val 8000"/>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922422" y="2176272"/>
            <a:ext cx="1870862" cy="228600"/>
          </a:xfrm>
          <a:prstGeom prst="rect">
            <a:avLst/>
          </a:prstGeom>
          <a:noFill/>
        </p:spPr>
        <p:txBody>
          <a:bodyPr wrap="square" lIns="45720" rIns="45720" tIns="18288" bIns="18288" anchor="t">
            <a:spAutoFit/>
          </a:bodyPr>
          <a:lstStyle/>
          <a:p>
            <a:pPr algn="l"/>
            <a:r>
              <a:rPr sz="900" b="1" i="0">
                <a:solidFill>
                  <a:srgbClr val="B47EFF"/>
                </a:solidFill>
                <a:latin typeface="Calibri"/>
              </a:rPr>
              <a:t>{{LAYER_2_LABEL}}</a:t>
            </a:r>
          </a:p>
        </p:txBody>
      </p:sp>
      <p:sp>
        <p:nvSpPr>
          <p:cNvPr id="23" name="TextBox 22"/>
          <p:cNvSpPr txBox="1"/>
          <p:nvPr/>
        </p:nvSpPr>
        <p:spPr>
          <a:xfrm>
            <a:off x="2922422" y="2404872"/>
            <a:ext cx="1870862" cy="365760"/>
          </a:xfrm>
          <a:prstGeom prst="rect">
            <a:avLst/>
          </a:prstGeom>
          <a:noFill/>
        </p:spPr>
        <p:txBody>
          <a:bodyPr wrap="square" lIns="45720" rIns="45720" tIns="18288" bIns="18288" anchor="t">
            <a:spAutoFit/>
          </a:bodyPr>
          <a:lstStyle/>
          <a:p>
            <a:pPr algn="l"/>
            <a:r>
              <a:rPr sz="1100" b="1" i="0">
                <a:solidFill>
                  <a:srgbClr val="FFFFFF"/>
                </a:solidFill>
                <a:latin typeface="Calibri"/>
              </a:rPr>
              <a:t>{{LAYER_2_ACTION}}</a:t>
            </a:r>
          </a:p>
        </p:txBody>
      </p:sp>
      <p:sp>
        <p:nvSpPr>
          <p:cNvPr id="24" name="TextBox 23"/>
          <p:cNvSpPr txBox="1"/>
          <p:nvPr/>
        </p:nvSpPr>
        <p:spPr>
          <a:xfrm>
            <a:off x="2922422" y="2971799"/>
            <a:ext cx="1870862" cy="228600"/>
          </a:xfrm>
          <a:prstGeom prst="rect">
            <a:avLst/>
          </a:prstGeom>
          <a:noFill/>
        </p:spPr>
        <p:txBody>
          <a:bodyPr wrap="square" lIns="45720" rIns="45720" tIns="18288" bIns="18288" anchor="t">
            <a:spAutoFit/>
          </a:bodyPr>
          <a:lstStyle/>
          <a:p>
            <a:pPr algn="l"/>
            <a:r>
              <a:rPr sz="900" b="0" i="0">
                <a:solidFill>
                  <a:srgbClr val="6B7280"/>
                </a:solidFill>
                <a:latin typeface="Calibri"/>
              </a:rPr>
              <a:t>Vùng giá</a:t>
            </a:r>
          </a:p>
        </p:txBody>
      </p:sp>
      <p:sp>
        <p:nvSpPr>
          <p:cNvPr id="25" name="TextBox 24"/>
          <p:cNvSpPr txBox="1"/>
          <p:nvPr/>
        </p:nvSpPr>
        <p:spPr>
          <a:xfrm>
            <a:off x="2922422" y="3200399"/>
            <a:ext cx="1870862" cy="274320"/>
          </a:xfrm>
          <a:prstGeom prst="rect">
            <a:avLst/>
          </a:prstGeom>
          <a:noFill/>
        </p:spPr>
        <p:txBody>
          <a:bodyPr wrap="square" lIns="45720" rIns="45720" tIns="18288" bIns="18288" anchor="t">
            <a:spAutoFit/>
          </a:bodyPr>
          <a:lstStyle/>
          <a:p>
            <a:pPr algn="l"/>
            <a:r>
              <a:rPr sz="1100" b="1" i="0">
                <a:solidFill>
                  <a:srgbClr val="8B5CF6"/>
                </a:solidFill>
                <a:latin typeface="Calibri"/>
              </a:rPr>
              <a:t>{{LAYER_2_PRICE_ZONE}}</a:t>
            </a:r>
          </a:p>
        </p:txBody>
      </p:sp>
      <p:sp>
        <p:nvSpPr>
          <p:cNvPr id="26" name="TextBox 25"/>
          <p:cNvSpPr txBox="1"/>
          <p:nvPr/>
        </p:nvSpPr>
        <p:spPr>
          <a:xfrm>
            <a:off x="2922422" y="3566159"/>
            <a:ext cx="1870862" cy="228600"/>
          </a:xfrm>
          <a:prstGeom prst="rect">
            <a:avLst/>
          </a:prstGeom>
          <a:noFill/>
        </p:spPr>
        <p:txBody>
          <a:bodyPr wrap="square" lIns="45720" rIns="45720" tIns="18288" bIns="18288" anchor="t">
            <a:spAutoFit/>
          </a:bodyPr>
          <a:lstStyle/>
          <a:p>
            <a:pPr algn="l"/>
            <a:r>
              <a:rPr sz="900" b="0" i="0">
                <a:solidFill>
                  <a:srgbClr val="6B7280"/>
                </a:solidFill>
                <a:latin typeface="Calibri"/>
              </a:rPr>
              <a:t>Tỷ trọng vị thế</a:t>
            </a:r>
          </a:p>
        </p:txBody>
      </p:sp>
      <p:sp>
        <p:nvSpPr>
          <p:cNvPr id="27" name="TextBox 26"/>
          <p:cNvSpPr txBox="1"/>
          <p:nvPr/>
        </p:nvSpPr>
        <p:spPr>
          <a:xfrm>
            <a:off x="2922422" y="3794759"/>
            <a:ext cx="1870862" cy="274320"/>
          </a:xfrm>
          <a:prstGeom prst="rect">
            <a:avLst/>
          </a:prstGeom>
          <a:noFill/>
        </p:spPr>
        <p:txBody>
          <a:bodyPr wrap="square" lIns="45720" rIns="45720" tIns="18288" bIns="18288" anchor="t">
            <a:spAutoFit/>
          </a:bodyPr>
          <a:lstStyle/>
          <a:p>
            <a:pPr algn="l"/>
            <a:r>
              <a:rPr sz="1100" b="1" i="0">
                <a:solidFill>
                  <a:srgbClr val="7C3AED"/>
                </a:solidFill>
                <a:latin typeface="Calibri"/>
              </a:rPr>
              <a:t>{{LAYER_2_ALLOCATION}}</a:t>
            </a:r>
          </a:p>
        </p:txBody>
      </p:sp>
      <p:sp>
        <p:nvSpPr>
          <p:cNvPr id="28" name="Rectangle 27"/>
          <p:cNvSpPr/>
          <p:nvPr/>
        </p:nvSpPr>
        <p:spPr>
          <a:xfrm>
            <a:off x="2922422" y="4160520"/>
            <a:ext cx="1870862" cy="2286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922422" y="4251959"/>
            <a:ext cx="1870862" cy="594360"/>
          </a:xfrm>
          <a:prstGeom prst="rect">
            <a:avLst/>
          </a:prstGeom>
          <a:noFill/>
        </p:spPr>
        <p:txBody>
          <a:bodyPr wrap="square" lIns="45720" rIns="45720" tIns="18288" bIns="18288" anchor="t">
            <a:spAutoFit/>
          </a:bodyPr>
          <a:lstStyle/>
          <a:p>
            <a:pPr algn="l"/>
            <a:r>
              <a:rPr sz="1000" b="0" i="0">
                <a:solidFill>
                  <a:srgbClr val="1F2937"/>
                </a:solidFill>
                <a:latin typeface="Calibri"/>
              </a:rPr>
              <a:t>{{LAYER_2_TRIGGER}}</a:t>
            </a:r>
          </a:p>
        </p:txBody>
      </p:sp>
      <p:sp>
        <p:nvSpPr>
          <p:cNvPr id="30" name="Rounded Rectangle 29"/>
          <p:cNvSpPr/>
          <p:nvPr/>
        </p:nvSpPr>
        <p:spPr>
          <a:xfrm>
            <a:off x="5021884" y="2103120"/>
            <a:ext cx="2145182" cy="2834640"/>
          </a:xfrm>
          <a:prstGeom prst="roundRect">
            <a:avLst>
              <a:gd name="adj" fmla="val 5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5021884" y="2103120"/>
            <a:ext cx="2145182" cy="731520"/>
          </a:xfrm>
          <a:prstGeom prst="roundRect">
            <a:avLst>
              <a:gd name="adj" fmla="val 8000"/>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159044" y="2176272"/>
            <a:ext cx="1870862" cy="228600"/>
          </a:xfrm>
          <a:prstGeom prst="rect">
            <a:avLst/>
          </a:prstGeom>
          <a:noFill/>
        </p:spPr>
        <p:txBody>
          <a:bodyPr wrap="square" lIns="45720" rIns="45720" tIns="18288" bIns="18288" anchor="t">
            <a:spAutoFit/>
          </a:bodyPr>
          <a:lstStyle/>
          <a:p>
            <a:pPr algn="l"/>
            <a:r>
              <a:rPr sz="900" b="1" i="0">
                <a:solidFill>
                  <a:srgbClr val="B47EFF"/>
                </a:solidFill>
                <a:latin typeface="Calibri"/>
              </a:rPr>
              <a:t>{{LAYER_3_LABEL}}</a:t>
            </a:r>
          </a:p>
        </p:txBody>
      </p:sp>
      <p:sp>
        <p:nvSpPr>
          <p:cNvPr id="33" name="TextBox 32"/>
          <p:cNvSpPr txBox="1"/>
          <p:nvPr/>
        </p:nvSpPr>
        <p:spPr>
          <a:xfrm>
            <a:off x="5159044" y="2404872"/>
            <a:ext cx="1870862" cy="365760"/>
          </a:xfrm>
          <a:prstGeom prst="rect">
            <a:avLst/>
          </a:prstGeom>
          <a:noFill/>
        </p:spPr>
        <p:txBody>
          <a:bodyPr wrap="square" lIns="45720" rIns="45720" tIns="18288" bIns="18288" anchor="t">
            <a:spAutoFit/>
          </a:bodyPr>
          <a:lstStyle/>
          <a:p>
            <a:pPr algn="l"/>
            <a:r>
              <a:rPr sz="1100" b="1" i="0">
                <a:solidFill>
                  <a:srgbClr val="FFFFFF"/>
                </a:solidFill>
                <a:latin typeface="Calibri"/>
              </a:rPr>
              <a:t>{{LAYER_3_ACTION}}</a:t>
            </a:r>
          </a:p>
        </p:txBody>
      </p:sp>
      <p:sp>
        <p:nvSpPr>
          <p:cNvPr id="34" name="TextBox 33"/>
          <p:cNvSpPr txBox="1"/>
          <p:nvPr/>
        </p:nvSpPr>
        <p:spPr>
          <a:xfrm>
            <a:off x="5159044" y="2971799"/>
            <a:ext cx="1870862" cy="228600"/>
          </a:xfrm>
          <a:prstGeom prst="rect">
            <a:avLst/>
          </a:prstGeom>
          <a:noFill/>
        </p:spPr>
        <p:txBody>
          <a:bodyPr wrap="square" lIns="45720" rIns="45720" tIns="18288" bIns="18288" anchor="t">
            <a:spAutoFit/>
          </a:bodyPr>
          <a:lstStyle/>
          <a:p>
            <a:pPr algn="l"/>
            <a:r>
              <a:rPr sz="900" b="0" i="0">
                <a:solidFill>
                  <a:srgbClr val="6B7280"/>
                </a:solidFill>
                <a:latin typeface="Calibri"/>
              </a:rPr>
              <a:t>Vùng giá</a:t>
            </a:r>
          </a:p>
        </p:txBody>
      </p:sp>
      <p:sp>
        <p:nvSpPr>
          <p:cNvPr id="35" name="TextBox 34"/>
          <p:cNvSpPr txBox="1"/>
          <p:nvPr/>
        </p:nvSpPr>
        <p:spPr>
          <a:xfrm>
            <a:off x="5159044" y="3200399"/>
            <a:ext cx="1870862" cy="274320"/>
          </a:xfrm>
          <a:prstGeom prst="rect">
            <a:avLst/>
          </a:prstGeom>
          <a:noFill/>
        </p:spPr>
        <p:txBody>
          <a:bodyPr wrap="square" lIns="45720" rIns="45720" tIns="18288" bIns="18288" anchor="t">
            <a:spAutoFit/>
          </a:bodyPr>
          <a:lstStyle/>
          <a:p>
            <a:pPr algn="l"/>
            <a:r>
              <a:rPr sz="1100" b="1" i="0">
                <a:solidFill>
                  <a:srgbClr val="8B5CF6"/>
                </a:solidFill>
                <a:latin typeface="Calibri"/>
              </a:rPr>
              <a:t>{{LAYER_3_PRICE_ZONE}}</a:t>
            </a:r>
          </a:p>
        </p:txBody>
      </p:sp>
      <p:sp>
        <p:nvSpPr>
          <p:cNvPr id="36" name="TextBox 35"/>
          <p:cNvSpPr txBox="1"/>
          <p:nvPr/>
        </p:nvSpPr>
        <p:spPr>
          <a:xfrm>
            <a:off x="5159044" y="3566159"/>
            <a:ext cx="1870862" cy="228600"/>
          </a:xfrm>
          <a:prstGeom prst="rect">
            <a:avLst/>
          </a:prstGeom>
          <a:noFill/>
        </p:spPr>
        <p:txBody>
          <a:bodyPr wrap="square" lIns="45720" rIns="45720" tIns="18288" bIns="18288" anchor="t">
            <a:spAutoFit/>
          </a:bodyPr>
          <a:lstStyle/>
          <a:p>
            <a:pPr algn="l"/>
            <a:r>
              <a:rPr sz="900" b="0" i="0">
                <a:solidFill>
                  <a:srgbClr val="6B7280"/>
                </a:solidFill>
                <a:latin typeface="Calibri"/>
              </a:rPr>
              <a:t>Tỷ trọng vị thế</a:t>
            </a:r>
          </a:p>
        </p:txBody>
      </p:sp>
      <p:sp>
        <p:nvSpPr>
          <p:cNvPr id="37" name="TextBox 36"/>
          <p:cNvSpPr txBox="1"/>
          <p:nvPr/>
        </p:nvSpPr>
        <p:spPr>
          <a:xfrm>
            <a:off x="5159044" y="3794759"/>
            <a:ext cx="1870862" cy="274320"/>
          </a:xfrm>
          <a:prstGeom prst="rect">
            <a:avLst/>
          </a:prstGeom>
          <a:noFill/>
        </p:spPr>
        <p:txBody>
          <a:bodyPr wrap="square" lIns="45720" rIns="45720" tIns="18288" bIns="18288" anchor="t">
            <a:spAutoFit/>
          </a:bodyPr>
          <a:lstStyle/>
          <a:p>
            <a:pPr algn="l"/>
            <a:r>
              <a:rPr sz="1100" b="1" i="0">
                <a:solidFill>
                  <a:srgbClr val="7C3AED"/>
                </a:solidFill>
                <a:latin typeface="Calibri"/>
              </a:rPr>
              <a:t>{{LAYER_3_ALLOCATION}}</a:t>
            </a:r>
          </a:p>
        </p:txBody>
      </p:sp>
      <p:sp>
        <p:nvSpPr>
          <p:cNvPr id="38" name="Rectangle 37"/>
          <p:cNvSpPr/>
          <p:nvPr/>
        </p:nvSpPr>
        <p:spPr>
          <a:xfrm>
            <a:off x="5159044" y="4160520"/>
            <a:ext cx="1870862" cy="2286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159044" y="4251959"/>
            <a:ext cx="1870862" cy="594360"/>
          </a:xfrm>
          <a:prstGeom prst="rect">
            <a:avLst/>
          </a:prstGeom>
          <a:noFill/>
        </p:spPr>
        <p:txBody>
          <a:bodyPr wrap="square" lIns="45720" rIns="45720" tIns="18288" bIns="18288" anchor="t">
            <a:spAutoFit/>
          </a:bodyPr>
          <a:lstStyle/>
          <a:p>
            <a:pPr algn="l"/>
            <a:r>
              <a:rPr sz="1000" b="0" i="0">
                <a:solidFill>
                  <a:srgbClr val="1F2937"/>
                </a:solidFill>
                <a:latin typeface="Calibri"/>
              </a:rPr>
              <a:t>{{LAYER_3_TRIGGER}}</a:t>
            </a:r>
          </a:p>
        </p:txBody>
      </p:sp>
      <p:sp>
        <p:nvSpPr>
          <p:cNvPr id="40" name="Rounded Rectangle 39"/>
          <p:cNvSpPr/>
          <p:nvPr/>
        </p:nvSpPr>
        <p:spPr>
          <a:xfrm>
            <a:off x="7258507" y="2103120"/>
            <a:ext cx="2145182" cy="2834640"/>
          </a:xfrm>
          <a:prstGeom prst="roundRect">
            <a:avLst>
              <a:gd name="adj" fmla="val 5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7258507" y="2103120"/>
            <a:ext cx="2145182" cy="731520"/>
          </a:xfrm>
          <a:prstGeom prst="roundRect">
            <a:avLst>
              <a:gd name="adj" fmla="val 8000"/>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95667" y="2176272"/>
            <a:ext cx="1870862" cy="228600"/>
          </a:xfrm>
          <a:prstGeom prst="rect">
            <a:avLst/>
          </a:prstGeom>
          <a:noFill/>
        </p:spPr>
        <p:txBody>
          <a:bodyPr wrap="square" lIns="45720" rIns="45720" tIns="18288" bIns="18288" anchor="t">
            <a:spAutoFit/>
          </a:bodyPr>
          <a:lstStyle/>
          <a:p>
            <a:pPr algn="l"/>
            <a:r>
              <a:rPr sz="900" b="1" i="0">
                <a:solidFill>
                  <a:srgbClr val="B47EFF"/>
                </a:solidFill>
                <a:latin typeface="Calibri"/>
              </a:rPr>
              <a:t>{{LAYER_4_LABEL}}</a:t>
            </a:r>
          </a:p>
        </p:txBody>
      </p:sp>
      <p:sp>
        <p:nvSpPr>
          <p:cNvPr id="43" name="TextBox 42"/>
          <p:cNvSpPr txBox="1"/>
          <p:nvPr/>
        </p:nvSpPr>
        <p:spPr>
          <a:xfrm>
            <a:off x="7395667" y="2404872"/>
            <a:ext cx="1870862" cy="365760"/>
          </a:xfrm>
          <a:prstGeom prst="rect">
            <a:avLst/>
          </a:prstGeom>
          <a:noFill/>
        </p:spPr>
        <p:txBody>
          <a:bodyPr wrap="square" lIns="45720" rIns="45720" tIns="18288" bIns="18288" anchor="t">
            <a:spAutoFit/>
          </a:bodyPr>
          <a:lstStyle/>
          <a:p>
            <a:pPr algn="l"/>
            <a:r>
              <a:rPr sz="1100" b="1" i="0">
                <a:solidFill>
                  <a:srgbClr val="FFFFFF"/>
                </a:solidFill>
                <a:latin typeface="Calibri"/>
              </a:rPr>
              <a:t>{{LAYER_4_ACTION}}</a:t>
            </a:r>
          </a:p>
        </p:txBody>
      </p:sp>
      <p:sp>
        <p:nvSpPr>
          <p:cNvPr id="44" name="TextBox 43"/>
          <p:cNvSpPr txBox="1"/>
          <p:nvPr/>
        </p:nvSpPr>
        <p:spPr>
          <a:xfrm>
            <a:off x="7395667" y="2971799"/>
            <a:ext cx="1870862" cy="228600"/>
          </a:xfrm>
          <a:prstGeom prst="rect">
            <a:avLst/>
          </a:prstGeom>
          <a:noFill/>
        </p:spPr>
        <p:txBody>
          <a:bodyPr wrap="square" lIns="45720" rIns="45720" tIns="18288" bIns="18288" anchor="t">
            <a:spAutoFit/>
          </a:bodyPr>
          <a:lstStyle/>
          <a:p>
            <a:pPr algn="l"/>
            <a:r>
              <a:rPr sz="900" b="0" i="0">
                <a:solidFill>
                  <a:srgbClr val="6B7280"/>
                </a:solidFill>
                <a:latin typeface="Calibri"/>
              </a:rPr>
              <a:t>Vùng giá</a:t>
            </a:r>
          </a:p>
        </p:txBody>
      </p:sp>
      <p:sp>
        <p:nvSpPr>
          <p:cNvPr id="45" name="TextBox 44"/>
          <p:cNvSpPr txBox="1"/>
          <p:nvPr/>
        </p:nvSpPr>
        <p:spPr>
          <a:xfrm>
            <a:off x="7395667" y="3200399"/>
            <a:ext cx="1870862" cy="274320"/>
          </a:xfrm>
          <a:prstGeom prst="rect">
            <a:avLst/>
          </a:prstGeom>
          <a:noFill/>
        </p:spPr>
        <p:txBody>
          <a:bodyPr wrap="square" lIns="45720" rIns="45720" tIns="18288" bIns="18288" anchor="t">
            <a:spAutoFit/>
          </a:bodyPr>
          <a:lstStyle/>
          <a:p>
            <a:pPr algn="l"/>
            <a:r>
              <a:rPr sz="1100" b="1" i="0">
                <a:solidFill>
                  <a:srgbClr val="8B5CF6"/>
                </a:solidFill>
                <a:latin typeface="Calibri"/>
              </a:rPr>
              <a:t>{{LAYER_4_PRICE_ZONE}}</a:t>
            </a:r>
          </a:p>
        </p:txBody>
      </p:sp>
      <p:sp>
        <p:nvSpPr>
          <p:cNvPr id="46" name="TextBox 45"/>
          <p:cNvSpPr txBox="1"/>
          <p:nvPr/>
        </p:nvSpPr>
        <p:spPr>
          <a:xfrm>
            <a:off x="7395667" y="3566159"/>
            <a:ext cx="1870862" cy="228600"/>
          </a:xfrm>
          <a:prstGeom prst="rect">
            <a:avLst/>
          </a:prstGeom>
          <a:noFill/>
        </p:spPr>
        <p:txBody>
          <a:bodyPr wrap="square" lIns="45720" rIns="45720" tIns="18288" bIns="18288" anchor="t">
            <a:spAutoFit/>
          </a:bodyPr>
          <a:lstStyle/>
          <a:p>
            <a:pPr algn="l"/>
            <a:r>
              <a:rPr sz="900" b="0" i="0">
                <a:solidFill>
                  <a:srgbClr val="6B7280"/>
                </a:solidFill>
                <a:latin typeface="Calibri"/>
              </a:rPr>
              <a:t>Tỷ trọng vị thế</a:t>
            </a:r>
          </a:p>
        </p:txBody>
      </p:sp>
      <p:sp>
        <p:nvSpPr>
          <p:cNvPr id="47" name="TextBox 46"/>
          <p:cNvSpPr txBox="1"/>
          <p:nvPr/>
        </p:nvSpPr>
        <p:spPr>
          <a:xfrm>
            <a:off x="7395667" y="3794759"/>
            <a:ext cx="1870862" cy="274320"/>
          </a:xfrm>
          <a:prstGeom prst="rect">
            <a:avLst/>
          </a:prstGeom>
          <a:noFill/>
        </p:spPr>
        <p:txBody>
          <a:bodyPr wrap="square" lIns="45720" rIns="45720" tIns="18288" bIns="18288" anchor="t">
            <a:spAutoFit/>
          </a:bodyPr>
          <a:lstStyle/>
          <a:p>
            <a:pPr algn="l"/>
            <a:r>
              <a:rPr sz="1100" b="1" i="0">
                <a:solidFill>
                  <a:srgbClr val="7C3AED"/>
                </a:solidFill>
                <a:latin typeface="Calibri"/>
              </a:rPr>
              <a:t>{{LAYER_4_ALLOCATION}}</a:t>
            </a:r>
          </a:p>
        </p:txBody>
      </p:sp>
      <p:sp>
        <p:nvSpPr>
          <p:cNvPr id="48" name="Rectangle 47"/>
          <p:cNvSpPr/>
          <p:nvPr/>
        </p:nvSpPr>
        <p:spPr>
          <a:xfrm>
            <a:off x="7395667" y="4160520"/>
            <a:ext cx="1870862" cy="2286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395667" y="4251959"/>
            <a:ext cx="1870862" cy="594360"/>
          </a:xfrm>
          <a:prstGeom prst="rect">
            <a:avLst/>
          </a:prstGeom>
          <a:noFill/>
        </p:spPr>
        <p:txBody>
          <a:bodyPr wrap="square" lIns="45720" rIns="45720" tIns="18288" bIns="18288" anchor="t">
            <a:spAutoFit/>
          </a:bodyPr>
          <a:lstStyle/>
          <a:p>
            <a:pPr algn="l"/>
            <a:r>
              <a:rPr sz="1000" b="0" i="0">
                <a:solidFill>
                  <a:srgbClr val="1F2937"/>
                </a:solidFill>
                <a:latin typeface="Calibri"/>
              </a:rPr>
              <a:t>{{LAYER_4_TRIGGER}}</a:t>
            </a:r>
          </a:p>
        </p:txBody>
      </p:sp>
      <p:sp>
        <p:nvSpPr>
          <p:cNvPr id="50" name="Rounded Rectangle 49"/>
          <p:cNvSpPr/>
          <p:nvPr/>
        </p:nvSpPr>
        <p:spPr>
          <a:xfrm>
            <a:off x="9495129" y="2103120"/>
            <a:ext cx="2145182" cy="2834640"/>
          </a:xfrm>
          <a:prstGeom prst="roundRect">
            <a:avLst>
              <a:gd name="adj" fmla="val 5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9495129" y="2103120"/>
            <a:ext cx="2145182" cy="731520"/>
          </a:xfrm>
          <a:prstGeom prst="roundRect">
            <a:avLst>
              <a:gd name="adj" fmla="val 8000"/>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632289" y="2176272"/>
            <a:ext cx="1870862" cy="228600"/>
          </a:xfrm>
          <a:prstGeom prst="rect">
            <a:avLst/>
          </a:prstGeom>
          <a:noFill/>
        </p:spPr>
        <p:txBody>
          <a:bodyPr wrap="square" lIns="45720" rIns="45720" tIns="18288" bIns="18288" anchor="t">
            <a:spAutoFit/>
          </a:bodyPr>
          <a:lstStyle/>
          <a:p>
            <a:pPr algn="l"/>
            <a:r>
              <a:rPr sz="900" b="1" i="0">
                <a:solidFill>
                  <a:srgbClr val="B47EFF"/>
                </a:solidFill>
                <a:latin typeface="Calibri"/>
              </a:rPr>
              <a:t>{{LAYER_5_LABEL}}</a:t>
            </a:r>
          </a:p>
        </p:txBody>
      </p:sp>
      <p:sp>
        <p:nvSpPr>
          <p:cNvPr id="53" name="TextBox 52"/>
          <p:cNvSpPr txBox="1"/>
          <p:nvPr/>
        </p:nvSpPr>
        <p:spPr>
          <a:xfrm>
            <a:off x="9632289" y="2404872"/>
            <a:ext cx="1870862" cy="365760"/>
          </a:xfrm>
          <a:prstGeom prst="rect">
            <a:avLst/>
          </a:prstGeom>
          <a:noFill/>
        </p:spPr>
        <p:txBody>
          <a:bodyPr wrap="square" lIns="45720" rIns="45720" tIns="18288" bIns="18288" anchor="t">
            <a:spAutoFit/>
          </a:bodyPr>
          <a:lstStyle/>
          <a:p>
            <a:pPr algn="l"/>
            <a:r>
              <a:rPr sz="1100" b="1" i="0">
                <a:solidFill>
                  <a:srgbClr val="FFFFFF"/>
                </a:solidFill>
                <a:latin typeface="Calibri"/>
              </a:rPr>
              <a:t>{{LAYER_5_ACTION}}</a:t>
            </a:r>
          </a:p>
        </p:txBody>
      </p:sp>
      <p:sp>
        <p:nvSpPr>
          <p:cNvPr id="54" name="TextBox 53"/>
          <p:cNvSpPr txBox="1"/>
          <p:nvPr/>
        </p:nvSpPr>
        <p:spPr>
          <a:xfrm>
            <a:off x="9632289" y="2971799"/>
            <a:ext cx="1870862" cy="228600"/>
          </a:xfrm>
          <a:prstGeom prst="rect">
            <a:avLst/>
          </a:prstGeom>
          <a:noFill/>
        </p:spPr>
        <p:txBody>
          <a:bodyPr wrap="square" lIns="45720" rIns="45720" tIns="18288" bIns="18288" anchor="t">
            <a:spAutoFit/>
          </a:bodyPr>
          <a:lstStyle/>
          <a:p>
            <a:pPr algn="l"/>
            <a:r>
              <a:rPr sz="900" b="0" i="0">
                <a:solidFill>
                  <a:srgbClr val="6B7280"/>
                </a:solidFill>
                <a:latin typeface="Calibri"/>
              </a:rPr>
              <a:t>Vùng giá</a:t>
            </a:r>
          </a:p>
        </p:txBody>
      </p:sp>
      <p:sp>
        <p:nvSpPr>
          <p:cNvPr id="55" name="TextBox 54"/>
          <p:cNvSpPr txBox="1"/>
          <p:nvPr/>
        </p:nvSpPr>
        <p:spPr>
          <a:xfrm>
            <a:off x="9632289" y="3200399"/>
            <a:ext cx="1870862" cy="274320"/>
          </a:xfrm>
          <a:prstGeom prst="rect">
            <a:avLst/>
          </a:prstGeom>
          <a:noFill/>
        </p:spPr>
        <p:txBody>
          <a:bodyPr wrap="square" lIns="45720" rIns="45720" tIns="18288" bIns="18288" anchor="t">
            <a:spAutoFit/>
          </a:bodyPr>
          <a:lstStyle/>
          <a:p>
            <a:pPr algn="l"/>
            <a:r>
              <a:rPr sz="1100" b="1" i="0">
                <a:solidFill>
                  <a:srgbClr val="8B5CF6"/>
                </a:solidFill>
                <a:latin typeface="Calibri"/>
              </a:rPr>
              <a:t>{{LAYER_5_PRICE_ZONE}}</a:t>
            </a:r>
          </a:p>
        </p:txBody>
      </p:sp>
      <p:sp>
        <p:nvSpPr>
          <p:cNvPr id="56" name="TextBox 55"/>
          <p:cNvSpPr txBox="1"/>
          <p:nvPr/>
        </p:nvSpPr>
        <p:spPr>
          <a:xfrm>
            <a:off x="9632289" y="3566159"/>
            <a:ext cx="1870862" cy="228600"/>
          </a:xfrm>
          <a:prstGeom prst="rect">
            <a:avLst/>
          </a:prstGeom>
          <a:noFill/>
        </p:spPr>
        <p:txBody>
          <a:bodyPr wrap="square" lIns="45720" rIns="45720" tIns="18288" bIns="18288" anchor="t">
            <a:spAutoFit/>
          </a:bodyPr>
          <a:lstStyle/>
          <a:p>
            <a:pPr algn="l"/>
            <a:r>
              <a:rPr sz="900" b="0" i="0">
                <a:solidFill>
                  <a:srgbClr val="6B7280"/>
                </a:solidFill>
                <a:latin typeface="Calibri"/>
              </a:rPr>
              <a:t>Tỷ trọng vị thế</a:t>
            </a:r>
          </a:p>
        </p:txBody>
      </p:sp>
      <p:sp>
        <p:nvSpPr>
          <p:cNvPr id="57" name="TextBox 56"/>
          <p:cNvSpPr txBox="1"/>
          <p:nvPr/>
        </p:nvSpPr>
        <p:spPr>
          <a:xfrm>
            <a:off x="9632289" y="3794759"/>
            <a:ext cx="1870862" cy="274320"/>
          </a:xfrm>
          <a:prstGeom prst="rect">
            <a:avLst/>
          </a:prstGeom>
          <a:noFill/>
        </p:spPr>
        <p:txBody>
          <a:bodyPr wrap="square" lIns="45720" rIns="45720" tIns="18288" bIns="18288" anchor="t">
            <a:spAutoFit/>
          </a:bodyPr>
          <a:lstStyle/>
          <a:p>
            <a:pPr algn="l"/>
            <a:r>
              <a:rPr sz="1100" b="1" i="0">
                <a:solidFill>
                  <a:srgbClr val="7C3AED"/>
                </a:solidFill>
                <a:latin typeface="Calibri"/>
              </a:rPr>
              <a:t>{{LAYER_5_ALLOCATION}}</a:t>
            </a:r>
          </a:p>
        </p:txBody>
      </p:sp>
      <p:sp>
        <p:nvSpPr>
          <p:cNvPr id="58" name="Rectangle 57"/>
          <p:cNvSpPr/>
          <p:nvPr/>
        </p:nvSpPr>
        <p:spPr>
          <a:xfrm>
            <a:off x="9632289" y="4160520"/>
            <a:ext cx="1870862" cy="2286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632289" y="4251959"/>
            <a:ext cx="1870862" cy="594360"/>
          </a:xfrm>
          <a:prstGeom prst="rect">
            <a:avLst/>
          </a:prstGeom>
          <a:noFill/>
        </p:spPr>
        <p:txBody>
          <a:bodyPr wrap="square" lIns="45720" rIns="45720" tIns="18288" bIns="18288" anchor="t">
            <a:spAutoFit/>
          </a:bodyPr>
          <a:lstStyle/>
          <a:p>
            <a:pPr algn="l"/>
            <a:r>
              <a:rPr sz="1000" b="0" i="0">
                <a:solidFill>
                  <a:srgbClr val="1F2937"/>
                </a:solidFill>
                <a:latin typeface="Calibri"/>
              </a:rPr>
              <a:t>{{LAYER_5_TRIGGER}}</a:t>
            </a:r>
          </a:p>
        </p:txBody>
      </p:sp>
      <p:sp>
        <p:nvSpPr>
          <p:cNvPr id="60" name="Rounded Rectangle 59"/>
          <p:cNvSpPr/>
          <p:nvPr/>
        </p:nvSpPr>
        <p:spPr>
          <a:xfrm>
            <a:off x="548640" y="5120640"/>
            <a:ext cx="11091672" cy="320040"/>
          </a:xfrm>
          <a:prstGeom prst="roundRect">
            <a:avLst>
              <a:gd name="adj" fmla="val 5000"/>
            </a:avLst>
          </a:prstGeom>
          <a:solidFill>
            <a:srgbClr val="F3E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31520" y="5166360"/>
            <a:ext cx="10725912" cy="228600"/>
          </a:xfrm>
          <a:prstGeom prst="rect">
            <a:avLst/>
          </a:prstGeom>
          <a:noFill/>
        </p:spPr>
        <p:txBody>
          <a:bodyPr wrap="square" lIns="45720" rIns="45720" tIns="18288" bIns="18288" anchor="t">
            <a:spAutoFit/>
          </a:bodyPr>
          <a:lstStyle/>
          <a:p>
            <a:pPr algn="l"/>
            <a:r>
              <a:rPr sz="1000" b="1" i="0">
                <a:solidFill>
                  <a:srgbClr val="8B5CF6"/>
                </a:solidFill>
                <a:latin typeface="Calibri"/>
              </a:rPr>
              <a:t>QUẢN TRỊ RỦI RO</a:t>
            </a:r>
          </a:p>
        </p:txBody>
      </p:sp>
      <p:sp>
        <p:nvSpPr>
          <p:cNvPr id="62" name="TextBox 61"/>
          <p:cNvSpPr txBox="1"/>
          <p:nvPr/>
        </p:nvSpPr>
        <p:spPr>
          <a:xfrm>
            <a:off x="731520" y="5486400"/>
            <a:ext cx="3331464" cy="182880"/>
          </a:xfrm>
          <a:prstGeom prst="rect">
            <a:avLst/>
          </a:prstGeom>
          <a:noFill/>
        </p:spPr>
        <p:txBody>
          <a:bodyPr wrap="square" lIns="45720" rIns="45720" tIns="18288" bIns="18288" anchor="t">
            <a:spAutoFit/>
          </a:bodyPr>
          <a:lstStyle/>
          <a:p>
            <a:pPr algn="l"/>
            <a:r>
              <a:rPr sz="900" b="1" i="0">
                <a:solidFill>
                  <a:srgbClr val="6B7280"/>
                </a:solidFill>
                <a:latin typeface="Calibri"/>
              </a:rPr>
              <a:t>CẮT LỖ CỨNG</a:t>
            </a:r>
          </a:p>
        </p:txBody>
      </p:sp>
      <p:sp>
        <p:nvSpPr>
          <p:cNvPr id="63" name="TextBox 62"/>
          <p:cNvSpPr txBox="1"/>
          <p:nvPr/>
        </p:nvSpPr>
        <p:spPr>
          <a:xfrm>
            <a:off x="731520" y="5687568"/>
            <a:ext cx="1480870" cy="274320"/>
          </a:xfrm>
          <a:prstGeom prst="rect">
            <a:avLst/>
          </a:prstGeom>
          <a:noFill/>
        </p:spPr>
        <p:txBody>
          <a:bodyPr wrap="square" lIns="45720" rIns="45720" tIns="18288" bIns="18288" anchor="t">
            <a:spAutoFit/>
          </a:bodyPr>
          <a:lstStyle/>
          <a:p>
            <a:pPr algn="l"/>
            <a:r>
              <a:rPr sz="1100" b="1" i="0">
                <a:solidFill>
                  <a:srgbClr val="8B5CF6"/>
                </a:solidFill>
                <a:latin typeface="Calibri"/>
              </a:rPr>
              <a:t>{{STOP_HARD_PRICE}}</a:t>
            </a:r>
          </a:p>
        </p:txBody>
      </p:sp>
      <p:sp>
        <p:nvSpPr>
          <p:cNvPr id="64" name="TextBox 63"/>
          <p:cNvSpPr txBox="1"/>
          <p:nvPr/>
        </p:nvSpPr>
        <p:spPr>
          <a:xfrm>
            <a:off x="2212390" y="5687568"/>
            <a:ext cx="1850593" cy="274320"/>
          </a:xfrm>
          <a:prstGeom prst="rect">
            <a:avLst/>
          </a:prstGeom>
          <a:noFill/>
        </p:spPr>
        <p:txBody>
          <a:bodyPr wrap="square" lIns="45720" rIns="45720" tIns="18288" bIns="18288" anchor="t">
            <a:spAutoFit/>
          </a:bodyPr>
          <a:lstStyle/>
          <a:p>
            <a:pPr algn="l"/>
            <a:r>
              <a:rPr sz="1000" b="0" i="1">
                <a:solidFill>
                  <a:srgbClr val="6B7280"/>
                </a:solidFill>
                <a:latin typeface="Calibri"/>
              </a:rPr>
              <a:t>{{STOP_HARD_NOTE}}</a:t>
            </a:r>
          </a:p>
        </p:txBody>
      </p:sp>
      <p:sp>
        <p:nvSpPr>
          <p:cNvPr id="65" name="TextBox 64"/>
          <p:cNvSpPr txBox="1"/>
          <p:nvPr/>
        </p:nvSpPr>
        <p:spPr>
          <a:xfrm>
            <a:off x="4428744" y="5486400"/>
            <a:ext cx="3331464" cy="182880"/>
          </a:xfrm>
          <a:prstGeom prst="rect">
            <a:avLst/>
          </a:prstGeom>
          <a:noFill/>
        </p:spPr>
        <p:txBody>
          <a:bodyPr wrap="square" lIns="45720" rIns="45720" tIns="18288" bIns="18288" anchor="t">
            <a:spAutoFit/>
          </a:bodyPr>
          <a:lstStyle/>
          <a:p>
            <a:pPr algn="l"/>
            <a:r>
              <a:rPr sz="900" b="1" i="0">
                <a:solidFill>
                  <a:srgbClr val="6B7280"/>
                </a:solidFill>
                <a:latin typeface="Calibri"/>
              </a:rPr>
              <a:t>CẮT LỖ DỰ PHÒNG</a:t>
            </a:r>
          </a:p>
        </p:txBody>
      </p:sp>
      <p:sp>
        <p:nvSpPr>
          <p:cNvPr id="66" name="TextBox 65"/>
          <p:cNvSpPr txBox="1"/>
          <p:nvPr/>
        </p:nvSpPr>
        <p:spPr>
          <a:xfrm>
            <a:off x="4428744" y="5687568"/>
            <a:ext cx="1480870" cy="274320"/>
          </a:xfrm>
          <a:prstGeom prst="rect">
            <a:avLst/>
          </a:prstGeom>
          <a:noFill/>
        </p:spPr>
        <p:txBody>
          <a:bodyPr wrap="square" lIns="45720" rIns="45720" tIns="18288" bIns="18288" anchor="t">
            <a:spAutoFit/>
          </a:bodyPr>
          <a:lstStyle/>
          <a:p>
            <a:pPr algn="l"/>
            <a:r>
              <a:rPr sz="1100" b="1" i="0">
                <a:solidFill>
                  <a:srgbClr val="8B5CF6"/>
                </a:solidFill>
                <a:latin typeface="Calibri"/>
              </a:rPr>
              <a:t>{{STOP_SOFT_PRICE}}</a:t>
            </a:r>
          </a:p>
        </p:txBody>
      </p:sp>
      <p:sp>
        <p:nvSpPr>
          <p:cNvPr id="67" name="TextBox 66"/>
          <p:cNvSpPr txBox="1"/>
          <p:nvPr/>
        </p:nvSpPr>
        <p:spPr>
          <a:xfrm>
            <a:off x="5909614" y="5687568"/>
            <a:ext cx="1850593" cy="274320"/>
          </a:xfrm>
          <a:prstGeom prst="rect">
            <a:avLst/>
          </a:prstGeom>
          <a:noFill/>
        </p:spPr>
        <p:txBody>
          <a:bodyPr wrap="square" lIns="45720" rIns="45720" tIns="18288" bIns="18288" anchor="t">
            <a:spAutoFit/>
          </a:bodyPr>
          <a:lstStyle/>
          <a:p>
            <a:pPr algn="l"/>
            <a:r>
              <a:rPr sz="1000" b="0" i="1">
                <a:solidFill>
                  <a:srgbClr val="6B7280"/>
                </a:solidFill>
                <a:latin typeface="Calibri"/>
              </a:rPr>
              <a:t>{{STOP_SOFT_NOTE}}</a:t>
            </a:r>
          </a:p>
        </p:txBody>
      </p:sp>
      <p:sp>
        <p:nvSpPr>
          <p:cNvPr id="68" name="TextBox 67"/>
          <p:cNvSpPr txBox="1"/>
          <p:nvPr/>
        </p:nvSpPr>
        <p:spPr>
          <a:xfrm>
            <a:off x="8125968" y="5486400"/>
            <a:ext cx="3331464" cy="182880"/>
          </a:xfrm>
          <a:prstGeom prst="rect">
            <a:avLst/>
          </a:prstGeom>
          <a:noFill/>
        </p:spPr>
        <p:txBody>
          <a:bodyPr wrap="square" lIns="45720" rIns="45720" tIns="18288" bIns="18288" anchor="t">
            <a:spAutoFit/>
          </a:bodyPr>
          <a:lstStyle/>
          <a:p>
            <a:pPr algn="l"/>
            <a:r>
              <a:rPr sz="900" b="1" i="0">
                <a:solidFill>
                  <a:srgbClr val="6B7280"/>
                </a:solidFill>
                <a:latin typeface="Calibri"/>
              </a:rPr>
              <a:t>KHUNG THỜI GIAN</a:t>
            </a:r>
          </a:p>
        </p:txBody>
      </p:sp>
      <p:sp>
        <p:nvSpPr>
          <p:cNvPr id="69" name="TextBox 68"/>
          <p:cNvSpPr txBox="1"/>
          <p:nvPr/>
        </p:nvSpPr>
        <p:spPr>
          <a:xfrm>
            <a:off x="8125968" y="5687568"/>
            <a:ext cx="1480870" cy="274320"/>
          </a:xfrm>
          <a:prstGeom prst="rect">
            <a:avLst/>
          </a:prstGeom>
          <a:noFill/>
        </p:spPr>
        <p:txBody>
          <a:bodyPr wrap="square" lIns="45720" rIns="45720" tIns="18288" bIns="18288" anchor="t">
            <a:spAutoFit/>
          </a:bodyPr>
          <a:lstStyle/>
          <a:p>
            <a:pPr algn="l"/>
            <a:r>
              <a:rPr sz="1100" b="1" i="0">
                <a:solidFill>
                  <a:srgbClr val="8B5CF6"/>
                </a:solidFill>
                <a:latin typeface="Calibri"/>
              </a:rPr>
              <a:t>{{HOLD_PERIOD}}</a:t>
            </a:r>
          </a:p>
        </p:txBody>
      </p:sp>
      <p:sp>
        <p:nvSpPr>
          <p:cNvPr id="70" name="TextBox 69"/>
          <p:cNvSpPr txBox="1"/>
          <p:nvPr/>
        </p:nvSpPr>
        <p:spPr>
          <a:xfrm>
            <a:off x="9606838" y="5687568"/>
            <a:ext cx="1850593" cy="274320"/>
          </a:xfrm>
          <a:prstGeom prst="rect">
            <a:avLst/>
          </a:prstGeom>
          <a:noFill/>
        </p:spPr>
        <p:txBody>
          <a:bodyPr wrap="square" lIns="45720" rIns="45720" tIns="18288" bIns="18288" anchor="t">
            <a:spAutoFit/>
          </a:bodyPr>
          <a:lstStyle/>
          <a:p>
            <a:pPr algn="l"/>
            <a:r>
              <a:rPr sz="1000" b="0" i="1">
                <a:solidFill>
                  <a:srgbClr val="6B7280"/>
                </a:solidFill>
                <a:latin typeface="Calibri"/>
              </a:rPr>
              <a:t>{{HOLD_NOTE}}</a:t>
            </a:r>
          </a:p>
        </p:txBody>
      </p:sp>
      <p:sp>
        <p:nvSpPr>
          <p:cNvPr id="71" name="TextBox 70"/>
          <p:cNvSpPr txBox="1"/>
          <p:nvPr/>
        </p:nvSpPr>
        <p:spPr>
          <a:xfrm>
            <a:off x="548640" y="6492240"/>
            <a:ext cx="8229600" cy="274320"/>
          </a:xfrm>
          <a:prstGeom prst="rect">
            <a:avLst/>
          </a:prstGeom>
          <a:noFill/>
        </p:spPr>
        <p:txBody>
          <a:bodyPr wrap="square" lIns="45720" rIns="45720" tIns="18288" bIns="18288" anchor="t">
            <a:spAutoFit/>
          </a:bodyPr>
          <a:lstStyle/>
          <a:p>
            <a:pPr algn="l"/>
            <a:r>
              <a:rPr sz="900" b="0" i="1">
                <a:solidFill>
                  <a:srgbClr val="9CA3AF"/>
                </a:solidFill>
                <a:latin typeface="Calibri"/>
              </a:rPr>
              <a:t>{{FOOTER_LEFT}}</a:t>
            </a:r>
          </a:p>
        </p:txBody>
      </p:sp>
      <p:sp>
        <p:nvSpPr>
          <p:cNvPr id="72" name="TextBox 71"/>
          <p:cNvSpPr txBox="1"/>
          <p:nvPr/>
        </p:nvSpPr>
        <p:spPr>
          <a:xfrm>
            <a:off x="10058400" y="6492240"/>
            <a:ext cx="1645920" cy="274320"/>
          </a:xfrm>
          <a:prstGeom prst="rect">
            <a:avLst/>
          </a:prstGeom>
          <a:noFill/>
        </p:spPr>
        <p:txBody>
          <a:bodyPr wrap="square" lIns="45720" rIns="45720" tIns="18288" bIns="18288" anchor="t">
            <a:spAutoFit/>
          </a:bodyPr>
          <a:lstStyle/>
          <a:p>
            <a:pPr algn="r"/>
            <a:r>
              <a:rPr sz="900" b="0" i="0">
                <a:solidFill>
                  <a:srgbClr val="9CA3AF"/>
                </a:solidFill>
                <a:latin typeface="Calibri"/>
              </a:rPr>
              <a:t>{{PAGE_NUM}}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name="TAKE_PROFIT_TARGETS">
    <p:spTree>
      <p:nvGrpSpPr>
        <p:cNvPr id="1" name=""/>
        <p:cNvGrpSpPr/>
        <p:nvPr/>
      </p:nvGrpSpPr>
      <p:grpSpPr/>
      <p:sp>
        <p:nvSpPr>
          <p:cNvPr id="2" name="Rectangle 1"/>
          <p:cNvSpPr/>
          <p:nvPr/>
        </p:nvSpPr>
        <p:spPr>
          <a:xfrm>
            <a:off x="457200" y="274320"/>
            <a:ext cx="73152" cy="32004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594359"/>
            <a:ext cx="73152" cy="320040"/>
          </a:xfrm>
          <a:prstGeom prst="rect">
            <a:avLst/>
          </a:prstGeom>
          <a:solidFill>
            <a:srgbClr val="B47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74320"/>
            <a:ext cx="10972800" cy="365760"/>
          </a:xfrm>
          <a:prstGeom prst="rect">
            <a:avLst/>
          </a:prstGeom>
          <a:noFill/>
        </p:spPr>
        <p:txBody>
          <a:bodyPr wrap="square" lIns="45720" rIns="45720" tIns="18288" bIns="18288" anchor="t">
            <a:spAutoFit/>
          </a:bodyPr>
          <a:lstStyle/>
          <a:p>
            <a:pPr algn="l"/>
            <a:r>
              <a:rPr sz="2400" b="1" i="0">
                <a:solidFill>
                  <a:srgbClr val="1F2937"/>
                </a:solidFill>
                <a:latin typeface="Calibri"/>
              </a:rPr>
              <a:t>{{SECTION_TITLE}}</a:t>
            </a:r>
          </a:p>
        </p:txBody>
      </p:sp>
      <p:sp>
        <p:nvSpPr>
          <p:cNvPr id="5" name="TextBox 4"/>
          <p:cNvSpPr txBox="1"/>
          <p:nvPr/>
        </p:nvSpPr>
        <p:spPr>
          <a:xfrm>
            <a:off x="594360" y="640080"/>
            <a:ext cx="10972800" cy="274320"/>
          </a:xfrm>
          <a:prstGeom prst="rect">
            <a:avLst/>
          </a:prstGeom>
          <a:noFill/>
        </p:spPr>
        <p:txBody>
          <a:bodyPr wrap="square" lIns="45720" rIns="45720" tIns="18288" bIns="18288" anchor="t">
            <a:spAutoFit/>
          </a:bodyPr>
          <a:lstStyle/>
          <a:p>
            <a:pPr algn="l"/>
            <a:r>
              <a:rPr sz="1100" b="0" i="1">
                <a:solidFill>
                  <a:srgbClr val="6B7280"/>
                </a:solidFill>
                <a:latin typeface="Calibri"/>
              </a:rPr>
              <a:t>{{SECTION_SUB}}</a:t>
            </a:r>
          </a:p>
        </p:txBody>
      </p:sp>
      <p:sp>
        <p:nvSpPr>
          <p:cNvPr id="6" name="Rectangle 5"/>
          <p:cNvSpPr/>
          <p:nvPr/>
        </p:nvSpPr>
        <p:spPr>
          <a:xfrm>
            <a:off x="548640" y="1005840"/>
            <a:ext cx="11091672" cy="18288"/>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280160"/>
            <a:ext cx="2670048" cy="3749039"/>
          </a:xfrm>
          <a:prstGeom prst="roundRect">
            <a:avLst>
              <a:gd name="adj" fmla="val 5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1280160"/>
            <a:ext cx="2670048" cy="457200"/>
          </a:xfrm>
          <a:prstGeom prst="roundRect">
            <a:avLst>
              <a:gd name="adj" fmla="val 10000"/>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280160"/>
            <a:ext cx="2670048" cy="457200"/>
          </a:xfrm>
          <a:prstGeom prst="rect">
            <a:avLst/>
          </a:prstGeom>
          <a:noFill/>
        </p:spPr>
        <p:txBody>
          <a:bodyPr wrap="square" lIns="45720" rIns="45720" tIns="18288" bIns="18288" anchor="ctr">
            <a:spAutoFit/>
          </a:bodyPr>
          <a:lstStyle/>
          <a:p>
            <a:pPr algn="ctr"/>
            <a:r>
              <a:rPr sz="1300" b="1" i="0">
                <a:solidFill>
                  <a:srgbClr val="FFFFFF"/>
                </a:solidFill>
                <a:latin typeface="Calibri"/>
              </a:rPr>
              <a:t>MỐC {{M1_NUM}}</a:t>
            </a:r>
          </a:p>
        </p:txBody>
      </p:sp>
      <p:sp>
        <p:nvSpPr>
          <p:cNvPr id="10" name="TextBox 9"/>
          <p:cNvSpPr txBox="1"/>
          <p:nvPr/>
        </p:nvSpPr>
        <p:spPr>
          <a:xfrm>
            <a:off x="685800" y="1920240"/>
            <a:ext cx="2395728" cy="822960"/>
          </a:xfrm>
          <a:prstGeom prst="rect">
            <a:avLst/>
          </a:prstGeom>
          <a:noFill/>
        </p:spPr>
        <p:txBody>
          <a:bodyPr wrap="square" lIns="45720" rIns="45720" tIns="18288" bIns="18288" anchor="t">
            <a:spAutoFit/>
          </a:bodyPr>
          <a:lstStyle/>
          <a:p>
            <a:pPr algn="ctr"/>
            <a:r>
              <a:rPr sz="3600" b="1" i="0">
                <a:solidFill>
                  <a:srgbClr val="8B5CF6"/>
                </a:solidFill>
                <a:latin typeface="Calibri"/>
              </a:rPr>
              <a:t>{{M1_PRICE}}</a:t>
            </a:r>
          </a:p>
        </p:txBody>
      </p:sp>
      <p:sp>
        <p:nvSpPr>
          <p:cNvPr id="11" name="TextBox 10"/>
          <p:cNvSpPr txBox="1"/>
          <p:nvPr/>
        </p:nvSpPr>
        <p:spPr>
          <a:xfrm>
            <a:off x="685800" y="2743200"/>
            <a:ext cx="2395728" cy="274320"/>
          </a:xfrm>
          <a:prstGeom prst="rect">
            <a:avLst/>
          </a:prstGeom>
          <a:noFill/>
        </p:spPr>
        <p:txBody>
          <a:bodyPr wrap="square" lIns="45720" rIns="45720" tIns="18288" bIns="18288" anchor="t">
            <a:spAutoFit/>
          </a:bodyPr>
          <a:lstStyle/>
          <a:p>
            <a:pPr algn="ctr"/>
            <a:r>
              <a:rPr sz="1000" b="0" i="0">
                <a:solidFill>
                  <a:srgbClr val="6B7280"/>
                </a:solidFill>
                <a:latin typeface="Calibri"/>
              </a:rPr>
              <a:t>đồng</a:t>
            </a:r>
          </a:p>
        </p:txBody>
      </p:sp>
      <p:sp>
        <p:nvSpPr>
          <p:cNvPr id="12" name="TextBox 11"/>
          <p:cNvSpPr txBox="1"/>
          <p:nvPr/>
        </p:nvSpPr>
        <p:spPr>
          <a:xfrm>
            <a:off x="685800" y="3108960"/>
            <a:ext cx="2395728" cy="548640"/>
          </a:xfrm>
          <a:prstGeom prst="rect">
            <a:avLst/>
          </a:prstGeom>
          <a:noFill/>
        </p:spPr>
        <p:txBody>
          <a:bodyPr wrap="square" lIns="45720" rIns="45720" tIns="18288" bIns="18288" anchor="t">
            <a:spAutoFit/>
          </a:bodyPr>
          <a:lstStyle/>
          <a:p>
            <a:pPr algn="ctr"/>
            <a:r>
              <a:rPr sz="2800" b="1" i="0">
                <a:solidFill>
                  <a:srgbClr val="25B770"/>
                </a:solidFill>
                <a:latin typeface="Calibri"/>
              </a:rPr>
              <a:t>{{M1_PROFIT_PCT}}</a:t>
            </a:r>
          </a:p>
        </p:txBody>
      </p:sp>
      <p:sp>
        <p:nvSpPr>
          <p:cNvPr id="13" name="Rectangle 12"/>
          <p:cNvSpPr/>
          <p:nvPr/>
        </p:nvSpPr>
        <p:spPr>
          <a:xfrm>
            <a:off x="822959" y="3749039"/>
            <a:ext cx="2121408" cy="2286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840479"/>
            <a:ext cx="2395728" cy="228600"/>
          </a:xfrm>
          <a:prstGeom prst="rect">
            <a:avLst/>
          </a:prstGeom>
          <a:noFill/>
        </p:spPr>
        <p:txBody>
          <a:bodyPr wrap="square" lIns="45720" rIns="45720" tIns="18288" bIns="18288" anchor="t">
            <a:spAutoFit/>
          </a:bodyPr>
          <a:lstStyle/>
          <a:p>
            <a:pPr algn="ctr"/>
            <a:r>
              <a:rPr sz="900" b="0" i="0">
                <a:solidFill>
                  <a:srgbClr val="6B7280"/>
                </a:solidFill>
                <a:latin typeface="Calibri"/>
              </a:rPr>
              <a:t>Tỷ lệ chốt</a:t>
            </a:r>
          </a:p>
        </p:txBody>
      </p:sp>
      <p:sp>
        <p:nvSpPr>
          <p:cNvPr id="15" name="TextBox 14"/>
          <p:cNvSpPr txBox="1"/>
          <p:nvPr/>
        </p:nvSpPr>
        <p:spPr>
          <a:xfrm>
            <a:off x="685800" y="4069079"/>
            <a:ext cx="2395728" cy="365760"/>
          </a:xfrm>
          <a:prstGeom prst="rect">
            <a:avLst/>
          </a:prstGeom>
          <a:noFill/>
        </p:spPr>
        <p:txBody>
          <a:bodyPr wrap="square" lIns="45720" rIns="45720" tIns="18288" bIns="18288" anchor="t">
            <a:spAutoFit/>
          </a:bodyPr>
          <a:lstStyle/>
          <a:p>
            <a:pPr algn="ctr"/>
            <a:r>
              <a:rPr sz="1300" b="1" i="0">
                <a:solidFill>
                  <a:srgbClr val="8B5CF6"/>
                </a:solidFill>
                <a:latin typeface="Calibri"/>
              </a:rPr>
              <a:t>{{M1_RATIO}}</a:t>
            </a:r>
          </a:p>
        </p:txBody>
      </p:sp>
      <p:sp>
        <p:nvSpPr>
          <p:cNvPr id="16" name="TextBox 15"/>
          <p:cNvSpPr txBox="1"/>
          <p:nvPr/>
        </p:nvSpPr>
        <p:spPr>
          <a:xfrm>
            <a:off x="685800" y="4480560"/>
            <a:ext cx="2395728" cy="457200"/>
          </a:xfrm>
          <a:prstGeom prst="rect">
            <a:avLst/>
          </a:prstGeom>
          <a:noFill/>
        </p:spPr>
        <p:txBody>
          <a:bodyPr wrap="square" lIns="45720" rIns="45720" tIns="18288" bIns="18288" anchor="t">
            <a:spAutoFit/>
          </a:bodyPr>
          <a:lstStyle/>
          <a:p>
            <a:pPr algn="ctr"/>
            <a:r>
              <a:rPr sz="1000" b="0" i="1">
                <a:solidFill>
                  <a:srgbClr val="1F2937"/>
                </a:solidFill>
                <a:latin typeface="Calibri"/>
              </a:rPr>
              <a:t>{{M1_BASIS}}</a:t>
            </a:r>
          </a:p>
        </p:txBody>
      </p:sp>
      <p:sp>
        <p:nvSpPr>
          <p:cNvPr id="17" name="Rounded Rectangle 16"/>
          <p:cNvSpPr/>
          <p:nvPr/>
        </p:nvSpPr>
        <p:spPr>
          <a:xfrm>
            <a:off x="3355848" y="1280160"/>
            <a:ext cx="2670048" cy="3749039"/>
          </a:xfrm>
          <a:prstGeom prst="roundRect">
            <a:avLst>
              <a:gd name="adj" fmla="val 5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355848" y="1280160"/>
            <a:ext cx="2670048" cy="457200"/>
          </a:xfrm>
          <a:prstGeom prst="roundRect">
            <a:avLst>
              <a:gd name="adj" fmla="val 10000"/>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355848" y="1280160"/>
            <a:ext cx="2670048" cy="457200"/>
          </a:xfrm>
          <a:prstGeom prst="rect">
            <a:avLst/>
          </a:prstGeom>
          <a:noFill/>
        </p:spPr>
        <p:txBody>
          <a:bodyPr wrap="square" lIns="45720" rIns="45720" tIns="18288" bIns="18288" anchor="ctr">
            <a:spAutoFit/>
          </a:bodyPr>
          <a:lstStyle/>
          <a:p>
            <a:pPr algn="ctr"/>
            <a:r>
              <a:rPr sz="1300" b="1" i="0">
                <a:solidFill>
                  <a:srgbClr val="FFFFFF"/>
                </a:solidFill>
                <a:latin typeface="Calibri"/>
              </a:rPr>
              <a:t>MỐC {{M2_NUM}}</a:t>
            </a:r>
          </a:p>
        </p:txBody>
      </p:sp>
      <p:sp>
        <p:nvSpPr>
          <p:cNvPr id="20" name="TextBox 19"/>
          <p:cNvSpPr txBox="1"/>
          <p:nvPr/>
        </p:nvSpPr>
        <p:spPr>
          <a:xfrm>
            <a:off x="3493008" y="1920240"/>
            <a:ext cx="2395728" cy="822960"/>
          </a:xfrm>
          <a:prstGeom prst="rect">
            <a:avLst/>
          </a:prstGeom>
          <a:noFill/>
        </p:spPr>
        <p:txBody>
          <a:bodyPr wrap="square" lIns="45720" rIns="45720" tIns="18288" bIns="18288" anchor="t">
            <a:spAutoFit/>
          </a:bodyPr>
          <a:lstStyle/>
          <a:p>
            <a:pPr algn="ctr"/>
            <a:r>
              <a:rPr sz="3600" b="1" i="0">
                <a:solidFill>
                  <a:srgbClr val="8B5CF6"/>
                </a:solidFill>
                <a:latin typeface="Calibri"/>
              </a:rPr>
              <a:t>{{M2_PRICE}}</a:t>
            </a:r>
          </a:p>
        </p:txBody>
      </p:sp>
      <p:sp>
        <p:nvSpPr>
          <p:cNvPr id="21" name="TextBox 20"/>
          <p:cNvSpPr txBox="1"/>
          <p:nvPr/>
        </p:nvSpPr>
        <p:spPr>
          <a:xfrm>
            <a:off x="3493008" y="2743200"/>
            <a:ext cx="2395728" cy="274320"/>
          </a:xfrm>
          <a:prstGeom prst="rect">
            <a:avLst/>
          </a:prstGeom>
          <a:noFill/>
        </p:spPr>
        <p:txBody>
          <a:bodyPr wrap="square" lIns="45720" rIns="45720" tIns="18288" bIns="18288" anchor="t">
            <a:spAutoFit/>
          </a:bodyPr>
          <a:lstStyle/>
          <a:p>
            <a:pPr algn="ctr"/>
            <a:r>
              <a:rPr sz="1000" b="0" i="0">
                <a:solidFill>
                  <a:srgbClr val="6B7280"/>
                </a:solidFill>
                <a:latin typeface="Calibri"/>
              </a:rPr>
              <a:t>đồng</a:t>
            </a:r>
          </a:p>
        </p:txBody>
      </p:sp>
      <p:sp>
        <p:nvSpPr>
          <p:cNvPr id="22" name="TextBox 21"/>
          <p:cNvSpPr txBox="1"/>
          <p:nvPr/>
        </p:nvSpPr>
        <p:spPr>
          <a:xfrm>
            <a:off x="3493008" y="3108960"/>
            <a:ext cx="2395728" cy="548640"/>
          </a:xfrm>
          <a:prstGeom prst="rect">
            <a:avLst/>
          </a:prstGeom>
          <a:noFill/>
        </p:spPr>
        <p:txBody>
          <a:bodyPr wrap="square" lIns="45720" rIns="45720" tIns="18288" bIns="18288" anchor="t">
            <a:spAutoFit/>
          </a:bodyPr>
          <a:lstStyle/>
          <a:p>
            <a:pPr algn="ctr"/>
            <a:r>
              <a:rPr sz="2800" b="1" i="0">
                <a:solidFill>
                  <a:srgbClr val="25B770"/>
                </a:solidFill>
                <a:latin typeface="Calibri"/>
              </a:rPr>
              <a:t>{{M2_PROFIT_PCT}}</a:t>
            </a:r>
          </a:p>
        </p:txBody>
      </p:sp>
      <p:sp>
        <p:nvSpPr>
          <p:cNvPr id="23" name="Rectangle 22"/>
          <p:cNvSpPr/>
          <p:nvPr/>
        </p:nvSpPr>
        <p:spPr>
          <a:xfrm>
            <a:off x="3630168" y="3749039"/>
            <a:ext cx="2121408" cy="2286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493008" y="3840479"/>
            <a:ext cx="2395728" cy="228600"/>
          </a:xfrm>
          <a:prstGeom prst="rect">
            <a:avLst/>
          </a:prstGeom>
          <a:noFill/>
        </p:spPr>
        <p:txBody>
          <a:bodyPr wrap="square" lIns="45720" rIns="45720" tIns="18288" bIns="18288" anchor="t">
            <a:spAutoFit/>
          </a:bodyPr>
          <a:lstStyle/>
          <a:p>
            <a:pPr algn="ctr"/>
            <a:r>
              <a:rPr sz="900" b="0" i="0">
                <a:solidFill>
                  <a:srgbClr val="6B7280"/>
                </a:solidFill>
                <a:latin typeface="Calibri"/>
              </a:rPr>
              <a:t>Tỷ lệ chốt</a:t>
            </a:r>
          </a:p>
        </p:txBody>
      </p:sp>
      <p:sp>
        <p:nvSpPr>
          <p:cNvPr id="25" name="TextBox 24"/>
          <p:cNvSpPr txBox="1"/>
          <p:nvPr/>
        </p:nvSpPr>
        <p:spPr>
          <a:xfrm>
            <a:off x="3493008" y="4069079"/>
            <a:ext cx="2395728" cy="365760"/>
          </a:xfrm>
          <a:prstGeom prst="rect">
            <a:avLst/>
          </a:prstGeom>
          <a:noFill/>
        </p:spPr>
        <p:txBody>
          <a:bodyPr wrap="square" lIns="45720" rIns="45720" tIns="18288" bIns="18288" anchor="t">
            <a:spAutoFit/>
          </a:bodyPr>
          <a:lstStyle/>
          <a:p>
            <a:pPr algn="ctr"/>
            <a:r>
              <a:rPr sz="1300" b="1" i="0">
                <a:solidFill>
                  <a:srgbClr val="8B5CF6"/>
                </a:solidFill>
                <a:latin typeface="Calibri"/>
              </a:rPr>
              <a:t>{{M2_RATIO}}</a:t>
            </a:r>
          </a:p>
        </p:txBody>
      </p:sp>
      <p:sp>
        <p:nvSpPr>
          <p:cNvPr id="26" name="TextBox 25"/>
          <p:cNvSpPr txBox="1"/>
          <p:nvPr/>
        </p:nvSpPr>
        <p:spPr>
          <a:xfrm>
            <a:off x="3493008" y="4480560"/>
            <a:ext cx="2395728" cy="457200"/>
          </a:xfrm>
          <a:prstGeom prst="rect">
            <a:avLst/>
          </a:prstGeom>
          <a:noFill/>
        </p:spPr>
        <p:txBody>
          <a:bodyPr wrap="square" lIns="45720" rIns="45720" tIns="18288" bIns="18288" anchor="t">
            <a:spAutoFit/>
          </a:bodyPr>
          <a:lstStyle/>
          <a:p>
            <a:pPr algn="ctr"/>
            <a:r>
              <a:rPr sz="1000" b="0" i="1">
                <a:solidFill>
                  <a:srgbClr val="1F2937"/>
                </a:solidFill>
                <a:latin typeface="Calibri"/>
              </a:rPr>
              <a:t>{{M2_BASIS}}</a:t>
            </a:r>
          </a:p>
        </p:txBody>
      </p:sp>
      <p:sp>
        <p:nvSpPr>
          <p:cNvPr id="27" name="Rounded Rectangle 26"/>
          <p:cNvSpPr/>
          <p:nvPr/>
        </p:nvSpPr>
        <p:spPr>
          <a:xfrm>
            <a:off x="6163056" y="1280160"/>
            <a:ext cx="2670048" cy="3749039"/>
          </a:xfrm>
          <a:prstGeom prst="roundRect">
            <a:avLst>
              <a:gd name="adj" fmla="val 5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163056" y="1280160"/>
            <a:ext cx="2670048" cy="457200"/>
          </a:xfrm>
          <a:prstGeom prst="roundRect">
            <a:avLst>
              <a:gd name="adj" fmla="val 10000"/>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163056" y="1280160"/>
            <a:ext cx="2670048" cy="457200"/>
          </a:xfrm>
          <a:prstGeom prst="rect">
            <a:avLst/>
          </a:prstGeom>
          <a:noFill/>
        </p:spPr>
        <p:txBody>
          <a:bodyPr wrap="square" lIns="45720" rIns="45720" tIns="18288" bIns="18288" anchor="ctr">
            <a:spAutoFit/>
          </a:bodyPr>
          <a:lstStyle/>
          <a:p>
            <a:pPr algn="ctr"/>
            <a:r>
              <a:rPr sz="1300" b="1" i="0">
                <a:solidFill>
                  <a:srgbClr val="FFFFFF"/>
                </a:solidFill>
                <a:latin typeface="Calibri"/>
              </a:rPr>
              <a:t>MỐC {{M3_NUM}}</a:t>
            </a:r>
          </a:p>
        </p:txBody>
      </p:sp>
      <p:sp>
        <p:nvSpPr>
          <p:cNvPr id="30" name="TextBox 29"/>
          <p:cNvSpPr txBox="1"/>
          <p:nvPr/>
        </p:nvSpPr>
        <p:spPr>
          <a:xfrm>
            <a:off x="6300216" y="1920240"/>
            <a:ext cx="2395728" cy="822960"/>
          </a:xfrm>
          <a:prstGeom prst="rect">
            <a:avLst/>
          </a:prstGeom>
          <a:noFill/>
        </p:spPr>
        <p:txBody>
          <a:bodyPr wrap="square" lIns="45720" rIns="45720" tIns="18288" bIns="18288" anchor="t">
            <a:spAutoFit/>
          </a:bodyPr>
          <a:lstStyle/>
          <a:p>
            <a:pPr algn="ctr"/>
            <a:r>
              <a:rPr sz="3600" b="1" i="0">
                <a:solidFill>
                  <a:srgbClr val="8B5CF6"/>
                </a:solidFill>
                <a:latin typeface="Calibri"/>
              </a:rPr>
              <a:t>{{M3_PRICE}}</a:t>
            </a:r>
          </a:p>
        </p:txBody>
      </p:sp>
      <p:sp>
        <p:nvSpPr>
          <p:cNvPr id="31" name="TextBox 30"/>
          <p:cNvSpPr txBox="1"/>
          <p:nvPr/>
        </p:nvSpPr>
        <p:spPr>
          <a:xfrm>
            <a:off x="6300216" y="2743200"/>
            <a:ext cx="2395728" cy="274320"/>
          </a:xfrm>
          <a:prstGeom prst="rect">
            <a:avLst/>
          </a:prstGeom>
          <a:noFill/>
        </p:spPr>
        <p:txBody>
          <a:bodyPr wrap="square" lIns="45720" rIns="45720" tIns="18288" bIns="18288" anchor="t">
            <a:spAutoFit/>
          </a:bodyPr>
          <a:lstStyle/>
          <a:p>
            <a:pPr algn="ctr"/>
            <a:r>
              <a:rPr sz="1000" b="0" i="0">
                <a:solidFill>
                  <a:srgbClr val="6B7280"/>
                </a:solidFill>
                <a:latin typeface="Calibri"/>
              </a:rPr>
              <a:t>đồng</a:t>
            </a:r>
          </a:p>
        </p:txBody>
      </p:sp>
      <p:sp>
        <p:nvSpPr>
          <p:cNvPr id="32" name="TextBox 31"/>
          <p:cNvSpPr txBox="1"/>
          <p:nvPr/>
        </p:nvSpPr>
        <p:spPr>
          <a:xfrm>
            <a:off x="6300216" y="3108960"/>
            <a:ext cx="2395728" cy="548640"/>
          </a:xfrm>
          <a:prstGeom prst="rect">
            <a:avLst/>
          </a:prstGeom>
          <a:noFill/>
        </p:spPr>
        <p:txBody>
          <a:bodyPr wrap="square" lIns="45720" rIns="45720" tIns="18288" bIns="18288" anchor="t">
            <a:spAutoFit/>
          </a:bodyPr>
          <a:lstStyle/>
          <a:p>
            <a:pPr algn="ctr"/>
            <a:r>
              <a:rPr sz="2800" b="1" i="0">
                <a:solidFill>
                  <a:srgbClr val="25B770"/>
                </a:solidFill>
                <a:latin typeface="Calibri"/>
              </a:rPr>
              <a:t>{{M3_PROFIT_PCT}}</a:t>
            </a:r>
          </a:p>
        </p:txBody>
      </p:sp>
      <p:sp>
        <p:nvSpPr>
          <p:cNvPr id="33" name="Rectangle 32"/>
          <p:cNvSpPr/>
          <p:nvPr/>
        </p:nvSpPr>
        <p:spPr>
          <a:xfrm>
            <a:off x="6437376" y="3749039"/>
            <a:ext cx="2121408" cy="2286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00216" y="3840479"/>
            <a:ext cx="2395728" cy="228600"/>
          </a:xfrm>
          <a:prstGeom prst="rect">
            <a:avLst/>
          </a:prstGeom>
          <a:noFill/>
        </p:spPr>
        <p:txBody>
          <a:bodyPr wrap="square" lIns="45720" rIns="45720" tIns="18288" bIns="18288" anchor="t">
            <a:spAutoFit/>
          </a:bodyPr>
          <a:lstStyle/>
          <a:p>
            <a:pPr algn="ctr"/>
            <a:r>
              <a:rPr sz="900" b="0" i="0">
                <a:solidFill>
                  <a:srgbClr val="6B7280"/>
                </a:solidFill>
                <a:latin typeface="Calibri"/>
              </a:rPr>
              <a:t>Tỷ lệ chốt</a:t>
            </a:r>
          </a:p>
        </p:txBody>
      </p:sp>
      <p:sp>
        <p:nvSpPr>
          <p:cNvPr id="35" name="TextBox 34"/>
          <p:cNvSpPr txBox="1"/>
          <p:nvPr/>
        </p:nvSpPr>
        <p:spPr>
          <a:xfrm>
            <a:off x="6300216" y="4069079"/>
            <a:ext cx="2395728" cy="365760"/>
          </a:xfrm>
          <a:prstGeom prst="rect">
            <a:avLst/>
          </a:prstGeom>
          <a:noFill/>
        </p:spPr>
        <p:txBody>
          <a:bodyPr wrap="square" lIns="45720" rIns="45720" tIns="18288" bIns="18288" anchor="t">
            <a:spAutoFit/>
          </a:bodyPr>
          <a:lstStyle/>
          <a:p>
            <a:pPr algn="ctr"/>
            <a:r>
              <a:rPr sz="1300" b="1" i="0">
                <a:solidFill>
                  <a:srgbClr val="8B5CF6"/>
                </a:solidFill>
                <a:latin typeface="Calibri"/>
              </a:rPr>
              <a:t>{{M3_RATIO}}</a:t>
            </a:r>
          </a:p>
        </p:txBody>
      </p:sp>
      <p:sp>
        <p:nvSpPr>
          <p:cNvPr id="36" name="TextBox 35"/>
          <p:cNvSpPr txBox="1"/>
          <p:nvPr/>
        </p:nvSpPr>
        <p:spPr>
          <a:xfrm>
            <a:off x="6300216" y="4480560"/>
            <a:ext cx="2395728" cy="457200"/>
          </a:xfrm>
          <a:prstGeom prst="rect">
            <a:avLst/>
          </a:prstGeom>
          <a:noFill/>
        </p:spPr>
        <p:txBody>
          <a:bodyPr wrap="square" lIns="45720" rIns="45720" tIns="18288" bIns="18288" anchor="t">
            <a:spAutoFit/>
          </a:bodyPr>
          <a:lstStyle/>
          <a:p>
            <a:pPr algn="ctr"/>
            <a:r>
              <a:rPr sz="1000" b="0" i="1">
                <a:solidFill>
                  <a:srgbClr val="1F2937"/>
                </a:solidFill>
                <a:latin typeface="Calibri"/>
              </a:rPr>
              <a:t>{{M3_BASIS}}</a:t>
            </a:r>
          </a:p>
        </p:txBody>
      </p:sp>
      <p:sp>
        <p:nvSpPr>
          <p:cNvPr id="37" name="Rounded Rectangle 36"/>
          <p:cNvSpPr/>
          <p:nvPr/>
        </p:nvSpPr>
        <p:spPr>
          <a:xfrm>
            <a:off x="8970264" y="1280160"/>
            <a:ext cx="2670048" cy="3749039"/>
          </a:xfrm>
          <a:prstGeom prst="roundRect">
            <a:avLst>
              <a:gd name="adj" fmla="val 5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8970264" y="1280160"/>
            <a:ext cx="2670048" cy="457200"/>
          </a:xfrm>
          <a:prstGeom prst="roundRect">
            <a:avLst>
              <a:gd name="adj" fmla="val 10000"/>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970264" y="1280160"/>
            <a:ext cx="2670048" cy="457200"/>
          </a:xfrm>
          <a:prstGeom prst="rect">
            <a:avLst/>
          </a:prstGeom>
          <a:noFill/>
        </p:spPr>
        <p:txBody>
          <a:bodyPr wrap="square" lIns="45720" rIns="45720" tIns="18288" bIns="18288" anchor="ctr">
            <a:spAutoFit/>
          </a:bodyPr>
          <a:lstStyle/>
          <a:p>
            <a:pPr algn="ctr"/>
            <a:r>
              <a:rPr sz="1300" b="1" i="0">
                <a:solidFill>
                  <a:srgbClr val="FFFFFF"/>
                </a:solidFill>
                <a:latin typeface="Calibri"/>
              </a:rPr>
              <a:t>MỐC {{M4_NUM}}</a:t>
            </a:r>
          </a:p>
        </p:txBody>
      </p:sp>
      <p:sp>
        <p:nvSpPr>
          <p:cNvPr id="40" name="TextBox 39"/>
          <p:cNvSpPr txBox="1"/>
          <p:nvPr/>
        </p:nvSpPr>
        <p:spPr>
          <a:xfrm>
            <a:off x="9107424" y="1920240"/>
            <a:ext cx="2395728" cy="822960"/>
          </a:xfrm>
          <a:prstGeom prst="rect">
            <a:avLst/>
          </a:prstGeom>
          <a:noFill/>
        </p:spPr>
        <p:txBody>
          <a:bodyPr wrap="square" lIns="45720" rIns="45720" tIns="18288" bIns="18288" anchor="t">
            <a:spAutoFit/>
          </a:bodyPr>
          <a:lstStyle/>
          <a:p>
            <a:pPr algn="ctr"/>
            <a:r>
              <a:rPr sz="3600" b="1" i="0">
                <a:solidFill>
                  <a:srgbClr val="8B5CF6"/>
                </a:solidFill>
                <a:latin typeface="Calibri"/>
              </a:rPr>
              <a:t>{{M4_PRICE}}</a:t>
            </a:r>
          </a:p>
        </p:txBody>
      </p:sp>
      <p:sp>
        <p:nvSpPr>
          <p:cNvPr id="41" name="TextBox 40"/>
          <p:cNvSpPr txBox="1"/>
          <p:nvPr/>
        </p:nvSpPr>
        <p:spPr>
          <a:xfrm>
            <a:off x="9107424" y="2743200"/>
            <a:ext cx="2395728" cy="274320"/>
          </a:xfrm>
          <a:prstGeom prst="rect">
            <a:avLst/>
          </a:prstGeom>
          <a:noFill/>
        </p:spPr>
        <p:txBody>
          <a:bodyPr wrap="square" lIns="45720" rIns="45720" tIns="18288" bIns="18288" anchor="t">
            <a:spAutoFit/>
          </a:bodyPr>
          <a:lstStyle/>
          <a:p>
            <a:pPr algn="ctr"/>
            <a:r>
              <a:rPr sz="1000" b="0" i="0">
                <a:solidFill>
                  <a:srgbClr val="6B7280"/>
                </a:solidFill>
                <a:latin typeface="Calibri"/>
              </a:rPr>
              <a:t>đồng</a:t>
            </a:r>
          </a:p>
        </p:txBody>
      </p:sp>
      <p:sp>
        <p:nvSpPr>
          <p:cNvPr id="42" name="TextBox 41"/>
          <p:cNvSpPr txBox="1"/>
          <p:nvPr/>
        </p:nvSpPr>
        <p:spPr>
          <a:xfrm>
            <a:off x="9107424" y="3108960"/>
            <a:ext cx="2395728" cy="548640"/>
          </a:xfrm>
          <a:prstGeom prst="rect">
            <a:avLst/>
          </a:prstGeom>
          <a:noFill/>
        </p:spPr>
        <p:txBody>
          <a:bodyPr wrap="square" lIns="45720" rIns="45720" tIns="18288" bIns="18288" anchor="t">
            <a:spAutoFit/>
          </a:bodyPr>
          <a:lstStyle/>
          <a:p>
            <a:pPr algn="ctr"/>
            <a:r>
              <a:rPr sz="2800" b="1" i="0">
                <a:solidFill>
                  <a:srgbClr val="25B770"/>
                </a:solidFill>
                <a:latin typeface="Calibri"/>
              </a:rPr>
              <a:t>{{M4_PROFIT_PCT}}</a:t>
            </a:r>
          </a:p>
        </p:txBody>
      </p:sp>
      <p:sp>
        <p:nvSpPr>
          <p:cNvPr id="43" name="Rectangle 42"/>
          <p:cNvSpPr/>
          <p:nvPr/>
        </p:nvSpPr>
        <p:spPr>
          <a:xfrm>
            <a:off x="9244584" y="3749039"/>
            <a:ext cx="2121408" cy="2286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107424" y="3840479"/>
            <a:ext cx="2395728" cy="228600"/>
          </a:xfrm>
          <a:prstGeom prst="rect">
            <a:avLst/>
          </a:prstGeom>
          <a:noFill/>
        </p:spPr>
        <p:txBody>
          <a:bodyPr wrap="square" lIns="45720" rIns="45720" tIns="18288" bIns="18288" anchor="t">
            <a:spAutoFit/>
          </a:bodyPr>
          <a:lstStyle/>
          <a:p>
            <a:pPr algn="ctr"/>
            <a:r>
              <a:rPr sz="900" b="0" i="0">
                <a:solidFill>
                  <a:srgbClr val="6B7280"/>
                </a:solidFill>
                <a:latin typeface="Calibri"/>
              </a:rPr>
              <a:t>Tỷ lệ chốt</a:t>
            </a:r>
          </a:p>
        </p:txBody>
      </p:sp>
      <p:sp>
        <p:nvSpPr>
          <p:cNvPr id="45" name="TextBox 44"/>
          <p:cNvSpPr txBox="1"/>
          <p:nvPr/>
        </p:nvSpPr>
        <p:spPr>
          <a:xfrm>
            <a:off x="9107424" y="4069079"/>
            <a:ext cx="2395728" cy="365760"/>
          </a:xfrm>
          <a:prstGeom prst="rect">
            <a:avLst/>
          </a:prstGeom>
          <a:noFill/>
        </p:spPr>
        <p:txBody>
          <a:bodyPr wrap="square" lIns="45720" rIns="45720" tIns="18288" bIns="18288" anchor="t">
            <a:spAutoFit/>
          </a:bodyPr>
          <a:lstStyle/>
          <a:p>
            <a:pPr algn="ctr"/>
            <a:r>
              <a:rPr sz="1300" b="1" i="0">
                <a:solidFill>
                  <a:srgbClr val="8B5CF6"/>
                </a:solidFill>
                <a:latin typeface="Calibri"/>
              </a:rPr>
              <a:t>{{M4_RATIO}}</a:t>
            </a:r>
          </a:p>
        </p:txBody>
      </p:sp>
      <p:sp>
        <p:nvSpPr>
          <p:cNvPr id="46" name="TextBox 45"/>
          <p:cNvSpPr txBox="1"/>
          <p:nvPr/>
        </p:nvSpPr>
        <p:spPr>
          <a:xfrm>
            <a:off x="9107424" y="4480560"/>
            <a:ext cx="2395728" cy="457200"/>
          </a:xfrm>
          <a:prstGeom prst="rect">
            <a:avLst/>
          </a:prstGeom>
          <a:noFill/>
        </p:spPr>
        <p:txBody>
          <a:bodyPr wrap="square" lIns="45720" rIns="45720" tIns="18288" bIns="18288" anchor="t">
            <a:spAutoFit/>
          </a:bodyPr>
          <a:lstStyle/>
          <a:p>
            <a:pPr algn="ctr"/>
            <a:r>
              <a:rPr sz="1000" b="0" i="1">
                <a:solidFill>
                  <a:srgbClr val="1F2937"/>
                </a:solidFill>
                <a:latin typeface="Calibri"/>
              </a:rPr>
              <a:t>{{M4_BASIS}}</a:t>
            </a:r>
          </a:p>
        </p:txBody>
      </p:sp>
      <p:sp>
        <p:nvSpPr>
          <p:cNvPr id="47" name="Rounded Rectangle 46"/>
          <p:cNvSpPr/>
          <p:nvPr/>
        </p:nvSpPr>
        <p:spPr>
          <a:xfrm>
            <a:off x="548640" y="5212080"/>
            <a:ext cx="11091672" cy="731520"/>
          </a:xfrm>
          <a:prstGeom prst="roundRect">
            <a:avLst>
              <a:gd name="adj" fmla="val 5000"/>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31520" y="5303520"/>
            <a:ext cx="10725912" cy="274320"/>
          </a:xfrm>
          <a:prstGeom prst="rect">
            <a:avLst/>
          </a:prstGeom>
          <a:noFill/>
        </p:spPr>
        <p:txBody>
          <a:bodyPr wrap="square" lIns="45720" rIns="45720" tIns="18288" bIns="18288" anchor="t">
            <a:spAutoFit/>
          </a:bodyPr>
          <a:lstStyle/>
          <a:p>
            <a:pPr algn="l"/>
            <a:r>
              <a:rPr sz="900" b="1" i="0">
                <a:solidFill>
                  <a:srgbClr val="B47EFF"/>
                </a:solidFill>
                <a:latin typeface="Calibri"/>
              </a:rPr>
              <a:t>TÓM TẮT LỢI NHUẬN / RỦI RO</a:t>
            </a:r>
          </a:p>
        </p:txBody>
      </p:sp>
      <p:sp>
        <p:nvSpPr>
          <p:cNvPr id="49" name="TextBox 48"/>
          <p:cNvSpPr txBox="1"/>
          <p:nvPr/>
        </p:nvSpPr>
        <p:spPr>
          <a:xfrm>
            <a:off x="731520" y="5577840"/>
            <a:ext cx="2498598" cy="182880"/>
          </a:xfrm>
          <a:prstGeom prst="rect">
            <a:avLst/>
          </a:prstGeom>
          <a:noFill/>
        </p:spPr>
        <p:txBody>
          <a:bodyPr wrap="square" lIns="45720" rIns="45720" tIns="18288" bIns="18288" anchor="t">
            <a:spAutoFit/>
          </a:bodyPr>
          <a:lstStyle/>
          <a:p>
            <a:pPr algn="l"/>
            <a:r>
              <a:rPr sz="900" b="0" i="0">
                <a:solidFill>
                  <a:srgbClr val="FFFFFF"/>
                </a:solidFill>
                <a:latin typeface="Calibri"/>
              </a:rPr>
              <a:t>Lợi nhuận TB 3 mốc đầu</a:t>
            </a:r>
          </a:p>
        </p:txBody>
      </p:sp>
      <p:sp>
        <p:nvSpPr>
          <p:cNvPr id="50" name="TextBox 49"/>
          <p:cNvSpPr txBox="1"/>
          <p:nvPr/>
        </p:nvSpPr>
        <p:spPr>
          <a:xfrm>
            <a:off x="731520" y="5715000"/>
            <a:ext cx="2498598" cy="228600"/>
          </a:xfrm>
          <a:prstGeom prst="rect">
            <a:avLst/>
          </a:prstGeom>
          <a:noFill/>
        </p:spPr>
        <p:txBody>
          <a:bodyPr wrap="square" lIns="45720" rIns="45720" tIns="18288" bIns="18288" anchor="t">
            <a:spAutoFit/>
          </a:bodyPr>
          <a:lstStyle/>
          <a:p>
            <a:pPr algn="l"/>
            <a:r>
              <a:rPr sz="1100" b="1" i="0">
                <a:solidFill>
                  <a:srgbClr val="FFFFFF"/>
                </a:solidFill>
                <a:latin typeface="Calibri"/>
              </a:rPr>
              <a:t>{{AVG_PROFIT}}</a:t>
            </a:r>
          </a:p>
        </p:txBody>
      </p:sp>
      <p:sp>
        <p:nvSpPr>
          <p:cNvPr id="51" name="TextBox 50"/>
          <p:cNvSpPr txBox="1"/>
          <p:nvPr/>
        </p:nvSpPr>
        <p:spPr>
          <a:xfrm>
            <a:off x="3412998" y="5577840"/>
            <a:ext cx="2498598" cy="182880"/>
          </a:xfrm>
          <a:prstGeom prst="rect">
            <a:avLst/>
          </a:prstGeom>
          <a:noFill/>
        </p:spPr>
        <p:txBody>
          <a:bodyPr wrap="square" lIns="45720" rIns="45720" tIns="18288" bIns="18288" anchor="t">
            <a:spAutoFit/>
          </a:bodyPr>
          <a:lstStyle/>
          <a:p>
            <a:pPr algn="l"/>
            <a:r>
              <a:rPr sz="900" b="0" i="0">
                <a:solidFill>
                  <a:srgbClr val="FFFFFF"/>
                </a:solidFill>
                <a:latin typeface="Calibri"/>
              </a:rPr>
              <a:t>Rủi ro tới điểm cắt lỗ</a:t>
            </a:r>
          </a:p>
        </p:txBody>
      </p:sp>
      <p:sp>
        <p:nvSpPr>
          <p:cNvPr id="52" name="TextBox 51"/>
          <p:cNvSpPr txBox="1"/>
          <p:nvPr/>
        </p:nvSpPr>
        <p:spPr>
          <a:xfrm>
            <a:off x="3412998" y="5715000"/>
            <a:ext cx="2498598" cy="228600"/>
          </a:xfrm>
          <a:prstGeom prst="rect">
            <a:avLst/>
          </a:prstGeom>
          <a:noFill/>
        </p:spPr>
        <p:txBody>
          <a:bodyPr wrap="square" lIns="45720" rIns="45720" tIns="18288" bIns="18288" anchor="t">
            <a:spAutoFit/>
          </a:bodyPr>
          <a:lstStyle/>
          <a:p>
            <a:pPr algn="l"/>
            <a:r>
              <a:rPr sz="1100" b="1" i="0">
                <a:solidFill>
                  <a:srgbClr val="FFFFFF"/>
                </a:solidFill>
                <a:latin typeface="Calibri"/>
              </a:rPr>
              <a:t>{{MAX_RISK}}</a:t>
            </a:r>
          </a:p>
        </p:txBody>
      </p:sp>
      <p:sp>
        <p:nvSpPr>
          <p:cNvPr id="53" name="TextBox 52"/>
          <p:cNvSpPr txBox="1"/>
          <p:nvPr/>
        </p:nvSpPr>
        <p:spPr>
          <a:xfrm>
            <a:off x="6094476" y="5577840"/>
            <a:ext cx="2498598" cy="182880"/>
          </a:xfrm>
          <a:prstGeom prst="rect">
            <a:avLst/>
          </a:prstGeom>
          <a:noFill/>
        </p:spPr>
        <p:txBody>
          <a:bodyPr wrap="square" lIns="45720" rIns="45720" tIns="18288" bIns="18288" anchor="t">
            <a:spAutoFit/>
          </a:bodyPr>
          <a:lstStyle/>
          <a:p>
            <a:pPr algn="l"/>
            <a:r>
              <a:rPr sz="900" b="0" i="0">
                <a:solidFill>
                  <a:srgbClr val="FFFFFF"/>
                </a:solidFill>
                <a:latin typeface="Calibri"/>
              </a:rPr>
              <a:t>Tỷ lệ R/R</a:t>
            </a:r>
          </a:p>
        </p:txBody>
      </p:sp>
      <p:sp>
        <p:nvSpPr>
          <p:cNvPr id="54" name="TextBox 53"/>
          <p:cNvSpPr txBox="1"/>
          <p:nvPr/>
        </p:nvSpPr>
        <p:spPr>
          <a:xfrm>
            <a:off x="6094476" y="5715000"/>
            <a:ext cx="2498598" cy="228600"/>
          </a:xfrm>
          <a:prstGeom prst="rect">
            <a:avLst/>
          </a:prstGeom>
          <a:noFill/>
        </p:spPr>
        <p:txBody>
          <a:bodyPr wrap="square" lIns="45720" rIns="45720" tIns="18288" bIns="18288" anchor="t">
            <a:spAutoFit/>
          </a:bodyPr>
          <a:lstStyle/>
          <a:p>
            <a:pPr algn="l"/>
            <a:r>
              <a:rPr sz="1100" b="1" i="0">
                <a:solidFill>
                  <a:srgbClr val="FFFFFF"/>
                </a:solidFill>
                <a:latin typeface="Calibri"/>
              </a:rPr>
              <a:t>{{RR_RATIO}}</a:t>
            </a:r>
          </a:p>
        </p:txBody>
      </p:sp>
      <p:sp>
        <p:nvSpPr>
          <p:cNvPr id="55" name="TextBox 54"/>
          <p:cNvSpPr txBox="1"/>
          <p:nvPr/>
        </p:nvSpPr>
        <p:spPr>
          <a:xfrm>
            <a:off x="8775954" y="5577840"/>
            <a:ext cx="2498598" cy="182880"/>
          </a:xfrm>
          <a:prstGeom prst="rect">
            <a:avLst/>
          </a:prstGeom>
          <a:noFill/>
        </p:spPr>
        <p:txBody>
          <a:bodyPr wrap="square" lIns="45720" rIns="45720" tIns="18288" bIns="18288" anchor="t">
            <a:spAutoFit/>
          </a:bodyPr>
          <a:lstStyle/>
          <a:p>
            <a:pPr algn="l"/>
            <a:r>
              <a:rPr sz="900" b="0" i="0">
                <a:solidFill>
                  <a:srgbClr val="FFFFFF"/>
                </a:solidFill>
                <a:latin typeface="Calibri"/>
              </a:rPr>
              <a:t>Mục tiêu cao nhất</a:t>
            </a:r>
          </a:p>
        </p:txBody>
      </p:sp>
      <p:sp>
        <p:nvSpPr>
          <p:cNvPr id="56" name="TextBox 55"/>
          <p:cNvSpPr txBox="1"/>
          <p:nvPr/>
        </p:nvSpPr>
        <p:spPr>
          <a:xfrm>
            <a:off x="8775954" y="5715000"/>
            <a:ext cx="2498598" cy="228600"/>
          </a:xfrm>
          <a:prstGeom prst="rect">
            <a:avLst/>
          </a:prstGeom>
          <a:noFill/>
        </p:spPr>
        <p:txBody>
          <a:bodyPr wrap="square" lIns="45720" rIns="45720" tIns="18288" bIns="18288" anchor="t">
            <a:spAutoFit/>
          </a:bodyPr>
          <a:lstStyle/>
          <a:p>
            <a:pPr algn="l"/>
            <a:r>
              <a:rPr sz="1100" b="1" i="0">
                <a:solidFill>
                  <a:srgbClr val="FFFFFF"/>
                </a:solidFill>
                <a:latin typeface="Calibri"/>
              </a:rPr>
              <a:t>{{MAX_TARGET}}</a:t>
            </a:r>
          </a:p>
        </p:txBody>
      </p:sp>
      <p:sp>
        <p:nvSpPr>
          <p:cNvPr id="57" name="TextBox 56"/>
          <p:cNvSpPr txBox="1"/>
          <p:nvPr/>
        </p:nvSpPr>
        <p:spPr>
          <a:xfrm>
            <a:off x="548640" y="6492240"/>
            <a:ext cx="8229600" cy="274320"/>
          </a:xfrm>
          <a:prstGeom prst="rect">
            <a:avLst/>
          </a:prstGeom>
          <a:noFill/>
        </p:spPr>
        <p:txBody>
          <a:bodyPr wrap="square" lIns="45720" rIns="45720" tIns="18288" bIns="18288" anchor="t">
            <a:spAutoFit/>
          </a:bodyPr>
          <a:lstStyle/>
          <a:p>
            <a:pPr algn="l"/>
            <a:r>
              <a:rPr sz="900" b="0" i="1">
                <a:solidFill>
                  <a:srgbClr val="9CA3AF"/>
                </a:solidFill>
                <a:latin typeface="Calibri"/>
              </a:rPr>
              <a:t>{{FOOTER_LEFT}}</a:t>
            </a:r>
          </a:p>
        </p:txBody>
      </p:sp>
      <p:sp>
        <p:nvSpPr>
          <p:cNvPr id="58" name="TextBox 57"/>
          <p:cNvSpPr txBox="1"/>
          <p:nvPr/>
        </p:nvSpPr>
        <p:spPr>
          <a:xfrm>
            <a:off x="10058400" y="6492240"/>
            <a:ext cx="1645920" cy="274320"/>
          </a:xfrm>
          <a:prstGeom prst="rect">
            <a:avLst/>
          </a:prstGeom>
          <a:noFill/>
        </p:spPr>
        <p:txBody>
          <a:bodyPr wrap="square" lIns="45720" rIns="45720" tIns="18288" bIns="18288" anchor="t">
            <a:spAutoFit/>
          </a:bodyPr>
          <a:lstStyle/>
          <a:p>
            <a:pPr algn="r"/>
            <a:r>
              <a:rPr sz="900" b="0" i="0">
                <a:solidFill>
                  <a:srgbClr val="9CA3AF"/>
                </a:solidFill>
                <a:latin typeface="Calibri"/>
              </a:rPr>
              <a:t>{{PAGE_NUM}}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name="THESIS_B_PANEL_RIGHT">
    <p:spTree>
      <p:nvGrpSpPr>
        <p:cNvPr id="1" name=""/>
        <p:cNvGrpSpPr/>
        <p:nvPr/>
      </p:nvGrpSpPr>
      <p:grpSpPr/>
      <p:sp>
        <p:nvSpPr>
          <p:cNvPr id="2" name="Rectangle 1"/>
          <p:cNvSpPr/>
          <p:nvPr/>
        </p:nvSpPr>
        <p:spPr>
          <a:xfrm>
            <a:off x="457200" y="274320"/>
            <a:ext cx="73152" cy="32004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594359"/>
            <a:ext cx="73152" cy="320040"/>
          </a:xfrm>
          <a:prstGeom prst="rect">
            <a:avLst/>
          </a:prstGeom>
          <a:solidFill>
            <a:srgbClr val="B47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74320"/>
            <a:ext cx="10972800" cy="365760"/>
          </a:xfrm>
          <a:prstGeom prst="rect">
            <a:avLst/>
          </a:prstGeom>
          <a:noFill/>
        </p:spPr>
        <p:txBody>
          <a:bodyPr wrap="square" lIns="45720" rIns="45720" tIns="18288" bIns="18288" anchor="t">
            <a:spAutoFit/>
          </a:bodyPr>
          <a:lstStyle/>
          <a:p>
            <a:pPr algn="l"/>
            <a:r>
              <a:rPr sz="2400" b="1" i="0">
                <a:solidFill>
                  <a:srgbClr val="1F2937"/>
                </a:solidFill>
                <a:latin typeface="Calibri"/>
              </a:rPr>
              <a:t>{{LUANDIEM_TITLE}}</a:t>
            </a:r>
          </a:p>
        </p:txBody>
      </p:sp>
      <p:sp>
        <p:nvSpPr>
          <p:cNvPr id="5" name="TextBox 4"/>
          <p:cNvSpPr txBox="1"/>
          <p:nvPr/>
        </p:nvSpPr>
        <p:spPr>
          <a:xfrm>
            <a:off x="594360" y="640080"/>
            <a:ext cx="10972800" cy="274320"/>
          </a:xfrm>
          <a:prstGeom prst="rect">
            <a:avLst/>
          </a:prstGeom>
          <a:noFill/>
        </p:spPr>
        <p:txBody>
          <a:bodyPr wrap="square" lIns="45720" rIns="45720" tIns="18288" bIns="18288" anchor="t">
            <a:spAutoFit/>
          </a:bodyPr>
          <a:lstStyle/>
          <a:p>
            <a:pPr algn="l"/>
            <a:r>
              <a:rPr sz="1100" b="0" i="1">
                <a:solidFill>
                  <a:srgbClr val="6B7280"/>
                </a:solidFill>
                <a:latin typeface="Calibri"/>
              </a:rPr>
              <a:t>{{LUANDIEM_SUB}}</a:t>
            </a:r>
          </a:p>
        </p:txBody>
      </p:sp>
      <p:sp>
        <p:nvSpPr>
          <p:cNvPr id="6" name="Rectangle 5"/>
          <p:cNvSpPr/>
          <p:nvPr/>
        </p:nvSpPr>
        <p:spPr>
          <a:xfrm>
            <a:off x="548640" y="1005840"/>
            <a:ext cx="11091672" cy="18288"/>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280160"/>
            <a:ext cx="3749040" cy="2286000"/>
          </a:xfrm>
          <a:prstGeom prst="roundRect">
            <a:avLst>
              <a:gd name="adj" fmla="val 4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371600"/>
            <a:ext cx="73152" cy="210312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31520" y="1463039"/>
            <a:ext cx="411480" cy="411480"/>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463039"/>
            <a:ext cx="411480" cy="411480"/>
          </a:xfrm>
          <a:prstGeom prst="rect">
            <a:avLst/>
          </a:prstGeom>
          <a:noFill/>
        </p:spPr>
        <p:txBody>
          <a:bodyPr wrap="square" lIns="45720" rIns="45720" tIns="18288" bIns="18288" anchor="ctr">
            <a:spAutoFit/>
          </a:bodyPr>
          <a:lstStyle/>
          <a:p>
            <a:pPr algn="ctr"/>
            <a:r>
              <a:rPr sz="1200" b="1" i="0">
                <a:solidFill>
                  <a:srgbClr val="FFFFFF"/>
                </a:solidFill>
                <a:latin typeface="Calibri"/>
              </a:rPr>
              <a:t>01</a:t>
            </a:r>
          </a:p>
        </p:txBody>
      </p:sp>
      <p:sp>
        <p:nvSpPr>
          <p:cNvPr id="11" name="TextBox 10"/>
          <p:cNvSpPr txBox="1"/>
          <p:nvPr/>
        </p:nvSpPr>
        <p:spPr>
          <a:xfrm>
            <a:off x="1280160" y="1463039"/>
            <a:ext cx="2880360" cy="365760"/>
          </a:xfrm>
          <a:prstGeom prst="rect">
            <a:avLst/>
          </a:prstGeom>
          <a:noFill/>
        </p:spPr>
        <p:txBody>
          <a:bodyPr wrap="square" lIns="45720" rIns="45720" tIns="18288" bIns="18288" anchor="t">
            <a:spAutoFit/>
          </a:bodyPr>
          <a:lstStyle/>
          <a:p>
            <a:pPr algn="l"/>
            <a:r>
              <a:rPr sz="1100" b="1" i="0">
                <a:solidFill>
                  <a:srgbClr val="8B5CF6"/>
                </a:solidFill>
                <a:latin typeface="Calibri"/>
              </a:rPr>
              <a:t>{{SUBPOINT_1_TITLE}}</a:t>
            </a:r>
          </a:p>
        </p:txBody>
      </p:sp>
      <p:sp>
        <p:nvSpPr>
          <p:cNvPr id="12" name="TextBox 11"/>
          <p:cNvSpPr txBox="1"/>
          <p:nvPr/>
        </p:nvSpPr>
        <p:spPr>
          <a:xfrm>
            <a:off x="1280160" y="1874519"/>
            <a:ext cx="2880360" cy="1508760"/>
          </a:xfrm>
          <a:prstGeom prst="rect">
            <a:avLst/>
          </a:prstGeom>
          <a:noFill/>
        </p:spPr>
        <p:txBody>
          <a:bodyPr wrap="square" lIns="45720" rIns="45720" tIns="18288" bIns="18288" anchor="t">
            <a:spAutoFit/>
          </a:bodyPr>
          <a:lstStyle/>
          <a:p>
            <a:pPr algn="l"/>
            <a:r>
              <a:rPr sz="1000" b="0" i="0">
                <a:solidFill>
                  <a:srgbClr val="1F2937"/>
                </a:solidFill>
                <a:latin typeface="Calibri"/>
              </a:rPr>
              <a:t>{{SUBPOINT_1_BODY}}</a:t>
            </a:r>
          </a:p>
        </p:txBody>
      </p:sp>
      <p:sp>
        <p:nvSpPr>
          <p:cNvPr id="13" name="Rounded Rectangle 12"/>
          <p:cNvSpPr/>
          <p:nvPr/>
        </p:nvSpPr>
        <p:spPr>
          <a:xfrm>
            <a:off x="4389120" y="1280160"/>
            <a:ext cx="3749040" cy="2286000"/>
          </a:xfrm>
          <a:prstGeom prst="roundRect">
            <a:avLst>
              <a:gd name="adj" fmla="val 4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34840" y="1371600"/>
            <a:ext cx="73152" cy="210312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572000" y="1463039"/>
            <a:ext cx="411480" cy="411480"/>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0" y="1463039"/>
            <a:ext cx="411480" cy="411480"/>
          </a:xfrm>
          <a:prstGeom prst="rect">
            <a:avLst/>
          </a:prstGeom>
          <a:noFill/>
        </p:spPr>
        <p:txBody>
          <a:bodyPr wrap="square" lIns="45720" rIns="45720" tIns="18288" bIns="18288" anchor="ctr">
            <a:spAutoFit/>
          </a:bodyPr>
          <a:lstStyle/>
          <a:p>
            <a:pPr algn="ctr"/>
            <a:r>
              <a:rPr sz="1200" b="1" i="0">
                <a:solidFill>
                  <a:srgbClr val="FFFFFF"/>
                </a:solidFill>
                <a:latin typeface="Calibri"/>
              </a:rPr>
              <a:t>02</a:t>
            </a:r>
          </a:p>
        </p:txBody>
      </p:sp>
      <p:sp>
        <p:nvSpPr>
          <p:cNvPr id="17" name="TextBox 16"/>
          <p:cNvSpPr txBox="1"/>
          <p:nvPr/>
        </p:nvSpPr>
        <p:spPr>
          <a:xfrm>
            <a:off x="5120640" y="1463039"/>
            <a:ext cx="2880360" cy="365760"/>
          </a:xfrm>
          <a:prstGeom prst="rect">
            <a:avLst/>
          </a:prstGeom>
          <a:noFill/>
        </p:spPr>
        <p:txBody>
          <a:bodyPr wrap="square" lIns="45720" rIns="45720" tIns="18288" bIns="18288" anchor="t">
            <a:spAutoFit/>
          </a:bodyPr>
          <a:lstStyle/>
          <a:p>
            <a:pPr algn="l"/>
            <a:r>
              <a:rPr sz="1100" b="1" i="0">
                <a:solidFill>
                  <a:srgbClr val="8B5CF6"/>
                </a:solidFill>
                <a:latin typeface="Calibri"/>
              </a:rPr>
              <a:t>{{SUBPOINT_2_TITLE}}</a:t>
            </a:r>
          </a:p>
        </p:txBody>
      </p:sp>
      <p:sp>
        <p:nvSpPr>
          <p:cNvPr id="18" name="TextBox 17"/>
          <p:cNvSpPr txBox="1"/>
          <p:nvPr/>
        </p:nvSpPr>
        <p:spPr>
          <a:xfrm>
            <a:off x="5120640" y="1874519"/>
            <a:ext cx="2880360" cy="1508760"/>
          </a:xfrm>
          <a:prstGeom prst="rect">
            <a:avLst/>
          </a:prstGeom>
          <a:noFill/>
        </p:spPr>
        <p:txBody>
          <a:bodyPr wrap="square" lIns="45720" rIns="45720" tIns="18288" bIns="18288" anchor="t">
            <a:spAutoFit/>
          </a:bodyPr>
          <a:lstStyle/>
          <a:p>
            <a:pPr algn="l"/>
            <a:r>
              <a:rPr sz="1000" b="0" i="0">
                <a:solidFill>
                  <a:srgbClr val="1F2937"/>
                </a:solidFill>
                <a:latin typeface="Calibri"/>
              </a:rPr>
              <a:t>{{SUBPOINT_2_BODY}}</a:t>
            </a:r>
          </a:p>
        </p:txBody>
      </p:sp>
      <p:sp>
        <p:nvSpPr>
          <p:cNvPr id="19" name="Rounded Rectangle 18"/>
          <p:cNvSpPr/>
          <p:nvPr/>
        </p:nvSpPr>
        <p:spPr>
          <a:xfrm>
            <a:off x="548640" y="3703320"/>
            <a:ext cx="3749040" cy="2286000"/>
          </a:xfrm>
          <a:prstGeom prst="roundRect">
            <a:avLst>
              <a:gd name="adj" fmla="val 4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94360" y="3794759"/>
            <a:ext cx="73152" cy="210312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31520" y="3886200"/>
            <a:ext cx="411480" cy="411480"/>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3886200"/>
            <a:ext cx="411480" cy="411480"/>
          </a:xfrm>
          <a:prstGeom prst="rect">
            <a:avLst/>
          </a:prstGeom>
          <a:noFill/>
        </p:spPr>
        <p:txBody>
          <a:bodyPr wrap="square" lIns="45720" rIns="45720" tIns="18288" bIns="18288" anchor="ctr">
            <a:spAutoFit/>
          </a:bodyPr>
          <a:lstStyle/>
          <a:p>
            <a:pPr algn="ctr"/>
            <a:r>
              <a:rPr sz="1200" b="1" i="0">
                <a:solidFill>
                  <a:srgbClr val="FFFFFF"/>
                </a:solidFill>
                <a:latin typeface="Calibri"/>
              </a:rPr>
              <a:t>03</a:t>
            </a:r>
          </a:p>
        </p:txBody>
      </p:sp>
      <p:sp>
        <p:nvSpPr>
          <p:cNvPr id="23" name="TextBox 22"/>
          <p:cNvSpPr txBox="1"/>
          <p:nvPr/>
        </p:nvSpPr>
        <p:spPr>
          <a:xfrm>
            <a:off x="1280160" y="3886200"/>
            <a:ext cx="2880360" cy="365760"/>
          </a:xfrm>
          <a:prstGeom prst="rect">
            <a:avLst/>
          </a:prstGeom>
          <a:noFill/>
        </p:spPr>
        <p:txBody>
          <a:bodyPr wrap="square" lIns="45720" rIns="45720" tIns="18288" bIns="18288" anchor="t">
            <a:spAutoFit/>
          </a:bodyPr>
          <a:lstStyle/>
          <a:p>
            <a:pPr algn="l"/>
            <a:r>
              <a:rPr sz="1100" b="1" i="0">
                <a:solidFill>
                  <a:srgbClr val="8B5CF6"/>
                </a:solidFill>
                <a:latin typeface="Calibri"/>
              </a:rPr>
              <a:t>{{SUBPOINT_3_TITLE}}</a:t>
            </a:r>
          </a:p>
        </p:txBody>
      </p:sp>
      <p:sp>
        <p:nvSpPr>
          <p:cNvPr id="24" name="TextBox 23"/>
          <p:cNvSpPr txBox="1"/>
          <p:nvPr/>
        </p:nvSpPr>
        <p:spPr>
          <a:xfrm>
            <a:off x="1280160" y="4297680"/>
            <a:ext cx="2880360" cy="1508760"/>
          </a:xfrm>
          <a:prstGeom prst="rect">
            <a:avLst/>
          </a:prstGeom>
          <a:noFill/>
        </p:spPr>
        <p:txBody>
          <a:bodyPr wrap="square" lIns="45720" rIns="45720" tIns="18288" bIns="18288" anchor="t">
            <a:spAutoFit/>
          </a:bodyPr>
          <a:lstStyle/>
          <a:p>
            <a:pPr algn="l"/>
            <a:r>
              <a:rPr sz="1000" b="0" i="0">
                <a:solidFill>
                  <a:srgbClr val="1F2937"/>
                </a:solidFill>
                <a:latin typeface="Calibri"/>
              </a:rPr>
              <a:t>{{SUBPOINT_3_BODY}}</a:t>
            </a:r>
          </a:p>
        </p:txBody>
      </p:sp>
      <p:sp>
        <p:nvSpPr>
          <p:cNvPr id="25" name="Rounded Rectangle 24"/>
          <p:cNvSpPr/>
          <p:nvPr/>
        </p:nvSpPr>
        <p:spPr>
          <a:xfrm>
            <a:off x="4389120" y="3703320"/>
            <a:ext cx="3749040" cy="2286000"/>
          </a:xfrm>
          <a:prstGeom prst="roundRect">
            <a:avLst>
              <a:gd name="adj" fmla="val 4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34840" y="3794759"/>
            <a:ext cx="73152" cy="210312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572000" y="3886200"/>
            <a:ext cx="411480" cy="411480"/>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0" y="3886200"/>
            <a:ext cx="411480" cy="411480"/>
          </a:xfrm>
          <a:prstGeom prst="rect">
            <a:avLst/>
          </a:prstGeom>
          <a:noFill/>
        </p:spPr>
        <p:txBody>
          <a:bodyPr wrap="square" lIns="45720" rIns="45720" tIns="18288" bIns="18288" anchor="ctr">
            <a:spAutoFit/>
          </a:bodyPr>
          <a:lstStyle/>
          <a:p>
            <a:pPr algn="ctr"/>
            <a:r>
              <a:rPr sz="1200" b="1" i="0">
                <a:solidFill>
                  <a:srgbClr val="FFFFFF"/>
                </a:solidFill>
                <a:latin typeface="Calibri"/>
              </a:rPr>
              <a:t>04</a:t>
            </a:r>
          </a:p>
        </p:txBody>
      </p:sp>
      <p:sp>
        <p:nvSpPr>
          <p:cNvPr id="29" name="TextBox 28"/>
          <p:cNvSpPr txBox="1"/>
          <p:nvPr/>
        </p:nvSpPr>
        <p:spPr>
          <a:xfrm>
            <a:off x="5120640" y="3886200"/>
            <a:ext cx="2880360" cy="365760"/>
          </a:xfrm>
          <a:prstGeom prst="rect">
            <a:avLst/>
          </a:prstGeom>
          <a:noFill/>
        </p:spPr>
        <p:txBody>
          <a:bodyPr wrap="square" lIns="45720" rIns="45720" tIns="18288" bIns="18288" anchor="t">
            <a:spAutoFit/>
          </a:bodyPr>
          <a:lstStyle/>
          <a:p>
            <a:pPr algn="l"/>
            <a:r>
              <a:rPr sz="1100" b="1" i="0">
                <a:solidFill>
                  <a:srgbClr val="8B5CF6"/>
                </a:solidFill>
                <a:latin typeface="Calibri"/>
              </a:rPr>
              <a:t>{{SUBPOINT_4_TITLE}}</a:t>
            </a:r>
          </a:p>
        </p:txBody>
      </p:sp>
      <p:sp>
        <p:nvSpPr>
          <p:cNvPr id="30" name="TextBox 29"/>
          <p:cNvSpPr txBox="1"/>
          <p:nvPr/>
        </p:nvSpPr>
        <p:spPr>
          <a:xfrm>
            <a:off x="5120640" y="4297680"/>
            <a:ext cx="2880360" cy="1508760"/>
          </a:xfrm>
          <a:prstGeom prst="rect">
            <a:avLst/>
          </a:prstGeom>
          <a:noFill/>
        </p:spPr>
        <p:txBody>
          <a:bodyPr wrap="square" lIns="45720" rIns="45720" tIns="18288" bIns="18288" anchor="t">
            <a:spAutoFit/>
          </a:bodyPr>
          <a:lstStyle/>
          <a:p>
            <a:pPr algn="l"/>
            <a:r>
              <a:rPr sz="1000" b="0" i="0">
                <a:solidFill>
                  <a:srgbClr val="1F2937"/>
                </a:solidFill>
                <a:latin typeface="Calibri"/>
              </a:rPr>
              <a:t>{{SUBPOINT_4_BODY}}</a:t>
            </a:r>
          </a:p>
        </p:txBody>
      </p:sp>
      <p:sp>
        <p:nvSpPr>
          <p:cNvPr id="31" name="Rounded Rectangle 30"/>
          <p:cNvSpPr/>
          <p:nvPr/>
        </p:nvSpPr>
        <p:spPr>
          <a:xfrm>
            <a:off x="8321040" y="1280160"/>
            <a:ext cx="3319272" cy="4709160"/>
          </a:xfrm>
          <a:prstGeom prst="roundRect">
            <a:avLst>
              <a:gd name="adj" fmla="val 4000"/>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03919" y="1554480"/>
            <a:ext cx="2953512" cy="457200"/>
          </a:xfrm>
          <a:prstGeom prst="rect">
            <a:avLst/>
          </a:prstGeom>
          <a:noFill/>
        </p:spPr>
        <p:txBody>
          <a:bodyPr wrap="square" lIns="45720" rIns="45720" tIns="18288" bIns="18288" anchor="t">
            <a:spAutoFit/>
          </a:bodyPr>
          <a:lstStyle/>
          <a:p>
            <a:pPr algn="l"/>
            <a:r>
              <a:rPr sz="1400" b="1" i="0">
                <a:solidFill>
                  <a:srgbClr val="B47EFF"/>
                </a:solidFill>
                <a:latin typeface="Calibri"/>
              </a:rPr>
              <a:t>{{KPI_LABEL}}</a:t>
            </a:r>
          </a:p>
        </p:txBody>
      </p:sp>
      <p:sp>
        <p:nvSpPr>
          <p:cNvPr id="33" name="TextBox 32"/>
          <p:cNvSpPr txBox="1"/>
          <p:nvPr/>
        </p:nvSpPr>
        <p:spPr>
          <a:xfrm>
            <a:off x="8503919" y="2194560"/>
            <a:ext cx="2953512" cy="1645920"/>
          </a:xfrm>
          <a:prstGeom prst="rect">
            <a:avLst/>
          </a:prstGeom>
          <a:noFill/>
        </p:spPr>
        <p:txBody>
          <a:bodyPr wrap="square" lIns="45720" rIns="45720" tIns="18288" bIns="18288" anchor="ctr">
            <a:spAutoFit/>
          </a:bodyPr>
          <a:lstStyle/>
          <a:p>
            <a:pPr algn="ctr"/>
            <a:r>
              <a:rPr sz="5600" b="1" i="0">
                <a:solidFill>
                  <a:srgbClr val="FFFFFF"/>
                </a:solidFill>
                <a:latin typeface="Calibri"/>
              </a:rPr>
              <a:t>{{KPI_VALUE}}</a:t>
            </a:r>
          </a:p>
        </p:txBody>
      </p:sp>
      <p:sp>
        <p:nvSpPr>
          <p:cNvPr id="34" name="Rectangle 33"/>
          <p:cNvSpPr/>
          <p:nvPr/>
        </p:nvSpPr>
        <p:spPr>
          <a:xfrm>
            <a:off x="8778240" y="4023360"/>
            <a:ext cx="2404872" cy="22860"/>
          </a:xfrm>
          <a:prstGeom prst="rect">
            <a:avLst/>
          </a:prstGeom>
          <a:solidFill>
            <a:srgbClr val="B47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503919" y="4206240"/>
            <a:ext cx="2953512" cy="457200"/>
          </a:xfrm>
          <a:prstGeom prst="rect">
            <a:avLst/>
          </a:prstGeom>
          <a:noFill/>
        </p:spPr>
        <p:txBody>
          <a:bodyPr wrap="square" lIns="45720" rIns="45720" tIns="18288" bIns="18288" anchor="t">
            <a:spAutoFit/>
          </a:bodyPr>
          <a:lstStyle/>
          <a:p>
            <a:pPr algn="ctr"/>
            <a:r>
              <a:rPr sz="1100" b="0" i="1">
                <a:solidFill>
                  <a:srgbClr val="FFFFFF"/>
                </a:solidFill>
                <a:latin typeface="Calibri"/>
              </a:rPr>
              <a:t>{{KPI_NOTE}}</a:t>
            </a:r>
          </a:p>
        </p:txBody>
      </p:sp>
      <p:sp>
        <p:nvSpPr>
          <p:cNvPr id="36" name="TextBox 35"/>
          <p:cNvSpPr txBox="1"/>
          <p:nvPr/>
        </p:nvSpPr>
        <p:spPr>
          <a:xfrm>
            <a:off x="8503919" y="4754879"/>
            <a:ext cx="2953512" cy="1097280"/>
          </a:xfrm>
          <a:prstGeom prst="rect">
            <a:avLst/>
          </a:prstGeom>
          <a:noFill/>
        </p:spPr>
        <p:txBody>
          <a:bodyPr wrap="square" lIns="45720" rIns="45720" tIns="18288" bIns="18288" anchor="t">
            <a:spAutoFit/>
          </a:bodyPr>
          <a:lstStyle/>
          <a:p>
            <a:pPr algn="ctr"/>
            <a:r>
              <a:rPr sz="1100" b="0" i="0">
                <a:solidFill>
                  <a:srgbClr val="FFFFFF"/>
                </a:solidFill>
                <a:latin typeface="Calibri"/>
              </a:rPr>
              <a:t>{{KPI_LONG_BODY}}</a:t>
            </a:r>
          </a:p>
        </p:txBody>
      </p:sp>
      <p:sp>
        <p:nvSpPr>
          <p:cNvPr id="37" name="TextBox 36"/>
          <p:cNvSpPr txBox="1"/>
          <p:nvPr/>
        </p:nvSpPr>
        <p:spPr>
          <a:xfrm>
            <a:off x="548640" y="6492240"/>
            <a:ext cx="8229600" cy="274320"/>
          </a:xfrm>
          <a:prstGeom prst="rect">
            <a:avLst/>
          </a:prstGeom>
          <a:noFill/>
        </p:spPr>
        <p:txBody>
          <a:bodyPr wrap="square" lIns="45720" rIns="45720" tIns="18288" bIns="18288" anchor="t">
            <a:spAutoFit/>
          </a:bodyPr>
          <a:lstStyle/>
          <a:p>
            <a:pPr algn="l"/>
            <a:r>
              <a:rPr sz="900" b="0" i="1">
                <a:solidFill>
                  <a:srgbClr val="9CA3AF"/>
                </a:solidFill>
                <a:latin typeface="Calibri"/>
              </a:rPr>
              <a:t>{{FOOTER_LEFT}}</a:t>
            </a:r>
          </a:p>
        </p:txBody>
      </p:sp>
      <p:sp>
        <p:nvSpPr>
          <p:cNvPr id="38" name="TextBox 37"/>
          <p:cNvSpPr txBox="1"/>
          <p:nvPr/>
        </p:nvSpPr>
        <p:spPr>
          <a:xfrm>
            <a:off x="10058400" y="6492240"/>
            <a:ext cx="1645920" cy="274320"/>
          </a:xfrm>
          <a:prstGeom prst="rect">
            <a:avLst/>
          </a:prstGeom>
          <a:noFill/>
        </p:spPr>
        <p:txBody>
          <a:bodyPr wrap="square" lIns="45720" rIns="45720" tIns="18288" bIns="18288" anchor="t">
            <a:spAutoFit/>
          </a:bodyPr>
          <a:lstStyle/>
          <a:p>
            <a:pPr algn="r"/>
            <a:r>
              <a:rPr sz="900" b="0" i="0">
                <a:solidFill>
                  <a:srgbClr val="9CA3AF"/>
                </a:solidFill>
                <a:latin typeface="Calibri"/>
              </a:rPr>
              <a:t>{{PAGE_NUM}}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name="HEATMAP_INDUSTRY">
    <p:spTree>
      <p:nvGrpSpPr>
        <p:cNvPr id="1" name=""/>
        <p:cNvGrpSpPr/>
        <p:nvPr/>
      </p:nvGrpSpPr>
      <p:grpSpPr/>
      <p:sp>
        <p:nvSpPr>
          <p:cNvPr id="2" name="Rectangle 1"/>
          <p:cNvSpPr/>
          <p:nvPr/>
        </p:nvSpPr>
        <p:spPr>
          <a:xfrm>
            <a:off x="457200" y="274320"/>
            <a:ext cx="73152" cy="32004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594359"/>
            <a:ext cx="73152" cy="320040"/>
          </a:xfrm>
          <a:prstGeom prst="rect">
            <a:avLst/>
          </a:prstGeom>
          <a:solidFill>
            <a:srgbClr val="B47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74320"/>
            <a:ext cx="10972800" cy="365760"/>
          </a:xfrm>
          <a:prstGeom prst="rect">
            <a:avLst/>
          </a:prstGeom>
          <a:noFill/>
        </p:spPr>
        <p:txBody>
          <a:bodyPr wrap="square" lIns="45720" rIns="45720" tIns="18288" bIns="18288" anchor="t">
            <a:spAutoFit/>
          </a:bodyPr>
          <a:lstStyle/>
          <a:p>
            <a:pPr algn="l"/>
            <a:r>
              <a:rPr sz="2400" b="1" i="0">
                <a:solidFill>
                  <a:srgbClr val="1F2937"/>
                </a:solidFill>
                <a:latin typeface="Calibri"/>
              </a:rPr>
              <a:t>{{SECTION_TITLE}}</a:t>
            </a:r>
          </a:p>
        </p:txBody>
      </p:sp>
      <p:sp>
        <p:nvSpPr>
          <p:cNvPr id="5" name="TextBox 4"/>
          <p:cNvSpPr txBox="1"/>
          <p:nvPr/>
        </p:nvSpPr>
        <p:spPr>
          <a:xfrm>
            <a:off x="594360" y="640080"/>
            <a:ext cx="10972800" cy="274320"/>
          </a:xfrm>
          <a:prstGeom prst="rect">
            <a:avLst/>
          </a:prstGeom>
          <a:noFill/>
        </p:spPr>
        <p:txBody>
          <a:bodyPr wrap="square" lIns="45720" rIns="45720" tIns="18288" bIns="18288" anchor="t">
            <a:spAutoFit/>
          </a:bodyPr>
          <a:lstStyle/>
          <a:p>
            <a:pPr algn="l"/>
            <a:r>
              <a:rPr sz="1100" b="0" i="1">
                <a:solidFill>
                  <a:srgbClr val="6B7280"/>
                </a:solidFill>
                <a:latin typeface="Calibri"/>
              </a:rPr>
              <a:t>{{SECTION_SUB}}</a:t>
            </a:r>
          </a:p>
        </p:txBody>
      </p:sp>
      <p:sp>
        <p:nvSpPr>
          <p:cNvPr id="6" name="Rectangle 5"/>
          <p:cNvSpPr/>
          <p:nvPr/>
        </p:nvSpPr>
        <p:spPr>
          <a:xfrm>
            <a:off x="548640" y="1005840"/>
            <a:ext cx="11091672" cy="18288"/>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3920" y="1280160"/>
            <a:ext cx="2743200" cy="274320"/>
          </a:xfrm>
          <a:prstGeom prst="rect">
            <a:avLst/>
          </a:prstGeom>
          <a:noFill/>
        </p:spPr>
        <p:txBody>
          <a:bodyPr wrap="square" lIns="45720" rIns="45720" tIns="18288" bIns="18288" anchor="t">
            <a:spAutoFit/>
          </a:bodyPr>
          <a:lstStyle/>
          <a:p>
            <a:pPr algn="l"/>
            <a:r>
              <a:rPr sz="900" b="1" i="0">
                <a:solidFill>
                  <a:srgbClr val="6B7280"/>
                </a:solidFill>
                <a:latin typeface="Calibri"/>
              </a:rPr>
              <a:t>THANG MÀU</a:t>
            </a:r>
          </a:p>
        </p:txBody>
      </p:sp>
      <p:sp>
        <p:nvSpPr>
          <p:cNvPr id="8" name="Rectangle 7"/>
          <p:cNvSpPr/>
          <p:nvPr/>
        </p:nvSpPr>
        <p:spPr>
          <a:xfrm>
            <a:off x="8503920" y="1554480"/>
            <a:ext cx="502920" cy="274320"/>
          </a:xfrm>
          <a:prstGeom prst="rect">
            <a:avLst/>
          </a:prstGeom>
          <a:solidFill>
            <a:srgbClr val="E1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52560" y="1554480"/>
            <a:ext cx="502920" cy="274320"/>
          </a:xfrm>
          <a:prstGeom prst="rect">
            <a:avLst/>
          </a:prstGeom>
          <a:solidFill>
            <a:srgbClr val="FD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601200" y="1554480"/>
            <a:ext cx="502920" cy="2743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149840" y="1554480"/>
            <a:ext cx="502920" cy="274320"/>
          </a:xfrm>
          <a:prstGeom prst="rect">
            <a:avLst/>
          </a:prstGeom>
          <a:solidFill>
            <a:srgbClr val="25B7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698480" y="1554480"/>
            <a:ext cx="502920" cy="27432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0" y="1874519"/>
            <a:ext cx="2743200" cy="182880"/>
          </a:xfrm>
          <a:prstGeom prst="rect">
            <a:avLst/>
          </a:prstGeom>
          <a:noFill/>
        </p:spPr>
        <p:txBody>
          <a:bodyPr wrap="square" lIns="45720" rIns="45720" tIns="18288" bIns="18288" anchor="t">
            <a:spAutoFit/>
          </a:bodyPr>
          <a:lstStyle/>
          <a:p>
            <a:pPr algn="l"/>
            <a:r>
              <a:rPr sz="900" b="0" i="0">
                <a:solidFill>
                  <a:srgbClr val="6B7280"/>
                </a:solidFill>
                <a:latin typeface="Calibri"/>
              </a:rPr>
              <a:t>Giảm   ←  →   Tăng</a:t>
            </a:r>
          </a:p>
        </p:txBody>
      </p:sp>
      <p:sp>
        <p:nvSpPr>
          <p:cNvPr id="14" name="Rounded Rectangle 13"/>
          <p:cNvSpPr/>
          <p:nvPr/>
        </p:nvSpPr>
        <p:spPr>
          <a:xfrm>
            <a:off x="548640" y="2286000"/>
            <a:ext cx="1787652" cy="1042415"/>
          </a:xfrm>
          <a:prstGeom prst="roundRect">
            <a:avLst>
              <a:gd name="adj" fmla="val 6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2377440"/>
            <a:ext cx="1604772" cy="320040"/>
          </a:xfrm>
          <a:prstGeom prst="rect">
            <a:avLst/>
          </a:prstGeom>
          <a:noFill/>
        </p:spPr>
        <p:txBody>
          <a:bodyPr wrap="square" lIns="45720" rIns="45720" tIns="18288" bIns="18288" anchor="t">
            <a:spAutoFit/>
          </a:bodyPr>
          <a:lstStyle/>
          <a:p>
            <a:pPr algn="l"/>
            <a:r>
              <a:rPr sz="900" b="1" i="0">
                <a:solidFill>
                  <a:srgbClr val="1F2937"/>
                </a:solidFill>
                <a:latin typeface="Calibri"/>
              </a:rPr>
              <a:t>{{IND_1_NAME}}</a:t>
            </a:r>
          </a:p>
        </p:txBody>
      </p:sp>
      <p:sp>
        <p:nvSpPr>
          <p:cNvPr id="16" name="TextBox 15"/>
          <p:cNvSpPr txBox="1"/>
          <p:nvPr/>
        </p:nvSpPr>
        <p:spPr>
          <a:xfrm>
            <a:off x="640080" y="2743200"/>
            <a:ext cx="1604772" cy="411480"/>
          </a:xfrm>
          <a:prstGeom prst="rect">
            <a:avLst/>
          </a:prstGeom>
          <a:noFill/>
        </p:spPr>
        <p:txBody>
          <a:bodyPr wrap="square" lIns="45720" rIns="45720" tIns="18288" bIns="18288" anchor="t">
            <a:spAutoFit/>
          </a:bodyPr>
          <a:lstStyle/>
          <a:p>
            <a:pPr algn="l"/>
            <a:r>
              <a:rPr sz="1800" b="1" i="0">
                <a:solidFill>
                  <a:srgbClr val="8B5CF6"/>
                </a:solidFill>
                <a:latin typeface="Calibri"/>
              </a:rPr>
              <a:t>{{IND_1_PCT}}</a:t>
            </a:r>
          </a:p>
        </p:txBody>
      </p:sp>
      <p:sp>
        <p:nvSpPr>
          <p:cNvPr id="17" name="TextBox 16"/>
          <p:cNvSpPr txBox="1"/>
          <p:nvPr/>
        </p:nvSpPr>
        <p:spPr>
          <a:xfrm>
            <a:off x="640080" y="3154680"/>
            <a:ext cx="1604772" cy="182880"/>
          </a:xfrm>
          <a:prstGeom prst="rect">
            <a:avLst/>
          </a:prstGeom>
          <a:noFill/>
        </p:spPr>
        <p:txBody>
          <a:bodyPr wrap="square" lIns="45720" rIns="45720" tIns="18288" bIns="18288" anchor="t">
            <a:spAutoFit/>
          </a:bodyPr>
          <a:lstStyle/>
          <a:p>
            <a:pPr algn="l"/>
            <a:r>
              <a:rPr sz="700" b="0" i="1">
                <a:solidFill>
                  <a:srgbClr val="6B7280"/>
                </a:solidFill>
                <a:latin typeface="Calibri"/>
              </a:rPr>
              <a:t>{{IND_1_NOTE}}</a:t>
            </a:r>
          </a:p>
        </p:txBody>
      </p:sp>
      <p:sp>
        <p:nvSpPr>
          <p:cNvPr id="18" name="Rounded Rectangle 17"/>
          <p:cNvSpPr/>
          <p:nvPr/>
        </p:nvSpPr>
        <p:spPr>
          <a:xfrm>
            <a:off x="2409444" y="2286000"/>
            <a:ext cx="1787652" cy="1042415"/>
          </a:xfrm>
          <a:prstGeom prst="roundRect">
            <a:avLst>
              <a:gd name="adj" fmla="val 6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500884" y="2377440"/>
            <a:ext cx="1604772" cy="320040"/>
          </a:xfrm>
          <a:prstGeom prst="rect">
            <a:avLst/>
          </a:prstGeom>
          <a:noFill/>
        </p:spPr>
        <p:txBody>
          <a:bodyPr wrap="square" lIns="45720" rIns="45720" tIns="18288" bIns="18288" anchor="t">
            <a:spAutoFit/>
          </a:bodyPr>
          <a:lstStyle/>
          <a:p>
            <a:pPr algn="l"/>
            <a:r>
              <a:rPr sz="900" b="1" i="0">
                <a:solidFill>
                  <a:srgbClr val="1F2937"/>
                </a:solidFill>
                <a:latin typeface="Calibri"/>
              </a:rPr>
              <a:t>{{IND_2_NAME}}</a:t>
            </a:r>
          </a:p>
        </p:txBody>
      </p:sp>
      <p:sp>
        <p:nvSpPr>
          <p:cNvPr id="20" name="TextBox 19"/>
          <p:cNvSpPr txBox="1"/>
          <p:nvPr/>
        </p:nvSpPr>
        <p:spPr>
          <a:xfrm>
            <a:off x="2500884" y="2743200"/>
            <a:ext cx="1604772" cy="411480"/>
          </a:xfrm>
          <a:prstGeom prst="rect">
            <a:avLst/>
          </a:prstGeom>
          <a:noFill/>
        </p:spPr>
        <p:txBody>
          <a:bodyPr wrap="square" lIns="45720" rIns="45720" tIns="18288" bIns="18288" anchor="t">
            <a:spAutoFit/>
          </a:bodyPr>
          <a:lstStyle/>
          <a:p>
            <a:pPr algn="l"/>
            <a:r>
              <a:rPr sz="1800" b="1" i="0">
                <a:solidFill>
                  <a:srgbClr val="8B5CF6"/>
                </a:solidFill>
                <a:latin typeface="Calibri"/>
              </a:rPr>
              <a:t>{{IND_2_PCT}}</a:t>
            </a:r>
          </a:p>
        </p:txBody>
      </p:sp>
      <p:sp>
        <p:nvSpPr>
          <p:cNvPr id="21" name="TextBox 20"/>
          <p:cNvSpPr txBox="1"/>
          <p:nvPr/>
        </p:nvSpPr>
        <p:spPr>
          <a:xfrm>
            <a:off x="2500884" y="3154680"/>
            <a:ext cx="1604772" cy="182880"/>
          </a:xfrm>
          <a:prstGeom prst="rect">
            <a:avLst/>
          </a:prstGeom>
          <a:noFill/>
        </p:spPr>
        <p:txBody>
          <a:bodyPr wrap="square" lIns="45720" rIns="45720" tIns="18288" bIns="18288" anchor="t">
            <a:spAutoFit/>
          </a:bodyPr>
          <a:lstStyle/>
          <a:p>
            <a:pPr algn="l"/>
            <a:r>
              <a:rPr sz="700" b="0" i="1">
                <a:solidFill>
                  <a:srgbClr val="6B7280"/>
                </a:solidFill>
                <a:latin typeface="Calibri"/>
              </a:rPr>
              <a:t>{{IND_2_NOTE}}</a:t>
            </a:r>
          </a:p>
        </p:txBody>
      </p:sp>
      <p:sp>
        <p:nvSpPr>
          <p:cNvPr id="22" name="Rounded Rectangle 21"/>
          <p:cNvSpPr/>
          <p:nvPr/>
        </p:nvSpPr>
        <p:spPr>
          <a:xfrm>
            <a:off x="4270248" y="2286000"/>
            <a:ext cx="1787652" cy="1042415"/>
          </a:xfrm>
          <a:prstGeom prst="roundRect">
            <a:avLst>
              <a:gd name="adj" fmla="val 6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61688" y="2377440"/>
            <a:ext cx="1604772" cy="320040"/>
          </a:xfrm>
          <a:prstGeom prst="rect">
            <a:avLst/>
          </a:prstGeom>
          <a:noFill/>
        </p:spPr>
        <p:txBody>
          <a:bodyPr wrap="square" lIns="45720" rIns="45720" tIns="18288" bIns="18288" anchor="t">
            <a:spAutoFit/>
          </a:bodyPr>
          <a:lstStyle/>
          <a:p>
            <a:pPr algn="l"/>
            <a:r>
              <a:rPr sz="900" b="1" i="0">
                <a:solidFill>
                  <a:srgbClr val="1F2937"/>
                </a:solidFill>
                <a:latin typeface="Calibri"/>
              </a:rPr>
              <a:t>{{IND_3_NAME}}</a:t>
            </a:r>
          </a:p>
        </p:txBody>
      </p:sp>
      <p:sp>
        <p:nvSpPr>
          <p:cNvPr id="24" name="TextBox 23"/>
          <p:cNvSpPr txBox="1"/>
          <p:nvPr/>
        </p:nvSpPr>
        <p:spPr>
          <a:xfrm>
            <a:off x="4361688" y="2743200"/>
            <a:ext cx="1604772" cy="411480"/>
          </a:xfrm>
          <a:prstGeom prst="rect">
            <a:avLst/>
          </a:prstGeom>
          <a:noFill/>
        </p:spPr>
        <p:txBody>
          <a:bodyPr wrap="square" lIns="45720" rIns="45720" tIns="18288" bIns="18288" anchor="t">
            <a:spAutoFit/>
          </a:bodyPr>
          <a:lstStyle/>
          <a:p>
            <a:pPr algn="l"/>
            <a:r>
              <a:rPr sz="1800" b="1" i="0">
                <a:solidFill>
                  <a:srgbClr val="8B5CF6"/>
                </a:solidFill>
                <a:latin typeface="Calibri"/>
              </a:rPr>
              <a:t>{{IND_3_PCT}}</a:t>
            </a:r>
          </a:p>
        </p:txBody>
      </p:sp>
      <p:sp>
        <p:nvSpPr>
          <p:cNvPr id="25" name="TextBox 24"/>
          <p:cNvSpPr txBox="1"/>
          <p:nvPr/>
        </p:nvSpPr>
        <p:spPr>
          <a:xfrm>
            <a:off x="4361688" y="3154680"/>
            <a:ext cx="1604772" cy="182880"/>
          </a:xfrm>
          <a:prstGeom prst="rect">
            <a:avLst/>
          </a:prstGeom>
          <a:noFill/>
        </p:spPr>
        <p:txBody>
          <a:bodyPr wrap="square" lIns="45720" rIns="45720" tIns="18288" bIns="18288" anchor="t">
            <a:spAutoFit/>
          </a:bodyPr>
          <a:lstStyle/>
          <a:p>
            <a:pPr algn="l"/>
            <a:r>
              <a:rPr sz="700" b="0" i="1">
                <a:solidFill>
                  <a:srgbClr val="6B7280"/>
                </a:solidFill>
                <a:latin typeface="Calibri"/>
              </a:rPr>
              <a:t>{{IND_3_NOTE}}</a:t>
            </a:r>
          </a:p>
        </p:txBody>
      </p:sp>
      <p:sp>
        <p:nvSpPr>
          <p:cNvPr id="26" name="Rounded Rectangle 25"/>
          <p:cNvSpPr/>
          <p:nvPr/>
        </p:nvSpPr>
        <p:spPr>
          <a:xfrm>
            <a:off x="6131052" y="2286000"/>
            <a:ext cx="1787652" cy="1042415"/>
          </a:xfrm>
          <a:prstGeom prst="roundRect">
            <a:avLst>
              <a:gd name="adj" fmla="val 6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22492" y="2377440"/>
            <a:ext cx="1604772" cy="320040"/>
          </a:xfrm>
          <a:prstGeom prst="rect">
            <a:avLst/>
          </a:prstGeom>
          <a:noFill/>
        </p:spPr>
        <p:txBody>
          <a:bodyPr wrap="square" lIns="45720" rIns="45720" tIns="18288" bIns="18288" anchor="t">
            <a:spAutoFit/>
          </a:bodyPr>
          <a:lstStyle/>
          <a:p>
            <a:pPr algn="l"/>
            <a:r>
              <a:rPr sz="900" b="1" i="0">
                <a:solidFill>
                  <a:srgbClr val="1F2937"/>
                </a:solidFill>
                <a:latin typeface="Calibri"/>
              </a:rPr>
              <a:t>{{IND_4_NAME}}</a:t>
            </a:r>
          </a:p>
        </p:txBody>
      </p:sp>
      <p:sp>
        <p:nvSpPr>
          <p:cNvPr id="28" name="TextBox 27"/>
          <p:cNvSpPr txBox="1"/>
          <p:nvPr/>
        </p:nvSpPr>
        <p:spPr>
          <a:xfrm>
            <a:off x="6222492" y="2743200"/>
            <a:ext cx="1604772" cy="411480"/>
          </a:xfrm>
          <a:prstGeom prst="rect">
            <a:avLst/>
          </a:prstGeom>
          <a:noFill/>
        </p:spPr>
        <p:txBody>
          <a:bodyPr wrap="square" lIns="45720" rIns="45720" tIns="18288" bIns="18288" anchor="t">
            <a:spAutoFit/>
          </a:bodyPr>
          <a:lstStyle/>
          <a:p>
            <a:pPr algn="l"/>
            <a:r>
              <a:rPr sz="1800" b="1" i="0">
                <a:solidFill>
                  <a:srgbClr val="8B5CF6"/>
                </a:solidFill>
                <a:latin typeface="Calibri"/>
              </a:rPr>
              <a:t>{{IND_4_PCT}}</a:t>
            </a:r>
          </a:p>
        </p:txBody>
      </p:sp>
      <p:sp>
        <p:nvSpPr>
          <p:cNvPr id="29" name="TextBox 28"/>
          <p:cNvSpPr txBox="1"/>
          <p:nvPr/>
        </p:nvSpPr>
        <p:spPr>
          <a:xfrm>
            <a:off x="6222492" y="3154680"/>
            <a:ext cx="1604772" cy="182880"/>
          </a:xfrm>
          <a:prstGeom prst="rect">
            <a:avLst/>
          </a:prstGeom>
          <a:noFill/>
        </p:spPr>
        <p:txBody>
          <a:bodyPr wrap="square" lIns="45720" rIns="45720" tIns="18288" bIns="18288" anchor="t">
            <a:spAutoFit/>
          </a:bodyPr>
          <a:lstStyle/>
          <a:p>
            <a:pPr algn="l"/>
            <a:r>
              <a:rPr sz="700" b="0" i="1">
                <a:solidFill>
                  <a:srgbClr val="6B7280"/>
                </a:solidFill>
                <a:latin typeface="Calibri"/>
              </a:rPr>
              <a:t>{{IND_4_NOTE}}</a:t>
            </a:r>
          </a:p>
        </p:txBody>
      </p:sp>
      <p:sp>
        <p:nvSpPr>
          <p:cNvPr id="30" name="Rounded Rectangle 29"/>
          <p:cNvSpPr/>
          <p:nvPr/>
        </p:nvSpPr>
        <p:spPr>
          <a:xfrm>
            <a:off x="7991856" y="2286000"/>
            <a:ext cx="1787652" cy="1042415"/>
          </a:xfrm>
          <a:prstGeom prst="roundRect">
            <a:avLst>
              <a:gd name="adj" fmla="val 6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83296" y="2377440"/>
            <a:ext cx="1604772" cy="320040"/>
          </a:xfrm>
          <a:prstGeom prst="rect">
            <a:avLst/>
          </a:prstGeom>
          <a:noFill/>
        </p:spPr>
        <p:txBody>
          <a:bodyPr wrap="square" lIns="45720" rIns="45720" tIns="18288" bIns="18288" anchor="t">
            <a:spAutoFit/>
          </a:bodyPr>
          <a:lstStyle/>
          <a:p>
            <a:pPr algn="l"/>
            <a:r>
              <a:rPr sz="900" b="1" i="0">
                <a:solidFill>
                  <a:srgbClr val="1F2937"/>
                </a:solidFill>
                <a:latin typeface="Calibri"/>
              </a:rPr>
              <a:t>{{IND_5_NAME}}</a:t>
            </a:r>
          </a:p>
        </p:txBody>
      </p:sp>
      <p:sp>
        <p:nvSpPr>
          <p:cNvPr id="32" name="TextBox 31"/>
          <p:cNvSpPr txBox="1"/>
          <p:nvPr/>
        </p:nvSpPr>
        <p:spPr>
          <a:xfrm>
            <a:off x="8083296" y="2743200"/>
            <a:ext cx="1604772" cy="411480"/>
          </a:xfrm>
          <a:prstGeom prst="rect">
            <a:avLst/>
          </a:prstGeom>
          <a:noFill/>
        </p:spPr>
        <p:txBody>
          <a:bodyPr wrap="square" lIns="45720" rIns="45720" tIns="18288" bIns="18288" anchor="t">
            <a:spAutoFit/>
          </a:bodyPr>
          <a:lstStyle/>
          <a:p>
            <a:pPr algn="l"/>
            <a:r>
              <a:rPr sz="1800" b="1" i="0">
                <a:solidFill>
                  <a:srgbClr val="8B5CF6"/>
                </a:solidFill>
                <a:latin typeface="Calibri"/>
              </a:rPr>
              <a:t>{{IND_5_PCT}}</a:t>
            </a:r>
          </a:p>
        </p:txBody>
      </p:sp>
      <p:sp>
        <p:nvSpPr>
          <p:cNvPr id="33" name="TextBox 32"/>
          <p:cNvSpPr txBox="1"/>
          <p:nvPr/>
        </p:nvSpPr>
        <p:spPr>
          <a:xfrm>
            <a:off x="8083296" y="3154680"/>
            <a:ext cx="1604772" cy="182880"/>
          </a:xfrm>
          <a:prstGeom prst="rect">
            <a:avLst/>
          </a:prstGeom>
          <a:noFill/>
        </p:spPr>
        <p:txBody>
          <a:bodyPr wrap="square" lIns="45720" rIns="45720" tIns="18288" bIns="18288" anchor="t">
            <a:spAutoFit/>
          </a:bodyPr>
          <a:lstStyle/>
          <a:p>
            <a:pPr algn="l"/>
            <a:r>
              <a:rPr sz="700" b="0" i="1">
                <a:solidFill>
                  <a:srgbClr val="6B7280"/>
                </a:solidFill>
                <a:latin typeface="Calibri"/>
              </a:rPr>
              <a:t>{{IND_5_NOTE}}</a:t>
            </a:r>
          </a:p>
        </p:txBody>
      </p:sp>
      <p:sp>
        <p:nvSpPr>
          <p:cNvPr id="34" name="Rounded Rectangle 33"/>
          <p:cNvSpPr/>
          <p:nvPr/>
        </p:nvSpPr>
        <p:spPr>
          <a:xfrm>
            <a:off x="9852660" y="2286000"/>
            <a:ext cx="1787652" cy="1042415"/>
          </a:xfrm>
          <a:prstGeom prst="roundRect">
            <a:avLst>
              <a:gd name="adj" fmla="val 6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944100" y="2377440"/>
            <a:ext cx="1604772" cy="320040"/>
          </a:xfrm>
          <a:prstGeom prst="rect">
            <a:avLst/>
          </a:prstGeom>
          <a:noFill/>
        </p:spPr>
        <p:txBody>
          <a:bodyPr wrap="square" lIns="45720" rIns="45720" tIns="18288" bIns="18288" anchor="t">
            <a:spAutoFit/>
          </a:bodyPr>
          <a:lstStyle/>
          <a:p>
            <a:pPr algn="l"/>
            <a:r>
              <a:rPr sz="900" b="1" i="0">
                <a:solidFill>
                  <a:srgbClr val="1F2937"/>
                </a:solidFill>
                <a:latin typeface="Calibri"/>
              </a:rPr>
              <a:t>{{IND_6_NAME}}</a:t>
            </a:r>
          </a:p>
        </p:txBody>
      </p:sp>
      <p:sp>
        <p:nvSpPr>
          <p:cNvPr id="36" name="TextBox 35"/>
          <p:cNvSpPr txBox="1"/>
          <p:nvPr/>
        </p:nvSpPr>
        <p:spPr>
          <a:xfrm>
            <a:off x="9944100" y="2743200"/>
            <a:ext cx="1604772" cy="411480"/>
          </a:xfrm>
          <a:prstGeom prst="rect">
            <a:avLst/>
          </a:prstGeom>
          <a:noFill/>
        </p:spPr>
        <p:txBody>
          <a:bodyPr wrap="square" lIns="45720" rIns="45720" tIns="18288" bIns="18288" anchor="t">
            <a:spAutoFit/>
          </a:bodyPr>
          <a:lstStyle/>
          <a:p>
            <a:pPr algn="l"/>
            <a:r>
              <a:rPr sz="1800" b="1" i="0">
                <a:solidFill>
                  <a:srgbClr val="8B5CF6"/>
                </a:solidFill>
                <a:latin typeface="Calibri"/>
              </a:rPr>
              <a:t>{{IND_6_PCT}}</a:t>
            </a:r>
          </a:p>
        </p:txBody>
      </p:sp>
      <p:sp>
        <p:nvSpPr>
          <p:cNvPr id="37" name="TextBox 36"/>
          <p:cNvSpPr txBox="1"/>
          <p:nvPr/>
        </p:nvSpPr>
        <p:spPr>
          <a:xfrm>
            <a:off x="9944100" y="3154680"/>
            <a:ext cx="1604772" cy="182880"/>
          </a:xfrm>
          <a:prstGeom prst="rect">
            <a:avLst/>
          </a:prstGeom>
          <a:noFill/>
        </p:spPr>
        <p:txBody>
          <a:bodyPr wrap="square" lIns="45720" rIns="45720" tIns="18288" bIns="18288" anchor="t">
            <a:spAutoFit/>
          </a:bodyPr>
          <a:lstStyle/>
          <a:p>
            <a:pPr algn="l"/>
            <a:r>
              <a:rPr sz="700" b="0" i="1">
                <a:solidFill>
                  <a:srgbClr val="6B7280"/>
                </a:solidFill>
                <a:latin typeface="Calibri"/>
              </a:rPr>
              <a:t>{{IND_6_NOTE}}</a:t>
            </a:r>
          </a:p>
        </p:txBody>
      </p:sp>
      <p:sp>
        <p:nvSpPr>
          <p:cNvPr id="38" name="Rounded Rectangle 37"/>
          <p:cNvSpPr/>
          <p:nvPr/>
        </p:nvSpPr>
        <p:spPr>
          <a:xfrm>
            <a:off x="548640" y="3401568"/>
            <a:ext cx="1787652" cy="1042415"/>
          </a:xfrm>
          <a:prstGeom prst="roundRect">
            <a:avLst>
              <a:gd name="adj" fmla="val 6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0080" y="3493008"/>
            <a:ext cx="1604772" cy="320040"/>
          </a:xfrm>
          <a:prstGeom prst="rect">
            <a:avLst/>
          </a:prstGeom>
          <a:noFill/>
        </p:spPr>
        <p:txBody>
          <a:bodyPr wrap="square" lIns="45720" rIns="45720" tIns="18288" bIns="18288" anchor="t">
            <a:spAutoFit/>
          </a:bodyPr>
          <a:lstStyle/>
          <a:p>
            <a:pPr algn="l"/>
            <a:r>
              <a:rPr sz="900" b="1" i="0">
                <a:solidFill>
                  <a:srgbClr val="1F2937"/>
                </a:solidFill>
                <a:latin typeface="Calibri"/>
              </a:rPr>
              <a:t>{{IND_7_NAME}}</a:t>
            </a:r>
          </a:p>
        </p:txBody>
      </p:sp>
      <p:sp>
        <p:nvSpPr>
          <p:cNvPr id="40" name="TextBox 39"/>
          <p:cNvSpPr txBox="1"/>
          <p:nvPr/>
        </p:nvSpPr>
        <p:spPr>
          <a:xfrm>
            <a:off x="640080" y="3858768"/>
            <a:ext cx="1604772" cy="411480"/>
          </a:xfrm>
          <a:prstGeom prst="rect">
            <a:avLst/>
          </a:prstGeom>
          <a:noFill/>
        </p:spPr>
        <p:txBody>
          <a:bodyPr wrap="square" lIns="45720" rIns="45720" tIns="18288" bIns="18288" anchor="t">
            <a:spAutoFit/>
          </a:bodyPr>
          <a:lstStyle/>
          <a:p>
            <a:pPr algn="l"/>
            <a:r>
              <a:rPr sz="1800" b="1" i="0">
                <a:solidFill>
                  <a:srgbClr val="8B5CF6"/>
                </a:solidFill>
                <a:latin typeface="Calibri"/>
              </a:rPr>
              <a:t>{{IND_7_PCT}}</a:t>
            </a:r>
          </a:p>
        </p:txBody>
      </p:sp>
      <p:sp>
        <p:nvSpPr>
          <p:cNvPr id="41" name="TextBox 40"/>
          <p:cNvSpPr txBox="1"/>
          <p:nvPr/>
        </p:nvSpPr>
        <p:spPr>
          <a:xfrm>
            <a:off x="640080" y="4270248"/>
            <a:ext cx="1604772" cy="182880"/>
          </a:xfrm>
          <a:prstGeom prst="rect">
            <a:avLst/>
          </a:prstGeom>
          <a:noFill/>
        </p:spPr>
        <p:txBody>
          <a:bodyPr wrap="square" lIns="45720" rIns="45720" tIns="18288" bIns="18288" anchor="t">
            <a:spAutoFit/>
          </a:bodyPr>
          <a:lstStyle/>
          <a:p>
            <a:pPr algn="l"/>
            <a:r>
              <a:rPr sz="700" b="0" i="1">
                <a:solidFill>
                  <a:srgbClr val="6B7280"/>
                </a:solidFill>
                <a:latin typeface="Calibri"/>
              </a:rPr>
              <a:t>{{IND_7_NOTE}}</a:t>
            </a:r>
          </a:p>
        </p:txBody>
      </p:sp>
      <p:sp>
        <p:nvSpPr>
          <p:cNvPr id="42" name="Rounded Rectangle 41"/>
          <p:cNvSpPr/>
          <p:nvPr/>
        </p:nvSpPr>
        <p:spPr>
          <a:xfrm>
            <a:off x="2409444" y="3401568"/>
            <a:ext cx="1787652" cy="1042415"/>
          </a:xfrm>
          <a:prstGeom prst="roundRect">
            <a:avLst>
              <a:gd name="adj" fmla="val 6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500884" y="3493008"/>
            <a:ext cx="1604772" cy="320040"/>
          </a:xfrm>
          <a:prstGeom prst="rect">
            <a:avLst/>
          </a:prstGeom>
          <a:noFill/>
        </p:spPr>
        <p:txBody>
          <a:bodyPr wrap="square" lIns="45720" rIns="45720" tIns="18288" bIns="18288" anchor="t">
            <a:spAutoFit/>
          </a:bodyPr>
          <a:lstStyle/>
          <a:p>
            <a:pPr algn="l"/>
            <a:r>
              <a:rPr sz="900" b="1" i="0">
                <a:solidFill>
                  <a:srgbClr val="1F2937"/>
                </a:solidFill>
                <a:latin typeface="Calibri"/>
              </a:rPr>
              <a:t>{{IND_8_NAME}}</a:t>
            </a:r>
          </a:p>
        </p:txBody>
      </p:sp>
      <p:sp>
        <p:nvSpPr>
          <p:cNvPr id="44" name="TextBox 43"/>
          <p:cNvSpPr txBox="1"/>
          <p:nvPr/>
        </p:nvSpPr>
        <p:spPr>
          <a:xfrm>
            <a:off x="2500884" y="3858768"/>
            <a:ext cx="1604772" cy="411480"/>
          </a:xfrm>
          <a:prstGeom prst="rect">
            <a:avLst/>
          </a:prstGeom>
          <a:noFill/>
        </p:spPr>
        <p:txBody>
          <a:bodyPr wrap="square" lIns="45720" rIns="45720" tIns="18288" bIns="18288" anchor="t">
            <a:spAutoFit/>
          </a:bodyPr>
          <a:lstStyle/>
          <a:p>
            <a:pPr algn="l"/>
            <a:r>
              <a:rPr sz="1800" b="1" i="0">
                <a:solidFill>
                  <a:srgbClr val="8B5CF6"/>
                </a:solidFill>
                <a:latin typeface="Calibri"/>
              </a:rPr>
              <a:t>{{IND_8_PCT}}</a:t>
            </a:r>
          </a:p>
        </p:txBody>
      </p:sp>
      <p:sp>
        <p:nvSpPr>
          <p:cNvPr id="45" name="TextBox 44"/>
          <p:cNvSpPr txBox="1"/>
          <p:nvPr/>
        </p:nvSpPr>
        <p:spPr>
          <a:xfrm>
            <a:off x="2500884" y="4270248"/>
            <a:ext cx="1604772" cy="182880"/>
          </a:xfrm>
          <a:prstGeom prst="rect">
            <a:avLst/>
          </a:prstGeom>
          <a:noFill/>
        </p:spPr>
        <p:txBody>
          <a:bodyPr wrap="square" lIns="45720" rIns="45720" tIns="18288" bIns="18288" anchor="t">
            <a:spAutoFit/>
          </a:bodyPr>
          <a:lstStyle/>
          <a:p>
            <a:pPr algn="l"/>
            <a:r>
              <a:rPr sz="700" b="0" i="1">
                <a:solidFill>
                  <a:srgbClr val="6B7280"/>
                </a:solidFill>
                <a:latin typeface="Calibri"/>
              </a:rPr>
              <a:t>{{IND_8_NOTE}}</a:t>
            </a:r>
          </a:p>
        </p:txBody>
      </p:sp>
      <p:sp>
        <p:nvSpPr>
          <p:cNvPr id="46" name="Rounded Rectangle 45"/>
          <p:cNvSpPr/>
          <p:nvPr/>
        </p:nvSpPr>
        <p:spPr>
          <a:xfrm>
            <a:off x="4270248" y="3401568"/>
            <a:ext cx="1787652" cy="1042415"/>
          </a:xfrm>
          <a:prstGeom prst="roundRect">
            <a:avLst>
              <a:gd name="adj" fmla="val 6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361688" y="3493008"/>
            <a:ext cx="1604772" cy="320040"/>
          </a:xfrm>
          <a:prstGeom prst="rect">
            <a:avLst/>
          </a:prstGeom>
          <a:noFill/>
        </p:spPr>
        <p:txBody>
          <a:bodyPr wrap="square" lIns="45720" rIns="45720" tIns="18288" bIns="18288" anchor="t">
            <a:spAutoFit/>
          </a:bodyPr>
          <a:lstStyle/>
          <a:p>
            <a:pPr algn="l"/>
            <a:r>
              <a:rPr sz="900" b="1" i="0">
                <a:solidFill>
                  <a:srgbClr val="1F2937"/>
                </a:solidFill>
                <a:latin typeface="Calibri"/>
              </a:rPr>
              <a:t>{{IND_9_NAME}}</a:t>
            </a:r>
          </a:p>
        </p:txBody>
      </p:sp>
      <p:sp>
        <p:nvSpPr>
          <p:cNvPr id="48" name="TextBox 47"/>
          <p:cNvSpPr txBox="1"/>
          <p:nvPr/>
        </p:nvSpPr>
        <p:spPr>
          <a:xfrm>
            <a:off x="4361688" y="3858768"/>
            <a:ext cx="1604772" cy="411480"/>
          </a:xfrm>
          <a:prstGeom prst="rect">
            <a:avLst/>
          </a:prstGeom>
          <a:noFill/>
        </p:spPr>
        <p:txBody>
          <a:bodyPr wrap="square" lIns="45720" rIns="45720" tIns="18288" bIns="18288" anchor="t">
            <a:spAutoFit/>
          </a:bodyPr>
          <a:lstStyle/>
          <a:p>
            <a:pPr algn="l"/>
            <a:r>
              <a:rPr sz="1800" b="1" i="0">
                <a:solidFill>
                  <a:srgbClr val="8B5CF6"/>
                </a:solidFill>
                <a:latin typeface="Calibri"/>
              </a:rPr>
              <a:t>{{IND_9_PCT}}</a:t>
            </a:r>
          </a:p>
        </p:txBody>
      </p:sp>
      <p:sp>
        <p:nvSpPr>
          <p:cNvPr id="49" name="TextBox 48"/>
          <p:cNvSpPr txBox="1"/>
          <p:nvPr/>
        </p:nvSpPr>
        <p:spPr>
          <a:xfrm>
            <a:off x="4361688" y="4270248"/>
            <a:ext cx="1604772" cy="182880"/>
          </a:xfrm>
          <a:prstGeom prst="rect">
            <a:avLst/>
          </a:prstGeom>
          <a:noFill/>
        </p:spPr>
        <p:txBody>
          <a:bodyPr wrap="square" lIns="45720" rIns="45720" tIns="18288" bIns="18288" anchor="t">
            <a:spAutoFit/>
          </a:bodyPr>
          <a:lstStyle/>
          <a:p>
            <a:pPr algn="l"/>
            <a:r>
              <a:rPr sz="700" b="0" i="1">
                <a:solidFill>
                  <a:srgbClr val="6B7280"/>
                </a:solidFill>
                <a:latin typeface="Calibri"/>
              </a:rPr>
              <a:t>{{IND_9_NOTE}}</a:t>
            </a:r>
          </a:p>
        </p:txBody>
      </p:sp>
      <p:sp>
        <p:nvSpPr>
          <p:cNvPr id="50" name="Rounded Rectangle 49"/>
          <p:cNvSpPr/>
          <p:nvPr/>
        </p:nvSpPr>
        <p:spPr>
          <a:xfrm>
            <a:off x="6131052" y="3401568"/>
            <a:ext cx="1787652" cy="1042415"/>
          </a:xfrm>
          <a:prstGeom prst="roundRect">
            <a:avLst>
              <a:gd name="adj" fmla="val 6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222492" y="3493008"/>
            <a:ext cx="1604772" cy="320040"/>
          </a:xfrm>
          <a:prstGeom prst="rect">
            <a:avLst/>
          </a:prstGeom>
          <a:noFill/>
        </p:spPr>
        <p:txBody>
          <a:bodyPr wrap="square" lIns="45720" rIns="45720" tIns="18288" bIns="18288" anchor="t">
            <a:spAutoFit/>
          </a:bodyPr>
          <a:lstStyle/>
          <a:p>
            <a:pPr algn="l"/>
            <a:r>
              <a:rPr sz="900" b="1" i="0">
                <a:solidFill>
                  <a:srgbClr val="1F2937"/>
                </a:solidFill>
                <a:latin typeface="Calibri"/>
              </a:rPr>
              <a:t>{{IND_10_NAME}}</a:t>
            </a:r>
          </a:p>
        </p:txBody>
      </p:sp>
      <p:sp>
        <p:nvSpPr>
          <p:cNvPr id="52" name="TextBox 51"/>
          <p:cNvSpPr txBox="1"/>
          <p:nvPr/>
        </p:nvSpPr>
        <p:spPr>
          <a:xfrm>
            <a:off x="6222492" y="3858768"/>
            <a:ext cx="1604772" cy="411480"/>
          </a:xfrm>
          <a:prstGeom prst="rect">
            <a:avLst/>
          </a:prstGeom>
          <a:noFill/>
        </p:spPr>
        <p:txBody>
          <a:bodyPr wrap="square" lIns="45720" rIns="45720" tIns="18288" bIns="18288" anchor="t">
            <a:spAutoFit/>
          </a:bodyPr>
          <a:lstStyle/>
          <a:p>
            <a:pPr algn="l"/>
            <a:r>
              <a:rPr sz="1800" b="1" i="0">
                <a:solidFill>
                  <a:srgbClr val="8B5CF6"/>
                </a:solidFill>
                <a:latin typeface="Calibri"/>
              </a:rPr>
              <a:t>{{IND_10_PCT}}</a:t>
            </a:r>
          </a:p>
        </p:txBody>
      </p:sp>
      <p:sp>
        <p:nvSpPr>
          <p:cNvPr id="53" name="TextBox 52"/>
          <p:cNvSpPr txBox="1"/>
          <p:nvPr/>
        </p:nvSpPr>
        <p:spPr>
          <a:xfrm>
            <a:off x="6222492" y="4270248"/>
            <a:ext cx="1604772" cy="182880"/>
          </a:xfrm>
          <a:prstGeom prst="rect">
            <a:avLst/>
          </a:prstGeom>
          <a:noFill/>
        </p:spPr>
        <p:txBody>
          <a:bodyPr wrap="square" lIns="45720" rIns="45720" tIns="18288" bIns="18288" anchor="t">
            <a:spAutoFit/>
          </a:bodyPr>
          <a:lstStyle/>
          <a:p>
            <a:pPr algn="l"/>
            <a:r>
              <a:rPr sz="700" b="0" i="1">
                <a:solidFill>
                  <a:srgbClr val="6B7280"/>
                </a:solidFill>
                <a:latin typeface="Calibri"/>
              </a:rPr>
              <a:t>{{IND_10_NOTE}}</a:t>
            </a:r>
          </a:p>
        </p:txBody>
      </p:sp>
      <p:sp>
        <p:nvSpPr>
          <p:cNvPr id="54" name="Rounded Rectangle 53"/>
          <p:cNvSpPr/>
          <p:nvPr/>
        </p:nvSpPr>
        <p:spPr>
          <a:xfrm>
            <a:off x="7991856" y="3401568"/>
            <a:ext cx="1787652" cy="1042415"/>
          </a:xfrm>
          <a:prstGeom prst="roundRect">
            <a:avLst>
              <a:gd name="adj" fmla="val 6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083296" y="3493008"/>
            <a:ext cx="1604772" cy="320040"/>
          </a:xfrm>
          <a:prstGeom prst="rect">
            <a:avLst/>
          </a:prstGeom>
          <a:noFill/>
        </p:spPr>
        <p:txBody>
          <a:bodyPr wrap="square" lIns="45720" rIns="45720" tIns="18288" bIns="18288" anchor="t">
            <a:spAutoFit/>
          </a:bodyPr>
          <a:lstStyle/>
          <a:p>
            <a:pPr algn="l"/>
            <a:r>
              <a:rPr sz="900" b="1" i="0">
                <a:solidFill>
                  <a:srgbClr val="1F2937"/>
                </a:solidFill>
                <a:latin typeface="Calibri"/>
              </a:rPr>
              <a:t>{{IND_11_NAME}}</a:t>
            </a:r>
          </a:p>
        </p:txBody>
      </p:sp>
      <p:sp>
        <p:nvSpPr>
          <p:cNvPr id="56" name="TextBox 55"/>
          <p:cNvSpPr txBox="1"/>
          <p:nvPr/>
        </p:nvSpPr>
        <p:spPr>
          <a:xfrm>
            <a:off x="8083296" y="3858768"/>
            <a:ext cx="1604772" cy="411480"/>
          </a:xfrm>
          <a:prstGeom prst="rect">
            <a:avLst/>
          </a:prstGeom>
          <a:noFill/>
        </p:spPr>
        <p:txBody>
          <a:bodyPr wrap="square" lIns="45720" rIns="45720" tIns="18288" bIns="18288" anchor="t">
            <a:spAutoFit/>
          </a:bodyPr>
          <a:lstStyle/>
          <a:p>
            <a:pPr algn="l"/>
            <a:r>
              <a:rPr sz="1800" b="1" i="0">
                <a:solidFill>
                  <a:srgbClr val="8B5CF6"/>
                </a:solidFill>
                <a:latin typeface="Calibri"/>
              </a:rPr>
              <a:t>{{IND_11_PCT}}</a:t>
            </a:r>
          </a:p>
        </p:txBody>
      </p:sp>
      <p:sp>
        <p:nvSpPr>
          <p:cNvPr id="57" name="TextBox 56"/>
          <p:cNvSpPr txBox="1"/>
          <p:nvPr/>
        </p:nvSpPr>
        <p:spPr>
          <a:xfrm>
            <a:off x="8083296" y="4270248"/>
            <a:ext cx="1604772" cy="182880"/>
          </a:xfrm>
          <a:prstGeom prst="rect">
            <a:avLst/>
          </a:prstGeom>
          <a:noFill/>
        </p:spPr>
        <p:txBody>
          <a:bodyPr wrap="square" lIns="45720" rIns="45720" tIns="18288" bIns="18288" anchor="t">
            <a:spAutoFit/>
          </a:bodyPr>
          <a:lstStyle/>
          <a:p>
            <a:pPr algn="l"/>
            <a:r>
              <a:rPr sz="700" b="0" i="1">
                <a:solidFill>
                  <a:srgbClr val="6B7280"/>
                </a:solidFill>
                <a:latin typeface="Calibri"/>
              </a:rPr>
              <a:t>{{IND_11_NOTE}}</a:t>
            </a:r>
          </a:p>
        </p:txBody>
      </p:sp>
      <p:sp>
        <p:nvSpPr>
          <p:cNvPr id="58" name="Rounded Rectangle 57"/>
          <p:cNvSpPr/>
          <p:nvPr/>
        </p:nvSpPr>
        <p:spPr>
          <a:xfrm>
            <a:off x="9852660" y="3401568"/>
            <a:ext cx="1787652" cy="1042415"/>
          </a:xfrm>
          <a:prstGeom prst="roundRect">
            <a:avLst>
              <a:gd name="adj" fmla="val 6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944100" y="3493008"/>
            <a:ext cx="1604772" cy="320040"/>
          </a:xfrm>
          <a:prstGeom prst="rect">
            <a:avLst/>
          </a:prstGeom>
          <a:noFill/>
        </p:spPr>
        <p:txBody>
          <a:bodyPr wrap="square" lIns="45720" rIns="45720" tIns="18288" bIns="18288" anchor="t">
            <a:spAutoFit/>
          </a:bodyPr>
          <a:lstStyle/>
          <a:p>
            <a:pPr algn="l"/>
            <a:r>
              <a:rPr sz="900" b="1" i="0">
                <a:solidFill>
                  <a:srgbClr val="1F2937"/>
                </a:solidFill>
                <a:latin typeface="Calibri"/>
              </a:rPr>
              <a:t>{{IND_12_NAME}}</a:t>
            </a:r>
          </a:p>
        </p:txBody>
      </p:sp>
      <p:sp>
        <p:nvSpPr>
          <p:cNvPr id="60" name="TextBox 59"/>
          <p:cNvSpPr txBox="1"/>
          <p:nvPr/>
        </p:nvSpPr>
        <p:spPr>
          <a:xfrm>
            <a:off x="9944100" y="3858768"/>
            <a:ext cx="1604772" cy="411480"/>
          </a:xfrm>
          <a:prstGeom prst="rect">
            <a:avLst/>
          </a:prstGeom>
          <a:noFill/>
        </p:spPr>
        <p:txBody>
          <a:bodyPr wrap="square" lIns="45720" rIns="45720" tIns="18288" bIns="18288" anchor="t">
            <a:spAutoFit/>
          </a:bodyPr>
          <a:lstStyle/>
          <a:p>
            <a:pPr algn="l"/>
            <a:r>
              <a:rPr sz="1800" b="1" i="0">
                <a:solidFill>
                  <a:srgbClr val="8B5CF6"/>
                </a:solidFill>
                <a:latin typeface="Calibri"/>
              </a:rPr>
              <a:t>{{IND_12_PCT}}</a:t>
            </a:r>
          </a:p>
        </p:txBody>
      </p:sp>
      <p:sp>
        <p:nvSpPr>
          <p:cNvPr id="61" name="TextBox 60"/>
          <p:cNvSpPr txBox="1"/>
          <p:nvPr/>
        </p:nvSpPr>
        <p:spPr>
          <a:xfrm>
            <a:off x="9944100" y="4270248"/>
            <a:ext cx="1604772" cy="182880"/>
          </a:xfrm>
          <a:prstGeom prst="rect">
            <a:avLst/>
          </a:prstGeom>
          <a:noFill/>
        </p:spPr>
        <p:txBody>
          <a:bodyPr wrap="square" lIns="45720" rIns="45720" tIns="18288" bIns="18288" anchor="t">
            <a:spAutoFit/>
          </a:bodyPr>
          <a:lstStyle/>
          <a:p>
            <a:pPr algn="l"/>
            <a:r>
              <a:rPr sz="700" b="0" i="1">
                <a:solidFill>
                  <a:srgbClr val="6B7280"/>
                </a:solidFill>
                <a:latin typeface="Calibri"/>
              </a:rPr>
              <a:t>{{IND_12_NOTE}}</a:t>
            </a:r>
          </a:p>
        </p:txBody>
      </p:sp>
      <p:sp>
        <p:nvSpPr>
          <p:cNvPr id="62" name="Rounded Rectangle 61"/>
          <p:cNvSpPr/>
          <p:nvPr/>
        </p:nvSpPr>
        <p:spPr>
          <a:xfrm>
            <a:off x="548640" y="4517136"/>
            <a:ext cx="1787652" cy="1042415"/>
          </a:xfrm>
          <a:prstGeom prst="roundRect">
            <a:avLst>
              <a:gd name="adj" fmla="val 6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40080" y="4608575"/>
            <a:ext cx="1604772" cy="320040"/>
          </a:xfrm>
          <a:prstGeom prst="rect">
            <a:avLst/>
          </a:prstGeom>
          <a:noFill/>
        </p:spPr>
        <p:txBody>
          <a:bodyPr wrap="square" lIns="45720" rIns="45720" tIns="18288" bIns="18288" anchor="t">
            <a:spAutoFit/>
          </a:bodyPr>
          <a:lstStyle/>
          <a:p>
            <a:pPr algn="l"/>
            <a:r>
              <a:rPr sz="900" b="1" i="0">
                <a:solidFill>
                  <a:srgbClr val="1F2937"/>
                </a:solidFill>
                <a:latin typeface="Calibri"/>
              </a:rPr>
              <a:t>{{IND_13_NAME}}</a:t>
            </a:r>
          </a:p>
        </p:txBody>
      </p:sp>
      <p:sp>
        <p:nvSpPr>
          <p:cNvPr id="64" name="TextBox 63"/>
          <p:cNvSpPr txBox="1"/>
          <p:nvPr/>
        </p:nvSpPr>
        <p:spPr>
          <a:xfrm>
            <a:off x="640080" y="4974336"/>
            <a:ext cx="1604772" cy="411480"/>
          </a:xfrm>
          <a:prstGeom prst="rect">
            <a:avLst/>
          </a:prstGeom>
          <a:noFill/>
        </p:spPr>
        <p:txBody>
          <a:bodyPr wrap="square" lIns="45720" rIns="45720" tIns="18288" bIns="18288" anchor="t">
            <a:spAutoFit/>
          </a:bodyPr>
          <a:lstStyle/>
          <a:p>
            <a:pPr algn="l"/>
            <a:r>
              <a:rPr sz="1800" b="1" i="0">
                <a:solidFill>
                  <a:srgbClr val="8B5CF6"/>
                </a:solidFill>
                <a:latin typeface="Calibri"/>
              </a:rPr>
              <a:t>{{IND_13_PCT}}</a:t>
            </a:r>
          </a:p>
        </p:txBody>
      </p:sp>
      <p:sp>
        <p:nvSpPr>
          <p:cNvPr id="65" name="TextBox 64"/>
          <p:cNvSpPr txBox="1"/>
          <p:nvPr/>
        </p:nvSpPr>
        <p:spPr>
          <a:xfrm>
            <a:off x="640080" y="5385816"/>
            <a:ext cx="1604772" cy="182880"/>
          </a:xfrm>
          <a:prstGeom prst="rect">
            <a:avLst/>
          </a:prstGeom>
          <a:noFill/>
        </p:spPr>
        <p:txBody>
          <a:bodyPr wrap="square" lIns="45720" rIns="45720" tIns="18288" bIns="18288" anchor="t">
            <a:spAutoFit/>
          </a:bodyPr>
          <a:lstStyle/>
          <a:p>
            <a:pPr algn="l"/>
            <a:r>
              <a:rPr sz="700" b="0" i="1">
                <a:solidFill>
                  <a:srgbClr val="6B7280"/>
                </a:solidFill>
                <a:latin typeface="Calibri"/>
              </a:rPr>
              <a:t>{{IND_13_NOTE}}</a:t>
            </a:r>
          </a:p>
        </p:txBody>
      </p:sp>
      <p:sp>
        <p:nvSpPr>
          <p:cNvPr id="66" name="Rounded Rectangle 65"/>
          <p:cNvSpPr/>
          <p:nvPr/>
        </p:nvSpPr>
        <p:spPr>
          <a:xfrm>
            <a:off x="2409444" y="4517136"/>
            <a:ext cx="1787652" cy="1042415"/>
          </a:xfrm>
          <a:prstGeom prst="roundRect">
            <a:avLst>
              <a:gd name="adj" fmla="val 6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500884" y="4608575"/>
            <a:ext cx="1604772" cy="320040"/>
          </a:xfrm>
          <a:prstGeom prst="rect">
            <a:avLst/>
          </a:prstGeom>
          <a:noFill/>
        </p:spPr>
        <p:txBody>
          <a:bodyPr wrap="square" lIns="45720" rIns="45720" tIns="18288" bIns="18288" anchor="t">
            <a:spAutoFit/>
          </a:bodyPr>
          <a:lstStyle/>
          <a:p>
            <a:pPr algn="l"/>
            <a:r>
              <a:rPr sz="900" b="1" i="0">
                <a:solidFill>
                  <a:srgbClr val="1F2937"/>
                </a:solidFill>
                <a:latin typeface="Calibri"/>
              </a:rPr>
              <a:t>{{IND_14_NAME}}</a:t>
            </a:r>
          </a:p>
        </p:txBody>
      </p:sp>
      <p:sp>
        <p:nvSpPr>
          <p:cNvPr id="68" name="TextBox 67"/>
          <p:cNvSpPr txBox="1"/>
          <p:nvPr/>
        </p:nvSpPr>
        <p:spPr>
          <a:xfrm>
            <a:off x="2500884" y="4974336"/>
            <a:ext cx="1604772" cy="411480"/>
          </a:xfrm>
          <a:prstGeom prst="rect">
            <a:avLst/>
          </a:prstGeom>
          <a:noFill/>
        </p:spPr>
        <p:txBody>
          <a:bodyPr wrap="square" lIns="45720" rIns="45720" tIns="18288" bIns="18288" anchor="t">
            <a:spAutoFit/>
          </a:bodyPr>
          <a:lstStyle/>
          <a:p>
            <a:pPr algn="l"/>
            <a:r>
              <a:rPr sz="1800" b="1" i="0">
                <a:solidFill>
                  <a:srgbClr val="8B5CF6"/>
                </a:solidFill>
                <a:latin typeface="Calibri"/>
              </a:rPr>
              <a:t>{{IND_14_PCT}}</a:t>
            </a:r>
          </a:p>
        </p:txBody>
      </p:sp>
      <p:sp>
        <p:nvSpPr>
          <p:cNvPr id="69" name="TextBox 68"/>
          <p:cNvSpPr txBox="1"/>
          <p:nvPr/>
        </p:nvSpPr>
        <p:spPr>
          <a:xfrm>
            <a:off x="2500884" y="5385816"/>
            <a:ext cx="1604772" cy="182880"/>
          </a:xfrm>
          <a:prstGeom prst="rect">
            <a:avLst/>
          </a:prstGeom>
          <a:noFill/>
        </p:spPr>
        <p:txBody>
          <a:bodyPr wrap="square" lIns="45720" rIns="45720" tIns="18288" bIns="18288" anchor="t">
            <a:spAutoFit/>
          </a:bodyPr>
          <a:lstStyle/>
          <a:p>
            <a:pPr algn="l"/>
            <a:r>
              <a:rPr sz="700" b="0" i="1">
                <a:solidFill>
                  <a:srgbClr val="6B7280"/>
                </a:solidFill>
                <a:latin typeface="Calibri"/>
              </a:rPr>
              <a:t>{{IND_14_NOTE}}</a:t>
            </a:r>
          </a:p>
        </p:txBody>
      </p:sp>
      <p:sp>
        <p:nvSpPr>
          <p:cNvPr id="70" name="Rounded Rectangle 69"/>
          <p:cNvSpPr/>
          <p:nvPr/>
        </p:nvSpPr>
        <p:spPr>
          <a:xfrm>
            <a:off x="4270248" y="4517136"/>
            <a:ext cx="1787652" cy="1042415"/>
          </a:xfrm>
          <a:prstGeom prst="roundRect">
            <a:avLst>
              <a:gd name="adj" fmla="val 6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4361688" y="4608575"/>
            <a:ext cx="1604772" cy="320040"/>
          </a:xfrm>
          <a:prstGeom prst="rect">
            <a:avLst/>
          </a:prstGeom>
          <a:noFill/>
        </p:spPr>
        <p:txBody>
          <a:bodyPr wrap="square" lIns="45720" rIns="45720" tIns="18288" bIns="18288" anchor="t">
            <a:spAutoFit/>
          </a:bodyPr>
          <a:lstStyle/>
          <a:p>
            <a:pPr algn="l"/>
            <a:r>
              <a:rPr sz="900" b="1" i="0">
                <a:solidFill>
                  <a:srgbClr val="1F2937"/>
                </a:solidFill>
                <a:latin typeface="Calibri"/>
              </a:rPr>
              <a:t>{{IND_15_NAME}}</a:t>
            </a:r>
          </a:p>
        </p:txBody>
      </p:sp>
      <p:sp>
        <p:nvSpPr>
          <p:cNvPr id="72" name="TextBox 71"/>
          <p:cNvSpPr txBox="1"/>
          <p:nvPr/>
        </p:nvSpPr>
        <p:spPr>
          <a:xfrm>
            <a:off x="4361688" y="4974336"/>
            <a:ext cx="1604772" cy="411480"/>
          </a:xfrm>
          <a:prstGeom prst="rect">
            <a:avLst/>
          </a:prstGeom>
          <a:noFill/>
        </p:spPr>
        <p:txBody>
          <a:bodyPr wrap="square" lIns="45720" rIns="45720" tIns="18288" bIns="18288" anchor="t">
            <a:spAutoFit/>
          </a:bodyPr>
          <a:lstStyle/>
          <a:p>
            <a:pPr algn="l"/>
            <a:r>
              <a:rPr sz="1800" b="1" i="0">
                <a:solidFill>
                  <a:srgbClr val="8B5CF6"/>
                </a:solidFill>
                <a:latin typeface="Calibri"/>
              </a:rPr>
              <a:t>{{IND_15_PCT}}</a:t>
            </a:r>
          </a:p>
        </p:txBody>
      </p:sp>
      <p:sp>
        <p:nvSpPr>
          <p:cNvPr id="73" name="TextBox 72"/>
          <p:cNvSpPr txBox="1"/>
          <p:nvPr/>
        </p:nvSpPr>
        <p:spPr>
          <a:xfrm>
            <a:off x="4361688" y="5385816"/>
            <a:ext cx="1604772" cy="182880"/>
          </a:xfrm>
          <a:prstGeom prst="rect">
            <a:avLst/>
          </a:prstGeom>
          <a:noFill/>
        </p:spPr>
        <p:txBody>
          <a:bodyPr wrap="square" lIns="45720" rIns="45720" tIns="18288" bIns="18288" anchor="t">
            <a:spAutoFit/>
          </a:bodyPr>
          <a:lstStyle/>
          <a:p>
            <a:pPr algn="l"/>
            <a:r>
              <a:rPr sz="700" b="0" i="1">
                <a:solidFill>
                  <a:srgbClr val="6B7280"/>
                </a:solidFill>
                <a:latin typeface="Calibri"/>
              </a:rPr>
              <a:t>{{IND_15_NOTE}}</a:t>
            </a:r>
          </a:p>
        </p:txBody>
      </p:sp>
      <p:sp>
        <p:nvSpPr>
          <p:cNvPr id="74" name="Rounded Rectangle 73"/>
          <p:cNvSpPr/>
          <p:nvPr/>
        </p:nvSpPr>
        <p:spPr>
          <a:xfrm>
            <a:off x="6131052" y="4517136"/>
            <a:ext cx="1787652" cy="1042415"/>
          </a:xfrm>
          <a:prstGeom prst="roundRect">
            <a:avLst>
              <a:gd name="adj" fmla="val 6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6222492" y="4608575"/>
            <a:ext cx="1604772" cy="320040"/>
          </a:xfrm>
          <a:prstGeom prst="rect">
            <a:avLst/>
          </a:prstGeom>
          <a:noFill/>
        </p:spPr>
        <p:txBody>
          <a:bodyPr wrap="square" lIns="45720" rIns="45720" tIns="18288" bIns="18288" anchor="t">
            <a:spAutoFit/>
          </a:bodyPr>
          <a:lstStyle/>
          <a:p>
            <a:pPr algn="l"/>
            <a:r>
              <a:rPr sz="900" b="1" i="0">
                <a:solidFill>
                  <a:srgbClr val="1F2937"/>
                </a:solidFill>
                <a:latin typeface="Calibri"/>
              </a:rPr>
              <a:t>{{IND_16_NAME}}</a:t>
            </a:r>
          </a:p>
        </p:txBody>
      </p:sp>
      <p:sp>
        <p:nvSpPr>
          <p:cNvPr id="76" name="TextBox 75"/>
          <p:cNvSpPr txBox="1"/>
          <p:nvPr/>
        </p:nvSpPr>
        <p:spPr>
          <a:xfrm>
            <a:off x="6222492" y="4974336"/>
            <a:ext cx="1604772" cy="411480"/>
          </a:xfrm>
          <a:prstGeom prst="rect">
            <a:avLst/>
          </a:prstGeom>
          <a:noFill/>
        </p:spPr>
        <p:txBody>
          <a:bodyPr wrap="square" lIns="45720" rIns="45720" tIns="18288" bIns="18288" anchor="t">
            <a:spAutoFit/>
          </a:bodyPr>
          <a:lstStyle/>
          <a:p>
            <a:pPr algn="l"/>
            <a:r>
              <a:rPr sz="1800" b="1" i="0">
                <a:solidFill>
                  <a:srgbClr val="8B5CF6"/>
                </a:solidFill>
                <a:latin typeface="Calibri"/>
              </a:rPr>
              <a:t>{{IND_16_PCT}}</a:t>
            </a:r>
          </a:p>
        </p:txBody>
      </p:sp>
      <p:sp>
        <p:nvSpPr>
          <p:cNvPr id="77" name="TextBox 76"/>
          <p:cNvSpPr txBox="1"/>
          <p:nvPr/>
        </p:nvSpPr>
        <p:spPr>
          <a:xfrm>
            <a:off x="6222492" y="5385816"/>
            <a:ext cx="1604772" cy="182880"/>
          </a:xfrm>
          <a:prstGeom prst="rect">
            <a:avLst/>
          </a:prstGeom>
          <a:noFill/>
        </p:spPr>
        <p:txBody>
          <a:bodyPr wrap="square" lIns="45720" rIns="45720" tIns="18288" bIns="18288" anchor="t">
            <a:spAutoFit/>
          </a:bodyPr>
          <a:lstStyle/>
          <a:p>
            <a:pPr algn="l"/>
            <a:r>
              <a:rPr sz="700" b="0" i="1">
                <a:solidFill>
                  <a:srgbClr val="6B7280"/>
                </a:solidFill>
                <a:latin typeface="Calibri"/>
              </a:rPr>
              <a:t>{{IND_16_NOTE}}</a:t>
            </a:r>
          </a:p>
        </p:txBody>
      </p:sp>
      <p:sp>
        <p:nvSpPr>
          <p:cNvPr id="78" name="Rounded Rectangle 77"/>
          <p:cNvSpPr/>
          <p:nvPr/>
        </p:nvSpPr>
        <p:spPr>
          <a:xfrm>
            <a:off x="7991856" y="4517136"/>
            <a:ext cx="1787652" cy="1042415"/>
          </a:xfrm>
          <a:prstGeom prst="roundRect">
            <a:avLst>
              <a:gd name="adj" fmla="val 6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8083296" y="4608575"/>
            <a:ext cx="1604772" cy="320040"/>
          </a:xfrm>
          <a:prstGeom prst="rect">
            <a:avLst/>
          </a:prstGeom>
          <a:noFill/>
        </p:spPr>
        <p:txBody>
          <a:bodyPr wrap="square" lIns="45720" rIns="45720" tIns="18288" bIns="18288" anchor="t">
            <a:spAutoFit/>
          </a:bodyPr>
          <a:lstStyle/>
          <a:p>
            <a:pPr algn="l"/>
            <a:r>
              <a:rPr sz="900" b="1" i="0">
                <a:solidFill>
                  <a:srgbClr val="1F2937"/>
                </a:solidFill>
                <a:latin typeface="Calibri"/>
              </a:rPr>
              <a:t>{{IND_17_NAME}}</a:t>
            </a:r>
          </a:p>
        </p:txBody>
      </p:sp>
      <p:sp>
        <p:nvSpPr>
          <p:cNvPr id="80" name="TextBox 79"/>
          <p:cNvSpPr txBox="1"/>
          <p:nvPr/>
        </p:nvSpPr>
        <p:spPr>
          <a:xfrm>
            <a:off x="8083296" y="4974336"/>
            <a:ext cx="1604772" cy="411480"/>
          </a:xfrm>
          <a:prstGeom prst="rect">
            <a:avLst/>
          </a:prstGeom>
          <a:noFill/>
        </p:spPr>
        <p:txBody>
          <a:bodyPr wrap="square" lIns="45720" rIns="45720" tIns="18288" bIns="18288" anchor="t">
            <a:spAutoFit/>
          </a:bodyPr>
          <a:lstStyle/>
          <a:p>
            <a:pPr algn="l"/>
            <a:r>
              <a:rPr sz="1800" b="1" i="0">
                <a:solidFill>
                  <a:srgbClr val="8B5CF6"/>
                </a:solidFill>
                <a:latin typeface="Calibri"/>
              </a:rPr>
              <a:t>{{IND_17_PCT}}</a:t>
            </a:r>
          </a:p>
        </p:txBody>
      </p:sp>
      <p:sp>
        <p:nvSpPr>
          <p:cNvPr id="81" name="TextBox 80"/>
          <p:cNvSpPr txBox="1"/>
          <p:nvPr/>
        </p:nvSpPr>
        <p:spPr>
          <a:xfrm>
            <a:off x="8083296" y="5385816"/>
            <a:ext cx="1604772" cy="182880"/>
          </a:xfrm>
          <a:prstGeom prst="rect">
            <a:avLst/>
          </a:prstGeom>
          <a:noFill/>
        </p:spPr>
        <p:txBody>
          <a:bodyPr wrap="square" lIns="45720" rIns="45720" tIns="18288" bIns="18288" anchor="t">
            <a:spAutoFit/>
          </a:bodyPr>
          <a:lstStyle/>
          <a:p>
            <a:pPr algn="l"/>
            <a:r>
              <a:rPr sz="700" b="0" i="1">
                <a:solidFill>
                  <a:srgbClr val="6B7280"/>
                </a:solidFill>
                <a:latin typeface="Calibri"/>
              </a:rPr>
              <a:t>{{IND_17_NOTE}}</a:t>
            </a:r>
          </a:p>
        </p:txBody>
      </p:sp>
      <p:sp>
        <p:nvSpPr>
          <p:cNvPr id="82" name="Rounded Rectangle 81"/>
          <p:cNvSpPr/>
          <p:nvPr/>
        </p:nvSpPr>
        <p:spPr>
          <a:xfrm>
            <a:off x="9852660" y="4517136"/>
            <a:ext cx="1787652" cy="1042415"/>
          </a:xfrm>
          <a:prstGeom prst="roundRect">
            <a:avLst>
              <a:gd name="adj" fmla="val 6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9944100" y="4608575"/>
            <a:ext cx="1604772" cy="320040"/>
          </a:xfrm>
          <a:prstGeom prst="rect">
            <a:avLst/>
          </a:prstGeom>
          <a:noFill/>
        </p:spPr>
        <p:txBody>
          <a:bodyPr wrap="square" lIns="45720" rIns="45720" tIns="18288" bIns="18288" anchor="t">
            <a:spAutoFit/>
          </a:bodyPr>
          <a:lstStyle/>
          <a:p>
            <a:pPr algn="l"/>
            <a:r>
              <a:rPr sz="900" b="1" i="0">
                <a:solidFill>
                  <a:srgbClr val="1F2937"/>
                </a:solidFill>
                <a:latin typeface="Calibri"/>
              </a:rPr>
              <a:t>{{IND_18_NAME}}</a:t>
            </a:r>
          </a:p>
        </p:txBody>
      </p:sp>
      <p:sp>
        <p:nvSpPr>
          <p:cNvPr id="84" name="TextBox 83"/>
          <p:cNvSpPr txBox="1"/>
          <p:nvPr/>
        </p:nvSpPr>
        <p:spPr>
          <a:xfrm>
            <a:off x="9944100" y="4974336"/>
            <a:ext cx="1604772" cy="411480"/>
          </a:xfrm>
          <a:prstGeom prst="rect">
            <a:avLst/>
          </a:prstGeom>
          <a:noFill/>
        </p:spPr>
        <p:txBody>
          <a:bodyPr wrap="square" lIns="45720" rIns="45720" tIns="18288" bIns="18288" anchor="t">
            <a:spAutoFit/>
          </a:bodyPr>
          <a:lstStyle/>
          <a:p>
            <a:pPr algn="l"/>
            <a:r>
              <a:rPr sz="1800" b="1" i="0">
                <a:solidFill>
                  <a:srgbClr val="8B5CF6"/>
                </a:solidFill>
                <a:latin typeface="Calibri"/>
              </a:rPr>
              <a:t>{{IND_18_PCT}}</a:t>
            </a:r>
          </a:p>
        </p:txBody>
      </p:sp>
      <p:sp>
        <p:nvSpPr>
          <p:cNvPr id="85" name="TextBox 84"/>
          <p:cNvSpPr txBox="1"/>
          <p:nvPr/>
        </p:nvSpPr>
        <p:spPr>
          <a:xfrm>
            <a:off x="9944100" y="5385816"/>
            <a:ext cx="1604772" cy="182880"/>
          </a:xfrm>
          <a:prstGeom prst="rect">
            <a:avLst/>
          </a:prstGeom>
          <a:noFill/>
        </p:spPr>
        <p:txBody>
          <a:bodyPr wrap="square" lIns="45720" rIns="45720" tIns="18288" bIns="18288" anchor="t">
            <a:spAutoFit/>
          </a:bodyPr>
          <a:lstStyle/>
          <a:p>
            <a:pPr algn="l"/>
            <a:r>
              <a:rPr sz="700" b="0" i="1">
                <a:solidFill>
                  <a:srgbClr val="6B7280"/>
                </a:solidFill>
                <a:latin typeface="Calibri"/>
              </a:rPr>
              <a:t>{{IND_18_NOTE}}</a:t>
            </a:r>
          </a:p>
        </p:txBody>
      </p:sp>
      <p:sp>
        <p:nvSpPr>
          <p:cNvPr id="86" name="Rounded Rectangle 85"/>
          <p:cNvSpPr/>
          <p:nvPr/>
        </p:nvSpPr>
        <p:spPr>
          <a:xfrm>
            <a:off x="548640" y="5632704"/>
            <a:ext cx="1787652" cy="1042415"/>
          </a:xfrm>
          <a:prstGeom prst="roundRect">
            <a:avLst>
              <a:gd name="adj" fmla="val 6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640080" y="5724144"/>
            <a:ext cx="1604772" cy="320040"/>
          </a:xfrm>
          <a:prstGeom prst="rect">
            <a:avLst/>
          </a:prstGeom>
          <a:noFill/>
        </p:spPr>
        <p:txBody>
          <a:bodyPr wrap="square" lIns="45720" rIns="45720" tIns="18288" bIns="18288" anchor="t">
            <a:spAutoFit/>
          </a:bodyPr>
          <a:lstStyle/>
          <a:p>
            <a:pPr algn="l"/>
            <a:r>
              <a:rPr sz="900" b="1" i="0">
                <a:solidFill>
                  <a:srgbClr val="1F2937"/>
                </a:solidFill>
                <a:latin typeface="Calibri"/>
              </a:rPr>
              <a:t>{{IND_19_NAME}}</a:t>
            </a:r>
          </a:p>
        </p:txBody>
      </p:sp>
      <p:sp>
        <p:nvSpPr>
          <p:cNvPr id="88" name="TextBox 87"/>
          <p:cNvSpPr txBox="1"/>
          <p:nvPr/>
        </p:nvSpPr>
        <p:spPr>
          <a:xfrm>
            <a:off x="640080" y="6089904"/>
            <a:ext cx="1604772" cy="411480"/>
          </a:xfrm>
          <a:prstGeom prst="rect">
            <a:avLst/>
          </a:prstGeom>
          <a:noFill/>
        </p:spPr>
        <p:txBody>
          <a:bodyPr wrap="square" lIns="45720" rIns="45720" tIns="18288" bIns="18288" anchor="t">
            <a:spAutoFit/>
          </a:bodyPr>
          <a:lstStyle/>
          <a:p>
            <a:pPr algn="l"/>
            <a:r>
              <a:rPr sz="1800" b="1" i="0">
                <a:solidFill>
                  <a:srgbClr val="8B5CF6"/>
                </a:solidFill>
                <a:latin typeface="Calibri"/>
              </a:rPr>
              <a:t>{{IND_19_PCT}}</a:t>
            </a:r>
          </a:p>
        </p:txBody>
      </p:sp>
      <p:sp>
        <p:nvSpPr>
          <p:cNvPr id="89" name="TextBox 88"/>
          <p:cNvSpPr txBox="1"/>
          <p:nvPr/>
        </p:nvSpPr>
        <p:spPr>
          <a:xfrm>
            <a:off x="640080" y="6501384"/>
            <a:ext cx="1604772" cy="182880"/>
          </a:xfrm>
          <a:prstGeom prst="rect">
            <a:avLst/>
          </a:prstGeom>
          <a:noFill/>
        </p:spPr>
        <p:txBody>
          <a:bodyPr wrap="square" lIns="45720" rIns="45720" tIns="18288" bIns="18288" anchor="t">
            <a:spAutoFit/>
          </a:bodyPr>
          <a:lstStyle/>
          <a:p>
            <a:pPr algn="l"/>
            <a:r>
              <a:rPr sz="700" b="0" i="1">
                <a:solidFill>
                  <a:srgbClr val="6B7280"/>
                </a:solidFill>
                <a:latin typeface="Calibri"/>
              </a:rPr>
              <a:t>{{IND_19_NOTE}}</a:t>
            </a:r>
          </a:p>
        </p:txBody>
      </p:sp>
      <p:sp>
        <p:nvSpPr>
          <p:cNvPr id="90" name="Rounded Rectangle 89"/>
          <p:cNvSpPr/>
          <p:nvPr/>
        </p:nvSpPr>
        <p:spPr>
          <a:xfrm>
            <a:off x="2409444" y="5632704"/>
            <a:ext cx="1787652" cy="1042415"/>
          </a:xfrm>
          <a:prstGeom prst="roundRect">
            <a:avLst>
              <a:gd name="adj" fmla="val 6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2500884" y="5724144"/>
            <a:ext cx="1604772" cy="320040"/>
          </a:xfrm>
          <a:prstGeom prst="rect">
            <a:avLst/>
          </a:prstGeom>
          <a:noFill/>
        </p:spPr>
        <p:txBody>
          <a:bodyPr wrap="square" lIns="45720" rIns="45720" tIns="18288" bIns="18288" anchor="t">
            <a:spAutoFit/>
          </a:bodyPr>
          <a:lstStyle/>
          <a:p>
            <a:pPr algn="l"/>
            <a:r>
              <a:rPr sz="900" b="1" i="0">
                <a:solidFill>
                  <a:srgbClr val="1F2937"/>
                </a:solidFill>
                <a:latin typeface="Calibri"/>
              </a:rPr>
              <a:t>{{IND_20_NAME}}</a:t>
            </a:r>
          </a:p>
        </p:txBody>
      </p:sp>
      <p:sp>
        <p:nvSpPr>
          <p:cNvPr id="92" name="TextBox 91"/>
          <p:cNvSpPr txBox="1"/>
          <p:nvPr/>
        </p:nvSpPr>
        <p:spPr>
          <a:xfrm>
            <a:off x="2500884" y="6089904"/>
            <a:ext cx="1604772" cy="411480"/>
          </a:xfrm>
          <a:prstGeom prst="rect">
            <a:avLst/>
          </a:prstGeom>
          <a:noFill/>
        </p:spPr>
        <p:txBody>
          <a:bodyPr wrap="square" lIns="45720" rIns="45720" tIns="18288" bIns="18288" anchor="t">
            <a:spAutoFit/>
          </a:bodyPr>
          <a:lstStyle/>
          <a:p>
            <a:pPr algn="l"/>
            <a:r>
              <a:rPr sz="1800" b="1" i="0">
                <a:solidFill>
                  <a:srgbClr val="8B5CF6"/>
                </a:solidFill>
                <a:latin typeface="Calibri"/>
              </a:rPr>
              <a:t>{{IND_20_PCT}}</a:t>
            </a:r>
          </a:p>
        </p:txBody>
      </p:sp>
      <p:sp>
        <p:nvSpPr>
          <p:cNvPr id="93" name="TextBox 92"/>
          <p:cNvSpPr txBox="1"/>
          <p:nvPr/>
        </p:nvSpPr>
        <p:spPr>
          <a:xfrm>
            <a:off x="2500884" y="6501384"/>
            <a:ext cx="1604772" cy="182880"/>
          </a:xfrm>
          <a:prstGeom prst="rect">
            <a:avLst/>
          </a:prstGeom>
          <a:noFill/>
        </p:spPr>
        <p:txBody>
          <a:bodyPr wrap="square" lIns="45720" rIns="45720" tIns="18288" bIns="18288" anchor="t">
            <a:spAutoFit/>
          </a:bodyPr>
          <a:lstStyle/>
          <a:p>
            <a:pPr algn="l"/>
            <a:r>
              <a:rPr sz="700" b="0" i="1">
                <a:solidFill>
                  <a:srgbClr val="6B7280"/>
                </a:solidFill>
                <a:latin typeface="Calibri"/>
              </a:rPr>
              <a:t>{{IND_20_NOTE}}</a:t>
            </a:r>
          </a:p>
        </p:txBody>
      </p:sp>
      <p:sp>
        <p:nvSpPr>
          <p:cNvPr id="94" name="Rounded Rectangle 93"/>
          <p:cNvSpPr/>
          <p:nvPr/>
        </p:nvSpPr>
        <p:spPr>
          <a:xfrm>
            <a:off x="4270248" y="5632704"/>
            <a:ext cx="1787652" cy="1042415"/>
          </a:xfrm>
          <a:prstGeom prst="roundRect">
            <a:avLst>
              <a:gd name="adj" fmla="val 6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4361688" y="5724144"/>
            <a:ext cx="1604772" cy="320040"/>
          </a:xfrm>
          <a:prstGeom prst="rect">
            <a:avLst/>
          </a:prstGeom>
          <a:noFill/>
        </p:spPr>
        <p:txBody>
          <a:bodyPr wrap="square" lIns="45720" rIns="45720" tIns="18288" bIns="18288" anchor="t">
            <a:spAutoFit/>
          </a:bodyPr>
          <a:lstStyle/>
          <a:p>
            <a:pPr algn="l"/>
            <a:r>
              <a:rPr sz="900" b="1" i="0">
                <a:solidFill>
                  <a:srgbClr val="1F2937"/>
                </a:solidFill>
                <a:latin typeface="Calibri"/>
              </a:rPr>
              <a:t>{{IND_21_NAME}}</a:t>
            </a:r>
          </a:p>
        </p:txBody>
      </p:sp>
      <p:sp>
        <p:nvSpPr>
          <p:cNvPr id="96" name="TextBox 95"/>
          <p:cNvSpPr txBox="1"/>
          <p:nvPr/>
        </p:nvSpPr>
        <p:spPr>
          <a:xfrm>
            <a:off x="4361688" y="6089904"/>
            <a:ext cx="1604772" cy="411480"/>
          </a:xfrm>
          <a:prstGeom prst="rect">
            <a:avLst/>
          </a:prstGeom>
          <a:noFill/>
        </p:spPr>
        <p:txBody>
          <a:bodyPr wrap="square" lIns="45720" rIns="45720" tIns="18288" bIns="18288" anchor="t">
            <a:spAutoFit/>
          </a:bodyPr>
          <a:lstStyle/>
          <a:p>
            <a:pPr algn="l"/>
            <a:r>
              <a:rPr sz="1800" b="1" i="0">
                <a:solidFill>
                  <a:srgbClr val="8B5CF6"/>
                </a:solidFill>
                <a:latin typeface="Calibri"/>
              </a:rPr>
              <a:t>{{IND_21_PCT}}</a:t>
            </a:r>
          </a:p>
        </p:txBody>
      </p:sp>
      <p:sp>
        <p:nvSpPr>
          <p:cNvPr id="97" name="TextBox 96"/>
          <p:cNvSpPr txBox="1"/>
          <p:nvPr/>
        </p:nvSpPr>
        <p:spPr>
          <a:xfrm>
            <a:off x="4361688" y="6501384"/>
            <a:ext cx="1604772" cy="182880"/>
          </a:xfrm>
          <a:prstGeom prst="rect">
            <a:avLst/>
          </a:prstGeom>
          <a:noFill/>
        </p:spPr>
        <p:txBody>
          <a:bodyPr wrap="square" lIns="45720" rIns="45720" tIns="18288" bIns="18288" anchor="t">
            <a:spAutoFit/>
          </a:bodyPr>
          <a:lstStyle/>
          <a:p>
            <a:pPr algn="l"/>
            <a:r>
              <a:rPr sz="700" b="0" i="1">
                <a:solidFill>
                  <a:srgbClr val="6B7280"/>
                </a:solidFill>
                <a:latin typeface="Calibri"/>
              </a:rPr>
              <a:t>{{IND_21_NOTE}}</a:t>
            </a:r>
          </a:p>
        </p:txBody>
      </p:sp>
      <p:sp>
        <p:nvSpPr>
          <p:cNvPr id="98" name="Rounded Rectangle 97"/>
          <p:cNvSpPr/>
          <p:nvPr/>
        </p:nvSpPr>
        <p:spPr>
          <a:xfrm>
            <a:off x="6131052" y="5632704"/>
            <a:ext cx="1787652" cy="1042415"/>
          </a:xfrm>
          <a:prstGeom prst="roundRect">
            <a:avLst>
              <a:gd name="adj" fmla="val 6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6222492" y="5724144"/>
            <a:ext cx="1604772" cy="320040"/>
          </a:xfrm>
          <a:prstGeom prst="rect">
            <a:avLst/>
          </a:prstGeom>
          <a:noFill/>
        </p:spPr>
        <p:txBody>
          <a:bodyPr wrap="square" lIns="45720" rIns="45720" tIns="18288" bIns="18288" anchor="t">
            <a:spAutoFit/>
          </a:bodyPr>
          <a:lstStyle/>
          <a:p>
            <a:pPr algn="l"/>
            <a:r>
              <a:rPr sz="900" b="1" i="0">
                <a:solidFill>
                  <a:srgbClr val="1F2937"/>
                </a:solidFill>
                <a:latin typeface="Calibri"/>
              </a:rPr>
              <a:t>{{IND_22_NAME}}</a:t>
            </a:r>
          </a:p>
        </p:txBody>
      </p:sp>
      <p:sp>
        <p:nvSpPr>
          <p:cNvPr id="100" name="TextBox 99"/>
          <p:cNvSpPr txBox="1"/>
          <p:nvPr/>
        </p:nvSpPr>
        <p:spPr>
          <a:xfrm>
            <a:off x="6222492" y="6089904"/>
            <a:ext cx="1604772" cy="411480"/>
          </a:xfrm>
          <a:prstGeom prst="rect">
            <a:avLst/>
          </a:prstGeom>
          <a:noFill/>
        </p:spPr>
        <p:txBody>
          <a:bodyPr wrap="square" lIns="45720" rIns="45720" tIns="18288" bIns="18288" anchor="t">
            <a:spAutoFit/>
          </a:bodyPr>
          <a:lstStyle/>
          <a:p>
            <a:pPr algn="l"/>
            <a:r>
              <a:rPr sz="1800" b="1" i="0">
                <a:solidFill>
                  <a:srgbClr val="8B5CF6"/>
                </a:solidFill>
                <a:latin typeface="Calibri"/>
              </a:rPr>
              <a:t>{{IND_22_PCT}}</a:t>
            </a:r>
          </a:p>
        </p:txBody>
      </p:sp>
      <p:sp>
        <p:nvSpPr>
          <p:cNvPr id="101" name="TextBox 100"/>
          <p:cNvSpPr txBox="1"/>
          <p:nvPr/>
        </p:nvSpPr>
        <p:spPr>
          <a:xfrm>
            <a:off x="6222492" y="6501384"/>
            <a:ext cx="1604772" cy="182880"/>
          </a:xfrm>
          <a:prstGeom prst="rect">
            <a:avLst/>
          </a:prstGeom>
          <a:noFill/>
        </p:spPr>
        <p:txBody>
          <a:bodyPr wrap="square" lIns="45720" rIns="45720" tIns="18288" bIns="18288" anchor="t">
            <a:spAutoFit/>
          </a:bodyPr>
          <a:lstStyle/>
          <a:p>
            <a:pPr algn="l"/>
            <a:r>
              <a:rPr sz="700" b="0" i="1">
                <a:solidFill>
                  <a:srgbClr val="6B7280"/>
                </a:solidFill>
                <a:latin typeface="Calibri"/>
              </a:rPr>
              <a:t>{{IND_22_NOTE}}</a:t>
            </a:r>
          </a:p>
        </p:txBody>
      </p:sp>
      <p:sp>
        <p:nvSpPr>
          <p:cNvPr id="102" name="Rounded Rectangle 101"/>
          <p:cNvSpPr/>
          <p:nvPr/>
        </p:nvSpPr>
        <p:spPr>
          <a:xfrm>
            <a:off x="7991856" y="5632704"/>
            <a:ext cx="1787652" cy="1042415"/>
          </a:xfrm>
          <a:prstGeom prst="roundRect">
            <a:avLst>
              <a:gd name="adj" fmla="val 6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8083296" y="5724144"/>
            <a:ext cx="1604772" cy="320040"/>
          </a:xfrm>
          <a:prstGeom prst="rect">
            <a:avLst/>
          </a:prstGeom>
          <a:noFill/>
        </p:spPr>
        <p:txBody>
          <a:bodyPr wrap="square" lIns="45720" rIns="45720" tIns="18288" bIns="18288" anchor="t">
            <a:spAutoFit/>
          </a:bodyPr>
          <a:lstStyle/>
          <a:p>
            <a:pPr algn="l"/>
            <a:r>
              <a:rPr sz="900" b="1" i="0">
                <a:solidFill>
                  <a:srgbClr val="1F2937"/>
                </a:solidFill>
                <a:latin typeface="Calibri"/>
              </a:rPr>
              <a:t>{{IND_23_NAME}}</a:t>
            </a:r>
          </a:p>
        </p:txBody>
      </p:sp>
      <p:sp>
        <p:nvSpPr>
          <p:cNvPr id="104" name="TextBox 103"/>
          <p:cNvSpPr txBox="1"/>
          <p:nvPr/>
        </p:nvSpPr>
        <p:spPr>
          <a:xfrm>
            <a:off x="8083296" y="6089904"/>
            <a:ext cx="1604772" cy="411480"/>
          </a:xfrm>
          <a:prstGeom prst="rect">
            <a:avLst/>
          </a:prstGeom>
          <a:noFill/>
        </p:spPr>
        <p:txBody>
          <a:bodyPr wrap="square" lIns="45720" rIns="45720" tIns="18288" bIns="18288" anchor="t">
            <a:spAutoFit/>
          </a:bodyPr>
          <a:lstStyle/>
          <a:p>
            <a:pPr algn="l"/>
            <a:r>
              <a:rPr sz="1800" b="1" i="0">
                <a:solidFill>
                  <a:srgbClr val="8B5CF6"/>
                </a:solidFill>
                <a:latin typeface="Calibri"/>
              </a:rPr>
              <a:t>{{IND_23_PCT}}</a:t>
            </a:r>
          </a:p>
        </p:txBody>
      </p:sp>
      <p:sp>
        <p:nvSpPr>
          <p:cNvPr id="105" name="TextBox 104"/>
          <p:cNvSpPr txBox="1"/>
          <p:nvPr/>
        </p:nvSpPr>
        <p:spPr>
          <a:xfrm>
            <a:off x="8083296" y="6501384"/>
            <a:ext cx="1604772" cy="182880"/>
          </a:xfrm>
          <a:prstGeom prst="rect">
            <a:avLst/>
          </a:prstGeom>
          <a:noFill/>
        </p:spPr>
        <p:txBody>
          <a:bodyPr wrap="square" lIns="45720" rIns="45720" tIns="18288" bIns="18288" anchor="t">
            <a:spAutoFit/>
          </a:bodyPr>
          <a:lstStyle/>
          <a:p>
            <a:pPr algn="l"/>
            <a:r>
              <a:rPr sz="700" b="0" i="1">
                <a:solidFill>
                  <a:srgbClr val="6B7280"/>
                </a:solidFill>
                <a:latin typeface="Calibri"/>
              </a:rPr>
              <a:t>{{IND_23_NOTE}}</a:t>
            </a:r>
          </a:p>
        </p:txBody>
      </p:sp>
      <p:sp>
        <p:nvSpPr>
          <p:cNvPr id="106" name="Rounded Rectangle 105"/>
          <p:cNvSpPr/>
          <p:nvPr/>
        </p:nvSpPr>
        <p:spPr>
          <a:xfrm>
            <a:off x="9852660" y="5632704"/>
            <a:ext cx="1787652" cy="1042415"/>
          </a:xfrm>
          <a:prstGeom prst="roundRect">
            <a:avLst>
              <a:gd name="adj" fmla="val 6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9944100" y="5724144"/>
            <a:ext cx="1604772" cy="320040"/>
          </a:xfrm>
          <a:prstGeom prst="rect">
            <a:avLst/>
          </a:prstGeom>
          <a:noFill/>
        </p:spPr>
        <p:txBody>
          <a:bodyPr wrap="square" lIns="45720" rIns="45720" tIns="18288" bIns="18288" anchor="t">
            <a:spAutoFit/>
          </a:bodyPr>
          <a:lstStyle/>
          <a:p>
            <a:pPr algn="l"/>
            <a:r>
              <a:rPr sz="900" b="1" i="0">
                <a:solidFill>
                  <a:srgbClr val="1F2937"/>
                </a:solidFill>
                <a:latin typeface="Calibri"/>
              </a:rPr>
              <a:t>{{IND_24_NAME}}</a:t>
            </a:r>
          </a:p>
        </p:txBody>
      </p:sp>
      <p:sp>
        <p:nvSpPr>
          <p:cNvPr id="108" name="TextBox 107"/>
          <p:cNvSpPr txBox="1"/>
          <p:nvPr/>
        </p:nvSpPr>
        <p:spPr>
          <a:xfrm>
            <a:off x="9944100" y="6089904"/>
            <a:ext cx="1604772" cy="411480"/>
          </a:xfrm>
          <a:prstGeom prst="rect">
            <a:avLst/>
          </a:prstGeom>
          <a:noFill/>
        </p:spPr>
        <p:txBody>
          <a:bodyPr wrap="square" lIns="45720" rIns="45720" tIns="18288" bIns="18288" anchor="t">
            <a:spAutoFit/>
          </a:bodyPr>
          <a:lstStyle/>
          <a:p>
            <a:pPr algn="l"/>
            <a:r>
              <a:rPr sz="1800" b="1" i="0">
                <a:solidFill>
                  <a:srgbClr val="8B5CF6"/>
                </a:solidFill>
                <a:latin typeface="Calibri"/>
              </a:rPr>
              <a:t>{{IND_24_PCT}}</a:t>
            </a:r>
          </a:p>
        </p:txBody>
      </p:sp>
      <p:sp>
        <p:nvSpPr>
          <p:cNvPr id="109" name="TextBox 108"/>
          <p:cNvSpPr txBox="1"/>
          <p:nvPr/>
        </p:nvSpPr>
        <p:spPr>
          <a:xfrm>
            <a:off x="9944100" y="6501384"/>
            <a:ext cx="1604772" cy="182880"/>
          </a:xfrm>
          <a:prstGeom prst="rect">
            <a:avLst/>
          </a:prstGeom>
          <a:noFill/>
        </p:spPr>
        <p:txBody>
          <a:bodyPr wrap="square" lIns="45720" rIns="45720" tIns="18288" bIns="18288" anchor="t">
            <a:spAutoFit/>
          </a:bodyPr>
          <a:lstStyle/>
          <a:p>
            <a:pPr algn="l"/>
            <a:r>
              <a:rPr sz="700" b="0" i="1">
                <a:solidFill>
                  <a:srgbClr val="6B7280"/>
                </a:solidFill>
                <a:latin typeface="Calibri"/>
              </a:rPr>
              <a:t>{{IND_24_NOTE}}</a:t>
            </a:r>
          </a:p>
        </p:txBody>
      </p:sp>
      <p:sp>
        <p:nvSpPr>
          <p:cNvPr id="110" name="TextBox 109"/>
          <p:cNvSpPr txBox="1"/>
          <p:nvPr/>
        </p:nvSpPr>
        <p:spPr>
          <a:xfrm>
            <a:off x="548640" y="6492240"/>
            <a:ext cx="8229600" cy="274320"/>
          </a:xfrm>
          <a:prstGeom prst="rect">
            <a:avLst/>
          </a:prstGeom>
          <a:noFill/>
        </p:spPr>
        <p:txBody>
          <a:bodyPr wrap="square" lIns="45720" rIns="45720" tIns="18288" bIns="18288" anchor="t">
            <a:spAutoFit/>
          </a:bodyPr>
          <a:lstStyle/>
          <a:p>
            <a:pPr algn="l"/>
            <a:r>
              <a:rPr sz="900" b="0" i="1">
                <a:solidFill>
                  <a:srgbClr val="9CA3AF"/>
                </a:solidFill>
                <a:latin typeface="Calibri"/>
              </a:rPr>
              <a:t>{{FOOTER_LEFT}}</a:t>
            </a:r>
          </a:p>
        </p:txBody>
      </p:sp>
      <p:sp>
        <p:nvSpPr>
          <p:cNvPr id="111" name="TextBox 110"/>
          <p:cNvSpPr txBox="1"/>
          <p:nvPr/>
        </p:nvSpPr>
        <p:spPr>
          <a:xfrm>
            <a:off x="10058400" y="6492240"/>
            <a:ext cx="1645920" cy="274320"/>
          </a:xfrm>
          <a:prstGeom prst="rect">
            <a:avLst/>
          </a:prstGeom>
          <a:noFill/>
        </p:spPr>
        <p:txBody>
          <a:bodyPr wrap="square" lIns="45720" rIns="45720" tIns="18288" bIns="18288" anchor="t">
            <a:spAutoFit/>
          </a:bodyPr>
          <a:lstStyle/>
          <a:p>
            <a:pPr algn="r"/>
            <a:r>
              <a:rPr sz="900" b="0" i="0">
                <a:solidFill>
                  <a:srgbClr val="9CA3AF"/>
                </a:solidFill>
                <a:latin typeface="Calibri"/>
              </a:rPr>
              <a:t>{{PAGE_NUM}}</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name="PEER_COMPARE_TABLE">
    <p:spTree>
      <p:nvGrpSpPr>
        <p:cNvPr id="1" name=""/>
        <p:cNvGrpSpPr/>
        <p:nvPr/>
      </p:nvGrpSpPr>
      <p:grpSpPr/>
      <p:sp>
        <p:nvSpPr>
          <p:cNvPr id="2" name="Rectangle 1"/>
          <p:cNvSpPr/>
          <p:nvPr/>
        </p:nvSpPr>
        <p:spPr>
          <a:xfrm>
            <a:off x="457200" y="274320"/>
            <a:ext cx="73152" cy="32004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594359"/>
            <a:ext cx="73152" cy="320040"/>
          </a:xfrm>
          <a:prstGeom prst="rect">
            <a:avLst/>
          </a:prstGeom>
          <a:solidFill>
            <a:srgbClr val="B47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74320"/>
            <a:ext cx="10972800" cy="365760"/>
          </a:xfrm>
          <a:prstGeom prst="rect">
            <a:avLst/>
          </a:prstGeom>
          <a:noFill/>
        </p:spPr>
        <p:txBody>
          <a:bodyPr wrap="square" lIns="45720" rIns="45720" tIns="18288" bIns="18288" anchor="t">
            <a:spAutoFit/>
          </a:bodyPr>
          <a:lstStyle/>
          <a:p>
            <a:pPr algn="l"/>
            <a:r>
              <a:rPr sz="2400" b="1" i="0">
                <a:solidFill>
                  <a:srgbClr val="1F2937"/>
                </a:solidFill>
                <a:latin typeface="Calibri"/>
              </a:rPr>
              <a:t>{{SECTION_TITLE}}</a:t>
            </a:r>
          </a:p>
        </p:txBody>
      </p:sp>
      <p:sp>
        <p:nvSpPr>
          <p:cNvPr id="5" name="TextBox 4"/>
          <p:cNvSpPr txBox="1"/>
          <p:nvPr/>
        </p:nvSpPr>
        <p:spPr>
          <a:xfrm>
            <a:off x="594360" y="640080"/>
            <a:ext cx="10972800" cy="274320"/>
          </a:xfrm>
          <a:prstGeom prst="rect">
            <a:avLst/>
          </a:prstGeom>
          <a:noFill/>
        </p:spPr>
        <p:txBody>
          <a:bodyPr wrap="square" lIns="45720" rIns="45720" tIns="18288" bIns="18288" anchor="t">
            <a:spAutoFit/>
          </a:bodyPr>
          <a:lstStyle/>
          <a:p>
            <a:pPr algn="l"/>
            <a:r>
              <a:rPr sz="1100" b="0" i="1">
                <a:solidFill>
                  <a:srgbClr val="6B7280"/>
                </a:solidFill>
                <a:latin typeface="Calibri"/>
              </a:rPr>
              <a:t>{{SECTION_SUB}}</a:t>
            </a:r>
          </a:p>
        </p:txBody>
      </p:sp>
      <p:sp>
        <p:nvSpPr>
          <p:cNvPr id="6" name="Rectangle 5"/>
          <p:cNvSpPr/>
          <p:nvPr/>
        </p:nvSpPr>
        <p:spPr>
          <a:xfrm>
            <a:off x="548640" y="1005840"/>
            <a:ext cx="11091672" cy="18288"/>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280160"/>
            <a:ext cx="10332720" cy="4572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280160"/>
            <a:ext cx="1463040" cy="457200"/>
          </a:xfrm>
          <a:prstGeom prst="rect">
            <a:avLst/>
          </a:prstGeom>
          <a:noFill/>
        </p:spPr>
        <p:txBody>
          <a:bodyPr wrap="square" lIns="45720" rIns="45720" tIns="18288" bIns="18288" anchor="ctr">
            <a:spAutoFit/>
          </a:bodyPr>
          <a:lstStyle/>
          <a:p>
            <a:pPr algn="ctr"/>
            <a:r>
              <a:rPr sz="900" b="1" i="0">
                <a:solidFill>
                  <a:srgbClr val="FFFFFF"/>
                </a:solidFill>
                <a:latin typeface="Calibri"/>
              </a:rPr>
              <a:t>Mã</a:t>
            </a:r>
          </a:p>
        </p:txBody>
      </p:sp>
      <p:sp>
        <p:nvSpPr>
          <p:cNvPr id="9" name="TextBox 8"/>
          <p:cNvSpPr txBox="1"/>
          <p:nvPr/>
        </p:nvSpPr>
        <p:spPr>
          <a:xfrm>
            <a:off x="2011680" y="1280160"/>
            <a:ext cx="1371600" cy="457200"/>
          </a:xfrm>
          <a:prstGeom prst="rect">
            <a:avLst/>
          </a:prstGeom>
          <a:noFill/>
        </p:spPr>
        <p:txBody>
          <a:bodyPr wrap="square" lIns="45720" rIns="45720" tIns="18288" bIns="18288" anchor="ctr">
            <a:spAutoFit/>
          </a:bodyPr>
          <a:lstStyle/>
          <a:p>
            <a:pPr algn="r"/>
            <a:r>
              <a:rPr sz="900" b="1" i="0">
                <a:solidFill>
                  <a:srgbClr val="FFFFFF"/>
                </a:solidFill>
                <a:latin typeface="Calibri"/>
              </a:rPr>
              <a:t>Vốn hoá (tỷ)</a:t>
            </a:r>
          </a:p>
        </p:txBody>
      </p:sp>
      <p:sp>
        <p:nvSpPr>
          <p:cNvPr id="10" name="TextBox 9"/>
          <p:cNvSpPr txBox="1"/>
          <p:nvPr/>
        </p:nvSpPr>
        <p:spPr>
          <a:xfrm>
            <a:off x="3383280" y="1280160"/>
            <a:ext cx="1188720" cy="457200"/>
          </a:xfrm>
          <a:prstGeom prst="rect">
            <a:avLst/>
          </a:prstGeom>
          <a:noFill/>
        </p:spPr>
        <p:txBody>
          <a:bodyPr wrap="square" lIns="45720" rIns="45720" tIns="18288" bIns="18288" anchor="ctr">
            <a:spAutoFit/>
          </a:bodyPr>
          <a:lstStyle/>
          <a:p>
            <a:pPr algn="r"/>
            <a:r>
              <a:rPr sz="900" b="1" i="0">
                <a:solidFill>
                  <a:srgbClr val="FFFFFF"/>
                </a:solidFill>
                <a:latin typeface="Calibri"/>
              </a:rPr>
              <a:t>P/E</a:t>
            </a:r>
          </a:p>
        </p:txBody>
      </p:sp>
      <p:sp>
        <p:nvSpPr>
          <p:cNvPr id="11" name="TextBox 10"/>
          <p:cNvSpPr txBox="1"/>
          <p:nvPr/>
        </p:nvSpPr>
        <p:spPr>
          <a:xfrm>
            <a:off x="4572000" y="1280160"/>
            <a:ext cx="1097280" cy="457200"/>
          </a:xfrm>
          <a:prstGeom prst="rect">
            <a:avLst/>
          </a:prstGeom>
          <a:noFill/>
        </p:spPr>
        <p:txBody>
          <a:bodyPr wrap="square" lIns="45720" rIns="45720" tIns="18288" bIns="18288" anchor="ctr">
            <a:spAutoFit/>
          </a:bodyPr>
          <a:lstStyle/>
          <a:p>
            <a:pPr algn="r"/>
            <a:r>
              <a:rPr sz="900" b="1" i="0">
                <a:solidFill>
                  <a:srgbClr val="FFFFFF"/>
                </a:solidFill>
                <a:latin typeface="Calibri"/>
              </a:rPr>
              <a:t>P/B</a:t>
            </a:r>
          </a:p>
        </p:txBody>
      </p:sp>
      <p:sp>
        <p:nvSpPr>
          <p:cNvPr id="12" name="TextBox 11"/>
          <p:cNvSpPr txBox="1"/>
          <p:nvPr/>
        </p:nvSpPr>
        <p:spPr>
          <a:xfrm>
            <a:off x="5669280" y="1280160"/>
            <a:ext cx="1097280" cy="457200"/>
          </a:xfrm>
          <a:prstGeom prst="rect">
            <a:avLst/>
          </a:prstGeom>
          <a:noFill/>
        </p:spPr>
        <p:txBody>
          <a:bodyPr wrap="square" lIns="45720" rIns="45720" tIns="18288" bIns="18288" anchor="ctr">
            <a:spAutoFit/>
          </a:bodyPr>
          <a:lstStyle/>
          <a:p>
            <a:pPr algn="r"/>
            <a:r>
              <a:rPr sz="900" b="1" i="0">
                <a:solidFill>
                  <a:srgbClr val="FFFFFF"/>
                </a:solidFill>
                <a:latin typeface="Calibri"/>
              </a:rPr>
              <a:t>ROE %</a:t>
            </a:r>
          </a:p>
        </p:txBody>
      </p:sp>
      <p:sp>
        <p:nvSpPr>
          <p:cNvPr id="13" name="TextBox 12"/>
          <p:cNvSpPr txBox="1"/>
          <p:nvPr/>
        </p:nvSpPr>
        <p:spPr>
          <a:xfrm>
            <a:off x="6766560" y="1280160"/>
            <a:ext cx="1097280" cy="457200"/>
          </a:xfrm>
          <a:prstGeom prst="rect">
            <a:avLst/>
          </a:prstGeom>
          <a:noFill/>
        </p:spPr>
        <p:txBody>
          <a:bodyPr wrap="square" lIns="45720" rIns="45720" tIns="18288" bIns="18288" anchor="ctr">
            <a:spAutoFit/>
          </a:bodyPr>
          <a:lstStyle/>
          <a:p>
            <a:pPr algn="r"/>
            <a:r>
              <a:rPr sz="900" b="1" i="0">
                <a:solidFill>
                  <a:srgbClr val="FFFFFF"/>
                </a:solidFill>
                <a:latin typeface="Calibri"/>
              </a:rPr>
              <a:t>ROA %</a:t>
            </a:r>
          </a:p>
        </p:txBody>
      </p:sp>
      <p:sp>
        <p:nvSpPr>
          <p:cNvPr id="14" name="TextBox 13"/>
          <p:cNvSpPr txBox="1"/>
          <p:nvPr/>
        </p:nvSpPr>
        <p:spPr>
          <a:xfrm>
            <a:off x="7863840" y="1280160"/>
            <a:ext cx="1280160" cy="457200"/>
          </a:xfrm>
          <a:prstGeom prst="rect">
            <a:avLst/>
          </a:prstGeom>
          <a:noFill/>
        </p:spPr>
        <p:txBody>
          <a:bodyPr wrap="square" lIns="45720" rIns="45720" tIns="18288" bIns="18288" anchor="ctr">
            <a:spAutoFit/>
          </a:bodyPr>
          <a:lstStyle/>
          <a:p>
            <a:pPr algn="r"/>
            <a:r>
              <a:rPr sz="900" b="1" i="0">
                <a:solidFill>
                  <a:srgbClr val="FFFFFF"/>
                </a:solidFill>
                <a:latin typeface="Calibri"/>
              </a:rPr>
              <a:t>Tăng DT % (CK)</a:t>
            </a:r>
          </a:p>
        </p:txBody>
      </p:sp>
      <p:sp>
        <p:nvSpPr>
          <p:cNvPr id="15" name="TextBox 14"/>
          <p:cNvSpPr txBox="1"/>
          <p:nvPr/>
        </p:nvSpPr>
        <p:spPr>
          <a:xfrm>
            <a:off x="9144000" y="1280160"/>
            <a:ext cx="1737360" cy="457200"/>
          </a:xfrm>
          <a:prstGeom prst="rect">
            <a:avLst/>
          </a:prstGeom>
          <a:noFill/>
        </p:spPr>
        <p:txBody>
          <a:bodyPr wrap="square" lIns="45720" rIns="45720" tIns="18288" bIns="18288" anchor="ctr">
            <a:spAutoFit/>
          </a:bodyPr>
          <a:lstStyle/>
          <a:p>
            <a:pPr algn="l"/>
            <a:r>
              <a:rPr sz="900" b="1" i="0">
                <a:solidFill>
                  <a:srgbClr val="FFFFFF"/>
                </a:solidFill>
                <a:latin typeface="Calibri"/>
              </a:rPr>
              <a:t>Đặc điểm</a:t>
            </a:r>
          </a:p>
        </p:txBody>
      </p:sp>
      <p:sp>
        <p:nvSpPr>
          <p:cNvPr id="16" name="Rectangle 15"/>
          <p:cNvSpPr/>
          <p:nvPr/>
        </p:nvSpPr>
        <p:spPr>
          <a:xfrm>
            <a:off x="548640" y="1737360"/>
            <a:ext cx="10332720" cy="411480"/>
          </a:xfrm>
          <a:prstGeom prst="rect">
            <a:avLst/>
          </a:prstGeom>
          <a:solidFill>
            <a:srgbClr val="F3E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1737360"/>
            <a:ext cx="1463040" cy="411480"/>
          </a:xfrm>
          <a:prstGeom prst="rect">
            <a:avLst/>
          </a:prstGeom>
          <a:noFill/>
        </p:spPr>
        <p:txBody>
          <a:bodyPr wrap="square" lIns="45720" rIns="45720" tIns="18288" bIns="18288" anchor="ctr">
            <a:spAutoFit/>
          </a:bodyPr>
          <a:lstStyle/>
          <a:p>
            <a:pPr algn="ctr"/>
            <a:r>
              <a:rPr sz="1000" b="1" i="0">
                <a:solidFill>
                  <a:srgbClr val="8B5CF6"/>
                </a:solidFill>
                <a:latin typeface="Calibri"/>
              </a:rPr>
              <a:t>{{P1_TICKER}}</a:t>
            </a:r>
          </a:p>
        </p:txBody>
      </p:sp>
      <p:sp>
        <p:nvSpPr>
          <p:cNvPr id="18" name="TextBox 17"/>
          <p:cNvSpPr txBox="1"/>
          <p:nvPr/>
        </p:nvSpPr>
        <p:spPr>
          <a:xfrm>
            <a:off x="2011680" y="1737360"/>
            <a:ext cx="1371600" cy="411480"/>
          </a:xfrm>
          <a:prstGeom prst="rect">
            <a:avLst/>
          </a:prstGeom>
          <a:noFill/>
        </p:spPr>
        <p:txBody>
          <a:bodyPr wrap="square" lIns="45720" rIns="45720" tIns="18288" bIns="18288" anchor="ctr">
            <a:spAutoFit/>
          </a:bodyPr>
          <a:lstStyle/>
          <a:p>
            <a:pPr algn="r"/>
            <a:r>
              <a:rPr sz="1000" b="0" i="0">
                <a:solidFill>
                  <a:srgbClr val="1F2937"/>
                </a:solidFill>
                <a:latin typeface="Calibri"/>
              </a:rPr>
              <a:t>{{P1_MARKETCAP}}</a:t>
            </a:r>
          </a:p>
        </p:txBody>
      </p:sp>
      <p:sp>
        <p:nvSpPr>
          <p:cNvPr id="19" name="TextBox 18"/>
          <p:cNvSpPr txBox="1"/>
          <p:nvPr/>
        </p:nvSpPr>
        <p:spPr>
          <a:xfrm>
            <a:off x="3383280" y="1737360"/>
            <a:ext cx="1188720" cy="411480"/>
          </a:xfrm>
          <a:prstGeom prst="rect">
            <a:avLst/>
          </a:prstGeom>
          <a:noFill/>
        </p:spPr>
        <p:txBody>
          <a:bodyPr wrap="square" lIns="45720" rIns="45720" tIns="18288" bIns="18288" anchor="ctr">
            <a:spAutoFit/>
          </a:bodyPr>
          <a:lstStyle/>
          <a:p>
            <a:pPr algn="r"/>
            <a:r>
              <a:rPr sz="1000" b="0" i="0">
                <a:solidFill>
                  <a:srgbClr val="1F2937"/>
                </a:solidFill>
                <a:latin typeface="Calibri"/>
              </a:rPr>
              <a:t>{{P1_PE}}</a:t>
            </a:r>
          </a:p>
        </p:txBody>
      </p:sp>
      <p:sp>
        <p:nvSpPr>
          <p:cNvPr id="20" name="TextBox 19"/>
          <p:cNvSpPr txBox="1"/>
          <p:nvPr/>
        </p:nvSpPr>
        <p:spPr>
          <a:xfrm>
            <a:off x="4572000" y="1737360"/>
            <a:ext cx="1097280" cy="411480"/>
          </a:xfrm>
          <a:prstGeom prst="rect">
            <a:avLst/>
          </a:prstGeom>
          <a:noFill/>
        </p:spPr>
        <p:txBody>
          <a:bodyPr wrap="square" lIns="45720" rIns="45720" tIns="18288" bIns="18288" anchor="ctr">
            <a:spAutoFit/>
          </a:bodyPr>
          <a:lstStyle/>
          <a:p>
            <a:pPr algn="r"/>
            <a:r>
              <a:rPr sz="1000" b="0" i="0">
                <a:solidFill>
                  <a:srgbClr val="1F2937"/>
                </a:solidFill>
                <a:latin typeface="Calibri"/>
              </a:rPr>
              <a:t>{{P1_PB}}</a:t>
            </a:r>
          </a:p>
        </p:txBody>
      </p:sp>
      <p:sp>
        <p:nvSpPr>
          <p:cNvPr id="21" name="TextBox 20"/>
          <p:cNvSpPr txBox="1"/>
          <p:nvPr/>
        </p:nvSpPr>
        <p:spPr>
          <a:xfrm>
            <a:off x="5669280" y="1737360"/>
            <a:ext cx="1097280" cy="411480"/>
          </a:xfrm>
          <a:prstGeom prst="rect">
            <a:avLst/>
          </a:prstGeom>
          <a:noFill/>
        </p:spPr>
        <p:txBody>
          <a:bodyPr wrap="square" lIns="45720" rIns="45720" tIns="18288" bIns="18288" anchor="ctr">
            <a:spAutoFit/>
          </a:bodyPr>
          <a:lstStyle/>
          <a:p>
            <a:pPr algn="r"/>
            <a:r>
              <a:rPr sz="1000" b="0" i="0">
                <a:solidFill>
                  <a:srgbClr val="1F2937"/>
                </a:solidFill>
                <a:latin typeface="Calibri"/>
              </a:rPr>
              <a:t>{{P1_ROE}}</a:t>
            </a:r>
          </a:p>
        </p:txBody>
      </p:sp>
      <p:sp>
        <p:nvSpPr>
          <p:cNvPr id="22" name="TextBox 21"/>
          <p:cNvSpPr txBox="1"/>
          <p:nvPr/>
        </p:nvSpPr>
        <p:spPr>
          <a:xfrm>
            <a:off x="6766560" y="1737360"/>
            <a:ext cx="1097280" cy="411480"/>
          </a:xfrm>
          <a:prstGeom prst="rect">
            <a:avLst/>
          </a:prstGeom>
          <a:noFill/>
        </p:spPr>
        <p:txBody>
          <a:bodyPr wrap="square" lIns="45720" rIns="45720" tIns="18288" bIns="18288" anchor="ctr">
            <a:spAutoFit/>
          </a:bodyPr>
          <a:lstStyle/>
          <a:p>
            <a:pPr algn="r"/>
            <a:r>
              <a:rPr sz="1000" b="0" i="0">
                <a:solidFill>
                  <a:srgbClr val="1F2937"/>
                </a:solidFill>
                <a:latin typeface="Calibri"/>
              </a:rPr>
              <a:t>{{P1_ROA}}</a:t>
            </a:r>
          </a:p>
        </p:txBody>
      </p:sp>
      <p:sp>
        <p:nvSpPr>
          <p:cNvPr id="23" name="TextBox 22"/>
          <p:cNvSpPr txBox="1"/>
          <p:nvPr/>
        </p:nvSpPr>
        <p:spPr>
          <a:xfrm>
            <a:off x="7863840" y="1737360"/>
            <a:ext cx="1280160" cy="411480"/>
          </a:xfrm>
          <a:prstGeom prst="rect">
            <a:avLst/>
          </a:prstGeom>
          <a:noFill/>
        </p:spPr>
        <p:txBody>
          <a:bodyPr wrap="square" lIns="45720" rIns="45720" tIns="18288" bIns="18288" anchor="ctr">
            <a:spAutoFit/>
          </a:bodyPr>
          <a:lstStyle/>
          <a:p>
            <a:pPr algn="r"/>
            <a:r>
              <a:rPr sz="1000" b="0" i="0">
                <a:solidFill>
                  <a:srgbClr val="1F2937"/>
                </a:solidFill>
                <a:latin typeface="Calibri"/>
              </a:rPr>
              <a:t>{{P1_REVGROWTH}}</a:t>
            </a:r>
          </a:p>
        </p:txBody>
      </p:sp>
      <p:sp>
        <p:nvSpPr>
          <p:cNvPr id="24" name="TextBox 23"/>
          <p:cNvSpPr txBox="1"/>
          <p:nvPr/>
        </p:nvSpPr>
        <p:spPr>
          <a:xfrm>
            <a:off x="9144000" y="1737360"/>
            <a:ext cx="1737360" cy="411480"/>
          </a:xfrm>
          <a:prstGeom prst="rect">
            <a:avLst/>
          </a:prstGeom>
          <a:noFill/>
        </p:spPr>
        <p:txBody>
          <a:bodyPr wrap="square" lIns="45720" rIns="45720" tIns="18288" bIns="18288" anchor="ctr">
            <a:spAutoFit/>
          </a:bodyPr>
          <a:lstStyle/>
          <a:p>
            <a:pPr algn="l"/>
            <a:r>
              <a:rPr sz="900" b="0" i="1">
                <a:solidFill>
                  <a:srgbClr val="6B7280"/>
                </a:solidFill>
                <a:latin typeface="Calibri"/>
              </a:rPr>
              <a:t>{{P1_NOTE}}</a:t>
            </a:r>
          </a:p>
        </p:txBody>
      </p:sp>
      <p:sp>
        <p:nvSpPr>
          <p:cNvPr id="25" name="TextBox 24"/>
          <p:cNvSpPr txBox="1"/>
          <p:nvPr/>
        </p:nvSpPr>
        <p:spPr>
          <a:xfrm>
            <a:off x="548640" y="2148840"/>
            <a:ext cx="1463040" cy="411480"/>
          </a:xfrm>
          <a:prstGeom prst="rect">
            <a:avLst/>
          </a:prstGeom>
          <a:noFill/>
        </p:spPr>
        <p:txBody>
          <a:bodyPr wrap="square" lIns="45720" rIns="45720" tIns="18288" bIns="18288" anchor="ctr">
            <a:spAutoFit/>
          </a:bodyPr>
          <a:lstStyle/>
          <a:p>
            <a:pPr algn="ctr"/>
            <a:r>
              <a:rPr sz="1000" b="1" i="0">
                <a:solidFill>
                  <a:srgbClr val="1F2937"/>
                </a:solidFill>
                <a:latin typeface="Calibri"/>
              </a:rPr>
              <a:t>{{P2_TICKER}}</a:t>
            </a:r>
          </a:p>
        </p:txBody>
      </p:sp>
      <p:sp>
        <p:nvSpPr>
          <p:cNvPr id="26" name="TextBox 25"/>
          <p:cNvSpPr txBox="1"/>
          <p:nvPr/>
        </p:nvSpPr>
        <p:spPr>
          <a:xfrm>
            <a:off x="2011680" y="2148840"/>
            <a:ext cx="1371600" cy="411480"/>
          </a:xfrm>
          <a:prstGeom prst="rect">
            <a:avLst/>
          </a:prstGeom>
          <a:noFill/>
        </p:spPr>
        <p:txBody>
          <a:bodyPr wrap="square" lIns="45720" rIns="45720" tIns="18288" bIns="18288" anchor="ctr">
            <a:spAutoFit/>
          </a:bodyPr>
          <a:lstStyle/>
          <a:p>
            <a:pPr algn="r"/>
            <a:r>
              <a:rPr sz="1000" b="0" i="0">
                <a:solidFill>
                  <a:srgbClr val="1F2937"/>
                </a:solidFill>
                <a:latin typeface="Calibri"/>
              </a:rPr>
              <a:t>{{P2_MARKETCAP}}</a:t>
            </a:r>
          </a:p>
        </p:txBody>
      </p:sp>
      <p:sp>
        <p:nvSpPr>
          <p:cNvPr id="27" name="TextBox 26"/>
          <p:cNvSpPr txBox="1"/>
          <p:nvPr/>
        </p:nvSpPr>
        <p:spPr>
          <a:xfrm>
            <a:off x="3383280" y="2148840"/>
            <a:ext cx="1188720" cy="411480"/>
          </a:xfrm>
          <a:prstGeom prst="rect">
            <a:avLst/>
          </a:prstGeom>
          <a:noFill/>
        </p:spPr>
        <p:txBody>
          <a:bodyPr wrap="square" lIns="45720" rIns="45720" tIns="18288" bIns="18288" anchor="ctr">
            <a:spAutoFit/>
          </a:bodyPr>
          <a:lstStyle/>
          <a:p>
            <a:pPr algn="r"/>
            <a:r>
              <a:rPr sz="1000" b="0" i="0">
                <a:solidFill>
                  <a:srgbClr val="1F2937"/>
                </a:solidFill>
                <a:latin typeface="Calibri"/>
              </a:rPr>
              <a:t>{{P2_PE}}</a:t>
            </a:r>
          </a:p>
        </p:txBody>
      </p:sp>
      <p:sp>
        <p:nvSpPr>
          <p:cNvPr id="28" name="TextBox 27"/>
          <p:cNvSpPr txBox="1"/>
          <p:nvPr/>
        </p:nvSpPr>
        <p:spPr>
          <a:xfrm>
            <a:off x="4572000" y="2148840"/>
            <a:ext cx="1097280" cy="411480"/>
          </a:xfrm>
          <a:prstGeom prst="rect">
            <a:avLst/>
          </a:prstGeom>
          <a:noFill/>
        </p:spPr>
        <p:txBody>
          <a:bodyPr wrap="square" lIns="45720" rIns="45720" tIns="18288" bIns="18288" anchor="ctr">
            <a:spAutoFit/>
          </a:bodyPr>
          <a:lstStyle/>
          <a:p>
            <a:pPr algn="r"/>
            <a:r>
              <a:rPr sz="1000" b="0" i="0">
                <a:solidFill>
                  <a:srgbClr val="1F2937"/>
                </a:solidFill>
                <a:latin typeface="Calibri"/>
              </a:rPr>
              <a:t>{{P2_PB}}</a:t>
            </a:r>
          </a:p>
        </p:txBody>
      </p:sp>
      <p:sp>
        <p:nvSpPr>
          <p:cNvPr id="29" name="TextBox 28"/>
          <p:cNvSpPr txBox="1"/>
          <p:nvPr/>
        </p:nvSpPr>
        <p:spPr>
          <a:xfrm>
            <a:off x="5669280" y="2148840"/>
            <a:ext cx="1097280" cy="411480"/>
          </a:xfrm>
          <a:prstGeom prst="rect">
            <a:avLst/>
          </a:prstGeom>
          <a:noFill/>
        </p:spPr>
        <p:txBody>
          <a:bodyPr wrap="square" lIns="45720" rIns="45720" tIns="18288" bIns="18288" anchor="ctr">
            <a:spAutoFit/>
          </a:bodyPr>
          <a:lstStyle/>
          <a:p>
            <a:pPr algn="r"/>
            <a:r>
              <a:rPr sz="1000" b="0" i="0">
                <a:solidFill>
                  <a:srgbClr val="1F2937"/>
                </a:solidFill>
                <a:latin typeface="Calibri"/>
              </a:rPr>
              <a:t>{{P2_ROE}}</a:t>
            </a:r>
          </a:p>
        </p:txBody>
      </p:sp>
      <p:sp>
        <p:nvSpPr>
          <p:cNvPr id="30" name="TextBox 29"/>
          <p:cNvSpPr txBox="1"/>
          <p:nvPr/>
        </p:nvSpPr>
        <p:spPr>
          <a:xfrm>
            <a:off x="6766560" y="2148840"/>
            <a:ext cx="1097280" cy="411480"/>
          </a:xfrm>
          <a:prstGeom prst="rect">
            <a:avLst/>
          </a:prstGeom>
          <a:noFill/>
        </p:spPr>
        <p:txBody>
          <a:bodyPr wrap="square" lIns="45720" rIns="45720" tIns="18288" bIns="18288" anchor="ctr">
            <a:spAutoFit/>
          </a:bodyPr>
          <a:lstStyle/>
          <a:p>
            <a:pPr algn="r"/>
            <a:r>
              <a:rPr sz="1000" b="0" i="0">
                <a:solidFill>
                  <a:srgbClr val="1F2937"/>
                </a:solidFill>
                <a:latin typeface="Calibri"/>
              </a:rPr>
              <a:t>{{P2_ROA}}</a:t>
            </a:r>
          </a:p>
        </p:txBody>
      </p:sp>
      <p:sp>
        <p:nvSpPr>
          <p:cNvPr id="31" name="TextBox 30"/>
          <p:cNvSpPr txBox="1"/>
          <p:nvPr/>
        </p:nvSpPr>
        <p:spPr>
          <a:xfrm>
            <a:off x="7863840" y="2148840"/>
            <a:ext cx="1280160" cy="411480"/>
          </a:xfrm>
          <a:prstGeom prst="rect">
            <a:avLst/>
          </a:prstGeom>
          <a:noFill/>
        </p:spPr>
        <p:txBody>
          <a:bodyPr wrap="square" lIns="45720" rIns="45720" tIns="18288" bIns="18288" anchor="ctr">
            <a:spAutoFit/>
          </a:bodyPr>
          <a:lstStyle/>
          <a:p>
            <a:pPr algn="r"/>
            <a:r>
              <a:rPr sz="1000" b="0" i="0">
                <a:solidFill>
                  <a:srgbClr val="1F2937"/>
                </a:solidFill>
                <a:latin typeface="Calibri"/>
              </a:rPr>
              <a:t>{{P2_REVGROWTH}}</a:t>
            </a:r>
          </a:p>
        </p:txBody>
      </p:sp>
      <p:sp>
        <p:nvSpPr>
          <p:cNvPr id="32" name="TextBox 31"/>
          <p:cNvSpPr txBox="1"/>
          <p:nvPr/>
        </p:nvSpPr>
        <p:spPr>
          <a:xfrm>
            <a:off x="9144000" y="2148840"/>
            <a:ext cx="1737360" cy="411480"/>
          </a:xfrm>
          <a:prstGeom prst="rect">
            <a:avLst/>
          </a:prstGeom>
          <a:noFill/>
        </p:spPr>
        <p:txBody>
          <a:bodyPr wrap="square" lIns="45720" rIns="45720" tIns="18288" bIns="18288" anchor="ctr">
            <a:spAutoFit/>
          </a:bodyPr>
          <a:lstStyle/>
          <a:p>
            <a:pPr algn="l"/>
            <a:r>
              <a:rPr sz="900" b="0" i="1">
                <a:solidFill>
                  <a:srgbClr val="6B7280"/>
                </a:solidFill>
                <a:latin typeface="Calibri"/>
              </a:rPr>
              <a:t>{{P2_NOTE}}</a:t>
            </a:r>
          </a:p>
        </p:txBody>
      </p:sp>
      <p:sp>
        <p:nvSpPr>
          <p:cNvPr id="33" name="Rectangle 32"/>
          <p:cNvSpPr/>
          <p:nvPr/>
        </p:nvSpPr>
        <p:spPr>
          <a:xfrm>
            <a:off x="548640" y="2560320"/>
            <a:ext cx="10332720" cy="4114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48640" y="2560320"/>
            <a:ext cx="1463040" cy="411480"/>
          </a:xfrm>
          <a:prstGeom prst="rect">
            <a:avLst/>
          </a:prstGeom>
          <a:noFill/>
        </p:spPr>
        <p:txBody>
          <a:bodyPr wrap="square" lIns="45720" rIns="45720" tIns="18288" bIns="18288" anchor="ctr">
            <a:spAutoFit/>
          </a:bodyPr>
          <a:lstStyle/>
          <a:p>
            <a:pPr algn="ctr"/>
            <a:r>
              <a:rPr sz="1000" b="1" i="0">
                <a:solidFill>
                  <a:srgbClr val="1F2937"/>
                </a:solidFill>
                <a:latin typeface="Calibri"/>
              </a:rPr>
              <a:t>{{P3_TICKER}}</a:t>
            </a:r>
          </a:p>
        </p:txBody>
      </p:sp>
      <p:sp>
        <p:nvSpPr>
          <p:cNvPr id="35" name="TextBox 34"/>
          <p:cNvSpPr txBox="1"/>
          <p:nvPr/>
        </p:nvSpPr>
        <p:spPr>
          <a:xfrm>
            <a:off x="2011680" y="2560320"/>
            <a:ext cx="1371600" cy="411480"/>
          </a:xfrm>
          <a:prstGeom prst="rect">
            <a:avLst/>
          </a:prstGeom>
          <a:noFill/>
        </p:spPr>
        <p:txBody>
          <a:bodyPr wrap="square" lIns="45720" rIns="45720" tIns="18288" bIns="18288" anchor="ctr">
            <a:spAutoFit/>
          </a:bodyPr>
          <a:lstStyle/>
          <a:p>
            <a:pPr algn="r"/>
            <a:r>
              <a:rPr sz="1000" b="0" i="0">
                <a:solidFill>
                  <a:srgbClr val="1F2937"/>
                </a:solidFill>
                <a:latin typeface="Calibri"/>
              </a:rPr>
              <a:t>{{P3_MARKETCAP}}</a:t>
            </a:r>
          </a:p>
        </p:txBody>
      </p:sp>
      <p:sp>
        <p:nvSpPr>
          <p:cNvPr id="36" name="TextBox 35"/>
          <p:cNvSpPr txBox="1"/>
          <p:nvPr/>
        </p:nvSpPr>
        <p:spPr>
          <a:xfrm>
            <a:off x="3383280" y="2560320"/>
            <a:ext cx="1188720" cy="411480"/>
          </a:xfrm>
          <a:prstGeom prst="rect">
            <a:avLst/>
          </a:prstGeom>
          <a:noFill/>
        </p:spPr>
        <p:txBody>
          <a:bodyPr wrap="square" lIns="45720" rIns="45720" tIns="18288" bIns="18288" anchor="ctr">
            <a:spAutoFit/>
          </a:bodyPr>
          <a:lstStyle/>
          <a:p>
            <a:pPr algn="r"/>
            <a:r>
              <a:rPr sz="1000" b="0" i="0">
                <a:solidFill>
                  <a:srgbClr val="1F2937"/>
                </a:solidFill>
                <a:latin typeface="Calibri"/>
              </a:rPr>
              <a:t>{{P3_PE}}</a:t>
            </a:r>
          </a:p>
        </p:txBody>
      </p:sp>
      <p:sp>
        <p:nvSpPr>
          <p:cNvPr id="37" name="TextBox 36"/>
          <p:cNvSpPr txBox="1"/>
          <p:nvPr/>
        </p:nvSpPr>
        <p:spPr>
          <a:xfrm>
            <a:off x="4572000" y="2560320"/>
            <a:ext cx="1097280" cy="411480"/>
          </a:xfrm>
          <a:prstGeom prst="rect">
            <a:avLst/>
          </a:prstGeom>
          <a:noFill/>
        </p:spPr>
        <p:txBody>
          <a:bodyPr wrap="square" lIns="45720" rIns="45720" tIns="18288" bIns="18288" anchor="ctr">
            <a:spAutoFit/>
          </a:bodyPr>
          <a:lstStyle/>
          <a:p>
            <a:pPr algn="r"/>
            <a:r>
              <a:rPr sz="1000" b="0" i="0">
                <a:solidFill>
                  <a:srgbClr val="1F2937"/>
                </a:solidFill>
                <a:latin typeface="Calibri"/>
              </a:rPr>
              <a:t>{{P3_PB}}</a:t>
            </a:r>
          </a:p>
        </p:txBody>
      </p:sp>
      <p:sp>
        <p:nvSpPr>
          <p:cNvPr id="38" name="TextBox 37"/>
          <p:cNvSpPr txBox="1"/>
          <p:nvPr/>
        </p:nvSpPr>
        <p:spPr>
          <a:xfrm>
            <a:off x="5669280" y="2560320"/>
            <a:ext cx="1097280" cy="411480"/>
          </a:xfrm>
          <a:prstGeom prst="rect">
            <a:avLst/>
          </a:prstGeom>
          <a:noFill/>
        </p:spPr>
        <p:txBody>
          <a:bodyPr wrap="square" lIns="45720" rIns="45720" tIns="18288" bIns="18288" anchor="ctr">
            <a:spAutoFit/>
          </a:bodyPr>
          <a:lstStyle/>
          <a:p>
            <a:pPr algn="r"/>
            <a:r>
              <a:rPr sz="1000" b="0" i="0">
                <a:solidFill>
                  <a:srgbClr val="1F2937"/>
                </a:solidFill>
                <a:latin typeface="Calibri"/>
              </a:rPr>
              <a:t>{{P3_ROE}}</a:t>
            </a:r>
          </a:p>
        </p:txBody>
      </p:sp>
      <p:sp>
        <p:nvSpPr>
          <p:cNvPr id="39" name="TextBox 38"/>
          <p:cNvSpPr txBox="1"/>
          <p:nvPr/>
        </p:nvSpPr>
        <p:spPr>
          <a:xfrm>
            <a:off x="6766560" y="2560320"/>
            <a:ext cx="1097280" cy="411480"/>
          </a:xfrm>
          <a:prstGeom prst="rect">
            <a:avLst/>
          </a:prstGeom>
          <a:noFill/>
        </p:spPr>
        <p:txBody>
          <a:bodyPr wrap="square" lIns="45720" rIns="45720" tIns="18288" bIns="18288" anchor="ctr">
            <a:spAutoFit/>
          </a:bodyPr>
          <a:lstStyle/>
          <a:p>
            <a:pPr algn="r"/>
            <a:r>
              <a:rPr sz="1000" b="0" i="0">
                <a:solidFill>
                  <a:srgbClr val="1F2937"/>
                </a:solidFill>
                <a:latin typeface="Calibri"/>
              </a:rPr>
              <a:t>{{P3_ROA}}</a:t>
            </a:r>
          </a:p>
        </p:txBody>
      </p:sp>
      <p:sp>
        <p:nvSpPr>
          <p:cNvPr id="40" name="TextBox 39"/>
          <p:cNvSpPr txBox="1"/>
          <p:nvPr/>
        </p:nvSpPr>
        <p:spPr>
          <a:xfrm>
            <a:off x="7863840" y="2560320"/>
            <a:ext cx="1280160" cy="411480"/>
          </a:xfrm>
          <a:prstGeom prst="rect">
            <a:avLst/>
          </a:prstGeom>
          <a:noFill/>
        </p:spPr>
        <p:txBody>
          <a:bodyPr wrap="square" lIns="45720" rIns="45720" tIns="18288" bIns="18288" anchor="ctr">
            <a:spAutoFit/>
          </a:bodyPr>
          <a:lstStyle/>
          <a:p>
            <a:pPr algn="r"/>
            <a:r>
              <a:rPr sz="1000" b="0" i="0">
                <a:solidFill>
                  <a:srgbClr val="1F2937"/>
                </a:solidFill>
                <a:latin typeface="Calibri"/>
              </a:rPr>
              <a:t>{{P3_REVGROWTH}}</a:t>
            </a:r>
          </a:p>
        </p:txBody>
      </p:sp>
      <p:sp>
        <p:nvSpPr>
          <p:cNvPr id="41" name="TextBox 40"/>
          <p:cNvSpPr txBox="1"/>
          <p:nvPr/>
        </p:nvSpPr>
        <p:spPr>
          <a:xfrm>
            <a:off x="9144000" y="2560320"/>
            <a:ext cx="1737360" cy="411480"/>
          </a:xfrm>
          <a:prstGeom prst="rect">
            <a:avLst/>
          </a:prstGeom>
          <a:noFill/>
        </p:spPr>
        <p:txBody>
          <a:bodyPr wrap="square" lIns="45720" rIns="45720" tIns="18288" bIns="18288" anchor="ctr">
            <a:spAutoFit/>
          </a:bodyPr>
          <a:lstStyle/>
          <a:p>
            <a:pPr algn="l"/>
            <a:r>
              <a:rPr sz="900" b="0" i="1">
                <a:solidFill>
                  <a:srgbClr val="6B7280"/>
                </a:solidFill>
                <a:latin typeface="Calibri"/>
              </a:rPr>
              <a:t>{{P3_NOTE}}</a:t>
            </a:r>
          </a:p>
        </p:txBody>
      </p:sp>
      <p:sp>
        <p:nvSpPr>
          <p:cNvPr id="42" name="TextBox 41"/>
          <p:cNvSpPr txBox="1"/>
          <p:nvPr/>
        </p:nvSpPr>
        <p:spPr>
          <a:xfrm>
            <a:off x="548640" y="2971800"/>
            <a:ext cx="1463040" cy="411480"/>
          </a:xfrm>
          <a:prstGeom prst="rect">
            <a:avLst/>
          </a:prstGeom>
          <a:noFill/>
        </p:spPr>
        <p:txBody>
          <a:bodyPr wrap="square" lIns="45720" rIns="45720" tIns="18288" bIns="18288" anchor="ctr">
            <a:spAutoFit/>
          </a:bodyPr>
          <a:lstStyle/>
          <a:p>
            <a:pPr algn="ctr"/>
            <a:r>
              <a:rPr sz="1000" b="1" i="0">
                <a:solidFill>
                  <a:srgbClr val="1F2937"/>
                </a:solidFill>
                <a:latin typeface="Calibri"/>
              </a:rPr>
              <a:t>{{P4_TICKER}}</a:t>
            </a:r>
          </a:p>
        </p:txBody>
      </p:sp>
      <p:sp>
        <p:nvSpPr>
          <p:cNvPr id="43" name="TextBox 42"/>
          <p:cNvSpPr txBox="1"/>
          <p:nvPr/>
        </p:nvSpPr>
        <p:spPr>
          <a:xfrm>
            <a:off x="2011680" y="2971800"/>
            <a:ext cx="1371600" cy="411480"/>
          </a:xfrm>
          <a:prstGeom prst="rect">
            <a:avLst/>
          </a:prstGeom>
          <a:noFill/>
        </p:spPr>
        <p:txBody>
          <a:bodyPr wrap="square" lIns="45720" rIns="45720" tIns="18288" bIns="18288" anchor="ctr">
            <a:spAutoFit/>
          </a:bodyPr>
          <a:lstStyle/>
          <a:p>
            <a:pPr algn="r"/>
            <a:r>
              <a:rPr sz="1000" b="0" i="0">
                <a:solidFill>
                  <a:srgbClr val="1F2937"/>
                </a:solidFill>
                <a:latin typeface="Calibri"/>
              </a:rPr>
              <a:t>{{P4_MARKETCAP}}</a:t>
            </a:r>
          </a:p>
        </p:txBody>
      </p:sp>
      <p:sp>
        <p:nvSpPr>
          <p:cNvPr id="44" name="TextBox 43"/>
          <p:cNvSpPr txBox="1"/>
          <p:nvPr/>
        </p:nvSpPr>
        <p:spPr>
          <a:xfrm>
            <a:off x="3383280" y="2971800"/>
            <a:ext cx="1188720" cy="411480"/>
          </a:xfrm>
          <a:prstGeom prst="rect">
            <a:avLst/>
          </a:prstGeom>
          <a:noFill/>
        </p:spPr>
        <p:txBody>
          <a:bodyPr wrap="square" lIns="45720" rIns="45720" tIns="18288" bIns="18288" anchor="ctr">
            <a:spAutoFit/>
          </a:bodyPr>
          <a:lstStyle/>
          <a:p>
            <a:pPr algn="r"/>
            <a:r>
              <a:rPr sz="1000" b="0" i="0">
                <a:solidFill>
                  <a:srgbClr val="1F2937"/>
                </a:solidFill>
                <a:latin typeface="Calibri"/>
              </a:rPr>
              <a:t>{{P4_PE}}</a:t>
            </a:r>
          </a:p>
        </p:txBody>
      </p:sp>
      <p:sp>
        <p:nvSpPr>
          <p:cNvPr id="45" name="TextBox 44"/>
          <p:cNvSpPr txBox="1"/>
          <p:nvPr/>
        </p:nvSpPr>
        <p:spPr>
          <a:xfrm>
            <a:off x="4572000" y="2971800"/>
            <a:ext cx="1097280" cy="411480"/>
          </a:xfrm>
          <a:prstGeom prst="rect">
            <a:avLst/>
          </a:prstGeom>
          <a:noFill/>
        </p:spPr>
        <p:txBody>
          <a:bodyPr wrap="square" lIns="45720" rIns="45720" tIns="18288" bIns="18288" anchor="ctr">
            <a:spAutoFit/>
          </a:bodyPr>
          <a:lstStyle/>
          <a:p>
            <a:pPr algn="r"/>
            <a:r>
              <a:rPr sz="1000" b="0" i="0">
                <a:solidFill>
                  <a:srgbClr val="1F2937"/>
                </a:solidFill>
                <a:latin typeface="Calibri"/>
              </a:rPr>
              <a:t>{{P4_PB}}</a:t>
            </a:r>
          </a:p>
        </p:txBody>
      </p:sp>
      <p:sp>
        <p:nvSpPr>
          <p:cNvPr id="46" name="TextBox 45"/>
          <p:cNvSpPr txBox="1"/>
          <p:nvPr/>
        </p:nvSpPr>
        <p:spPr>
          <a:xfrm>
            <a:off x="5669280" y="2971800"/>
            <a:ext cx="1097280" cy="411480"/>
          </a:xfrm>
          <a:prstGeom prst="rect">
            <a:avLst/>
          </a:prstGeom>
          <a:noFill/>
        </p:spPr>
        <p:txBody>
          <a:bodyPr wrap="square" lIns="45720" rIns="45720" tIns="18288" bIns="18288" anchor="ctr">
            <a:spAutoFit/>
          </a:bodyPr>
          <a:lstStyle/>
          <a:p>
            <a:pPr algn="r"/>
            <a:r>
              <a:rPr sz="1000" b="0" i="0">
                <a:solidFill>
                  <a:srgbClr val="1F2937"/>
                </a:solidFill>
                <a:latin typeface="Calibri"/>
              </a:rPr>
              <a:t>{{P4_ROE}}</a:t>
            </a:r>
          </a:p>
        </p:txBody>
      </p:sp>
      <p:sp>
        <p:nvSpPr>
          <p:cNvPr id="47" name="TextBox 46"/>
          <p:cNvSpPr txBox="1"/>
          <p:nvPr/>
        </p:nvSpPr>
        <p:spPr>
          <a:xfrm>
            <a:off x="6766560" y="2971800"/>
            <a:ext cx="1097280" cy="411480"/>
          </a:xfrm>
          <a:prstGeom prst="rect">
            <a:avLst/>
          </a:prstGeom>
          <a:noFill/>
        </p:spPr>
        <p:txBody>
          <a:bodyPr wrap="square" lIns="45720" rIns="45720" tIns="18288" bIns="18288" anchor="ctr">
            <a:spAutoFit/>
          </a:bodyPr>
          <a:lstStyle/>
          <a:p>
            <a:pPr algn="r"/>
            <a:r>
              <a:rPr sz="1000" b="0" i="0">
                <a:solidFill>
                  <a:srgbClr val="1F2937"/>
                </a:solidFill>
                <a:latin typeface="Calibri"/>
              </a:rPr>
              <a:t>{{P4_ROA}}</a:t>
            </a:r>
          </a:p>
        </p:txBody>
      </p:sp>
      <p:sp>
        <p:nvSpPr>
          <p:cNvPr id="48" name="TextBox 47"/>
          <p:cNvSpPr txBox="1"/>
          <p:nvPr/>
        </p:nvSpPr>
        <p:spPr>
          <a:xfrm>
            <a:off x="7863840" y="2971800"/>
            <a:ext cx="1280160" cy="411480"/>
          </a:xfrm>
          <a:prstGeom prst="rect">
            <a:avLst/>
          </a:prstGeom>
          <a:noFill/>
        </p:spPr>
        <p:txBody>
          <a:bodyPr wrap="square" lIns="45720" rIns="45720" tIns="18288" bIns="18288" anchor="ctr">
            <a:spAutoFit/>
          </a:bodyPr>
          <a:lstStyle/>
          <a:p>
            <a:pPr algn="r"/>
            <a:r>
              <a:rPr sz="1000" b="0" i="0">
                <a:solidFill>
                  <a:srgbClr val="1F2937"/>
                </a:solidFill>
                <a:latin typeface="Calibri"/>
              </a:rPr>
              <a:t>{{P4_REVGROWTH}}</a:t>
            </a:r>
          </a:p>
        </p:txBody>
      </p:sp>
      <p:sp>
        <p:nvSpPr>
          <p:cNvPr id="49" name="TextBox 48"/>
          <p:cNvSpPr txBox="1"/>
          <p:nvPr/>
        </p:nvSpPr>
        <p:spPr>
          <a:xfrm>
            <a:off x="9144000" y="2971800"/>
            <a:ext cx="1737360" cy="411480"/>
          </a:xfrm>
          <a:prstGeom prst="rect">
            <a:avLst/>
          </a:prstGeom>
          <a:noFill/>
        </p:spPr>
        <p:txBody>
          <a:bodyPr wrap="square" lIns="45720" rIns="45720" tIns="18288" bIns="18288" anchor="ctr">
            <a:spAutoFit/>
          </a:bodyPr>
          <a:lstStyle/>
          <a:p>
            <a:pPr algn="l"/>
            <a:r>
              <a:rPr sz="900" b="0" i="1">
                <a:solidFill>
                  <a:srgbClr val="6B7280"/>
                </a:solidFill>
                <a:latin typeface="Calibri"/>
              </a:rPr>
              <a:t>{{P4_NOTE}}</a:t>
            </a:r>
          </a:p>
        </p:txBody>
      </p:sp>
      <p:sp>
        <p:nvSpPr>
          <p:cNvPr id="50" name="Rectangle 49"/>
          <p:cNvSpPr/>
          <p:nvPr/>
        </p:nvSpPr>
        <p:spPr>
          <a:xfrm>
            <a:off x="548640" y="3383280"/>
            <a:ext cx="10332720" cy="4114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48640" y="3383280"/>
            <a:ext cx="1463040" cy="411480"/>
          </a:xfrm>
          <a:prstGeom prst="rect">
            <a:avLst/>
          </a:prstGeom>
          <a:noFill/>
        </p:spPr>
        <p:txBody>
          <a:bodyPr wrap="square" lIns="45720" rIns="45720" tIns="18288" bIns="18288" anchor="ctr">
            <a:spAutoFit/>
          </a:bodyPr>
          <a:lstStyle/>
          <a:p>
            <a:pPr algn="ctr"/>
            <a:r>
              <a:rPr sz="1000" b="1" i="0">
                <a:solidFill>
                  <a:srgbClr val="1F2937"/>
                </a:solidFill>
                <a:latin typeface="Calibri"/>
              </a:rPr>
              <a:t>{{P5_TICKER}}</a:t>
            </a:r>
          </a:p>
        </p:txBody>
      </p:sp>
      <p:sp>
        <p:nvSpPr>
          <p:cNvPr id="52" name="TextBox 51"/>
          <p:cNvSpPr txBox="1"/>
          <p:nvPr/>
        </p:nvSpPr>
        <p:spPr>
          <a:xfrm>
            <a:off x="2011680" y="3383280"/>
            <a:ext cx="1371600" cy="411480"/>
          </a:xfrm>
          <a:prstGeom prst="rect">
            <a:avLst/>
          </a:prstGeom>
          <a:noFill/>
        </p:spPr>
        <p:txBody>
          <a:bodyPr wrap="square" lIns="45720" rIns="45720" tIns="18288" bIns="18288" anchor="ctr">
            <a:spAutoFit/>
          </a:bodyPr>
          <a:lstStyle/>
          <a:p>
            <a:pPr algn="r"/>
            <a:r>
              <a:rPr sz="1000" b="0" i="0">
                <a:solidFill>
                  <a:srgbClr val="1F2937"/>
                </a:solidFill>
                <a:latin typeface="Calibri"/>
              </a:rPr>
              <a:t>{{P5_MARKETCAP}}</a:t>
            </a:r>
          </a:p>
        </p:txBody>
      </p:sp>
      <p:sp>
        <p:nvSpPr>
          <p:cNvPr id="53" name="TextBox 52"/>
          <p:cNvSpPr txBox="1"/>
          <p:nvPr/>
        </p:nvSpPr>
        <p:spPr>
          <a:xfrm>
            <a:off x="3383280" y="3383280"/>
            <a:ext cx="1188720" cy="411480"/>
          </a:xfrm>
          <a:prstGeom prst="rect">
            <a:avLst/>
          </a:prstGeom>
          <a:noFill/>
        </p:spPr>
        <p:txBody>
          <a:bodyPr wrap="square" lIns="45720" rIns="45720" tIns="18288" bIns="18288" anchor="ctr">
            <a:spAutoFit/>
          </a:bodyPr>
          <a:lstStyle/>
          <a:p>
            <a:pPr algn="r"/>
            <a:r>
              <a:rPr sz="1000" b="0" i="0">
                <a:solidFill>
                  <a:srgbClr val="1F2937"/>
                </a:solidFill>
                <a:latin typeface="Calibri"/>
              </a:rPr>
              <a:t>{{P5_PE}}</a:t>
            </a:r>
          </a:p>
        </p:txBody>
      </p:sp>
      <p:sp>
        <p:nvSpPr>
          <p:cNvPr id="54" name="TextBox 53"/>
          <p:cNvSpPr txBox="1"/>
          <p:nvPr/>
        </p:nvSpPr>
        <p:spPr>
          <a:xfrm>
            <a:off x="4572000" y="3383280"/>
            <a:ext cx="1097280" cy="411480"/>
          </a:xfrm>
          <a:prstGeom prst="rect">
            <a:avLst/>
          </a:prstGeom>
          <a:noFill/>
        </p:spPr>
        <p:txBody>
          <a:bodyPr wrap="square" lIns="45720" rIns="45720" tIns="18288" bIns="18288" anchor="ctr">
            <a:spAutoFit/>
          </a:bodyPr>
          <a:lstStyle/>
          <a:p>
            <a:pPr algn="r"/>
            <a:r>
              <a:rPr sz="1000" b="0" i="0">
                <a:solidFill>
                  <a:srgbClr val="1F2937"/>
                </a:solidFill>
                <a:latin typeface="Calibri"/>
              </a:rPr>
              <a:t>{{P5_PB}}</a:t>
            </a:r>
          </a:p>
        </p:txBody>
      </p:sp>
      <p:sp>
        <p:nvSpPr>
          <p:cNvPr id="55" name="TextBox 54"/>
          <p:cNvSpPr txBox="1"/>
          <p:nvPr/>
        </p:nvSpPr>
        <p:spPr>
          <a:xfrm>
            <a:off x="5669280" y="3383280"/>
            <a:ext cx="1097280" cy="411480"/>
          </a:xfrm>
          <a:prstGeom prst="rect">
            <a:avLst/>
          </a:prstGeom>
          <a:noFill/>
        </p:spPr>
        <p:txBody>
          <a:bodyPr wrap="square" lIns="45720" rIns="45720" tIns="18288" bIns="18288" anchor="ctr">
            <a:spAutoFit/>
          </a:bodyPr>
          <a:lstStyle/>
          <a:p>
            <a:pPr algn="r"/>
            <a:r>
              <a:rPr sz="1000" b="0" i="0">
                <a:solidFill>
                  <a:srgbClr val="1F2937"/>
                </a:solidFill>
                <a:latin typeface="Calibri"/>
              </a:rPr>
              <a:t>{{P5_ROE}}</a:t>
            </a:r>
          </a:p>
        </p:txBody>
      </p:sp>
      <p:sp>
        <p:nvSpPr>
          <p:cNvPr id="56" name="TextBox 55"/>
          <p:cNvSpPr txBox="1"/>
          <p:nvPr/>
        </p:nvSpPr>
        <p:spPr>
          <a:xfrm>
            <a:off x="6766560" y="3383280"/>
            <a:ext cx="1097280" cy="411480"/>
          </a:xfrm>
          <a:prstGeom prst="rect">
            <a:avLst/>
          </a:prstGeom>
          <a:noFill/>
        </p:spPr>
        <p:txBody>
          <a:bodyPr wrap="square" lIns="45720" rIns="45720" tIns="18288" bIns="18288" anchor="ctr">
            <a:spAutoFit/>
          </a:bodyPr>
          <a:lstStyle/>
          <a:p>
            <a:pPr algn="r"/>
            <a:r>
              <a:rPr sz="1000" b="0" i="0">
                <a:solidFill>
                  <a:srgbClr val="1F2937"/>
                </a:solidFill>
                <a:latin typeface="Calibri"/>
              </a:rPr>
              <a:t>{{P5_ROA}}</a:t>
            </a:r>
          </a:p>
        </p:txBody>
      </p:sp>
      <p:sp>
        <p:nvSpPr>
          <p:cNvPr id="57" name="TextBox 56"/>
          <p:cNvSpPr txBox="1"/>
          <p:nvPr/>
        </p:nvSpPr>
        <p:spPr>
          <a:xfrm>
            <a:off x="7863840" y="3383280"/>
            <a:ext cx="1280160" cy="411480"/>
          </a:xfrm>
          <a:prstGeom prst="rect">
            <a:avLst/>
          </a:prstGeom>
          <a:noFill/>
        </p:spPr>
        <p:txBody>
          <a:bodyPr wrap="square" lIns="45720" rIns="45720" tIns="18288" bIns="18288" anchor="ctr">
            <a:spAutoFit/>
          </a:bodyPr>
          <a:lstStyle/>
          <a:p>
            <a:pPr algn="r"/>
            <a:r>
              <a:rPr sz="1000" b="0" i="0">
                <a:solidFill>
                  <a:srgbClr val="1F2937"/>
                </a:solidFill>
                <a:latin typeface="Calibri"/>
              </a:rPr>
              <a:t>{{P5_REVGROWTH}}</a:t>
            </a:r>
          </a:p>
        </p:txBody>
      </p:sp>
      <p:sp>
        <p:nvSpPr>
          <p:cNvPr id="58" name="TextBox 57"/>
          <p:cNvSpPr txBox="1"/>
          <p:nvPr/>
        </p:nvSpPr>
        <p:spPr>
          <a:xfrm>
            <a:off x="9144000" y="3383280"/>
            <a:ext cx="1737360" cy="411480"/>
          </a:xfrm>
          <a:prstGeom prst="rect">
            <a:avLst/>
          </a:prstGeom>
          <a:noFill/>
        </p:spPr>
        <p:txBody>
          <a:bodyPr wrap="square" lIns="45720" rIns="45720" tIns="18288" bIns="18288" anchor="ctr">
            <a:spAutoFit/>
          </a:bodyPr>
          <a:lstStyle/>
          <a:p>
            <a:pPr algn="l"/>
            <a:r>
              <a:rPr sz="900" b="0" i="1">
                <a:solidFill>
                  <a:srgbClr val="6B7280"/>
                </a:solidFill>
                <a:latin typeface="Calibri"/>
              </a:rPr>
              <a:t>{{P5_NOTE}}</a:t>
            </a:r>
          </a:p>
        </p:txBody>
      </p:sp>
      <p:sp>
        <p:nvSpPr>
          <p:cNvPr id="59" name="TextBox 58"/>
          <p:cNvSpPr txBox="1"/>
          <p:nvPr/>
        </p:nvSpPr>
        <p:spPr>
          <a:xfrm>
            <a:off x="548640" y="3794760"/>
            <a:ext cx="1463040" cy="411480"/>
          </a:xfrm>
          <a:prstGeom prst="rect">
            <a:avLst/>
          </a:prstGeom>
          <a:noFill/>
        </p:spPr>
        <p:txBody>
          <a:bodyPr wrap="square" lIns="45720" rIns="45720" tIns="18288" bIns="18288" anchor="ctr">
            <a:spAutoFit/>
          </a:bodyPr>
          <a:lstStyle/>
          <a:p>
            <a:pPr algn="ctr"/>
            <a:r>
              <a:rPr sz="1000" b="1" i="0">
                <a:solidFill>
                  <a:srgbClr val="1F2937"/>
                </a:solidFill>
                <a:latin typeface="Calibri"/>
              </a:rPr>
              <a:t>{{P6_TICKER}}</a:t>
            </a:r>
          </a:p>
        </p:txBody>
      </p:sp>
      <p:sp>
        <p:nvSpPr>
          <p:cNvPr id="60" name="TextBox 59"/>
          <p:cNvSpPr txBox="1"/>
          <p:nvPr/>
        </p:nvSpPr>
        <p:spPr>
          <a:xfrm>
            <a:off x="2011680" y="3794760"/>
            <a:ext cx="1371600" cy="411480"/>
          </a:xfrm>
          <a:prstGeom prst="rect">
            <a:avLst/>
          </a:prstGeom>
          <a:noFill/>
        </p:spPr>
        <p:txBody>
          <a:bodyPr wrap="square" lIns="45720" rIns="45720" tIns="18288" bIns="18288" anchor="ctr">
            <a:spAutoFit/>
          </a:bodyPr>
          <a:lstStyle/>
          <a:p>
            <a:pPr algn="r"/>
            <a:r>
              <a:rPr sz="1000" b="0" i="0">
                <a:solidFill>
                  <a:srgbClr val="1F2937"/>
                </a:solidFill>
                <a:latin typeface="Calibri"/>
              </a:rPr>
              <a:t>{{P6_MARKETCAP}}</a:t>
            </a:r>
          </a:p>
        </p:txBody>
      </p:sp>
      <p:sp>
        <p:nvSpPr>
          <p:cNvPr id="61" name="TextBox 60"/>
          <p:cNvSpPr txBox="1"/>
          <p:nvPr/>
        </p:nvSpPr>
        <p:spPr>
          <a:xfrm>
            <a:off x="3383280" y="3794760"/>
            <a:ext cx="1188720" cy="411480"/>
          </a:xfrm>
          <a:prstGeom prst="rect">
            <a:avLst/>
          </a:prstGeom>
          <a:noFill/>
        </p:spPr>
        <p:txBody>
          <a:bodyPr wrap="square" lIns="45720" rIns="45720" tIns="18288" bIns="18288" anchor="ctr">
            <a:spAutoFit/>
          </a:bodyPr>
          <a:lstStyle/>
          <a:p>
            <a:pPr algn="r"/>
            <a:r>
              <a:rPr sz="1000" b="0" i="0">
                <a:solidFill>
                  <a:srgbClr val="1F2937"/>
                </a:solidFill>
                <a:latin typeface="Calibri"/>
              </a:rPr>
              <a:t>{{P6_PE}}</a:t>
            </a:r>
          </a:p>
        </p:txBody>
      </p:sp>
      <p:sp>
        <p:nvSpPr>
          <p:cNvPr id="62" name="TextBox 61"/>
          <p:cNvSpPr txBox="1"/>
          <p:nvPr/>
        </p:nvSpPr>
        <p:spPr>
          <a:xfrm>
            <a:off x="4572000" y="3794760"/>
            <a:ext cx="1097280" cy="411480"/>
          </a:xfrm>
          <a:prstGeom prst="rect">
            <a:avLst/>
          </a:prstGeom>
          <a:noFill/>
        </p:spPr>
        <p:txBody>
          <a:bodyPr wrap="square" lIns="45720" rIns="45720" tIns="18288" bIns="18288" anchor="ctr">
            <a:spAutoFit/>
          </a:bodyPr>
          <a:lstStyle/>
          <a:p>
            <a:pPr algn="r"/>
            <a:r>
              <a:rPr sz="1000" b="0" i="0">
                <a:solidFill>
                  <a:srgbClr val="1F2937"/>
                </a:solidFill>
                <a:latin typeface="Calibri"/>
              </a:rPr>
              <a:t>{{P6_PB}}</a:t>
            </a:r>
          </a:p>
        </p:txBody>
      </p:sp>
      <p:sp>
        <p:nvSpPr>
          <p:cNvPr id="63" name="TextBox 62"/>
          <p:cNvSpPr txBox="1"/>
          <p:nvPr/>
        </p:nvSpPr>
        <p:spPr>
          <a:xfrm>
            <a:off x="5669280" y="3794760"/>
            <a:ext cx="1097280" cy="411480"/>
          </a:xfrm>
          <a:prstGeom prst="rect">
            <a:avLst/>
          </a:prstGeom>
          <a:noFill/>
        </p:spPr>
        <p:txBody>
          <a:bodyPr wrap="square" lIns="45720" rIns="45720" tIns="18288" bIns="18288" anchor="ctr">
            <a:spAutoFit/>
          </a:bodyPr>
          <a:lstStyle/>
          <a:p>
            <a:pPr algn="r"/>
            <a:r>
              <a:rPr sz="1000" b="0" i="0">
                <a:solidFill>
                  <a:srgbClr val="1F2937"/>
                </a:solidFill>
                <a:latin typeface="Calibri"/>
              </a:rPr>
              <a:t>{{P6_ROE}}</a:t>
            </a:r>
          </a:p>
        </p:txBody>
      </p:sp>
      <p:sp>
        <p:nvSpPr>
          <p:cNvPr id="64" name="TextBox 63"/>
          <p:cNvSpPr txBox="1"/>
          <p:nvPr/>
        </p:nvSpPr>
        <p:spPr>
          <a:xfrm>
            <a:off x="6766560" y="3794760"/>
            <a:ext cx="1097280" cy="411480"/>
          </a:xfrm>
          <a:prstGeom prst="rect">
            <a:avLst/>
          </a:prstGeom>
          <a:noFill/>
        </p:spPr>
        <p:txBody>
          <a:bodyPr wrap="square" lIns="45720" rIns="45720" tIns="18288" bIns="18288" anchor="ctr">
            <a:spAutoFit/>
          </a:bodyPr>
          <a:lstStyle/>
          <a:p>
            <a:pPr algn="r"/>
            <a:r>
              <a:rPr sz="1000" b="0" i="0">
                <a:solidFill>
                  <a:srgbClr val="1F2937"/>
                </a:solidFill>
                <a:latin typeface="Calibri"/>
              </a:rPr>
              <a:t>{{P6_ROA}}</a:t>
            </a:r>
          </a:p>
        </p:txBody>
      </p:sp>
      <p:sp>
        <p:nvSpPr>
          <p:cNvPr id="65" name="TextBox 64"/>
          <p:cNvSpPr txBox="1"/>
          <p:nvPr/>
        </p:nvSpPr>
        <p:spPr>
          <a:xfrm>
            <a:off x="7863840" y="3794760"/>
            <a:ext cx="1280160" cy="411480"/>
          </a:xfrm>
          <a:prstGeom prst="rect">
            <a:avLst/>
          </a:prstGeom>
          <a:noFill/>
        </p:spPr>
        <p:txBody>
          <a:bodyPr wrap="square" lIns="45720" rIns="45720" tIns="18288" bIns="18288" anchor="ctr">
            <a:spAutoFit/>
          </a:bodyPr>
          <a:lstStyle/>
          <a:p>
            <a:pPr algn="r"/>
            <a:r>
              <a:rPr sz="1000" b="0" i="0">
                <a:solidFill>
                  <a:srgbClr val="1F2937"/>
                </a:solidFill>
                <a:latin typeface="Calibri"/>
              </a:rPr>
              <a:t>{{P6_REVGROWTH}}</a:t>
            </a:r>
          </a:p>
        </p:txBody>
      </p:sp>
      <p:sp>
        <p:nvSpPr>
          <p:cNvPr id="66" name="TextBox 65"/>
          <p:cNvSpPr txBox="1"/>
          <p:nvPr/>
        </p:nvSpPr>
        <p:spPr>
          <a:xfrm>
            <a:off x="9144000" y="3794760"/>
            <a:ext cx="1737360" cy="411480"/>
          </a:xfrm>
          <a:prstGeom prst="rect">
            <a:avLst/>
          </a:prstGeom>
          <a:noFill/>
        </p:spPr>
        <p:txBody>
          <a:bodyPr wrap="square" lIns="45720" rIns="45720" tIns="18288" bIns="18288" anchor="ctr">
            <a:spAutoFit/>
          </a:bodyPr>
          <a:lstStyle/>
          <a:p>
            <a:pPr algn="l"/>
            <a:r>
              <a:rPr sz="900" b="0" i="1">
                <a:solidFill>
                  <a:srgbClr val="6B7280"/>
                </a:solidFill>
                <a:latin typeface="Calibri"/>
              </a:rPr>
              <a:t>{{P6_NOTE}}</a:t>
            </a:r>
          </a:p>
        </p:txBody>
      </p:sp>
      <p:sp>
        <p:nvSpPr>
          <p:cNvPr id="67" name="Rectangle 66"/>
          <p:cNvSpPr/>
          <p:nvPr/>
        </p:nvSpPr>
        <p:spPr>
          <a:xfrm>
            <a:off x="548640" y="4206240"/>
            <a:ext cx="10332720" cy="4114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548640" y="4206240"/>
            <a:ext cx="1463040" cy="411480"/>
          </a:xfrm>
          <a:prstGeom prst="rect">
            <a:avLst/>
          </a:prstGeom>
          <a:noFill/>
        </p:spPr>
        <p:txBody>
          <a:bodyPr wrap="square" lIns="45720" rIns="45720" tIns="18288" bIns="18288" anchor="ctr">
            <a:spAutoFit/>
          </a:bodyPr>
          <a:lstStyle/>
          <a:p>
            <a:pPr algn="ctr"/>
            <a:r>
              <a:rPr sz="1000" b="1" i="0">
                <a:solidFill>
                  <a:srgbClr val="1F2937"/>
                </a:solidFill>
                <a:latin typeface="Calibri"/>
              </a:rPr>
              <a:t>{{P7_TICKER}}</a:t>
            </a:r>
          </a:p>
        </p:txBody>
      </p:sp>
      <p:sp>
        <p:nvSpPr>
          <p:cNvPr id="69" name="TextBox 68"/>
          <p:cNvSpPr txBox="1"/>
          <p:nvPr/>
        </p:nvSpPr>
        <p:spPr>
          <a:xfrm>
            <a:off x="2011680" y="4206240"/>
            <a:ext cx="1371600" cy="411480"/>
          </a:xfrm>
          <a:prstGeom prst="rect">
            <a:avLst/>
          </a:prstGeom>
          <a:noFill/>
        </p:spPr>
        <p:txBody>
          <a:bodyPr wrap="square" lIns="45720" rIns="45720" tIns="18288" bIns="18288" anchor="ctr">
            <a:spAutoFit/>
          </a:bodyPr>
          <a:lstStyle/>
          <a:p>
            <a:pPr algn="r"/>
            <a:r>
              <a:rPr sz="1000" b="0" i="0">
                <a:solidFill>
                  <a:srgbClr val="1F2937"/>
                </a:solidFill>
                <a:latin typeface="Calibri"/>
              </a:rPr>
              <a:t>{{P7_MARKETCAP}}</a:t>
            </a:r>
          </a:p>
        </p:txBody>
      </p:sp>
      <p:sp>
        <p:nvSpPr>
          <p:cNvPr id="70" name="TextBox 69"/>
          <p:cNvSpPr txBox="1"/>
          <p:nvPr/>
        </p:nvSpPr>
        <p:spPr>
          <a:xfrm>
            <a:off x="3383280" y="4206240"/>
            <a:ext cx="1188720" cy="411480"/>
          </a:xfrm>
          <a:prstGeom prst="rect">
            <a:avLst/>
          </a:prstGeom>
          <a:noFill/>
        </p:spPr>
        <p:txBody>
          <a:bodyPr wrap="square" lIns="45720" rIns="45720" tIns="18288" bIns="18288" anchor="ctr">
            <a:spAutoFit/>
          </a:bodyPr>
          <a:lstStyle/>
          <a:p>
            <a:pPr algn="r"/>
            <a:r>
              <a:rPr sz="1000" b="0" i="0">
                <a:solidFill>
                  <a:srgbClr val="1F2937"/>
                </a:solidFill>
                <a:latin typeface="Calibri"/>
              </a:rPr>
              <a:t>{{P7_PE}}</a:t>
            </a:r>
          </a:p>
        </p:txBody>
      </p:sp>
      <p:sp>
        <p:nvSpPr>
          <p:cNvPr id="71" name="TextBox 70"/>
          <p:cNvSpPr txBox="1"/>
          <p:nvPr/>
        </p:nvSpPr>
        <p:spPr>
          <a:xfrm>
            <a:off x="4572000" y="4206240"/>
            <a:ext cx="1097280" cy="411480"/>
          </a:xfrm>
          <a:prstGeom prst="rect">
            <a:avLst/>
          </a:prstGeom>
          <a:noFill/>
        </p:spPr>
        <p:txBody>
          <a:bodyPr wrap="square" lIns="45720" rIns="45720" tIns="18288" bIns="18288" anchor="ctr">
            <a:spAutoFit/>
          </a:bodyPr>
          <a:lstStyle/>
          <a:p>
            <a:pPr algn="r"/>
            <a:r>
              <a:rPr sz="1000" b="0" i="0">
                <a:solidFill>
                  <a:srgbClr val="1F2937"/>
                </a:solidFill>
                <a:latin typeface="Calibri"/>
              </a:rPr>
              <a:t>{{P7_PB}}</a:t>
            </a:r>
          </a:p>
        </p:txBody>
      </p:sp>
      <p:sp>
        <p:nvSpPr>
          <p:cNvPr id="72" name="TextBox 71"/>
          <p:cNvSpPr txBox="1"/>
          <p:nvPr/>
        </p:nvSpPr>
        <p:spPr>
          <a:xfrm>
            <a:off x="5669280" y="4206240"/>
            <a:ext cx="1097280" cy="411480"/>
          </a:xfrm>
          <a:prstGeom prst="rect">
            <a:avLst/>
          </a:prstGeom>
          <a:noFill/>
        </p:spPr>
        <p:txBody>
          <a:bodyPr wrap="square" lIns="45720" rIns="45720" tIns="18288" bIns="18288" anchor="ctr">
            <a:spAutoFit/>
          </a:bodyPr>
          <a:lstStyle/>
          <a:p>
            <a:pPr algn="r"/>
            <a:r>
              <a:rPr sz="1000" b="0" i="0">
                <a:solidFill>
                  <a:srgbClr val="1F2937"/>
                </a:solidFill>
                <a:latin typeface="Calibri"/>
              </a:rPr>
              <a:t>{{P7_ROE}}</a:t>
            </a:r>
          </a:p>
        </p:txBody>
      </p:sp>
      <p:sp>
        <p:nvSpPr>
          <p:cNvPr id="73" name="TextBox 72"/>
          <p:cNvSpPr txBox="1"/>
          <p:nvPr/>
        </p:nvSpPr>
        <p:spPr>
          <a:xfrm>
            <a:off x="6766560" y="4206240"/>
            <a:ext cx="1097280" cy="411480"/>
          </a:xfrm>
          <a:prstGeom prst="rect">
            <a:avLst/>
          </a:prstGeom>
          <a:noFill/>
        </p:spPr>
        <p:txBody>
          <a:bodyPr wrap="square" lIns="45720" rIns="45720" tIns="18288" bIns="18288" anchor="ctr">
            <a:spAutoFit/>
          </a:bodyPr>
          <a:lstStyle/>
          <a:p>
            <a:pPr algn="r"/>
            <a:r>
              <a:rPr sz="1000" b="0" i="0">
                <a:solidFill>
                  <a:srgbClr val="1F2937"/>
                </a:solidFill>
                <a:latin typeface="Calibri"/>
              </a:rPr>
              <a:t>{{P7_ROA}}</a:t>
            </a:r>
          </a:p>
        </p:txBody>
      </p:sp>
      <p:sp>
        <p:nvSpPr>
          <p:cNvPr id="74" name="TextBox 73"/>
          <p:cNvSpPr txBox="1"/>
          <p:nvPr/>
        </p:nvSpPr>
        <p:spPr>
          <a:xfrm>
            <a:off x="7863840" y="4206240"/>
            <a:ext cx="1280160" cy="411480"/>
          </a:xfrm>
          <a:prstGeom prst="rect">
            <a:avLst/>
          </a:prstGeom>
          <a:noFill/>
        </p:spPr>
        <p:txBody>
          <a:bodyPr wrap="square" lIns="45720" rIns="45720" tIns="18288" bIns="18288" anchor="ctr">
            <a:spAutoFit/>
          </a:bodyPr>
          <a:lstStyle/>
          <a:p>
            <a:pPr algn="r"/>
            <a:r>
              <a:rPr sz="1000" b="0" i="0">
                <a:solidFill>
                  <a:srgbClr val="1F2937"/>
                </a:solidFill>
                <a:latin typeface="Calibri"/>
              </a:rPr>
              <a:t>{{P7_REVGROWTH}}</a:t>
            </a:r>
          </a:p>
        </p:txBody>
      </p:sp>
      <p:sp>
        <p:nvSpPr>
          <p:cNvPr id="75" name="TextBox 74"/>
          <p:cNvSpPr txBox="1"/>
          <p:nvPr/>
        </p:nvSpPr>
        <p:spPr>
          <a:xfrm>
            <a:off x="9144000" y="4206240"/>
            <a:ext cx="1737360" cy="411480"/>
          </a:xfrm>
          <a:prstGeom prst="rect">
            <a:avLst/>
          </a:prstGeom>
          <a:noFill/>
        </p:spPr>
        <p:txBody>
          <a:bodyPr wrap="square" lIns="45720" rIns="45720" tIns="18288" bIns="18288" anchor="ctr">
            <a:spAutoFit/>
          </a:bodyPr>
          <a:lstStyle/>
          <a:p>
            <a:pPr algn="l"/>
            <a:r>
              <a:rPr sz="900" b="0" i="1">
                <a:solidFill>
                  <a:srgbClr val="6B7280"/>
                </a:solidFill>
                <a:latin typeface="Calibri"/>
              </a:rPr>
              <a:t>{{P7_NOTE}}</a:t>
            </a:r>
          </a:p>
        </p:txBody>
      </p:sp>
      <p:sp>
        <p:nvSpPr>
          <p:cNvPr id="76" name="TextBox 75"/>
          <p:cNvSpPr txBox="1"/>
          <p:nvPr/>
        </p:nvSpPr>
        <p:spPr>
          <a:xfrm>
            <a:off x="548640" y="4617720"/>
            <a:ext cx="1463040" cy="411480"/>
          </a:xfrm>
          <a:prstGeom prst="rect">
            <a:avLst/>
          </a:prstGeom>
          <a:noFill/>
        </p:spPr>
        <p:txBody>
          <a:bodyPr wrap="square" lIns="45720" rIns="45720" tIns="18288" bIns="18288" anchor="ctr">
            <a:spAutoFit/>
          </a:bodyPr>
          <a:lstStyle/>
          <a:p>
            <a:pPr algn="ctr"/>
            <a:r>
              <a:rPr sz="1000" b="1" i="0">
                <a:solidFill>
                  <a:srgbClr val="1F2937"/>
                </a:solidFill>
                <a:latin typeface="Calibri"/>
              </a:rPr>
              <a:t>{{P8_TICKER}}</a:t>
            </a:r>
          </a:p>
        </p:txBody>
      </p:sp>
      <p:sp>
        <p:nvSpPr>
          <p:cNvPr id="77" name="TextBox 76"/>
          <p:cNvSpPr txBox="1"/>
          <p:nvPr/>
        </p:nvSpPr>
        <p:spPr>
          <a:xfrm>
            <a:off x="2011680" y="4617720"/>
            <a:ext cx="1371600" cy="411480"/>
          </a:xfrm>
          <a:prstGeom prst="rect">
            <a:avLst/>
          </a:prstGeom>
          <a:noFill/>
        </p:spPr>
        <p:txBody>
          <a:bodyPr wrap="square" lIns="45720" rIns="45720" tIns="18288" bIns="18288" anchor="ctr">
            <a:spAutoFit/>
          </a:bodyPr>
          <a:lstStyle/>
          <a:p>
            <a:pPr algn="r"/>
            <a:r>
              <a:rPr sz="1000" b="0" i="0">
                <a:solidFill>
                  <a:srgbClr val="1F2937"/>
                </a:solidFill>
                <a:latin typeface="Calibri"/>
              </a:rPr>
              <a:t>{{P8_MARKETCAP}}</a:t>
            </a:r>
          </a:p>
        </p:txBody>
      </p:sp>
      <p:sp>
        <p:nvSpPr>
          <p:cNvPr id="78" name="TextBox 77"/>
          <p:cNvSpPr txBox="1"/>
          <p:nvPr/>
        </p:nvSpPr>
        <p:spPr>
          <a:xfrm>
            <a:off x="3383280" y="4617720"/>
            <a:ext cx="1188720" cy="411480"/>
          </a:xfrm>
          <a:prstGeom prst="rect">
            <a:avLst/>
          </a:prstGeom>
          <a:noFill/>
        </p:spPr>
        <p:txBody>
          <a:bodyPr wrap="square" lIns="45720" rIns="45720" tIns="18288" bIns="18288" anchor="ctr">
            <a:spAutoFit/>
          </a:bodyPr>
          <a:lstStyle/>
          <a:p>
            <a:pPr algn="r"/>
            <a:r>
              <a:rPr sz="1000" b="0" i="0">
                <a:solidFill>
                  <a:srgbClr val="1F2937"/>
                </a:solidFill>
                <a:latin typeface="Calibri"/>
              </a:rPr>
              <a:t>{{P8_PE}}</a:t>
            </a:r>
          </a:p>
        </p:txBody>
      </p:sp>
      <p:sp>
        <p:nvSpPr>
          <p:cNvPr id="79" name="TextBox 78"/>
          <p:cNvSpPr txBox="1"/>
          <p:nvPr/>
        </p:nvSpPr>
        <p:spPr>
          <a:xfrm>
            <a:off x="4572000" y="4617720"/>
            <a:ext cx="1097280" cy="411480"/>
          </a:xfrm>
          <a:prstGeom prst="rect">
            <a:avLst/>
          </a:prstGeom>
          <a:noFill/>
        </p:spPr>
        <p:txBody>
          <a:bodyPr wrap="square" lIns="45720" rIns="45720" tIns="18288" bIns="18288" anchor="ctr">
            <a:spAutoFit/>
          </a:bodyPr>
          <a:lstStyle/>
          <a:p>
            <a:pPr algn="r"/>
            <a:r>
              <a:rPr sz="1000" b="0" i="0">
                <a:solidFill>
                  <a:srgbClr val="1F2937"/>
                </a:solidFill>
                <a:latin typeface="Calibri"/>
              </a:rPr>
              <a:t>{{P8_PB}}</a:t>
            </a:r>
          </a:p>
        </p:txBody>
      </p:sp>
      <p:sp>
        <p:nvSpPr>
          <p:cNvPr id="80" name="TextBox 79"/>
          <p:cNvSpPr txBox="1"/>
          <p:nvPr/>
        </p:nvSpPr>
        <p:spPr>
          <a:xfrm>
            <a:off x="5669280" y="4617720"/>
            <a:ext cx="1097280" cy="411480"/>
          </a:xfrm>
          <a:prstGeom prst="rect">
            <a:avLst/>
          </a:prstGeom>
          <a:noFill/>
        </p:spPr>
        <p:txBody>
          <a:bodyPr wrap="square" lIns="45720" rIns="45720" tIns="18288" bIns="18288" anchor="ctr">
            <a:spAutoFit/>
          </a:bodyPr>
          <a:lstStyle/>
          <a:p>
            <a:pPr algn="r"/>
            <a:r>
              <a:rPr sz="1000" b="0" i="0">
                <a:solidFill>
                  <a:srgbClr val="1F2937"/>
                </a:solidFill>
                <a:latin typeface="Calibri"/>
              </a:rPr>
              <a:t>{{P8_ROE}}</a:t>
            </a:r>
          </a:p>
        </p:txBody>
      </p:sp>
      <p:sp>
        <p:nvSpPr>
          <p:cNvPr id="81" name="TextBox 80"/>
          <p:cNvSpPr txBox="1"/>
          <p:nvPr/>
        </p:nvSpPr>
        <p:spPr>
          <a:xfrm>
            <a:off x="6766560" y="4617720"/>
            <a:ext cx="1097280" cy="411480"/>
          </a:xfrm>
          <a:prstGeom prst="rect">
            <a:avLst/>
          </a:prstGeom>
          <a:noFill/>
        </p:spPr>
        <p:txBody>
          <a:bodyPr wrap="square" lIns="45720" rIns="45720" tIns="18288" bIns="18288" anchor="ctr">
            <a:spAutoFit/>
          </a:bodyPr>
          <a:lstStyle/>
          <a:p>
            <a:pPr algn="r"/>
            <a:r>
              <a:rPr sz="1000" b="0" i="0">
                <a:solidFill>
                  <a:srgbClr val="1F2937"/>
                </a:solidFill>
                <a:latin typeface="Calibri"/>
              </a:rPr>
              <a:t>{{P8_ROA}}</a:t>
            </a:r>
          </a:p>
        </p:txBody>
      </p:sp>
      <p:sp>
        <p:nvSpPr>
          <p:cNvPr id="82" name="TextBox 81"/>
          <p:cNvSpPr txBox="1"/>
          <p:nvPr/>
        </p:nvSpPr>
        <p:spPr>
          <a:xfrm>
            <a:off x="7863840" y="4617720"/>
            <a:ext cx="1280160" cy="411480"/>
          </a:xfrm>
          <a:prstGeom prst="rect">
            <a:avLst/>
          </a:prstGeom>
          <a:noFill/>
        </p:spPr>
        <p:txBody>
          <a:bodyPr wrap="square" lIns="45720" rIns="45720" tIns="18288" bIns="18288" anchor="ctr">
            <a:spAutoFit/>
          </a:bodyPr>
          <a:lstStyle/>
          <a:p>
            <a:pPr algn="r"/>
            <a:r>
              <a:rPr sz="1000" b="0" i="0">
                <a:solidFill>
                  <a:srgbClr val="1F2937"/>
                </a:solidFill>
                <a:latin typeface="Calibri"/>
              </a:rPr>
              <a:t>{{P8_REVGROWTH}}</a:t>
            </a:r>
          </a:p>
        </p:txBody>
      </p:sp>
      <p:sp>
        <p:nvSpPr>
          <p:cNvPr id="83" name="TextBox 82"/>
          <p:cNvSpPr txBox="1"/>
          <p:nvPr/>
        </p:nvSpPr>
        <p:spPr>
          <a:xfrm>
            <a:off x="9144000" y="4617720"/>
            <a:ext cx="1737360" cy="411480"/>
          </a:xfrm>
          <a:prstGeom prst="rect">
            <a:avLst/>
          </a:prstGeom>
          <a:noFill/>
        </p:spPr>
        <p:txBody>
          <a:bodyPr wrap="square" lIns="45720" rIns="45720" tIns="18288" bIns="18288" anchor="ctr">
            <a:spAutoFit/>
          </a:bodyPr>
          <a:lstStyle/>
          <a:p>
            <a:pPr algn="l"/>
            <a:r>
              <a:rPr sz="900" b="0" i="1">
                <a:solidFill>
                  <a:srgbClr val="6B7280"/>
                </a:solidFill>
                <a:latin typeface="Calibri"/>
              </a:rPr>
              <a:t>{{P8_NOTE}}</a:t>
            </a:r>
          </a:p>
        </p:txBody>
      </p:sp>
      <p:sp>
        <p:nvSpPr>
          <p:cNvPr id="84" name="Rounded Rectangle 83"/>
          <p:cNvSpPr/>
          <p:nvPr/>
        </p:nvSpPr>
        <p:spPr>
          <a:xfrm>
            <a:off x="548640" y="5212080"/>
            <a:ext cx="11091672" cy="457200"/>
          </a:xfrm>
          <a:prstGeom prst="roundRect">
            <a:avLst>
              <a:gd name="adj" fmla="val 5000"/>
            </a:avLst>
          </a:prstGeom>
          <a:solidFill>
            <a:srgbClr val="F3E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731520" y="5303520"/>
            <a:ext cx="10725912" cy="274320"/>
          </a:xfrm>
          <a:prstGeom prst="rect">
            <a:avLst/>
          </a:prstGeom>
          <a:noFill/>
        </p:spPr>
        <p:txBody>
          <a:bodyPr wrap="square" lIns="45720" rIns="45720" tIns="18288" bIns="18288" anchor="t">
            <a:spAutoFit/>
          </a:bodyPr>
          <a:lstStyle/>
          <a:p>
            <a:pPr algn="l"/>
            <a:r>
              <a:rPr sz="900" b="1" i="0">
                <a:solidFill>
                  <a:srgbClr val="8B5CF6"/>
                </a:solidFill>
                <a:latin typeface="Calibri"/>
              </a:rPr>
              <a:t>ĐÁNH GIÁ ĐỊNH VỊ</a:t>
            </a:r>
          </a:p>
        </p:txBody>
      </p:sp>
      <p:sp>
        <p:nvSpPr>
          <p:cNvPr id="86" name="TextBox 85"/>
          <p:cNvSpPr txBox="1"/>
          <p:nvPr/>
        </p:nvSpPr>
        <p:spPr>
          <a:xfrm>
            <a:off x="731520" y="5486400"/>
            <a:ext cx="10725912" cy="182880"/>
          </a:xfrm>
          <a:prstGeom prst="rect">
            <a:avLst/>
          </a:prstGeom>
          <a:noFill/>
        </p:spPr>
        <p:txBody>
          <a:bodyPr wrap="square" lIns="45720" rIns="45720" tIns="18288" bIns="18288" anchor="t">
            <a:spAutoFit/>
          </a:bodyPr>
          <a:lstStyle/>
          <a:p>
            <a:pPr algn="l"/>
            <a:r>
              <a:rPr sz="1000" b="0" i="1">
                <a:solidFill>
                  <a:srgbClr val="1F2937"/>
                </a:solidFill>
                <a:latin typeface="Calibri"/>
              </a:rPr>
              <a:t>{{PEER_VERDICT}}</a:t>
            </a:r>
          </a:p>
        </p:txBody>
      </p:sp>
      <p:sp>
        <p:nvSpPr>
          <p:cNvPr id="87" name="TextBox 86"/>
          <p:cNvSpPr txBox="1"/>
          <p:nvPr/>
        </p:nvSpPr>
        <p:spPr>
          <a:xfrm>
            <a:off x="548640" y="6492240"/>
            <a:ext cx="8229600" cy="274320"/>
          </a:xfrm>
          <a:prstGeom prst="rect">
            <a:avLst/>
          </a:prstGeom>
          <a:noFill/>
        </p:spPr>
        <p:txBody>
          <a:bodyPr wrap="square" lIns="45720" rIns="45720" tIns="18288" bIns="18288" anchor="t">
            <a:spAutoFit/>
          </a:bodyPr>
          <a:lstStyle/>
          <a:p>
            <a:pPr algn="l"/>
            <a:r>
              <a:rPr sz="900" b="0" i="1">
                <a:solidFill>
                  <a:srgbClr val="9CA3AF"/>
                </a:solidFill>
                <a:latin typeface="Calibri"/>
              </a:rPr>
              <a:t>{{FOOTER_LEFT}}</a:t>
            </a:r>
          </a:p>
        </p:txBody>
      </p:sp>
      <p:sp>
        <p:nvSpPr>
          <p:cNvPr id="88" name="TextBox 87"/>
          <p:cNvSpPr txBox="1"/>
          <p:nvPr/>
        </p:nvSpPr>
        <p:spPr>
          <a:xfrm>
            <a:off x="10058400" y="6492240"/>
            <a:ext cx="1645920" cy="274320"/>
          </a:xfrm>
          <a:prstGeom prst="rect">
            <a:avLst/>
          </a:prstGeom>
          <a:noFill/>
        </p:spPr>
        <p:txBody>
          <a:bodyPr wrap="square" lIns="45720" rIns="45720" tIns="18288" bIns="18288" anchor="t">
            <a:spAutoFit/>
          </a:bodyPr>
          <a:lstStyle/>
          <a:p>
            <a:pPr algn="r"/>
            <a:r>
              <a:rPr sz="900" b="0" i="0">
                <a:solidFill>
                  <a:srgbClr val="9CA3AF"/>
                </a:solidFill>
                <a:latin typeface="Calibri"/>
              </a:rPr>
              <a:t>{{PAGE_NUM}}</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name="MINI_CHARTS_2X2">
    <p:spTree>
      <p:nvGrpSpPr>
        <p:cNvPr id="1" name=""/>
        <p:cNvGrpSpPr/>
        <p:nvPr/>
      </p:nvGrpSpPr>
      <p:grpSpPr/>
      <p:sp>
        <p:nvSpPr>
          <p:cNvPr id="2" name="Rectangle 1"/>
          <p:cNvSpPr/>
          <p:nvPr/>
        </p:nvSpPr>
        <p:spPr>
          <a:xfrm>
            <a:off x="457200" y="274320"/>
            <a:ext cx="73152" cy="32004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594359"/>
            <a:ext cx="73152" cy="320040"/>
          </a:xfrm>
          <a:prstGeom prst="rect">
            <a:avLst/>
          </a:prstGeom>
          <a:solidFill>
            <a:srgbClr val="B47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74320"/>
            <a:ext cx="10972800" cy="365760"/>
          </a:xfrm>
          <a:prstGeom prst="rect">
            <a:avLst/>
          </a:prstGeom>
          <a:noFill/>
        </p:spPr>
        <p:txBody>
          <a:bodyPr wrap="square" lIns="45720" rIns="45720" tIns="18288" bIns="18288" anchor="t">
            <a:spAutoFit/>
          </a:bodyPr>
          <a:lstStyle/>
          <a:p>
            <a:pPr algn="l"/>
            <a:r>
              <a:rPr sz="2400" b="1" i="0">
                <a:solidFill>
                  <a:srgbClr val="1F2937"/>
                </a:solidFill>
                <a:latin typeface="Calibri"/>
              </a:rPr>
              <a:t>{{SECTION_TITLE}}</a:t>
            </a:r>
          </a:p>
        </p:txBody>
      </p:sp>
      <p:sp>
        <p:nvSpPr>
          <p:cNvPr id="5" name="TextBox 4"/>
          <p:cNvSpPr txBox="1"/>
          <p:nvPr/>
        </p:nvSpPr>
        <p:spPr>
          <a:xfrm>
            <a:off x="594360" y="640080"/>
            <a:ext cx="10972800" cy="274320"/>
          </a:xfrm>
          <a:prstGeom prst="rect">
            <a:avLst/>
          </a:prstGeom>
          <a:noFill/>
        </p:spPr>
        <p:txBody>
          <a:bodyPr wrap="square" lIns="45720" rIns="45720" tIns="18288" bIns="18288" anchor="t">
            <a:spAutoFit/>
          </a:bodyPr>
          <a:lstStyle/>
          <a:p>
            <a:pPr algn="l"/>
            <a:r>
              <a:rPr sz="1100" b="0" i="1">
                <a:solidFill>
                  <a:srgbClr val="6B7280"/>
                </a:solidFill>
                <a:latin typeface="Calibri"/>
              </a:rPr>
              <a:t>{{SECTION_SUB}}</a:t>
            </a:r>
          </a:p>
        </p:txBody>
      </p:sp>
      <p:sp>
        <p:nvSpPr>
          <p:cNvPr id="6" name="Rectangle 5"/>
          <p:cNvSpPr/>
          <p:nvPr/>
        </p:nvSpPr>
        <p:spPr>
          <a:xfrm>
            <a:off x="548640" y="1005840"/>
            <a:ext cx="11091672" cy="18288"/>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280160"/>
            <a:ext cx="5454396" cy="2423160"/>
          </a:xfrm>
          <a:prstGeom prst="roundRect">
            <a:avLst>
              <a:gd name="adj" fmla="val 4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1280160"/>
            <a:ext cx="5454396" cy="457200"/>
          </a:xfrm>
          <a:prstGeom prst="roundRect">
            <a:avLst>
              <a:gd name="adj" fmla="val 6000"/>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325880"/>
            <a:ext cx="5088636" cy="182880"/>
          </a:xfrm>
          <a:prstGeom prst="rect">
            <a:avLst/>
          </a:prstGeom>
          <a:noFill/>
        </p:spPr>
        <p:txBody>
          <a:bodyPr wrap="square" lIns="45720" rIns="45720" tIns="18288" bIns="18288" anchor="t">
            <a:spAutoFit/>
          </a:bodyPr>
          <a:lstStyle/>
          <a:p>
            <a:pPr algn="l"/>
            <a:r>
              <a:rPr sz="900" b="1" i="0">
                <a:solidFill>
                  <a:srgbClr val="B47EFF"/>
                </a:solidFill>
                <a:latin typeface="Calibri"/>
              </a:rPr>
              <a:t>{{CHART_1_TITLE}}</a:t>
            </a:r>
          </a:p>
        </p:txBody>
      </p:sp>
      <p:sp>
        <p:nvSpPr>
          <p:cNvPr id="10" name="TextBox 9"/>
          <p:cNvSpPr txBox="1"/>
          <p:nvPr/>
        </p:nvSpPr>
        <p:spPr>
          <a:xfrm>
            <a:off x="731520" y="1508760"/>
            <a:ext cx="5088636" cy="228600"/>
          </a:xfrm>
          <a:prstGeom prst="rect">
            <a:avLst/>
          </a:prstGeom>
          <a:noFill/>
        </p:spPr>
        <p:txBody>
          <a:bodyPr wrap="square" lIns="45720" rIns="45720" tIns="18288" bIns="18288" anchor="t">
            <a:spAutoFit/>
          </a:bodyPr>
          <a:lstStyle/>
          <a:p>
            <a:pPr algn="l"/>
            <a:r>
              <a:rPr sz="900" b="0" i="1">
                <a:solidFill>
                  <a:srgbClr val="FFFFFF"/>
                </a:solidFill>
                <a:latin typeface="Calibri"/>
              </a:rPr>
              <a:t>{{CHART_1_UNIT}}</a:t>
            </a:r>
          </a:p>
        </p:txBody>
      </p:sp>
      <p:sp>
        <p:nvSpPr>
          <p:cNvPr id="11" name="Rounded Rectangle 10"/>
          <p:cNvSpPr/>
          <p:nvPr/>
        </p:nvSpPr>
        <p:spPr>
          <a:xfrm>
            <a:off x="731520" y="1828800"/>
            <a:ext cx="5088636" cy="1463039"/>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286000"/>
            <a:ext cx="5088636" cy="274320"/>
          </a:xfrm>
          <a:prstGeom prst="rect">
            <a:avLst/>
          </a:prstGeom>
          <a:noFill/>
        </p:spPr>
        <p:txBody>
          <a:bodyPr wrap="square" lIns="45720" rIns="45720" tIns="18288" bIns="18288" anchor="ctr">
            <a:spAutoFit/>
          </a:bodyPr>
          <a:lstStyle/>
          <a:p>
            <a:pPr algn="ctr"/>
            <a:r>
              <a:rPr sz="1100" b="1" i="0">
                <a:solidFill>
                  <a:srgbClr val="9CA3AF"/>
                </a:solidFill>
                <a:latin typeface="Calibri"/>
              </a:rPr>
              <a:t>{{CHART_1_PLACEHOLDER}}</a:t>
            </a:r>
          </a:p>
        </p:txBody>
      </p:sp>
      <p:sp>
        <p:nvSpPr>
          <p:cNvPr id="13" name="TextBox 12"/>
          <p:cNvSpPr txBox="1"/>
          <p:nvPr/>
        </p:nvSpPr>
        <p:spPr>
          <a:xfrm>
            <a:off x="731520" y="2606039"/>
            <a:ext cx="5088636" cy="228600"/>
          </a:xfrm>
          <a:prstGeom prst="rect">
            <a:avLst/>
          </a:prstGeom>
          <a:noFill/>
        </p:spPr>
        <p:txBody>
          <a:bodyPr wrap="square" lIns="45720" rIns="45720" tIns="18288" bIns="18288" anchor="t">
            <a:spAutoFit/>
          </a:bodyPr>
          <a:lstStyle/>
          <a:p>
            <a:pPr algn="ctr"/>
            <a:r>
              <a:rPr sz="900" b="0" i="1">
                <a:solidFill>
                  <a:srgbClr val="9CA3AF"/>
                </a:solidFill>
                <a:latin typeface="Calibri"/>
              </a:rPr>
              <a:t>(Chart từ YAML block trong MD)</a:t>
            </a:r>
          </a:p>
        </p:txBody>
      </p:sp>
      <p:sp>
        <p:nvSpPr>
          <p:cNvPr id="14" name="TextBox 13"/>
          <p:cNvSpPr txBox="1"/>
          <p:nvPr/>
        </p:nvSpPr>
        <p:spPr>
          <a:xfrm>
            <a:off x="731520" y="3291839"/>
            <a:ext cx="2798749" cy="182880"/>
          </a:xfrm>
          <a:prstGeom prst="rect">
            <a:avLst/>
          </a:prstGeom>
          <a:noFill/>
        </p:spPr>
        <p:txBody>
          <a:bodyPr wrap="square" lIns="45720" rIns="45720" tIns="18288" bIns="18288" anchor="t">
            <a:spAutoFit/>
          </a:bodyPr>
          <a:lstStyle/>
          <a:p>
            <a:pPr algn="l"/>
            <a:r>
              <a:rPr sz="900" b="1" i="0">
                <a:solidFill>
                  <a:srgbClr val="1F2937"/>
                </a:solidFill>
                <a:latin typeface="Calibri"/>
              </a:rPr>
              <a:t>{{CHART_1_LATEST}}</a:t>
            </a:r>
          </a:p>
        </p:txBody>
      </p:sp>
      <p:sp>
        <p:nvSpPr>
          <p:cNvPr id="15" name="TextBox 14"/>
          <p:cNvSpPr txBox="1"/>
          <p:nvPr/>
        </p:nvSpPr>
        <p:spPr>
          <a:xfrm>
            <a:off x="3530269" y="3291839"/>
            <a:ext cx="2289886" cy="182880"/>
          </a:xfrm>
          <a:prstGeom prst="rect">
            <a:avLst/>
          </a:prstGeom>
          <a:noFill/>
        </p:spPr>
        <p:txBody>
          <a:bodyPr wrap="square" lIns="45720" rIns="45720" tIns="18288" bIns="18288" anchor="t">
            <a:spAutoFit/>
          </a:bodyPr>
          <a:lstStyle/>
          <a:p>
            <a:pPr algn="r"/>
            <a:r>
              <a:rPr sz="900" b="1" i="0">
                <a:solidFill>
                  <a:srgbClr val="25B770"/>
                </a:solidFill>
                <a:latin typeface="Calibri"/>
              </a:rPr>
              <a:t>{{CHART_1_CHANGE}}</a:t>
            </a:r>
          </a:p>
        </p:txBody>
      </p:sp>
      <p:sp>
        <p:nvSpPr>
          <p:cNvPr id="16" name="Rounded Rectangle 15"/>
          <p:cNvSpPr/>
          <p:nvPr/>
        </p:nvSpPr>
        <p:spPr>
          <a:xfrm>
            <a:off x="6185916" y="1280160"/>
            <a:ext cx="5454396" cy="2423160"/>
          </a:xfrm>
          <a:prstGeom prst="roundRect">
            <a:avLst>
              <a:gd name="adj" fmla="val 4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185916" y="1280160"/>
            <a:ext cx="5454396" cy="457200"/>
          </a:xfrm>
          <a:prstGeom prst="roundRect">
            <a:avLst>
              <a:gd name="adj" fmla="val 6000"/>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68796" y="1325880"/>
            <a:ext cx="5088636" cy="182880"/>
          </a:xfrm>
          <a:prstGeom prst="rect">
            <a:avLst/>
          </a:prstGeom>
          <a:noFill/>
        </p:spPr>
        <p:txBody>
          <a:bodyPr wrap="square" lIns="45720" rIns="45720" tIns="18288" bIns="18288" anchor="t">
            <a:spAutoFit/>
          </a:bodyPr>
          <a:lstStyle/>
          <a:p>
            <a:pPr algn="l"/>
            <a:r>
              <a:rPr sz="900" b="1" i="0">
                <a:solidFill>
                  <a:srgbClr val="B47EFF"/>
                </a:solidFill>
                <a:latin typeface="Calibri"/>
              </a:rPr>
              <a:t>{{CHART_2_TITLE}}</a:t>
            </a:r>
          </a:p>
        </p:txBody>
      </p:sp>
      <p:sp>
        <p:nvSpPr>
          <p:cNvPr id="19" name="TextBox 18"/>
          <p:cNvSpPr txBox="1"/>
          <p:nvPr/>
        </p:nvSpPr>
        <p:spPr>
          <a:xfrm>
            <a:off x="6368796" y="1508760"/>
            <a:ext cx="5088636" cy="228600"/>
          </a:xfrm>
          <a:prstGeom prst="rect">
            <a:avLst/>
          </a:prstGeom>
          <a:noFill/>
        </p:spPr>
        <p:txBody>
          <a:bodyPr wrap="square" lIns="45720" rIns="45720" tIns="18288" bIns="18288" anchor="t">
            <a:spAutoFit/>
          </a:bodyPr>
          <a:lstStyle/>
          <a:p>
            <a:pPr algn="l"/>
            <a:r>
              <a:rPr sz="900" b="0" i="1">
                <a:solidFill>
                  <a:srgbClr val="FFFFFF"/>
                </a:solidFill>
                <a:latin typeface="Calibri"/>
              </a:rPr>
              <a:t>{{CHART_2_UNIT}}</a:t>
            </a:r>
          </a:p>
        </p:txBody>
      </p:sp>
      <p:sp>
        <p:nvSpPr>
          <p:cNvPr id="20" name="Rounded Rectangle 19"/>
          <p:cNvSpPr/>
          <p:nvPr/>
        </p:nvSpPr>
        <p:spPr>
          <a:xfrm>
            <a:off x="6368796" y="1828800"/>
            <a:ext cx="5088636" cy="1463039"/>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68796" y="2286000"/>
            <a:ext cx="5088636" cy="274320"/>
          </a:xfrm>
          <a:prstGeom prst="rect">
            <a:avLst/>
          </a:prstGeom>
          <a:noFill/>
        </p:spPr>
        <p:txBody>
          <a:bodyPr wrap="square" lIns="45720" rIns="45720" tIns="18288" bIns="18288" anchor="ctr">
            <a:spAutoFit/>
          </a:bodyPr>
          <a:lstStyle/>
          <a:p>
            <a:pPr algn="ctr"/>
            <a:r>
              <a:rPr sz="1100" b="1" i="0">
                <a:solidFill>
                  <a:srgbClr val="9CA3AF"/>
                </a:solidFill>
                <a:latin typeface="Calibri"/>
              </a:rPr>
              <a:t>{{CHART_2_PLACEHOLDER}}</a:t>
            </a:r>
          </a:p>
        </p:txBody>
      </p:sp>
      <p:sp>
        <p:nvSpPr>
          <p:cNvPr id="22" name="TextBox 21"/>
          <p:cNvSpPr txBox="1"/>
          <p:nvPr/>
        </p:nvSpPr>
        <p:spPr>
          <a:xfrm>
            <a:off x="6368796" y="2606039"/>
            <a:ext cx="5088636" cy="228600"/>
          </a:xfrm>
          <a:prstGeom prst="rect">
            <a:avLst/>
          </a:prstGeom>
          <a:noFill/>
        </p:spPr>
        <p:txBody>
          <a:bodyPr wrap="square" lIns="45720" rIns="45720" tIns="18288" bIns="18288" anchor="t">
            <a:spAutoFit/>
          </a:bodyPr>
          <a:lstStyle/>
          <a:p>
            <a:pPr algn="ctr"/>
            <a:r>
              <a:rPr sz="900" b="0" i="1">
                <a:solidFill>
                  <a:srgbClr val="9CA3AF"/>
                </a:solidFill>
                <a:latin typeface="Calibri"/>
              </a:rPr>
              <a:t>(Chart từ YAML block trong MD)</a:t>
            </a:r>
          </a:p>
        </p:txBody>
      </p:sp>
      <p:sp>
        <p:nvSpPr>
          <p:cNvPr id="23" name="TextBox 22"/>
          <p:cNvSpPr txBox="1"/>
          <p:nvPr/>
        </p:nvSpPr>
        <p:spPr>
          <a:xfrm>
            <a:off x="6368796" y="3291839"/>
            <a:ext cx="2798749" cy="182880"/>
          </a:xfrm>
          <a:prstGeom prst="rect">
            <a:avLst/>
          </a:prstGeom>
          <a:noFill/>
        </p:spPr>
        <p:txBody>
          <a:bodyPr wrap="square" lIns="45720" rIns="45720" tIns="18288" bIns="18288" anchor="t">
            <a:spAutoFit/>
          </a:bodyPr>
          <a:lstStyle/>
          <a:p>
            <a:pPr algn="l"/>
            <a:r>
              <a:rPr sz="900" b="1" i="0">
                <a:solidFill>
                  <a:srgbClr val="1F2937"/>
                </a:solidFill>
                <a:latin typeface="Calibri"/>
              </a:rPr>
              <a:t>{{CHART_2_LATEST}}</a:t>
            </a:r>
          </a:p>
        </p:txBody>
      </p:sp>
      <p:sp>
        <p:nvSpPr>
          <p:cNvPr id="24" name="TextBox 23"/>
          <p:cNvSpPr txBox="1"/>
          <p:nvPr/>
        </p:nvSpPr>
        <p:spPr>
          <a:xfrm>
            <a:off x="9167545" y="3291839"/>
            <a:ext cx="2289886" cy="182880"/>
          </a:xfrm>
          <a:prstGeom prst="rect">
            <a:avLst/>
          </a:prstGeom>
          <a:noFill/>
        </p:spPr>
        <p:txBody>
          <a:bodyPr wrap="square" lIns="45720" rIns="45720" tIns="18288" bIns="18288" anchor="t">
            <a:spAutoFit/>
          </a:bodyPr>
          <a:lstStyle/>
          <a:p>
            <a:pPr algn="r"/>
            <a:r>
              <a:rPr sz="900" b="1" i="0">
                <a:solidFill>
                  <a:srgbClr val="25B770"/>
                </a:solidFill>
                <a:latin typeface="Calibri"/>
              </a:rPr>
              <a:t>{{CHART_2_CHANGE}}</a:t>
            </a:r>
          </a:p>
        </p:txBody>
      </p:sp>
      <p:sp>
        <p:nvSpPr>
          <p:cNvPr id="25" name="Rounded Rectangle 24"/>
          <p:cNvSpPr/>
          <p:nvPr/>
        </p:nvSpPr>
        <p:spPr>
          <a:xfrm>
            <a:off x="548640" y="3886200"/>
            <a:ext cx="5454396" cy="2423160"/>
          </a:xfrm>
          <a:prstGeom prst="roundRect">
            <a:avLst>
              <a:gd name="adj" fmla="val 4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548640" y="3886200"/>
            <a:ext cx="5454396" cy="457200"/>
          </a:xfrm>
          <a:prstGeom prst="roundRect">
            <a:avLst>
              <a:gd name="adj" fmla="val 6000"/>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3931920"/>
            <a:ext cx="5088636" cy="182880"/>
          </a:xfrm>
          <a:prstGeom prst="rect">
            <a:avLst/>
          </a:prstGeom>
          <a:noFill/>
        </p:spPr>
        <p:txBody>
          <a:bodyPr wrap="square" lIns="45720" rIns="45720" tIns="18288" bIns="18288" anchor="t">
            <a:spAutoFit/>
          </a:bodyPr>
          <a:lstStyle/>
          <a:p>
            <a:pPr algn="l"/>
            <a:r>
              <a:rPr sz="900" b="1" i="0">
                <a:solidFill>
                  <a:srgbClr val="B47EFF"/>
                </a:solidFill>
                <a:latin typeface="Calibri"/>
              </a:rPr>
              <a:t>{{CHART_3_TITLE}}</a:t>
            </a:r>
          </a:p>
        </p:txBody>
      </p:sp>
      <p:sp>
        <p:nvSpPr>
          <p:cNvPr id="28" name="TextBox 27"/>
          <p:cNvSpPr txBox="1"/>
          <p:nvPr/>
        </p:nvSpPr>
        <p:spPr>
          <a:xfrm>
            <a:off x="731520" y="4114800"/>
            <a:ext cx="5088636" cy="228600"/>
          </a:xfrm>
          <a:prstGeom prst="rect">
            <a:avLst/>
          </a:prstGeom>
          <a:noFill/>
        </p:spPr>
        <p:txBody>
          <a:bodyPr wrap="square" lIns="45720" rIns="45720" tIns="18288" bIns="18288" anchor="t">
            <a:spAutoFit/>
          </a:bodyPr>
          <a:lstStyle/>
          <a:p>
            <a:pPr algn="l"/>
            <a:r>
              <a:rPr sz="900" b="0" i="1">
                <a:solidFill>
                  <a:srgbClr val="FFFFFF"/>
                </a:solidFill>
                <a:latin typeface="Calibri"/>
              </a:rPr>
              <a:t>{{CHART_3_UNIT}}</a:t>
            </a:r>
          </a:p>
        </p:txBody>
      </p:sp>
      <p:sp>
        <p:nvSpPr>
          <p:cNvPr id="29" name="Rounded Rectangle 28"/>
          <p:cNvSpPr/>
          <p:nvPr/>
        </p:nvSpPr>
        <p:spPr>
          <a:xfrm>
            <a:off x="731520" y="4434840"/>
            <a:ext cx="5088636" cy="1463039"/>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4892040"/>
            <a:ext cx="5088636" cy="274320"/>
          </a:xfrm>
          <a:prstGeom prst="rect">
            <a:avLst/>
          </a:prstGeom>
          <a:noFill/>
        </p:spPr>
        <p:txBody>
          <a:bodyPr wrap="square" lIns="45720" rIns="45720" tIns="18288" bIns="18288" anchor="ctr">
            <a:spAutoFit/>
          </a:bodyPr>
          <a:lstStyle/>
          <a:p>
            <a:pPr algn="ctr"/>
            <a:r>
              <a:rPr sz="1100" b="1" i="0">
                <a:solidFill>
                  <a:srgbClr val="9CA3AF"/>
                </a:solidFill>
                <a:latin typeface="Calibri"/>
              </a:rPr>
              <a:t>{{CHART_3_PLACEHOLDER}}</a:t>
            </a:r>
          </a:p>
        </p:txBody>
      </p:sp>
      <p:sp>
        <p:nvSpPr>
          <p:cNvPr id="31" name="TextBox 30"/>
          <p:cNvSpPr txBox="1"/>
          <p:nvPr/>
        </p:nvSpPr>
        <p:spPr>
          <a:xfrm>
            <a:off x="731520" y="5212079"/>
            <a:ext cx="5088636" cy="228600"/>
          </a:xfrm>
          <a:prstGeom prst="rect">
            <a:avLst/>
          </a:prstGeom>
          <a:noFill/>
        </p:spPr>
        <p:txBody>
          <a:bodyPr wrap="square" lIns="45720" rIns="45720" tIns="18288" bIns="18288" anchor="t">
            <a:spAutoFit/>
          </a:bodyPr>
          <a:lstStyle/>
          <a:p>
            <a:pPr algn="ctr"/>
            <a:r>
              <a:rPr sz="900" b="0" i="1">
                <a:solidFill>
                  <a:srgbClr val="9CA3AF"/>
                </a:solidFill>
                <a:latin typeface="Calibri"/>
              </a:rPr>
              <a:t>(Chart từ YAML block trong MD)</a:t>
            </a:r>
          </a:p>
        </p:txBody>
      </p:sp>
      <p:sp>
        <p:nvSpPr>
          <p:cNvPr id="32" name="TextBox 31"/>
          <p:cNvSpPr txBox="1"/>
          <p:nvPr/>
        </p:nvSpPr>
        <p:spPr>
          <a:xfrm>
            <a:off x="731520" y="5897880"/>
            <a:ext cx="2798749" cy="182880"/>
          </a:xfrm>
          <a:prstGeom prst="rect">
            <a:avLst/>
          </a:prstGeom>
          <a:noFill/>
        </p:spPr>
        <p:txBody>
          <a:bodyPr wrap="square" lIns="45720" rIns="45720" tIns="18288" bIns="18288" anchor="t">
            <a:spAutoFit/>
          </a:bodyPr>
          <a:lstStyle/>
          <a:p>
            <a:pPr algn="l"/>
            <a:r>
              <a:rPr sz="900" b="1" i="0">
                <a:solidFill>
                  <a:srgbClr val="1F2937"/>
                </a:solidFill>
                <a:latin typeface="Calibri"/>
              </a:rPr>
              <a:t>{{CHART_3_LATEST}}</a:t>
            </a:r>
          </a:p>
        </p:txBody>
      </p:sp>
      <p:sp>
        <p:nvSpPr>
          <p:cNvPr id="33" name="TextBox 32"/>
          <p:cNvSpPr txBox="1"/>
          <p:nvPr/>
        </p:nvSpPr>
        <p:spPr>
          <a:xfrm>
            <a:off x="3530269" y="5897880"/>
            <a:ext cx="2289886" cy="182880"/>
          </a:xfrm>
          <a:prstGeom prst="rect">
            <a:avLst/>
          </a:prstGeom>
          <a:noFill/>
        </p:spPr>
        <p:txBody>
          <a:bodyPr wrap="square" lIns="45720" rIns="45720" tIns="18288" bIns="18288" anchor="t">
            <a:spAutoFit/>
          </a:bodyPr>
          <a:lstStyle/>
          <a:p>
            <a:pPr algn="r"/>
            <a:r>
              <a:rPr sz="900" b="1" i="0">
                <a:solidFill>
                  <a:srgbClr val="25B770"/>
                </a:solidFill>
                <a:latin typeface="Calibri"/>
              </a:rPr>
              <a:t>{{CHART_3_CHANGE}}</a:t>
            </a:r>
          </a:p>
        </p:txBody>
      </p:sp>
      <p:sp>
        <p:nvSpPr>
          <p:cNvPr id="34" name="Rounded Rectangle 33"/>
          <p:cNvSpPr/>
          <p:nvPr/>
        </p:nvSpPr>
        <p:spPr>
          <a:xfrm>
            <a:off x="6185916" y="3886200"/>
            <a:ext cx="5454396" cy="2423160"/>
          </a:xfrm>
          <a:prstGeom prst="roundRect">
            <a:avLst>
              <a:gd name="adj" fmla="val 4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6185916" y="3886200"/>
            <a:ext cx="5454396" cy="457200"/>
          </a:xfrm>
          <a:prstGeom prst="roundRect">
            <a:avLst>
              <a:gd name="adj" fmla="val 6000"/>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68796" y="3931920"/>
            <a:ext cx="5088636" cy="182880"/>
          </a:xfrm>
          <a:prstGeom prst="rect">
            <a:avLst/>
          </a:prstGeom>
          <a:noFill/>
        </p:spPr>
        <p:txBody>
          <a:bodyPr wrap="square" lIns="45720" rIns="45720" tIns="18288" bIns="18288" anchor="t">
            <a:spAutoFit/>
          </a:bodyPr>
          <a:lstStyle/>
          <a:p>
            <a:pPr algn="l"/>
            <a:r>
              <a:rPr sz="900" b="1" i="0">
                <a:solidFill>
                  <a:srgbClr val="B47EFF"/>
                </a:solidFill>
                <a:latin typeface="Calibri"/>
              </a:rPr>
              <a:t>{{CHART_4_TITLE}}</a:t>
            </a:r>
          </a:p>
        </p:txBody>
      </p:sp>
      <p:sp>
        <p:nvSpPr>
          <p:cNvPr id="37" name="TextBox 36"/>
          <p:cNvSpPr txBox="1"/>
          <p:nvPr/>
        </p:nvSpPr>
        <p:spPr>
          <a:xfrm>
            <a:off x="6368796" y="4114800"/>
            <a:ext cx="5088636" cy="228600"/>
          </a:xfrm>
          <a:prstGeom prst="rect">
            <a:avLst/>
          </a:prstGeom>
          <a:noFill/>
        </p:spPr>
        <p:txBody>
          <a:bodyPr wrap="square" lIns="45720" rIns="45720" tIns="18288" bIns="18288" anchor="t">
            <a:spAutoFit/>
          </a:bodyPr>
          <a:lstStyle/>
          <a:p>
            <a:pPr algn="l"/>
            <a:r>
              <a:rPr sz="900" b="0" i="1">
                <a:solidFill>
                  <a:srgbClr val="FFFFFF"/>
                </a:solidFill>
                <a:latin typeface="Calibri"/>
              </a:rPr>
              <a:t>{{CHART_4_UNIT}}</a:t>
            </a:r>
          </a:p>
        </p:txBody>
      </p:sp>
      <p:sp>
        <p:nvSpPr>
          <p:cNvPr id="38" name="Rounded Rectangle 37"/>
          <p:cNvSpPr/>
          <p:nvPr/>
        </p:nvSpPr>
        <p:spPr>
          <a:xfrm>
            <a:off x="6368796" y="4434840"/>
            <a:ext cx="5088636" cy="1463039"/>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368796" y="4892040"/>
            <a:ext cx="5088636" cy="274320"/>
          </a:xfrm>
          <a:prstGeom prst="rect">
            <a:avLst/>
          </a:prstGeom>
          <a:noFill/>
        </p:spPr>
        <p:txBody>
          <a:bodyPr wrap="square" lIns="45720" rIns="45720" tIns="18288" bIns="18288" anchor="ctr">
            <a:spAutoFit/>
          </a:bodyPr>
          <a:lstStyle/>
          <a:p>
            <a:pPr algn="ctr"/>
            <a:r>
              <a:rPr sz="1100" b="1" i="0">
                <a:solidFill>
                  <a:srgbClr val="9CA3AF"/>
                </a:solidFill>
                <a:latin typeface="Calibri"/>
              </a:rPr>
              <a:t>{{CHART_4_PLACEHOLDER}}</a:t>
            </a:r>
          </a:p>
        </p:txBody>
      </p:sp>
      <p:sp>
        <p:nvSpPr>
          <p:cNvPr id="40" name="TextBox 39"/>
          <p:cNvSpPr txBox="1"/>
          <p:nvPr/>
        </p:nvSpPr>
        <p:spPr>
          <a:xfrm>
            <a:off x="6368796" y="5212079"/>
            <a:ext cx="5088636" cy="228600"/>
          </a:xfrm>
          <a:prstGeom prst="rect">
            <a:avLst/>
          </a:prstGeom>
          <a:noFill/>
        </p:spPr>
        <p:txBody>
          <a:bodyPr wrap="square" lIns="45720" rIns="45720" tIns="18288" bIns="18288" anchor="t">
            <a:spAutoFit/>
          </a:bodyPr>
          <a:lstStyle/>
          <a:p>
            <a:pPr algn="ctr"/>
            <a:r>
              <a:rPr sz="900" b="0" i="1">
                <a:solidFill>
                  <a:srgbClr val="9CA3AF"/>
                </a:solidFill>
                <a:latin typeface="Calibri"/>
              </a:rPr>
              <a:t>(Chart từ YAML block trong MD)</a:t>
            </a:r>
          </a:p>
        </p:txBody>
      </p:sp>
      <p:sp>
        <p:nvSpPr>
          <p:cNvPr id="41" name="TextBox 40"/>
          <p:cNvSpPr txBox="1"/>
          <p:nvPr/>
        </p:nvSpPr>
        <p:spPr>
          <a:xfrm>
            <a:off x="6368796" y="5897880"/>
            <a:ext cx="2798749" cy="182880"/>
          </a:xfrm>
          <a:prstGeom prst="rect">
            <a:avLst/>
          </a:prstGeom>
          <a:noFill/>
        </p:spPr>
        <p:txBody>
          <a:bodyPr wrap="square" lIns="45720" rIns="45720" tIns="18288" bIns="18288" anchor="t">
            <a:spAutoFit/>
          </a:bodyPr>
          <a:lstStyle/>
          <a:p>
            <a:pPr algn="l"/>
            <a:r>
              <a:rPr sz="900" b="1" i="0">
                <a:solidFill>
                  <a:srgbClr val="1F2937"/>
                </a:solidFill>
                <a:latin typeface="Calibri"/>
              </a:rPr>
              <a:t>{{CHART_4_LATEST}}</a:t>
            </a:r>
          </a:p>
        </p:txBody>
      </p:sp>
      <p:sp>
        <p:nvSpPr>
          <p:cNvPr id="42" name="TextBox 41"/>
          <p:cNvSpPr txBox="1"/>
          <p:nvPr/>
        </p:nvSpPr>
        <p:spPr>
          <a:xfrm>
            <a:off x="9167545" y="5897880"/>
            <a:ext cx="2289886" cy="182880"/>
          </a:xfrm>
          <a:prstGeom prst="rect">
            <a:avLst/>
          </a:prstGeom>
          <a:noFill/>
        </p:spPr>
        <p:txBody>
          <a:bodyPr wrap="square" lIns="45720" rIns="45720" tIns="18288" bIns="18288" anchor="t">
            <a:spAutoFit/>
          </a:bodyPr>
          <a:lstStyle/>
          <a:p>
            <a:pPr algn="r"/>
            <a:r>
              <a:rPr sz="900" b="1" i="0">
                <a:solidFill>
                  <a:srgbClr val="25B770"/>
                </a:solidFill>
                <a:latin typeface="Calibri"/>
              </a:rPr>
              <a:t>{{CHART_4_CHANGE}}</a:t>
            </a:r>
          </a:p>
        </p:txBody>
      </p:sp>
      <p:sp>
        <p:nvSpPr>
          <p:cNvPr id="43" name="TextBox 42"/>
          <p:cNvSpPr txBox="1"/>
          <p:nvPr/>
        </p:nvSpPr>
        <p:spPr>
          <a:xfrm>
            <a:off x="548640" y="6492240"/>
            <a:ext cx="8229600" cy="274320"/>
          </a:xfrm>
          <a:prstGeom prst="rect">
            <a:avLst/>
          </a:prstGeom>
          <a:noFill/>
        </p:spPr>
        <p:txBody>
          <a:bodyPr wrap="square" lIns="45720" rIns="45720" tIns="18288" bIns="18288" anchor="t">
            <a:spAutoFit/>
          </a:bodyPr>
          <a:lstStyle/>
          <a:p>
            <a:pPr algn="l"/>
            <a:r>
              <a:rPr sz="900" b="0" i="1">
                <a:solidFill>
                  <a:srgbClr val="9CA3AF"/>
                </a:solidFill>
                <a:latin typeface="Calibri"/>
              </a:rPr>
              <a:t>{{FOOTER_LEFT}}</a:t>
            </a:r>
          </a:p>
        </p:txBody>
      </p:sp>
      <p:sp>
        <p:nvSpPr>
          <p:cNvPr id="44" name="TextBox 43"/>
          <p:cNvSpPr txBox="1"/>
          <p:nvPr/>
        </p:nvSpPr>
        <p:spPr>
          <a:xfrm>
            <a:off x="10058400" y="6492240"/>
            <a:ext cx="1645920" cy="274320"/>
          </a:xfrm>
          <a:prstGeom prst="rect">
            <a:avLst/>
          </a:prstGeom>
          <a:noFill/>
        </p:spPr>
        <p:txBody>
          <a:bodyPr wrap="square" lIns="45720" rIns="45720" tIns="18288" bIns="18288" anchor="t">
            <a:spAutoFit/>
          </a:bodyPr>
          <a:lstStyle/>
          <a:p>
            <a:pPr algn="r"/>
            <a:r>
              <a:rPr sz="900" b="0" i="0">
                <a:solidFill>
                  <a:srgbClr val="9CA3AF"/>
                </a:solidFill>
                <a:latin typeface="Calibri"/>
              </a:rPr>
              <a:t>{{PAGE_NUM}}</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name="CALENDAR_WEEK">
    <p:spTree>
      <p:nvGrpSpPr>
        <p:cNvPr id="1" name=""/>
        <p:cNvGrpSpPr/>
        <p:nvPr/>
      </p:nvGrpSpPr>
      <p:grpSpPr/>
      <p:sp>
        <p:nvSpPr>
          <p:cNvPr id="2" name="Rectangle 1"/>
          <p:cNvSpPr/>
          <p:nvPr/>
        </p:nvSpPr>
        <p:spPr>
          <a:xfrm>
            <a:off x="457200" y="274320"/>
            <a:ext cx="73152" cy="32004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594359"/>
            <a:ext cx="73152" cy="320040"/>
          </a:xfrm>
          <a:prstGeom prst="rect">
            <a:avLst/>
          </a:prstGeom>
          <a:solidFill>
            <a:srgbClr val="B47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74320"/>
            <a:ext cx="10972800" cy="365760"/>
          </a:xfrm>
          <a:prstGeom prst="rect">
            <a:avLst/>
          </a:prstGeom>
          <a:noFill/>
        </p:spPr>
        <p:txBody>
          <a:bodyPr wrap="square" lIns="45720" rIns="45720" tIns="18288" bIns="18288" anchor="t">
            <a:spAutoFit/>
          </a:bodyPr>
          <a:lstStyle/>
          <a:p>
            <a:pPr algn="l"/>
            <a:r>
              <a:rPr sz="2400" b="1" i="0">
                <a:solidFill>
                  <a:srgbClr val="1F2937"/>
                </a:solidFill>
                <a:latin typeface="Calibri"/>
              </a:rPr>
              <a:t>{{SECTION_TITLE}}</a:t>
            </a:r>
          </a:p>
        </p:txBody>
      </p:sp>
      <p:sp>
        <p:nvSpPr>
          <p:cNvPr id="5" name="TextBox 4"/>
          <p:cNvSpPr txBox="1"/>
          <p:nvPr/>
        </p:nvSpPr>
        <p:spPr>
          <a:xfrm>
            <a:off x="594360" y="640080"/>
            <a:ext cx="10972800" cy="274320"/>
          </a:xfrm>
          <a:prstGeom prst="rect">
            <a:avLst/>
          </a:prstGeom>
          <a:noFill/>
        </p:spPr>
        <p:txBody>
          <a:bodyPr wrap="square" lIns="45720" rIns="45720" tIns="18288" bIns="18288" anchor="t">
            <a:spAutoFit/>
          </a:bodyPr>
          <a:lstStyle/>
          <a:p>
            <a:pPr algn="l"/>
            <a:r>
              <a:rPr sz="1100" b="0" i="1">
                <a:solidFill>
                  <a:srgbClr val="6B7280"/>
                </a:solidFill>
                <a:latin typeface="Calibri"/>
              </a:rPr>
              <a:t>{{SECTION_SUB}}</a:t>
            </a:r>
          </a:p>
        </p:txBody>
      </p:sp>
      <p:sp>
        <p:nvSpPr>
          <p:cNvPr id="6" name="Rectangle 5"/>
          <p:cNvSpPr/>
          <p:nvPr/>
        </p:nvSpPr>
        <p:spPr>
          <a:xfrm>
            <a:off x="548640" y="1005840"/>
            <a:ext cx="11091672" cy="18288"/>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280160"/>
            <a:ext cx="1521822" cy="4846320"/>
          </a:xfrm>
          <a:prstGeom prst="roundRect">
            <a:avLst>
              <a:gd name="adj" fmla="val 4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1280160"/>
            <a:ext cx="1521822" cy="960120"/>
          </a:xfrm>
          <a:prstGeom prst="roundRect">
            <a:avLst>
              <a:gd name="adj" fmla="val 6000"/>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417319"/>
            <a:ext cx="1521822" cy="274320"/>
          </a:xfrm>
          <a:prstGeom prst="rect">
            <a:avLst/>
          </a:prstGeom>
          <a:noFill/>
        </p:spPr>
        <p:txBody>
          <a:bodyPr wrap="square" lIns="45720" rIns="45720" tIns="18288" bIns="18288" anchor="t">
            <a:spAutoFit/>
          </a:bodyPr>
          <a:lstStyle/>
          <a:p>
            <a:pPr algn="ctr"/>
            <a:r>
              <a:rPr sz="900" b="1" i="0">
                <a:solidFill>
                  <a:srgbClr val="FFFFFF"/>
                </a:solidFill>
                <a:latin typeface="Calibri"/>
              </a:rPr>
              <a:t>THỨ HAI</a:t>
            </a:r>
          </a:p>
        </p:txBody>
      </p:sp>
      <p:sp>
        <p:nvSpPr>
          <p:cNvPr id="10" name="TextBox 9"/>
          <p:cNvSpPr txBox="1"/>
          <p:nvPr/>
        </p:nvSpPr>
        <p:spPr>
          <a:xfrm>
            <a:off x="594360" y="1737360"/>
            <a:ext cx="1430382" cy="457200"/>
          </a:xfrm>
          <a:prstGeom prst="rect">
            <a:avLst/>
          </a:prstGeom>
          <a:noFill/>
        </p:spPr>
        <p:txBody>
          <a:bodyPr wrap="square" lIns="45720" rIns="45720" tIns="18288" bIns="18288" anchor="t">
            <a:spAutoFit/>
          </a:bodyPr>
          <a:lstStyle/>
          <a:p>
            <a:pPr algn="ctr"/>
            <a:r>
              <a:rPr sz="1300" b="1" i="0">
                <a:solidFill>
                  <a:srgbClr val="FFFFFF"/>
                </a:solidFill>
                <a:latin typeface="Calibri"/>
              </a:rPr>
              <a:t>{{DAY_1_DATE}}</a:t>
            </a:r>
          </a:p>
        </p:txBody>
      </p:sp>
      <p:sp>
        <p:nvSpPr>
          <p:cNvPr id="11" name="Rectangle 10"/>
          <p:cNvSpPr/>
          <p:nvPr/>
        </p:nvSpPr>
        <p:spPr>
          <a:xfrm>
            <a:off x="640080" y="2331720"/>
            <a:ext cx="54864" cy="4572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331720"/>
            <a:ext cx="1247502" cy="182880"/>
          </a:xfrm>
          <a:prstGeom prst="rect">
            <a:avLst/>
          </a:prstGeom>
          <a:noFill/>
        </p:spPr>
        <p:txBody>
          <a:bodyPr wrap="square" lIns="45720" rIns="45720" tIns="18288" bIns="18288" anchor="t">
            <a:spAutoFit/>
          </a:bodyPr>
          <a:lstStyle/>
          <a:p>
            <a:pPr algn="l"/>
            <a:r>
              <a:rPr sz="800" b="1" i="0">
                <a:solidFill>
                  <a:srgbClr val="8B5CF6"/>
                </a:solidFill>
                <a:latin typeface="Calibri"/>
              </a:rPr>
              <a:t>{{DAY_1_EVT_1_TIME}}</a:t>
            </a:r>
          </a:p>
        </p:txBody>
      </p:sp>
      <p:sp>
        <p:nvSpPr>
          <p:cNvPr id="13" name="TextBox 12"/>
          <p:cNvSpPr txBox="1"/>
          <p:nvPr/>
        </p:nvSpPr>
        <p:spPr>
          <a:xfrm>
            <a:off x="731520" y="2514600"/>
            <a:ext cx="1247502" cy="274320"/>
          </a:xfrm>
          <a:prstGeom prst="rect">
            <a:avLst/>
          </a:prstGeom>
          <a:noFill/>
        </p:spPr>
        <p:txBody>
          <a:bodyPr wrap="square" lIns="45720" rIns="45720" tIns="18288" bIns="18288" anchor="t">
            <a:spAutoFit/>
          </a:bodyPr>
          <a:lstStyle/>
          <a:p>
            <a:pPr algn="l"/>
            <a:r>
              <a:rPr sz="900" b="0" i="0">
                <a:solidFill>
                  <a:srgbClr val="1F2937"/>
                </a:solidFill>
                <a:latin typeface="Calibri"/>
              </a:rPr>
              <a:t>{{DAY_1_EVT_1_TITLE}}</a:t>
            </a:r>
          </a:p>
        </p:txBody>
      </p:sp>
      <p:sp>
        <p:nvSpPr>
          <p:cNvPr id="14" name="Rectangle 13"/>
          <p:cNvSpPr/>
          <p:nvPr/>
        </p:nvSpPr>
        <p:spPr>
          <a:xfrm>
            <a:off x="640080" y="2926080"/>
            <a:ext cx="54864" cy="4572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2926080"/>
            <a:ext cx="1247502" cy="182880"/>
          </a:xfrm>
          <a:prstGeom prst="rect">
            <a:avLst/>
          </a:prstGeom>
          <a:noFill/>
        </p:spPr>
        <p:txBody>
          <a:bodyPr wrap="square" lIns="45720" rIns="45720" tIns="18288" bIns="18288" anchor="t">
            <a:spAutoFit/>
          </a:bodyPr>
          <a:lstStyle/>
          <a:p>
            <a:pPr algn="l"/>
            <a:r>
              <a:rPr sz="800" b="1" i="0">
                <a:solidFill>
                  <a:srgbClr val="8B5CF6"/>
                </a:solidFill>
                <a:latin typeface="Calibri"/>
              </a:rPr>
              <a:t>{{DAY_1_EVT_2_TIME}}</a:t>
            </a:r>
          </a:p>
        </p:txBody>
      </p:sp>
      <p:sp>
        <p:nvSpPr>
          <p:cNvPr id="16" name="TextBox 15"/>
          <p:cNvSpPr txBox="1"/>
          <p:nvPr/>
        </p:nvSpPr>
        <p:spPr>
          <a:xfrm>
            <a:off x="731520" y="3108960"/>
            <a:ext cx="1247502" cy="274320"/>
          </a:xfrm>
          <a:prstGeom prst="rect">
            <a:avLst/>
          </a:prstGeom>
          <a:noFill/>
        </p:spPr>
        <p:txBody>
          <a:bodyPr wrap="square" lIns="45720" rIns="45720" tIns="18288" bIns="18288" anchor="t">
            <a:spAutoFit/>
          </a:bodyPr>
          <a:lstStyle/>
          <a:p>
            <a:pPr algn="l"/>
            <a:r>
              <a:rPr sz="900" b="0" i="0">
                <a:solidFill>
                  <a:srgbClr val="1F2937"/>
                </a:solidFill>
                <a:latin typeface="Calibri"/>
              </a:rPr>
              <a:t>{{DAY_1_EVT_2_TITLE}}</a:t>
            </a:r>
          </a:p>
        </p:txBody>
      </p:sp>
      <p:sp>
        <p:nvSpPr>
          <p:cNvPr id="17" name="Rectangle 16"/>
          <p:cNvSpPr/>
          <p:nvPr/>
        </p:nvSpPr>
        <p:spPr>
          <a:xfrm>
            <a:off x="640080" y="3520440"/>
            <a:ext cx="54864" cy="4572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3520440"/>
            <a:ext cx="1247502" cy="182880"/>
          </a:xfrm>
          <a:prstGeom prst="rect">
            <a:avLst/>
          </a:prstGeom>
          <a:noFill/>
        </p:spPr>
        <p:txBody>
          <a:bodyPr wrap="square" lIns="45720" rIns="45720" tIns="18288" bIns="18288" anchor="t">
            <a:spAutoFit/>
          </a:bodyPr>
          <a:lstStyle/>
          <a:p>
            <a:pPr algn="l"/>
            <a:r>
              <a:rPr sz="800" b="1" i="0">
                <a:solidFill>
                  <a:srgbClr val="8B5CF6"/>
                </a:solidFill>
                <a:latin typeface="Calibri"/>
              </a:rPr>
              <a:t>{{DAY_1_EVT_3_TIME}}</a:t>
            </a:r>
          </a:p>
        </p:txBody>
      </p:sp>
      <p:sp>
        <p:nvSpPr>
          <p:cNvPr id="19" name="TextBox 18"/>
          <p:cNvSpPr txBox="1"/>
          <p:nvPr/>
        </p:nvSpPr>
        <p:spPr>
          <a:xfrm>
            <a:off x="731520" y="3703320"/>
            <a:ext cx="1247502" cy="274320"/>
          </a:xfrm>
          <a:prstGeom prst="rect">
            <a:avLst/>
          </a:prstGeom>
          <a:noFill/>
        </p:spPr>
        <p:txBody>
          <a:bodyPr wrap="square" lIns="45720" rIns="45720" tIns="18288" bIns="18288" anchor="t">
            <a:spAutoFit/>
          </a:bodyPr>
          <a:lstStyle/>
          <a:p>
            <a:pPr algn="l"/>
            <a:r>
              <a:rPr sz="900" b="0" i="0">
                <a:solidFill>
                  <a:srgbClr val="1F2937"/>
                </a:solidFill>
                <a:latin typeface="Calibri"/>
              </a:rPr>
              <a:t>{{DAY_1_EVT_3_TITLE}}</a:t>
            </a:r>
          </a:p>
        </p:txBody>
      </p:sp>
      <p:sp>
        <p:nvSpPr>
          <p:cNvPr id="20" name="Rectangle 19"/>
          <p:cNvSpPr/>
          <p:nvPr/>
        </p:nvSpPr>
        <p:spPr>
          <a:xfrm>
            <a:off x="640080" y="4114800"/>
            <a:ext cx="54864" cy="4572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4114800"/>
            <a:ext cx="1247502" cy="182880"/>
          </a:xfrm>
          <a:prstGeom prst="rect">
            <a:avLst/>
          </a:prstGeom>
          <a:noFill/>
        </p:spPr>
        <p:txBody>
          <a:bodyPr wrap="square" lIns="45720" rIns="45720" tIns="18288" bIns="18288" anchor="t">
            <a:spAutoFit/>
          </a:bodyPr>
          <a:lstStyle/>
          <a:p>
            <a:pPr algn="l"/>
            <a:r>
              <a:rPr sz="800" b="1" i="0">
                <a:solidFill>
                  <a:srgbClr val="8B5CF6"/>
                </a:solidFill>
                <a:latin typeface="Calibri"/>
              </a:rPr>
              <a:t>{{DAY_1_EVT_4_TIME}}</a:t>
            </a:r>
          </a:p>
        </p:txBody>
      </p:sp>
      <p:sp>
        <p:nvSpPr>
          <p:cNvPr id="22" name="TextBox 21"/>
          <p:cNvSpPr txBox="1"/>
          <p:nvPr/>
        </p:nvSpPr>
        <p:spPr>
          <a:xfrm>
            <a:off x="731520" y="4297680"/>
            <a:ext cx="1247502" cy="274320"/>
          </a:xfrm>
          <a:prstGeom prst="rect">
            <a:avLst/>
          </a:prstGeom>
          <a:noFill/>
        </p:spPr>
        <p:txBody>
          <a:bodyPr wrap="square" lIns="45720" rIns="45720" tIns="18288" bIns="18288" anchor="t">
            <a:spAutoFit/>
          </a:bodyPr>
          <a:lstStyle/>
          <a:p>
            <a:pPr algn="l"/>
            <a:r>
              <a:rPr sz="900" b="0" i="0">
                <a:solidFill>
                  <a:srgbClr val="1F2937"/>
                </a:solidFill>
                <a:latin typeface="Calibri"/>
              </a:rPr>
              <a:t>{{DAY_1_EVT_4_TITLE}}</a:t>
            </a:r>
          </a:p>
        </p:txBody>
      </p:sp>
      <p:sp>
        <p:nvSpPr>
          <p:cNvPr id="23" name="Rectangle 22"/>
          <p:cNvSpPr/>
          <p:nvPr/>
        </p:nvSpPr>
        <p:spPr>
          <a:xfrm>
            <a:off x="640080" y="5760719"/>
            <a:ext cx="1338942" cy="2286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5852159"/>
            <a:ext cx="1338942" cy="228600"/>
          </a:xfrm>
          <a:prstGeom prst="rect">
            <a:avLst/>
          </a:prstGeom>
          <a:noFill/>
        </p:spPr>
        <p:txBody>
          <a:bodyPr wrap="square" lIns="45720" rIns="45720" tIns="18288" bIns="18288" anchor="t">
            <a:spAutoFit/>
          </a:bodyPr>
          <a:lstStyle/>
          <a:p>
            <a:pPr algn="ctr"/>
            <a:r>
              <a:rPr sz="800" b="0" i="1">
                <a:solidFill>
                  <a:srgbClr val="6B7280"/>
                </a:solidFill>
                <a:latin typeface="Calibri"/>
              </a:rPr>
              <a:t>{{DAY_1_COUNT}} sự kiện</a:t>
            </a:r>
          </a:p>
        </p:txBody>
      </p:sp>
      <p:sp>
        <p:nvSpPr>
          <p:cNvPr id="25" name="Rounded Rectangle 24"/>
          <p:cNvSpPr/>
          <p:nvPr/>
        </p:nvSpPr>
        <p:spPr>
          <a:xfrm>
            <a:off x="2143614" y="1280160"/>
            <a:ext cx="1521822" cy="4846320"/>
          </a:xfrm>
          <a:prstGeom prst="roundRect">
            <a:avLst>
              <a:gd name="adj" fmla="val 4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2143614" y="1280160"/>
            <a:ext cx="1521822" cy="960120"/>
          </a:xfrm>
          <a:prstGeom prst="roundRect">
            <a:avLst>
              <a:gd name="adj" fmla="val 6000"/>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143614" y="1417319"/>
            <a:ext cx="1521822" cy="274320"/>
          </a:xfrm>
          <a:prstGeom prst="rect">
            <a:avLst/>
          </a:prstGeom>
          <a:noFill/>
        </p:spPr>
        <p:txBody>
          <a:bodyPr wrap="square" lIns="45720" rIns="45720" tIns="18288" bIns="18288" anchor="t">
            <a:spAutoFit/>
          </a:bodyPr>
          <a:lstStyle/>
          <a:p>
            <a:pPr algn="ctr"/>
            <a:r>
              <a:rPr sz="900" b="1" i="0">
                <a:solidFill>
                  <a:srgbClr val="FFFFFF"/>
                </a:solidFill>
                <a:latin typeface="Calibri"/>
              </a:rPr>
              <a:t>THỨ BA</a:t>
            </a:r>
          </a:p>
        </p:txBody>
      </p:sp>
      <p:sp>
        <p:nvSpPr>
          <p:cNvPr id="28" name="TextBox 27"/>
          <p:cNvSpPr txBox="1"/>
          <p:nvPr/>
        </p:nvSpPr>
        <p:spPr>
          <a:xfrm>
            <a:off x="2189334" y="1737360"/>
            <a:ext cx="1430382" cy="457200"/>
          </a:xfrm>
          <a:prstGeom prst="rect">
            <a:avLst/>
          </a:prstGeom>
          <a:noFill/>
        </p:spPr>
        <p:txBody>
          <a:bodyPr wrap="square" lIns="45720" rIns="45720" tIns="18288" bIns="18288" anchor="t">
            <a:spAutoFit/>
          </a:bodyPr>
          <a:lstStyle/>
          <a:p>
            <a:pPr algn="ctr"/>
            <a:r>
              <a:rPr sz="1300" b="1" i="0">
                <a:solidFill>
                  <a:srgbClr val="FFFFFF"/>
                </a:solidFill>
                <a:latin typeface="Calibri"/>
              </a:rPr>
              <a:t>{{DAY_2_DATE}}</a:t>
            </a:r>
          </a:p>
        </p:txBody>
      </p:sp>
      <p:sp>
        <p:nvSpPr>
          <p:cNvPr id="29" name="Rectangle 28"/>
          <p:cNvSpPr/>
          <p:nvPr/>
        </p:nvSpPr>
        <p:spPr>
          <a:xfrm>
            <a:off x="2235054" y="2331720"/>
            <a:ext cx="54864" cy="4572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326494" y="2331720"/>
            <a:ext cx="1247502" cy="182880"/>
          </a:xfrm>
          <a:prstGeom prst="rect">
            <a:avLst/>
          </a:prstGeom>
          <a:noFill/>
        </p:spPr>
        <p:txBody>
          <a:bodyPr wrap="square" lIns="45720" rIns="45720" tIns="18288" bIns="18288" anchor="t">
            <a:spAutoFit/>
          </a:bodyPr>
          <a:lstStyle/>
          <a:p>
            <a:pPr algn="l"/>
            <a:r>
              <a:rPr sz="800" b="1" i="0">
                <a:solidFill>
                  <a:srgbClr val="8B5CF6"/>
                </a:solidFill>
                <a:latin typeface="Calibri"/>
              </a:rPr>
              <a:t>{{DAY_2_EVT_1_TIME}}</a:t>
            </a:r>
          </a:p>
        </p:txBody>
      </p:sp>
      <p:sp>
        <p:nvSpPr>
          <p:cNvPr id="31" name="TextBox 30"/>
          <p:cNvSpPr txBox="1"/>
          <p:nvPr/>
        </p:nvSpPr>
        <p:spPr>
          <a:xfrm>
            <a:off x="2326494" y="2514600"/>
            <a:ext cx="1247502" cy="274320"/>
          </a:xfrm>
          <a:prstGeom prst="rect">
            <a:avLst/>
          </a:prstGeom>
          <a:noFill/>
        </p:spPr>
        <p:txBody>
          <a:bodyPr wrap="square" lIns="45720" rIns="45720" tIns="18288" bIns="18288" anchor="t">
            <a:spAutoFit/>
          </a:bodyPr>
          <a:lstStyle/>
          <a:p>
            <a:pPr algn="l"/>
            <a:r>
              <a:rPr sz="900" b="0" i="0">
                <a:solidFill>
                  <a:srgbClr val="1F2937"/>
                </a:solidFill>
                <a:latin typeface="Calibri"/>
              </a:rPr>
              <a:t>{{DAY_2_EVT_1_TITLE}}</a:t>
            </a:r>
          </a:p>
        </p:txBody>
      </p:sp>
      <p:sp>
        <p:nvSpPr>
          <p:cNvPr id="32" name="Rectangle 31"/>
          <p:cNvSpPr/>
          <p:nvPr/>
        </p:nvSpPr>
        <p:spPr>
          <a:xfrm>
            <a:off x="2235054" y="2926080"/>
            <a:ext cx="54864" cy="4572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326494" y="2926080"/>
            <a:ext cx="1247502" cy="182880"/>
          </a:xfrm>
          <a:prstGeom prst="rect">
            <a:avLst/>
          </a:prstGeom>
          <a:noFill/>
        </p:spPr>
        <p:txBody>
          <a:bodyPr wrap="square" lIns="45720" rIns="45720" tIns="18288" bIns="18288" anchor="t">
            <a:spAutoFit/>
          </a:bodyPr>
          <a:lstStyle/>
          <a:p>
            <a:pPr algn="l"/>
            <a:r>
              <a:rPr sz="800" b="1" i="0">
                <a:solidFill>
                  <a:srgbClr val="8B5CF6"/>
                </a:solidFill>
                <a:latin typeface="Calibri"/>
              </a:rPr>
              <a:t>{{DAY_2_EVT_2_TIME}}</a:t>
            </a:r>
          </a:p>
        </p:txBody>
      </p:sp>
      <p:sp>
        <p:nvSpPr>
          <p:cNvPr id="34" name="TextBox 33"/>
          <p:cNvSpPr txBox="1"/>
          <p:nvPr/>
        </p:nvSpPr>
        <p:spPr>
          <a:xfrm>
            <a:off x="2326494" y="3108960"/>
            <a:ext cx="1247502" cy="274320"/>
          </a:xfrm>
          <a:prstGeom prst="rect">
            <a:avLst/>
          </a:prstGeom>
          <a:noFill/>
        </p:spPr>
        <p:txBody>
          <a:bodyPr wrap="square" lIns="45720" rIns="45720" tIns="18288" bIns="18288" anchor="t">
            <a:spAutoFit/>
          </a:bodyPr>
          <a:lstStyle/>
          <a:p>
            <a:pPr algn="l"/>
            <a:r>
              <a:rPr sz="900" b="0" i="0">
                <a:solidFill>
                  <a:srgbClr val="1F2937"/>
                </a:solidFill>
                <a:latin typeface="Calibri"/>
              </a:rPr>
              <a:t>{{DAY_2_EVT_2_TITLE}}</a:t>
            </a:r>
          </a:p>
        </p:txBody>
      </p:sp>
      <p:sp>
        <p:nvSpPr>
          <p:cNvPr id="35" name="Rectangle 34"/>
          <p:cNvSpPr/>
          <p:nvPr/>
        </p:nvSpPr>
        <p:spPr>
          <a:xfrm>
            <a:off x="2235054" y="3520440"/>
            <a:ext cx="54864" cy="4572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326494" y="3520440"/>
            <a:ext cx="1247502" cy="182880"/>
          </a:xfrm>
          <a:prstGeom prst="rect">
            <a:avLst/>
          </a:prstGeom>
          <a:noFill/>
        </p:spPr>
        <p:txBody>
          <a:bodyPr wrap="square" lIns="45720" rIns="45720" tIns="18288" bIns="18288" anchor="t">
            <a:spAutoFit/>
          </a:bodyPr>
          <a:lstStyle/>
          <a:p>
            <a:pPr algn="l"/>
            <a:r>
              <a:rPr sz="800" b="1" i="0">
                <a:solidFill>
                  <a:srgbClr val="8B5CF6"/>
                </a:solidFill>
                <a:latin typeface="Calibri"/>
              </a:rPr>
              <a:t>{{DAY_2_EVT_3_TIME}}</a:t>
            </a:r>
          </a:p>
        </p:txBody>
      </p:sp>
      <p:sp>
        <p:nvSpPr>
          <p:cNvPr id="37" name="TextBox 36"/>
          <p:cNvSpPr txBox="1"/>
          <p:nvPr/>
        </p:nvSpPr>
        <p:spPr>
          <a:xfrm>
            <a:off x="2326494" y="3703320"/>
            <a:ext cx="1247502" cy="274320"/>
          </a:xfrm>
          <a:prstGeom prst="rect">
            <a:avLst/>
          </a:prstGeom>
          <a:noFill/>
        </p:spPr>
        <p:txBody>
          <a:bodyPr wrap="square" lIns="45720" rIns="45720" tIns="18288" bIns="18288" anchor="t">
            <a:spAutoFit/>
          </a:bodyPr>
          <a:lstStyle/>
          <a:p>
            <a:pPr algn="l"/>
            <a:r>
              <a:rPr sz="900" b="0" i="0">
                <a:solidFill>
                  <a:srgbClr val="1F2937"/>
                </a:solidFill>
                <a:latin typeface="Calibri"/>
              </a:rPr>
              <a:t>{{DAY_2_EVT_3_TITLE}}</a:t>
            </a:r>
          </a:p>
        </p:txBody>
      </p:sp>
      <p:sp>
        <p:nvSpPr>
          <p:cNvPr id="38" name="Rectangle 37"/>
          <p:cNvSpPr/>
          <p:nvPr/>
        </p:nvSpPr>
        <p:spPr>
          <a:xfrm>
            <a:off x="2235054" y="4114800"/>
            <a:ext cx="54864" cy="4572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326494" y="4114800"/>
            <a:ext cx="1247502" cy="182880"/>
          </a:xfrm>
          <a:prstGeom prst="rect">
            <a:avLst/>
          </a:prstGeom>
          <a:noFill/>
        </p:spPr>
        <p:txBody>
          <a:bodyPr wrap="square" lIns="45720" rIns="45720" tIns="18288" bIns="18288" anchor="t">
            <a:spAutoFit/>
          </a:bodyPr>
          <a:lstStyle/>
          <a:p>
            <a:pPr algn="l"/>
            <a:r>
              <a:rPr sz="800" b="1" i="0">
                <a:solidFill>
                  <a:srgbClr val="8B5CF6"/>
                </a:solidFill>
                <a:latin typeface="Calibri"/>
              </a:rPr>
              <a:t>{{DAY_2_EVT_4_TIME}}</a:t>
            </a:r>
          </a:p>
        </p:txBody>
      </p:sp>
      <p:sp>
        <p:nvSpPr>
          <p:cNvPr id="40" name="TextBox 39"/>
          <p:cNvSpPr txBox="1"/>
          <p:nvPr/>
        </p:nvSpPr>
        <p:spPr>
          <a:xfrm>
            <a:off x="2326494" y="4297680"/>
            <a:ext cx="1247502" cy="274320"/>
          </a:xfrm>
          <a:prstGeom prst="rect">
            <a:avLst/>
          </a:prstGeom>
          <a:noFill/>
        </p:spPr>
        <p:txBody>
          <a:bodyPr wrap="square" lIns="45720" rIns="45720" tIns="18288" bIns="18288" anchor="t">
            <a:spAutoFit/>
          </a:bodyPr>
          <a:lstStyle/>
          <a:p>
            <a:pPr algn="l"/>
            <a:r>
              <a:rPr sz="900" b="0" i="0">
                <a:solidFill>
                  <a:srgbClr val="1F2937"/>
                </a:solidFill>
                <a:latin typeface="Calibri"/>
              </a:rPr>
              <a:t>{{DAY_2_EVT_4_TITLE}}</a:t>
            </a:r>
          </a:p>
        </p:txBody>
      </p:sp>
      <p:sp>
        <p:nvSpPr>
          <p:cNvPr id="41" name="Rectangle 40"/>
          <p:cNvSpPr/>
          <p:nvPr/>
        </p:nvSpPr>
        <p:spPr>
          <a:xfrm>
            <a:off x="2235054" y="5760719"/>
            <a:ext cx="1338942" cy="2286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235054" y="5852159"/>
            <a:ext cx="1338942" cy="228600"/>
          </a:xfrm>
          <a:prstGeom prst="rect">
            <a:avLst/>
          </a:prstGeom>
          <a:noFill/>
        </p:spPr>
        <p:txBody>
          <a:bodyPr wrap="square" lIns="45720" rIns="45720" tIns="18288" bIns="18288" anchor="t">
            <a:spAutoFit/>
          </a:bodyPr>
          <a:lstStyle/>
          <a:p>
            <a:pPr algn="ctr"/>
            <a:r>
              <a:rPr sz="800" b="0" i="1">
                <a:solidFill>
                  <a:srgbClr val="6B7280"/>
                </a:solidFill>
                <a:latin typeface="Calibri"/>
              </a:rPr>
              <a:t>{{DAY_2_COUNT}} sự kiện</a:t>
            </a:r>
          </a:p>
        </p:txBody>
      </p:sp>
      <p:sp>
        <p:nvSpPr>
          <p:cNvPr id="43" name="Rounded Rectangle 42"/>
          <p:cNvSpPr/>
          <p:nvPr/>
        </p:nvSpPr>
        <p:spPr>
          <a:xfrm>
            <a:off x="3738589" y="1280160"/>
            <a:ext cx="1521822" cy="4846320"/>
          </a:xfrm>
          <a:prstGeom prst="roundRect">
            <a:avLst>
              <a:gd name="adj" fmla="val 4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3738589" y="1280160"/>
            <a:ext cx="1521822" cy="960120"/>
          </a:xfrm>
          <a:prstGeom prst="roundRect">
            <a:avLst>
              <a:gd name="adj" fmla="val 6000"/>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738589" y="1417319"/>
            <a:ext cx="1521822" cy="274320"/>
          </a:xfrm>
          <a:prstGeom prst="rect">
            <a:avLst/>
          </a:prstGeom>
          <a:noFill/>
        </p:spPr>
        <p:txBody>
          <a:bodyPr wrap="square" lIns="45720" rIns="45720" tIns="18288" bIns="18288" anchor="t">
            <a:spAutoFit/>
          </a:bodyPr>
          <a:lstStyle/>
          <a:p>
            <a:pPr algn="ctr"/>
            <a:r>
              <a:rPr sz="900" b="1" i="0">
                <a:solidFill>
                  <a:srgbClr val="FFFFFF"/>
                </a:solidFill>
                <a:latin typeface="Calibri"/>
              </a:rPr>
              <a:t>THỨ TƯ</a:t>
            </a:r>
          </a:p>
        </p:txBody>
      </p:sp>
      <p:sp>
        <p:nvSpPr>
          <p:cNvPr id="46" name="TextBox 45"/>
          <p:cNvSpPr txBox="1"/>
          <p:nvPr/>
        </p:nvSpPr>
        <p:spPr>
          <a:xfrm>
            <a:off x="3784309" y="1737360"/>
            <a:ext cx="1430382" cy="457200"/>
          </a:xfrm>
          <a:prstGeom prst="rect">
            <a:avLst/>
          </a:prstGeom>
          <a:noFill/>
        </p:spPr>
        <p:txBody>
          <a:bodyPr wrap="square" lIns="45720" rIns="45720" tIns="18288" bIns="18288" anchor="t">
            <a:spAutoFit/>
          </a:bodyPr>
          <a:lstStyle/>
          <a:p>
            <a:pPr algn="ctr"/>
            <a:r>
              <a:rPr sz="1300" b="1" i="0">
                <a:solidFill>
                  <a:srgbClr val="FFFFFF"/>
                </a:solidFill>
                <a:latin typeface="Calibri"/>
              </a:rPr>
              <a:t>{{DAY_3_DATE}}</a:t>
            </a:r>
          </a:p>
        </p:txBody>
      </p:sp>
      <p:sp>
        <p:nvSpPr>
          <p:cNvPr id="47" name="Rectangle 46"/>
          <p:cNvSpPr/>
          <p:nvPr/>
        </p:nvSpPr>
        <p:spPr>
          <a:xfrm>
            <a:off x="3830029" y="2331720"/>
            <a:ext cx="54864" cy="4572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921469" y="2331720"/>
            <a:ext cx="1247502" cy="182880"/>
          </a:xfrm>
          <a:prstGeom prst="rect">
            <a:avLst/>
          </a:prstGeom>
          <a:noFill/>
        </p:spPr>
        <p:txBody>
          <a:bodyPr wrap="square" lIns="45720" rIns="45720" tIns="18288" bIns="18288" anchor="t">
            <a:spAutoFit/>
          </a:bodyPr>
          <a:lstStyle/>
          <a:p>
            <a:pPr algn="l"/>
            <a:r>
              <a:rPr sz="800" b="1" i="0">
                <a:solidFill>
                  <a:srgbClr val="8B5CF6"/>
                </a:solidFill>
                <a:latin typeface="Calibri"/>
              </a:rPr>
              <a:t>{{DAY_3_EVT_1_TIME}}</a:t>
            </a:r>
          </a:p>
        </p:txBody>
      </p:sp>
      <p:sp>
        <p:nvSpPr>
          <p:cNvPr id="49" name="TextBox 48"/>
          <p:cNvSpPr txBox="1"/>
          <p:nvPr/>
        </p:nvSpPr>
        <p:spPr>
          <a:xfrm>
            <a:off x="3921469" y="2514600"/>
            <a:ext cx="1247502" cy="274320"/>
          </a:xfrm>
          <a:prstGeom prst="rect">
            <a:avLst/>
          </a:prstGeom>
          <a:noFill/>
        </p:spPr>
        <p:txBody>
          <a:bodyPr wrap="square" lIns="45720" rIns="45720" tIns="18288" bIns="18288" anchor="t">
            <a:spAutoFit/>
          </a:bodyPr>
          <a:lstStyle/>
          <a:p>
            <a:pPr algn="l"/>
            <a:r>
              <a:rPr sz="900" b="0" i="0">
                <a:solidFill>
                  <a:srgbClr val="1F2937"/>
                </a:solidFill>
                <a:latin typeface="Calibri"/>
              </a:rPr>
              <a:t>{{DAY_3_EVT_1_TITLE}}</a:t>
            </a:r>
          </a:p>
        </p:txBody>
      </p:sp>
      <p:sp>
        <p:nvSpPr>
          <p:cNvPr id="50" name="Rectangle 49"/>
          <p:cNvSpPr/>
          <p:nvPr/>
        </p:nvSpPr>
        <p:spPr>
          <a:xfrm>
            <a:off x="3830029" y="2926080"/>
            <a:ext cx="54864" cy="4572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921469" y="2926080"/>
            <a:ext cx="1247502" cy="182880"/>
          </a:xfrm>
          <a:prstGeom prst="rect">
            <a:avLst/>
          </a:prstGeom>
          <a:noFill/>
        </p:spPr>
        <p:txBody>
          <a:bodyPr wrap="square" lIns="45720" rIns="45720" tIns="18288" bIns="18288" anchor="t">
            <a:spAutoFit/>
          </a:bodyPr>
          <a:lstStyle/>
          <a:p>
            <a:pPr algn="l"/>
            <a:r>
              <a:rPr sz="800" b="1" i="0">
                <a:solidFill>
                  <a:srgbClr val="8B5CF6"/>
                </a:solidFill>
                <a:latin typeface="Calibri"/>
              </a:rPr>
              <a:t>{{DAY_3_EVT_2_TIME}}</a:t>
            </a:r>
          </a:p>
        </p:txBody>
      </p:sp>
      <p:sp>
        <p:nvSpPr>
          <p:cNvPr id="52" name="TextBox 51"/>
          <p:cNvSpPr txBox="1"/>
          <p:nvPr/>
        </p:nvSpPr>
        <p:spPr>
          <a:xfrm>
            <a:off x="3921469" y="3108960"/>
            <a:ext cx="1247502" cy="274320"/>
          </a:xfrm>
          <a:prstGeom prst="rect">
            <a:avLst/>
          </a:prstGeom>
          <a:noFill/>
        </p:spPr>
        <p:txBody>
          <a:bodyPr wrap="square" lIns="45720" rIns="45720" tIns="18288" bIns="18288" anchor="t">
            <a:spAutoFit/>
          </a:bodyPr>
          <a:lstStyle/>
          <a:p>
            <a:pPr algn="l"/>
            <a:r>
              <a:rPr sz="900" b="0" i="0">
                <a:solidFill>
                  <a:srgbClr val="1F2937"/>
                </a:solidFill>
                <a:latin typeface="Calibri"/>
              </a:rPr>
              <a:t>{{DAY_3_EVT_2_TITLE}}</a:t>
            </a:r>
          </a:p>
        </p:txBody>
      </p:sp>
      <p:sp>
        <p:nvSpPr>
          <p:cNvPr id="53" name="Rectangle 52"/>
          <p:cNvSpPr/>
          <p:nvPr/>
        </p:nvSpPr>
        <p:spPr>
          <a:xfrm>
            <a:off x="3830029" y="3520440"/>
            <a:ext cx="54864" cy="4572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921469" y="3520440"/>
            <a:ext cx="1247502" cy="182880"/>
          </a:xfrm>
          <a:prstGeom prst="rect">
            <a:avLst/>
          </a:prstGeom>
          <a:noFill/>
        </p:spPr>
        <p:txBody>
          <a:bodyPr wrap="square" lIns="45720" rIns="45720" tIns="18288" bIns="18288" anchor="t">
            <a:spAutoFit/>
          </a:bodyPr>
          <a:lstStyle/>
          <a:p>
            <a:pPr algn="l"/>
            <a:r>
              <a:rPr sz="800" b="1" i="0">
                <a:solidFill>
                  <a:srgbClr val="8B5CF6"/>
                </a:solidFill>
                <a:latin typeface="Calibri"/>
              </a:rPr>
              <a:t>{{DAY_3_EVT_3_TIME}}</a:t>
            </a:r>
          </a:p>
        </p:txBody>
      </p:sp>
      <p:sp>
        <p:nvSpPr>
          <p:cNvPr id="55" name="TextBox 54"/>
          <p:cNvSpPr txBox="1"/>
          <p:nvPr/>
        </p:nvSpPr>
        <p:spPr>
          <a:xfrm>
            <a:off x="3921469" y="3703320"/>
            <a:ext cx="1247502" cy="274320"/>
          </a:xfrm>
          <a:prstGeom prst="rect">
            <a:avLst/>
          </a:prstGeom>
          <a:noFill/>
        </p:spPr>
        <p:txBody>
          <a:bodyPr wrap="square" lIns="45720" rIns="45720" tIns="18288" bIns="18288" anchor="t">
            <a:spAutoFit/>
          </a:bodyPr>
          <a:lstStyle/>
          <a:p>
            <a:pPr algn="l"/>
            <a:r>
              <a:rPr sz="900" b="0" i="0">
                <a:solidFill>
                  <a:srgbClr val="1F2937"/>
                </a:solidFill>
                <a:latin typeface="Calibri"/>
              </a:rPr>
              <a:t>{{DAY_3_EVT_3_TITLE}}</a:t>
            </a:r>
          </a:p>
        </p:txBody>
      </p:sp>
      <p:sp>
        <p:nvSpPr>
          <p:cNvPr id="56" name="Rectangle 55"/>
          <p:cNvSpPr/>
          <p:nvPr/>
        </p:nvSpPr>
        <p:spPr>
          <a:xfrm>
            <a:off x="3830029" y="4114800"/>
            <a:ext cx="54864" cy="4572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3921469" y="4114800"/>
            <a:ext cx="1247502" cy="182880"/>
          </a:xfrm>
          <a:prstGeom prst="rect">
            <a:avLst/>
          </a:prstGeom>
          <a:noFill/>
        </p:spPr>
        <p:txBody>
          <a:bodyPr wrap="square" lIns="45720" rIns="45720" tIns="18288" bIns="18288" anchor="t">
            <a:spAutoFit/>
          </a:bodyPr>
          <a:lstStyle/>
          <a:p>
            <a:pPr algn="l"/>
            <a:r>
              <a:rPr sz="800" b="1" i="0">
                <a:solidFill>
                  <a:srgbClr val="8B5CF6"/>
                </a:solidFill>
                <a:latin typeface="Calibri"/>
              </a:rPr>
              <a:t>{{DAY_3_EVT_4_TIME}}</a:t>
            </a:r>
          </a:p>
        </p:txBody>
      </p:sp>
      <p:sp>
        <p:nvSpPr>
          <p:cNvPr id="58" name="TextBox 57"/>
          <p:cNvSpPr txBox="1"/>
          <p:nvPr/>
        </p:nvSpPr>
        <p:spPr>
          <a:xfrm>
            <a:off x="3921469" y="4297680"/>
            <a:ext cx="1247502" cy="274320"/>
          </a:xfrm>
          <a:prstGeom prst="rect">
            <a:avLst/>
          </a:prstGeom>
          <a:noFill/>
        </p:spPr>
        <p:txBody>
          <a:bodyPr wrap="square" lIns="45720" rIns="45720" tIns="18288" bIns="18288" anchor="t">
            <a:spAutoFit/>
          </a:bodyPr>
          <a:lstStyle/>
          <a:p>
            <a:pPr algn="l"/>
            <a:r>
              <a:rPr sz="900" b="0" i="0">
                <a:solidFill>
                  <a:srgbClr val="1F2937"/>
                </a:solidFill>
                <a:latin typeface="Calibri"/>
              </a:rPr>
              <a:t>{{DAY_3_EVT_4_TITLE}}</a:t>
            </a:r>
          </a:p>
        </p:txBody>
      </p:sp>
      <p:sp>
        <p:nvSpPr>
          <p:cNvPr id="59" name="Rectangle 58"/>
          <p:cNvSpPr/>
          <p:nvPr/>
        </p:nvSpPr>
        <p:spPr>
          <a:xfrm>
            <a:off x="3830029" y="5760719"/>
            <a:ext cx="1338942" cy="2286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830029" y="5852159"/>
            <a:ext cx="1338942" cy="228600"/>
          </a:xfrm>
          <a:prstGeom prst="rect">
            <a:avLst/>
          </a:prstGeom>
          <a:noFill/>
        </p:spPr>
        <p:txBody>
          <a:bodyPr wrap="square" lIns="45720" rIns="45720" tIns="18288" bIns="18288" anchor="t">
            <a:spAutoFit/>
          </a:bodyPr>
          <a:lstStyle/>
          <a:p>
            <a:pPr algn="ctr"/>
            <a:r>
              <a:rPr sz="800" b="0" i="1">
                <a:solidFill>
                  <a:srgbClr val="6B7280"/>
                </a:solidFill>
                <a:latin typeface="Calibri"/>
              </a:rPr>
              <a:t>{{DAY_3_COUNT}} sự kiện</a:t>
            </a:r>
          </a:p>
        </p:txBody>
      </p:sp>
      <p:sp>
        <p:nvSpPr>
          <p:cNvPr id="61" name="Rounded Rectangle 60"/>
          <p:cNvSpPr/>
          <p:nvPr/>
        </p:nvSpPr>
        <p:spPr>
          <a:xfrm>
            <a:off x="5333564" y="1280160"/>
            <a:ext cx="1521822" cy="4846320"/>
          </a:xfrm>
          <a:prstGeom prst="roundRect">
            <a:avLst>
              <a:gd name="adj" fmla="val 4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ounded Rectangle 61"/>
          <p:cNvSpPr/>
          <p:nvPr/>
        </p:nvSpPr>
        <p:spPr>
          <a:xfrm>
            <a:off x="5333564" y="1280160"/>
            <a:ext cx="1521822" cy="960120"/>
          </a:xfrm>
          <a:prstGeom prst="roundRect">
            <a:avLst>
              <a:gd name="adj" fmla="val 6000"/>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333564" y="1417319"/>
            <a:ext cx="1521822" cy="274320"/>
          </a:xfrm>
          <a:prstGeom prst="rect">
            <a:avLst/>
          </a:prstGeom>
          <a:noFill/>
        </p:spPr>
        <p:txBody>
          <a:bodyPr wrap="square" lIns="45720" rIns="45720" tIns="18288" bIns="18288" anchor="t">
            <a:spAutoFit/>
          </a:bodyPr>
          <a:lstStyle/>
          <a:p>
            <a:pPr algn="ctr"/>
            <a:r>
              <a:rPr sz="900" b="1" i="0">
                <a:solidFill>
                  <a:srgbClr val="FFFFFF"/>
                </a:solidFill>
                <a:latin typeface="Calibri"/>
              </a:rPr>
              <a:t>THỨ NĂM</a:t>
            </a:r>
          </a:p>
        </p:txBody>
      </p:sp>
      <p:sp>
        <p:nvSpPr>
          <p:cNvPr id="64" name="TextBox 63"/>
          <p:cNvSpPr txBox="1"/>
          <p:nvPr/>
        </p:nvSpPr>
        <p:spPr>
          <a:xfrm>
            <a:off x="5379284" y="1737360"/>
            <a:ext cx="1430382" cy="457200"/>
          </a:xfrm>
          <a:prstGeom prst="rect">
            <a:avLst/>
          </a:prstGeom>
          <a:noFill/>
        </p:spPr>
        <p:txBody>
          <a:bodyPr wrap="square" lIns="45720" rIns="45720" tIns="18288" bIns="18288" anchor="t">
            <a:spAutoFit/>
          </a:bodyPr>
          <a:lstStyle/>
          <a:p>
            <a:pPr algn="ctr"/>
            <a:r>
              <a:rPr sz="1300" b="1" i="0">
                <a:solidFill>
                  <a:srgbClr val="FFFFFF"/>
                </a:solidFill>
                <a:latin typeface="Calibri"/>
              </a:rPr>
              <a:t>{{DAY_4_DATE}}</a:t>
            </a:r>
          </a:p>
        </p:txBody>
      </p:sp>
      <p:sp>
        <p:nvSpPr>
          <p:cNvPr id="65" name="Rectangle 64"/>
          <p:cNvSpPr/>
          <p:nvPr/>
        </p:nvSpPr>
        <p:spPr>
          <a:xfrm>
            <a:off x="5425004" y="2331720"/>
            <a:ext cx="54864" cy="4572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516444" y="2331720"/>
            <a:ext cx="1247502" cy="182880"/>
          </a:xfrm>
          <a:prstGeom prst="rect">
            <a:avLst/>
          </a:prstGeom>
          <a:noFill/>
        </p:spPr>
        <p:txBody>
          <a:bodyPr wrap="square" lIns="45720" rIns="45720" tIns="18288" bIns="18288" anchor="t">
            <a:spAutoFit/>
          </a:bodyPr>
          <a:lstStyle/>
          <a:p>
            <a:pPr algn="l"/>
            <a:r>
              <a:rPr sz="800" b="1" i="0">
                <a:solidFill>
                  <a:srgbClr val="8B5CF6"/>
                </a:solidFill>
                <a:latin typeface="Calibri"/>
              </a:rPr>
              <a:t>{{DAY_4_EVT_1_TIME}}</a:t>
            </a:r>
          </a:p>
        </p:txBody>
      </p:sp>
      <p:sp>
        <p:nvSpPr>
          <p:cNvPr id="67" name="TextBox 66"/>
          <p:cNvSpPr txBox="1"/>
          <p:nvPr/>
        </p:nvSpPr>
        <p:spPr>
          <a:xfrm>
            <a:off x="5516444" y="2514600"/>
            <a:ext cx="1247502" cy="274320"/>
          </a:xfrm>
          <a:prstGeom prst="rect">
            <a:avLst/>
          </a:prstGeom>
          <a:noFill/>
        </p:spPr>
        <p:txBody>
          <a:bodyPr wrap="square" lIns="45720" rIns="45720" tIns="18288" bIns="18288" anchor="t">
            <a:spAutoFit/>
          </a:bodyPr>
          <a:lstStyle/>
          <a:p>
            <a:pPr algn="l"/>
            <a:r>
              <a:rPr sz="900" b="0" i="0">
                <a:solidFill>
                  <a:srgbClr val="1F2937"/>
                </a:solidFill>
                <a:latin typeface="Calibri"/>
              </a:rPr>
              <a:t>{{DAY_4_EVT_1_TITLE}}</a:t>
            </a:r>
          </a:p>
        </p:txBody>
      </p:sp>
      <p:sp>
        <p:nvSpPr>
          <p:cNvPr id="68" name="Rectangle 67"/>
          <p:cNvSpPr/>
          <p:nvPr/>
        </p:nvSpPr>
        <p:spPr>
          <a:xfrm>
            <a:off x="5425004" y="2926080"/>
            <a:ext cx="54864" cy="4572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5516444" y="2926080"/>
            <a:ext cx="1247502" cy="182880"/>
          </a:xfrm>
          <a:prstGeom prst="rect">
            <a:avLst/>
          </a:prstGeom>
          <a:noFill/>
        </p:spPr>
        <p:txBody>
          <a:bodyPr wrap="square" lIns="45720" rIns="45720" tIns="18288" bIns="18288" anchor="t">
            <a:spAutoFit/>
          </a:bodyPr>
          <a:lstStyle/>
          <a:p>
            <a:pPr algn="l"/>
            <a:r>
              <a:rPr sz="800" b="1" i="0">
                <a:solidFill>
                  <a:srgbClr val="8B5CF6"/>
                </a:solidFill>
                <a:latin typeface="Calibri"/>
              </a:rPr>
              <a:t>{{DAY_4_EVT_2_TIME}}</a:t>
            </a:r>
          </a:p>
        </p:txBody>
      </p:sp>
      <p:sp>
        <p:nvSpPr>
          <p:cNvPr id="70" name="TextBox 69"/>
          <p:cNvSpPr txBox="1"/>
          <p:nvPr/>
        </p:nvSpPr>
        <p:spPr>
          <a:xfrm>
            <a:off x="5516444" y="3108960"/>
            <a:ext cx="1247502" cy="274320"/>
          </a:xfrm>
          <a:prstGeom prst="rect">
            <a:avLst/>
          </a:prstGeom>
          <a:noFill/>
        </p:spPr>
        <p:txBody>
          <a:bodyPr wrap="square" lIns="45720" rIns="45720" tIns="18288" bIns="18288" anchor="t">
            <a:spAutoFit/>
          </a:bodyPr>
          <a:lstStyle/>
          <a:p>
            <a:pPr algn="l"/>
            <a:r>
              <a:rPr sz="900" b="0" i="0">
                <a:solidFill>
                  <a:srgbClr val="1F2937"/>
                </a:solidFill>
                <a:latin typeface="Calibri"/>
              </a:rPr>
              <a:t>{{DAY_4_EVT_2_TITLE}}</a:t>
            </a:r>
          </a:p>
        </p:txBody>
      </p:sp>
      <p:sp>
        <p:nvSpPr>
          <p:cNvPr id="71" name="Rectangle 70"/>
          <p:cNvSpPr/>
          <p:nvPr/>
        </p:nvSpPr>
        <p:spPr>
          <a:xfrm>
            <a:off x="5425004" y="3520440"/>
            <a:ext cx="54864" cy="4572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5516444" y="3520440"/>
            <a:ext cx="1247502" cy="182880"/>
          </a:xfrm>
          <a:prstGeom prst="rect">
            <a:avLst/>
          </a:prstGeom>
          <a:noFill/>
        </p:spPr>
        <p:txBody>
          <a:bodyPr wrap="square" lIns="45720" rIns="45720" tIns="18288" bIns="18288" anchor="t">
            <a:spAutoFit/>
          </a:bodyPr>
          <a:lstStyle/>
          <a:p>
            <a:pPr algn="l"/>
            <a:r>
              <a:rPr sz="800" b="1" i="0">
                <a:solidFill>
                  <a:srgbClr val="8B5CF6"/>
                </a:solidFill>
                <a:latin typeface="Calibri"/>
              </a:rPr>
              <a:t>{{DAY_4_EVT_3_TIME}}</a:t>
            </a:r>
          </a:p>
        </p:txBody>
      </p:sp>
      <p:sp>
        <p:nvSpPr>
          <p:cNvPr id="73" name="TextBox 72"/>
          <p:cNvSpPr txBox="1"/>
          <p:nvPr/>
        </p:nvSpPr>
        <p:spPr>
          <a:xfrm>
            <a:off x="5516444" y="3703320"/>
            <a:ext cx="1247502" cy="274320"/>
          </a:xfrm>
          <a:prstGeom prst="rect">
            <a:avLst/>
          </a:prstGeom>
          <a:noFill/>
        </p:spPr>
        <p:txBody>
          <a:bodyPr wrap="square" lIns="45720" rIns="45720" tIns="18288" bIns="18288" anchor="t">
            <a:spAutoFit/>
          </a:bodyPr>
          <a:lstStyle/>
          <a:p>
            <a:pPr algn="l"/>
            <a:r>
              <a:rPr sz="900" b="0" i="0">
                <a:solidFill>
                  <a:srgbClr val="1F2937"/>
                </a:solidFill>
                <a:latin typeface="Calibri"/>
              </a:rPr>
              <a:t>{{DAY_4_EVT_3_TITLE}}</a:t>
            </a:r>
          </a:p>
        </p:txBody>
      </p:sp>
      <p:sp>
        <p:nvSpPr>
          <p:cNvPr id="74" name="Rectangle 73"/>
          <p:cNvSpPr/>
          <p:nvPr/>
        </p:nvSpPr>
        <p:spPr>
          <a:xfrm>
            <a:off x="5425004" y="4114800"/>
            <a:ext cx="54864" cy="4572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5516444" y="4114800"/>
            <a:ext cx="1247502" cy="182880"/>
          </a:xfrm>
          <a:prstGeom prst="rect">
            <a:avLst/>
          </a:prstGeom>
          <a:noFill/>
        </p:spPr>
        <p:txBody>
          <a:bodyPr wrap="square" lIns="45720" rIns="45720" tIns="18288" bIns="18288" anchor="t">
            <a:spAutoFit/>
          </a:bodyPr>
          <a:lstStyle/>
          <a:p>
            <a:pPr algn="l"/>
            <a:r>
              <a:rPr sz="800" b="1" i="0">
                <a:solidFill>
                  <a:srgbClr val="8B5CF6"/>
                </a:solidFill>
                <a:latin typeface="Calibri"/>
              </a:rPr>
              <a:t>{{DAY_4_EVT_4_TIME}}</a:t>
            </a:r>
          </a:p>
        </p:txBody>
      </p:sp>
      <p:sp>
        <p:nvSpPr>
          <p:cNvPr id="76" name="TextBox 75"/>
          <p:cNvSpPr txBox="1"/>
          <p:nvPr/>
        </p:nvSpPr>
        <p:spPr>
          <a:xfrm>
            <a:off x="5516444" y="4297680"/>
            <a:ext cx="1247502" cy="274320"/>
          </a:xfrm>
          <a:prstGeom prst="rect">
            <a:avLst/>
          </a:prstGeom>
          <a:noFill/>
        </p:spPr>
        <p:txBody>
          <a:bodyPr wrap="square" lIns="45720" rIns="45720" tIns="18288" bIns="18288" anchor="t">
            <a:spAutoFit/>
          </a:bodyPr>
          <a:lstStyle/>
          <a:p>
            <a:pPr algn="l"/>
            <a:r>
              <a:rPr sz="900" b="0" i="0">
                <a:solidFill>
                  <a:srgbClr val="1F2937"/>
                </a:solidFill>
                <a:latin typeface="Calibri"/>
              </a:rPr>
              <a:t>{{DAY_4_EVT_4_TITLE}}</a:t>
            </a:r>
          </a:p>
        </p:txBody>
      </p:sp>
      <p:sp>
        <p:nvSpPr>
          <p:cNvPr id="77" name="Rectangle 76"/>
          <p:cNvSpPr/>
          <p:nvPr/>
        </p:nvSpPr>
        <p:spPr>
          <a:xfrm>
            <a:off x="5425004" y="5760719"/>
            <a:ext cx="1338942" cy="2286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5425004" y="5852159"/>
            <a:ext cx="1338942" cy="228600"/>
          </a:xfrm>
          <a:prstGeom prst="rect">
            <a:avLst/>
          </a:prstGeom>
          <a:noFill/>
        </p:spPr>
        <p:txBody>
          <a:bodyPr wrap="square" lIns="45720" rIns="45720" tIns="18288" bIns="18288" anchor="t">
            <a:spAutoFit/>
          </a:bodyPr>
          <a:lstStyle/>
          <a:p>
            <a:pPr algn="ctr"/>
            <a:r>
              <a:rPr sz="800" b="0" i="1">
                <a:solidFill>
                  <a:srgbClr val="6B7280"/>
                </a:solidFill>
                <a:latin typeface="Calibri"/>
              </a:rPr>
              <a:t>{{DAY_4_COUNT}} sự kiện</a:t>
            </a:r>
          </a:p>
        </p:txBody>
      </p:sp>
      <p:sp>
        <p:nvSpPr>
          <p:cNvPr id="79" name="Rounded Rectangle 78"/>
          <p:cNvSpPr/>
          <p:nvPr/>
        </p:nvSpPr>
        <p:spPr>
          <a:xfrm>
            <a:off x="6928539" y="1280160"/>
            <a:ext cx="1521822" cy="4846320"/>
          </a:xfrm>
          <a:prstGeom prst="roundRect">
            <a:avLst>
              <a:gd name="adj" fmla="val 4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ounded Rectangle 79"/>
          <p:cNvSpPr/>
          <p:nvPr/>
        </p:nvSpPr>
        <p:spPr>
          <a:xfrm>
            <a:off x="6928539" y="1280160"/>
            <a:ext cx="1521822" cy="960120"/>
          </a:xfrm>
          <a:prstGeom prst="roundRect">
            <a:avLst>
              <a:gd name="adj" fmla="val 6000"/>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6928539" y="1417319"/>
            <a:ext cx="1521822" cy="274320"/>
          </a:xfrm>
          <a:prstGeom prst="rect">
            <a:avLst/>
          </a:prstGeom>
          <a:noFill/>
        </p:spPr>
        <p:txBody>
          <a:bodyPr wrap="square" lIns="45720" rIns="45720" tIns="18288" bIns="18288" anchor="t">
            <a:spAutoFit/>
          </a:bodyPr>
          <a:lstStyle/>
          <a:p>
            <a:pPr algn="ctr"/>
            <a:r>
              <a:rPr sz="900" b="1" i="0">
                <a:solidFill>
                  <a:srgbClr val="FFFFFF"/>
                </a:solidFill>
                <a:latin typeface="Calibri"/>
              </a:rPr>
              <a:t>THỨ SÁU</a:t>
            </a:r>
          </a:p>
        </p:txBody>
      </p:sp>
      <p:sp>
        <p:nvSpPr>
          <p:cNvPr id="82" name="TextBox 81"/>
          <p:cNvSpPr txBox="1"/>
          <p:nvPr/>
        </p:nvSpPr>
        <p:spPr>
          <a:xfrm>
            <a:off x="6974259" y="1737360"/>
            <a:ext cx="1430382" cy="457200"/>
          </a:xfrm>
          <a:prstGeom prst="rect">
            <a:avLst/>
          </a:prstGeom>
          <a:noFill/>
        </p:spPr>
        <p:txBody>
          <a:bodyPr wrap="square" lIns="45720" rIns="45720" tIns="18288" bIns="18288" anchor="t">
            <a:spAutoFit/>
          </a:bodyPr>
          <a:lstStyle/>
          <a:p>
            <a:pPr algn="ctr"/>
            <a:r>
              <a:rPr sz="1300" b="1" i="0">
                <a:solidFill>
                  <a:srgbClr val="FFFFFF"/>
                </a:solidFill>
                <a:latin typeface="Calibri"/>
              </a:rPr>
              <a:t>{{DAY_5_DATE}}</a:t>
            </a:r>
          </a:p>
        </p:txBody>
      </p:sp>
      <p:sp>
        <p:nvSpPr>
          <p:cNvPr id="83" name="Rectangle 82"/>
          <p:cNvSpPr/>
          <p:nvPr/>
        </p:nvSpPr>
        <p:spPr>
          <a:xfrm>
            <a:off x="7019979" y="2331720"/>
            <a:ext cx="54864" cy="4572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7111419" y="2331720"/>
            <a:ext cx="1247502" cy="182880"/>
          </a:xfrm>
          <a:prstGeom prst="rect">
            <a:avLst/>
          </a:prstGeom>
          <a:noFill/>
        </p:spPr>
        <p:txBody>
          <a:bodyPr wrap="square" lIns="45720" rIns="45720" tIns="18288" bIns="18288" anchor="t">
            <a:spAutoFit/>
          </a:bodyPr>
          <a:lstStyle/>
          <a:p>
            <a:pPr algn="l"/>
            <a:r>
              <a:rPr sz="800" b="1" i="0">
                <a:solidFill>
                  <a:srgbClr val="8B5CF6"/>
                </a:solidFill>
                <a:latin typeface="Calibri"/>
              </a:rPr>
              <a:t>{{DAY_5_EVT_1_TIME}}</a:t>
            </a:r>
          </a:p>
        </p:txBody>
      </p:sp>
      <p:sp>
        <p:nvSpPr>
          <p:cNvPr id="85" name="TextBox 84"/>
          <p:cNvSpPr txBox="1"/>
          <p:nvPr/>
        </p:nvSpPr>
        <p:spPr>
          <a:xfrm>
            <a:off x="7111419" y="2514600"/>
            <a:ext cx="1247502" cy="274320"/>
          </a:xfrm>
          <a:prstGeom prst="rect">
            <a:avLst/>
          </a:prstGeom>
          <a:noFill/>
        </p:spPr>
        <p:txBody>
          <a:bodyPr wrap="square" lIns="45720" rIns="45720" tIns="18288" bIns="18288" anchor="t">
            <a:spAutoFit/>
          </a:bodyPr>
          <a:lstStyle/>
          <a:p>
            <a:pPr algn="l"/>
            <a:r>
              <a:rPr sz="900" b="0" i="0">
                <a:solidFill>
                  <a:srgbClr val="1F2937"/>
                </a:solidFill>
                <a:latin typeface="Calibri"/>
              </a:rPr>
              <a:t>{{DAY_5_EVT_1_TITLE}}</a:t>
            </a:r>
          </a:p>
        </p:txBody>
      </p:sp>
      <p:sp>
        <p:nvSpPr>
          <p:cNvPr id="86" name="Rectangle 85"/>
          <p:cNvSpPr/>
          <p:nvPr/>
        </p:nvSpPr>
        <p:spPr>
          <a:xfrm>
            <a:off x="7019979" y="2926080"/>
            <a:ext cx="54864" cy="4572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7111419" y="2926080"/>
            <a:ext cx="1247502" cy="182880"/>
          </a:xfrm>
          <a:prstGeom prst="rect">
            <a:avLst/>
          </a:prstGeom>
          <a:noFill/>
        </p:spPr>
        <p:txBody>
          <a:bodyPr wrap="square" lIns="45720" rIns="45720" tIns="18288" bIns="18288" anchor="t">
            <a:spAutoFit/>
          </a:bodyPr>
          <a:lstStyle/>
          <a:p>
            <a:pPr algn="l"/>
            <a:r>
              <a:rPr sz="800" b="1" i="0">
                <a:solidFill>
                  <a:srgbClr val="8B5CF6"/>
                </a:solidFill>
                <a:latin typeface="Calibri"/>
              </a:rPr>
              <a:t>{{DAY_5_EVT_2_TIME}}</a:t>
            </a:r>
          </a:p>
        </p:txBody>
      </p:sp>
      <p:sp>
        <p:nvSpPr>
          <p:cNvPr id="88" name="TextBox 87"/>
          <p:cNvSpPr txBox="1"/>
          <p:nvPr/>
        </p:nvSpPr>
        <p:spPr>
          <a:xfrm>
            <a:off x="7111419" y="3108960"/>
            <a:ext cx="1247502" cy="274320"/>
          </a:xfrm>
          <a:prstGeom prst="rect">
            <a:avLst/>
          </a:prstGeom>
          <a:noFill/>
        </p:spPr>
        <p:txBody>
          <a:bodyPr wrap="square" lIns="45720" rIns="45720" tIns="18288" bIns="18288" anchor="t">
            <a:spAutoFit/>
          </a:bodyPr>
          <a:lstStyle/>
          <a:p>
            <a:pPr algn="l"/>
            <a:r>
              <a:rPr sz="900" b="0" i="0">
                <a:solidFill>
                  <a:srgbClr val="1F2937"/>
                </a:solidFill>
                <a:latin typeface="Calibri"/>
              </a:rPr>
              <a:t>{{DAY_5_EVT_2_TITLE}}</a:t>
            </a:r>
          </a:p>
        </p:txBody>
      </p:sp>
      <p:sp>
        <p:nvSpPr>
          <p:cNvPr id="89" name="Rectangle 88"/>
          <p:cNvSpPr/>
          <p:nvPr/>
        </p:nvSpPr>
        <p:spPr>
          <a:xfrm>
            <a:off x="7019979" y="3520440"/>
            <a:ext cx="54864" cy="4572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7111419" y="3520440"/>
            <a:ext cx="1247502" cy="182880"/>
          </a:xfrm>
          <a:prstGeom prst="rect">
            <a:avLst/>
          </a:prstGeom>
          <a:noFill/>
        </p:spPr>
        <p:txBody>
          <a:bodyPr wrap="square" lIns="45720" rIns="45720" tIns="18288" bIns="18288" anchor="t">
            <a:spAutoFit/>
          </a:bodyPr>
          <a:lstStyle/>
          <a:p>
            <a:pPr algn="l"/>
            <a:r>
              <a:rPr sz="800" b="1" i="0">
                <a:solidFill>
                  <a:srgbClr val="8B5CF6"/>
                </a:solidFill>
                <a:latin typeface="Calibri"/>
              </a:rPr>
              <a:t>{{DAY_5_EVT_3_TIME}}</a:t>
            </a:r>
          </a:p>
        </p:txBody>
      </p:sp>
      <p:sp>
        <p:nvSpPr>
          <p:cNvPr id="91" name="TextBox 90"/>
          <p:cNvSpPr txBox="1"/>
          <p:nvPr/>
        </p:nvSpPr>
        <p:spPr>
          <a:xfrm>
            <a:off x="7111419" y="3703320"/>
            <a:ext cx="1247502" cy="274320"/>
          </a:xfrm>
          <a:prstGeom prst="rect">
            <a:avLst/>
          </a:prstGeom>
          <a:noFill/>
        </p:spPr>
        <p:txBody>
          <a:bodyPr wrap="square" lIns="45720" rIns="45720" tIns="18288" bIns="18288" anchor="t">
            <a:spAutoFit/>
          </a:bodyPr>
          <a:lstStyle/>
          <a:p>
            <a:pPr algn="l"/>
            <a:r>
              <a:rPr sz="900" b="0" i="0">
                <a:solidFill>
                  <a:srgbClr val="1F2937"/>
                </a:solidFill>
                <a:latin typeface="Calibri"/>
              </a:rPr>
              <a:t>{{DAY_5_EVT_3_TITLE}}</a:t>
            </a:r>
          </a:p>
        </p:txBody>
      </p:sp>
      <p:sp>
        <p:nvSpPr>
          <p:cNvPr id="92" name="Rectangle 91"/>
          <p:cNvSpPr/>
          <p:nvPr/>
        </p:nvSpPr>
        <p:spPr>
          <a:xfrm>
            <a:off x="7019979" y="4114800"/>
            <a:ext cx="54864" cy="4572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7111419" y="4114800"/>
            <a:ext cx="1247502" cy="182880"/>
          </a:xfrm>
          <a:prstGeom prst="rect">
            <a:avLst/>
          </a:prstGeom>
          <a:noFill/>
        </p:spPr>
        <p:txBody>
          <a:bodyPr wrap="square" lIns="45720" rIns="45720" tIns="18288" bIns="18288" anchor="t">
            <a:spAutoFit/>
          </a:bodyPr>
          <a:lstStyle/>
          <a:p>
            <a:pPr algn="l"/>
            <a:r>
              <a:rPr sz="800" b="1" i="0">
                <a:solidFill>
                  <a:srgbClr val="8B5CF6"/>
                </a:solidFill>
                <a:latin typeface="Calibri"/>
              </a:rPr>
              <a:t>{{DAY_5_EVT_4_TIME}}</a:t>
            </a:r>
          </a:p>
        </p:txBody>
      </p:sp>
      <p:sp>
        <p:nvSpPr>
          <p:cNvPr id="94" name="TextBox 93"/>
          <p:cNvSpPr txBox="1"/>
          <p:nvPr/>
        </p:nvSpPr>
        <p:spPr>
          <a:xfrm>
            <a:off x="7111419" y="4297680"/>
            <a:ext cx="1247502" cy="274320"/>
          </a:xfrm>
          <a:prstGeom prst="rect">
            <a:avLst/>
          </a:prstGeom>
          <a:noFill/>
        </p:spPr>
        <p:txBody>
          <a:bodyPr wrap="square" lIns="45720" rIns="45720" tIns="18288" bIns="18288" anchor="t">
            <a:spAutoFit/>
          </a:bodyPr>
          <a:lstStyle/>
          <a:p>
            <a:pPr algn="l"/>
            <a:r>
              <a:rPr sz="900" b="0" i="0">
                <a:solidFill>
                  <a:srgbClr val="1F2937"/>
                </a:solidFill>
                <a:latin typeface="Calibri"/>
              </a:rPr>
              <a:t>{{DAY_5_EVT_4_TITLE}}</a:t>
            </a:r>
          </a:p>
        </p:txBody>
      </p:sp>
      <p:sp>
        <p:nvSpPr>
          <p:cNvPr id="95" name="Rectangle 94"/>
          <p:cNvSpPr/>
          <p:nvPr/>
        </p:nvSpPr>
        <p:spPr>
          <a:xfrm>
            <a:off x="7019979" y="5760719"/>
            <a:ext cx="1338942" cy="2286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7019979" y="5852159"/>
            <a:ext cx="1338942" cy="228600"/>
          </a:xfrm>
          <a:prstGeom prst="rect">
            <a:avLst/>
          </a:prstGeom>
          <a:noFill/>
        </p:spPr>
        <p:txBody>
          <a:bodyPr wrap="square" lIns="45720" rIns="45720" tIns="18288" bIns="18288" anchor="t">
            <a:spAutoFit/>
          </a:bodyPr>
          <a:lstStyle/>
          <a:p>
            <a:pPr algn="ctr"/>
            <a:r>
              <a:rPr sz="800" b="0" i="1">
                <a:solidFill>
                  <a:srgbClr val="6B7280"/>
                </a:solidFill>
                <a:latin typeface="Calibri"/>
              </a:rPr>
              <a:t>{{DAY_5_COUNT}} sự kiện</a:t>
            </a:r>
          </a:p>
        </p:txBody>
      </p:sp>
      <p:sp>
        <p:nvSpPr>
          <p:cNvPr id="97" name="Rounded Rectangle 96"/>
          <p:cNvSpPr/>
          <p:nvPr/>
        </p:nvSpPr>
        <p:spPr>
          <a:xfrm>
            <a:off x="8523514" y="1280160"/>
            <a:ext cx="1521822" cy="4846320"/>
          </a:xfrm>
          <a:prstGeom prst="roundRect">
            <a:avLst>
              <a:gd name="adj" fmla="val 4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ounded Rectangle 97"/>
          <p:cNvSpPr/>
          <p:nvPr/>
        </p:nvSpPr>
        <p:spPr>
          <a:xfrm>
            <a:off x="8523514" y="1280160"/>
            <a:ext cx="1521822" cy="960120"/>
          </a:xfrm>
          <a:prstGeom prst="roundRect">
            <a:avLst>
              <a:gd name="adj" fmla="val 6000"/>
            </a:avLst>
          </a:prstGeom>
          <a:solidFill>
            <a:srgbClr val="9CA3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8523514" y="1417319"/>
            <a:ext cx="1521822" cy="274320"/>
          </a:xfrm>
          <a:prstGeom prst="rect">
            <a:avLst/>
          </a:prstGeom>
          <a:noFill/>
        </p:spPr>
        <p:txBody>
          <a:bodyPr wrap="square" lIns="45720" rIns="45720" tIns="18288" bIns="18288" anchor="t">
            <a:spAutoFit/>
          </a:bodyPr>
          <a:lstStyle/>
          <a:p>
            <a:pPr algn="ctr"/>
            <a:r>
              <a:rPr sz="900" b="1" i="0">
                <a:solidFill>
                  <a:srgbClr val="FFFFFF"/>
                </a:solidFill>
                <a:latin typeface="Calibri"/>
              </a:rPr>
              <a:t>THỨ BẢY</a:t>
            </a:r>
          </a:p>
        </p:txBody>
      </p:sp>
      <p:sp>
        <p:nvSpPr>
          <p:cNvPr id="100" name="TextBox 99"/>
          <p:cNvSpPr txBox="1"/>
          <p:nvPr/>
        </p:nvSpPr>
        <p:spPr>
          <a:xfrm>
            <a:off x="8569234" y="1737360"/>
            <a:ext cx="1430382" cy="457200"/>
          </a:xfrm>
          <a:prstGeom prst="rect">
            <a:avLst/>
          </a:prstGeom>
          <a:noFill/>
        </p:spPr>
        <p:txBody>
          <a:bodyPr wrap="square" lIns="45720" rIns="45720" tIns="18288" bIns="18288" anchor="t">
            <a:spAutoFit/>
          </a:bodyPr>
          <a:lstStyle/>
          <a:p>
            <a:pPr algn="ctr"/>
            <a:r>
              <a:rPr sz="1300" b="1" i="0">
                <a:solidFill>
                  <a:srgbClr val="FFFFFF"/>
                </a:solidFill>
                <a:latin typeface="Calibri"/>
              </a:rPr>
              <a:t>{{DAY_6_DATE}}</a:t>
            </a:r>
          </a:p>
        </p:txBody>
      </p:sp>
      <p:sp>
        <p:nvSpPr>
          <p:cNvPr id="101" name="Rectangle 100"/>
          <p:cNvSpPr/>
          <p:nvPr/>
        </p:nvSpPr>
        <p:spPr>
          <a:xfrm>
            <a:off x="8614954" y="2331720"/>
            <a:ext cx="54864" cy="4572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8706394" y="2331720"/>
            <a:ext cx="1247502" cy="182880"/>
          </a:xfrm>
          <a:prstGeom prst="rect">
            <a:avLst/>
          </a:prstGeom>
          <a:noFill/>
        </p:spPr>
        <p:txBody>
          <a:bodyPr wrap="square" lIns="45720" rIns="45720" tIns="18288" bIns="18288" anchor="t">
            <a:spAutoFit/>
          </a:bodyPr>
          <a:lstStyle/>
          <a:p>
            <a:pPr algn="l"/>
            <a:r>
              <a:rPr sz="800" b="1" i="0">
                <a:solidFill>
                  <a:srgbClr val="8B5CF6"/>
                </a:solidFill>
                <a:latin typeface="Calibri"/>
              </a:rPr>
              <a:t>{{DAY_6_EVT_1_TIME}}</a:t>
            </a:r>
          </a:p>
        </p:txBody>
      </p:sp>
      <p:sp>
        <p:nvSpPr>
          <p:cNvPr id="103" name="TextBox 102"/>
          <p:cNvSpPr txBox="1"/>
          <p:nvPr/>
        </p:nvSpPr>
        <p:spPr>
          <a:xfrm>
            <a:off x="8706394" y="2514600"/>
            <a:ext cx="1247502" cy="274320"/>
          </a:xfrm>
          <a:prstGeom prst="rect">
            <a:avLst/>
          </a:prstGeom>
          <a:noFill/>
        </p:spPr>
        <p:txBody>
          <a:bodyPr wrap="square" lIns="45720" rIns="45720" tIns="18288" bIns="18288" anchor="t">
            <a:spAutoFit/>
          </a:bodyPr>
          <a:lstStyle/>
          <a:p>
            <a:pPr algn="l"/>
            <a:r>
              <a:rPr sz="900" b="0" i="0">
                <a:solidFill>
                  <a:srgbClr val="1F2937"/>
                </a:solidFill>
                <a:latin typeface="Calibri"/>
              </a:rPr>
              <a:t>{{DAY_6_EVT_1_TITLE}}</a:t>
            </a:r>
          </a:p>
        </p:txBody>
      </p:sp>
      <p:sp>
        <p:nvSpPr>
          <p:cNvPr id="104" name="Rectangle 103"/>
          <p:cNvSpPr/>
          <p:nvPr/>
        </p:nvSpPr>
        <p:spPr>
          <a:xfrm>
            <a:off x="8614954" y="2926080"/>
            <a:ext cx="54864" cy="4572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8706394" y="2926080"/>
            <a:ext cx="1247502" cy="182880"/>
          </a:xfrm>
          <a:prstGeom prst="rect">
            <a:avLst/>
          </a:prstGeom>
          <a:noFill/>
        </p:spPr>
        <p:txBody>
          <a:bodyPr wrap="square" lIns="45720" rIns="45720" tIns="18288" bIns="18288" anchor="t">
            <a:spAutoFit/>
          </a:bodyPr>
          <a:lstStyle/>
          <a:p>
            <a:pPr algn="l"/>
            <a:r>
              <a:rPr sz="800" b="1" i="0">
                <a:solidFill>
                  <a:srgbClr val="8B5CF6"/>
                </a:solidFill>
                <a:latin typeface="Calibri"/>
              </a:rPr>
              <a:t>{{DAY_6_EVT_2_TIME}}</a:t>
            </a:r>
          </a:p>
        </p:txBody>
      </p:sp>
      <p:sp>
        <p:nvSpPr>
          <p:cNvPr id="106" name="TextBox 105"/>
          <p:cNvSpPr txBox="1"/>
          <p:nvPr/>
        </p:nvSpPr>
        <p:spPr>
          <a:xfrm>
            <a:off x="8706394" y="3108960"/>
            <a:ext cx="1247502" cy="274320"/>
          </a:xfrm>
          <a:prstGeom prst="rect">
            <a:avLst/>
          </a:prstGeom>
          <a:noFill/>
        </p:spPr>
        <p:txBody>
          <a:bodyPr wrap="square" lIns="45720" rIns="45720" tIns="18288" bIns="18288" anchor="t">
            <a:spAutoFit/>
          </a:bodyPr>
          <a:lstStyle/>
          <a:p>
            <a:pPr algn="l"/>
            <a:r>
              <a:rPr sz="900" b="0" i="0">
                <a:solidFill>
                  <a:srgbClr val="1F2937"/>
                </a:solidFill>
                <a:latin typeface="Calibri"/>
              </a:rPr>
              <a:t>{{DAY_6_EVT_2_TITLE}}</a:t>
            </a:r>
          </a:p>
        </p:txBody>
      </p:sp>
      <p:sp>
        <p:nvSpPr>
          <p:cNvPr id="107" name="Rectangle 106"/>
          <p:cNvSpPr/>
          <p:nvPr/>
        </p:nvSpPr>
        <p:spPr>
          <a:xfrm>
            <a:off x="8614954" y="3520440"/>
            <a:ext cx="54864" cy="4572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8706394" y="3520440"/>
            <a:ext cx="1247502" cy="182880"/>
          </a:xfrm>
          <a:prstGeom prst="rect">
            <a:avLst/>
          </a:prstGeom>
          <a:noFill/>
        </p:spPr>
        <p:txBody>
          <a:bodyPr wrap="square" lIns="45720" rIns="45720" tIns="18288" bIns="18288" anchor="t">
            <a:spAutoFit/>
          </a:bodyPr>
          <a:lstStyle/>
          <a:p>
            <a:pPr algn="l"/>
            <a:r>
              <a:rPr sz="800" b="1" i="0">
                <a:solidFill>
                  <a:srgbClr val="8B5CF6"/>
                </a:solidFill>
                <a:latin typeface="Calibri"/>
              </a:rPr>
              <a:t>{{DAY_6_EVT_3_TIME}}</a:t>
            </a:r>
          </a:p>
        </p:txBody>
      </p:sp>
      <p:sp>
        <p:nvSpPr>
          <p:cNvPr id="109" name="TextBox 108"/>
          <p:cNvSpPr txBox="1"/>
          <p:nvPr/>
        </p:nvSpPr>
        <p:spPr>
          <a:xfrm>
            <a:off x="8706394" y="3703320"/>
            <a:ext cx="1247502" cy="274320"/>
          </a:xfrm>
          <a:prstGeom prst="rect">
            <a:avLst/>
          </a:prstGeom>
          <a:noFill/>
        </p:spPr>
        <p:txBody>
          <a:bodyPr wrap="square" lIns="45720" rIns="45720" tIns="18288" bIns="18288" anchor="t">
            <a:spAutoFit/>
          </a:bodyPr>
          <a:lstStyle/>
          <a:p>
            <a:pPr algn="l"/>
            <a:r>
              <a:rPr sz="900" b="0" i="0">
                <a:solidFill>
                  <a:srgbClr val="1F2937"/>
                </a:solidFill>
                <a:latin typeface="Calibri"/>
              </a:rPr>
              <a:t>{{DAY_6_EVT_3_TITLE}}</a:t>
            </a:r>
          </a:p>
        </p:txBody>
      </p:sp>
      <p:sp>
        <p:nvSpPr>
          <p:cNvPr id="110" name="Rectangle 109"/>
          <p:cNvSpPr/>
          <p:nvPr/>
        </p:nvSpPr>
        <p:spPr>
          <a:xfrm>
            <a:off x="8614954" y="4114800"/>
            <a:ext cx="54864" cy="4572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8706394" y="4114800"/>
            <a:ext cx="1247502" cy="182880"/>
          </a:xfrm>
          <a:prstGeom prst="rect">
            <a:avLst/>
          </a:prstGeom>
          <a:noFill/>
        </p:spPr>
        <p:txBody>
          <a:bodyPr wrap="square" lIns="45720" rIns="45720" tIns="18288" bIns="18288" anchor="t">
            <a:spAutoFit/>
          </a:bodyPr>
          <a:lstStyle/>
          <a:p>
            <a:pPr algn="l"/>
            <a:r>
              <a:rPr sz="800" b="1" i="0">
                <a:solidFill>
                  <a:srgbClr val="8B5CF6"/>
                </a:solidFill>
                <a:latin typeface="Calibri"/>
              </a:rPr>
              <a:t>{{DAY_6_EVT_4_TIME}}</a:t>
            </a:r>
          </a:p>
        </p:txBody>
      </p:sp>
      <p:sp>
        <p:nvSpPr>
          <p:cNvPr id="112" name="TextBox 111"/>
          <p:cNvSpPr txBox="1"/>
          <p:nvPr/>
        </p:nvSpPr>
        <p:spPr>
          <a:xfrm>
            <a:off x="8706394" y="4297680"/>
            <a:ext cx="1247502" cy="274320"/>
          </a:xfrm>
          <a:prstGeom prst="rect">
            <a:avLst/>
          </a:prstGeom>
          <a:noFill/>
        </p:spPr>
        <p:txBody>
          <a:bodyPr wrap="square" lIns="45720" rIns="45720" tIns="18288" bIns="18288" anchor="t">
            <a:spAutoFit/>
          </a:bodyPr>
          <a:lstStyle/>
          <a:p>
            <a:pPr algn="l"/>
            <a:r>
              <a:rPr sz="900" b="0" i="0">
                <a:solidFill>
                  <a:srgbClr val="1F2937"/>
                </a:solidFill>
                <a:latin typeface="Calibri"/>
              </a:rPr>
              <a:t>{{DAY_6_EVT_4_TITLE}}</a:t>
            </a:r>
          </a:p>
        </p:txBody>
      </p:sp>
      <p:sp>
        <p:nvSpPr>
          <p:cNvPr id="113" name="Rectangle 112"/>
          <p:cNvSpPr/>
          <p:nvPr/>
        </p:nvSpPr>
        <p:spPr>
          <a:xfrm>
            <a:off x="8614954" y="5760719"/>
            <a:ext cx="1338942" cy="2286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8614954" y="5852159"/>
            <a:ext cx="1338942" cy="228600"/>
          </a:xfrm>
          <a:prstGeom prst="rect">
            <a:avLst/>
          </a:prstGeom>
          <a:noFill/>
        </p:spPr>
        <p:txBody>
          <a:bodyPr wrap="square" lIns="45720" rIns="45720" tIns="18288" bIns="18288" anchor="t">
            <a:spAutoFit/>
          </a:bodyPr>
          <a:lstStyle/>
          <a:p>
            <a:pPr algn="ctr"/>
            <a:r>
              <a:rPr sz="800" b="0" i="1">
                <a:solidFill>
                  <a:srgbClr val="6B7280"/>
                </a:solidFill>
                <a:latin typeface="Calibri"/>
              </a:rPr>
              <a:t>{{DAY_6_COUNT}} sự kiện</a:t>
            </a:r>
          </a:p>
        </p:txBody>
      </p:sp>
      <p:sp>
        <p:nvSpPr>
          <p:cNvPr id="115" name="Rounded Rectangle 114"/>
          <p:cNvSpPr/>
          <p:nvPr/>
        </p:nvSpPr>
        <p:spPr>
          <a:xfrm>
            <a:off x="10118489" y="1280160"/>
            <a:ext cx="1521822" cy="4846320"/>
          </a:xfrm>
          <a:prstGeom prst="roundRect">
            <a:avLst>
              <a:gd name="adj" fmla="val 4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ounded Rectangle 115"/>
          <p:cNvSpPr/>
          <p:nvPr/>
        </p:nvSpPr>
        <p:spPr>
          <a:xfrm>
            <a:off x="10118489" y="1280160"/>
            <a:ext cx="1521822" cy="960120"/>
          </a:xfrm>
          <a:prstGeom prst="roundRect">
            <a:avLst>
              <a:gd name="adj" fmla="val 6000"/>
            </a:avLst>
          </a:prstGeom>
          <a:solidFill>
            <a:srgbClr val="9CA3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10118489" y="1417319"/>
            <a:ext cx="1521822" cy="274320"/>
          </a:xfrm>
          <a:prstGeom prst="rect">
            <a:avLst/>
          </a:prstGeom>
          <a:noFill/>
        </p:spPr>
        <p:txBody>
          <a:bodyPr wrap="square" lIns="45720" rIns="45720" tIns="18288" bIns="18288" anchor="t">
            <a:spAutoFit/>
          </a:bodyPr>
          <a:lstStyle/>
          <a:p>
            <a:pPr algn="ctr"/>
            <a:r>
              <a:rPr sz="900" b="1" i="0">
                <a:solidFill>
                  <a:srgbClr val="FFFFFF"/>
                </a:solidFill>
                <a:latin typeface="Calibri"/>
              </a:rPr>
              <a:t>CHỦ NHẬT</a:t>
            </a:r>
          </a:p>
        </p:txBody>
      </p:sp>
      <p:sp>
        <p:nvSpPr>
          <p:cNvPr id="118" name="TextBox 117"/>
          <p:cNvSpPr txBox="1"/>
          <p:nvPr/>
        </p:nvSpPr>
        <p:spPr>
          <a:xfrm>
            <a:off x="10164209" y="1737360"/>
            <a:ext cx="1430382" cy="457200"/>
          </a:xfrm>
          <a:prstGeom prst="rect">
            <a:avLst/>
          </a:prstGeom>
          <a:noFill/>
        </p:spPr>
        <p:txBody>
          <a:bodyPr wrap="square" lIns="45720" rIns="45720" tIns="18288" bIns="18288" anchor="t">
            <a:spAutoFit/>
          </a:bodyPr>
          <a:lstStyle/>
          <a:p>
            <a:pPr algn="ctr"/>
            <a:r>
              <a:rPr sz="1300" b="1" i="0">
                <a:solidFill>
                  <a:srgbClr val="FFFFFF"/>
                </a:solidFill>
                <a:latin typeface="Calibri"/>
              </a:rPr>
              <a:t>{{DAY_7_DATE}}</a:t>
            </a:r>
          </a:p>
        </p:txBody>
      </p:sp>
      <p:sp>
        <p:nvSpPr>
          <p:cNvPr id="119" name="Rectangle 118"/>
          <p:cNvSpPr/>
          <p:nvPr/>
        </p:nvSpPr>
        <p:spPr>
          <a:xfrm>
            <a:off x="10209929" y="2331720"/>
            <a:ext cx="54864" cy="4572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10301369" y="2331720"/>
            <a:ext cx="1247502" cy="182880"/>
          </a:xfrm>
          <a:prstGeom prst="rect">
            <a:avLst/>
          </a:prstGeom>
          <a:noFill/>
        </p:spPr>
        <p:txBody>
          <a:bodyPr wrap="square" lIns="45720" rIns="45720" tIns="18288" bIns="18288" anchor="t">
            <a:spAutoFit/>
          </a:bodyPr>
          <a:lstStyle/>
          <a:p>
            <a:pPr algn="l"/>
            <a:r>
              <a:rPr sz="800" b="1" i="0">
                <a:solidFill>
                  <a:srgbClr val="8B5CF6"/>
                </a:solidFill>
                <a:latin typeface="Calibri"/>
              </a:rPr>
              <a:t>{{DAY_7_EVT_1_TIME}}</a:t>
            </a:r>
          </a:p>
        </p:txBody>
      </p:sp>
      <p:sp>
        <p:nvSpPr>
          <p:cNvPr id="121" name="TextBox 120"/>
          <p:cNvSpPr txBox="1"/>
          <p:nvPr/>
        </p:nvSpPr>
        <p:spPr>
          <a:xfrm>
            <a:off x="10301369" y="2514600"/>
            <a:ext cx="1247502" cy="274320"/>
          </a:xfrm>
          <a:prstGeom prst="rect">
            <a:avLst/>
          </a:prstGeom>
          <a:noFill/>
        </p:spPr>
        <p:txBody>
          <a:bodyPr wrap="square" lIns="45720" rIns="45720" tIns="18288" bIns="18288" anchor="t">
            <a:spAutoFit/>
          </a:bodyPr>
          <a:lstStyle/>
          <a:p>
            <a:pPr algn="l"/>
            <a:r>
              <a:rPr sz="900" b="0" i="0">
                <a:solidFill>
                  <a:srgbClr val="1F2937"/>
                </a:solidFill>
                <a:latin typeface="Calibri"/>
              </a:rPr>
              <a:t>{{DAY_7_EVT_1_TITLE}}</a:t>
            </a:r>
          </a:p>
        </p:txBody>
      </p:sp>
      <p:sp>
        <p:nvSpPr>
          <p:cNvPr id="122" name="Rectangle 121"/>
          <p:cNvSpPr/>
          <p:nvPr/>
        </p:nvSpPr>
        <p:spPr>
          <a:xfrm>
            <a:off x="10209929" y="2926080"/>
            <a:ext cx="54864" cy="4572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10301369" y="2926080"/>
            <a:ext cx="1247502" cy="182880"/>
          </a:xfrm>
          <a:prstGeom prst="rect">
            <a:avLst/>
          </a:prstGeom>
          <a:noFill/>
        </p:spPr>
        <p:txBody>
          <a:bodyPr wrap="square" lIns="45720" rIns="45720" tIns="18288" bIns="18288" anchor="t">
            <a:spAutoFit/>
          </a:bodyPr>
          <a:lstStyle/>
          <a:p>
            <a:pPr algn="l"/>
            <a:r>
              <a:rPr sz="800" b="1" i="0">
                <a:solidFill>
                  <a:srgbClr val="8B5CF6"/>
                </a:solidFill>
                <a:latin typeface="Calibri"/>
              </a:rPr>
              <a:t>{{DAY_7_EVT_2_TIME}}</a:t>
            </a:r>
          </a:p>
        </p:txBody>
      </p:sp>
      <p:sp>
        <p:nvSpPr>
          <p:cNvPr id="124" name="TextBox 123"/>
          <p:cNvSpPr txBox="1"/>
          <p:nvPr/>
        </p:nvSpPr>
        <p:spPr>
          <a:xfrm>
            <a:off x="10301369" y="3108960"/>
            <a:ext cx="1247502" cy="274320"/>
          </a:xfrm>
          <a:prstGeom prst="rect">
            <a:avLst/>
          </a:prstGeom>
          <a:noFill/>
        </p:spPr>
        <p:txBody>
          <a:bodyPr wrap="square" lIns="45720" rIns="45720" tIns="18288" bIns="18288" anchor="t">
            <a:spAutoFit/>
          </a:bodyPr>
          <a:lstStyle/>
          <a:p>
            <a:pPr algn="l"/>
            <a:r>
              <a:rPr sz="900" b="0" i="0">
                <a:solidFill>
                  <a:srgbClr val="1F2937"/>
                </a:solidFill>
                <a:latin typeface="Calibri"/>
              </a:rPr>
              <a:t>{{DAY_7_EVT_2_TITLE}}</a:t>
            </a:r>
          </a:p>
        </p:txBody>
      </p:sp>
      <p:sp>
        <p:nvSpPr>
          <p:cNvPr id="125" name="Rectangle 124"/>
          <p:cNvSpPr/>
          <p:nvPr/>
        </p:nvSpPr>
        <p:spPr>
          <a:xfrm>
            <a:off x="10209929" y="3520440"/>
            <a:ext cx="54864" cy="4572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10301369" y="3520440"/>
            <a:ext cx="1247502" cy="182880"/>
          </a:xfrm>
          <a:prstGeom prst="rect">
            <a:avLst/>
          </a:prstGeom>
          <a:noFill/>
        </p:spPr>
        <p:txBody>
          <a:bodyPr wrap="square" lIns="45720" rIns="45720" tIns="18288" bIns="18288" anchor="t">
            <a:spAutoFit/>
          </a:bodyPr>
          <a:lstStyle/>
          <a:p>
            <a:pPr algn="l"/>
            <a:r>
              <a:rPr sz="800" b="1" i="0">
                <a:solidFill>
                  <a:srgbClr val="8B5CF6"/>
                </a:solidFill>
                <a:latin typeface="Calibri"/>
              </a:rPr>
              <a:t>{{DAY_7_EVT_3_TIME}}</a:t>
            </a:r>
          </a:p>
        </p:txBody>
      </p:sp>
      <p:sp>
        <p:nvSpPr>
          <p:cNvPr id="127" name="TextBox 126"/>
          <p:cNvSpPr txBox="1"/>
          <p:nvPr/>
        </p:nvSpPr>
        <p:spPr>
          <a:xfrm>
            <a:off x="10301369" y="3703320"/>
            <a:ext cx="1247502" cy="274320"/>
          </a:xfrm>
          <a:prstGeom prst="rect">
            <a:avLst/>
          </a:prstGeom>
          <a:noFill/>
        </p:spPr>
        <p:txBody>
          <a:bodyPr wrap="square" lIns="45720" rIns="45720" tIns="18288" bIns="18288" anchor="t">
            <a:spAutoFit/>
          </a:bodyPr>
          <a:lstStyle/>
          <a:p>
            <a:pPr algn="l"/>
            <a:r>
              <a:rPr sz="900" b="0" i="0">
                <a:solidFill>
                  <a:srgbClr val="1F2937"/>
                </a:solidFill>
                <a:latin typeface="Calibri"/>
              </a:rPr>
              <a:t>{{DAY_7_EVT_3_TITLE}}</a:t>
            </a:r>
          </a:p>
        </p:txBody>
      </p:sp>
      <p:sp>
        <p:nvSpPr>
          <p:cNvPr id="128" name="Rectangle 127"/>
          <p:cNvSpPr/>
          <p:nvPr/>
        </p:nvSpPr>
        <p:spPr>
          <a:xfrm>
            <a:off x="10209929" y="4114800"/>
            <a:ext cx="54864" cy="4572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10301369" y="4114800"/>
            <a:ext cx="1247502" cy="182880"/>
          </a:xfrm>
          <a:prstGeom prst="rect">
            <a:avLst/>
          </a:prstGeom>
          <a:noFill/>
        </p:spPr>
        <p:txBody>
          <a:bodyPr wrap="square" lIns="45720" rIns="45720" tIns="18288" bIns="18288" anchor="t">
            <a:spAutoFit/>
          </a:bodyPr>
          <a:lstStyle/>
          <a:p>
            <a:pPr algn="l"/>
            <a:r>
              <a:rPr sz="800" b="1" i="0">
                <a:solidFill>
                  <a:srgbClr val="8B5CF6"/>
                </a:solidFill>
                <a:latin typeface="Calibri"/>
              </a:rPr>
              <a:t>{{DAY_7_EVT_4_TIME}}</a:t>
            </a:r>
          </a:p>
        </p:txBody>
      </p:sp>
      <p:sp>
        <p:nvSpPr>
          <p:cNvPr id="130" name="TextBox 129"/>
          <p:cNvSpPr txBox="1"/>
          <p:nvPr/>
        </p:nvSpPr>
        <p:spPr>
          <a:xfrm>
            <a:off x="10301369" y="4297680"/>
            <a:ext cx="1247502" cy="274320"/>
          </a:xfrm>
          <a:prstGeom prst="rect">
            <a:avLst/>
          </a:prstGeom>
          <a:noFill/>
        </p:spPr>
        <p:txBody>
          <a:bodyPr wrap="square" lIns="45720" rIns="45720" tIns="18288" bIns="18288" anchor="t">
            <a:spAutoFit/>
          </a:bodyPr>
          <a:lstStyle/>
          <a:p>
            <a:pPr algn="l"/>
            <a:r>
              <a:rPr sz="900" b="0" i="0">
                <a:solidFill>
                  <a:srgbClr val="1F2937"/>
                </a:solidFill>
                <a:latin typeface="Calibri"/>
              </a:rPr>
              <a:t>{{DAY_7_EVT_4_TITLE}}</a:t>
            </a:r>
          </a:p>
        </p:txBody>
      </p:sp>
      <p:sp>
        <p:nvSpPr>
          <p:cNvPr id="131" name="Rectangle 130"/>
          <p:cNvSpPr/>
          <p:nvPr/>
        </p:nvSpPr>
        <p:spPr>
          <a:xfrm>
            <a:off x="10209929" y="5760719"/>
            <a:ext cx="1338942" cy="2286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10209929" y="5852159"/>
            <a:ext cx="1338942" cy="228600"/>
          </a:xfrm>
          <a:prstGeom prst="rect">
            <a:avLst/>
          </a:prstGeom>
          <a:noFill/>
        </p:spPr>
        <p:txBody>
          <a:bodyPr wrap="square" lIns="45720" rIns="45720" tIns="18288" bIns="18288" anchor="t">
            <a:spAutoFit/>
          </a:bodyPr>
          <a:lstStyle/>
          <a:p>
            <a:pPr algn="ctr"/>
            <a:r>
              <a:rPr sz="800" b="0" i="1">
                <a:solidFill>
                  <a:srgbClr val="6B7280"/>
                </a:solidFill>
                <a:latin typeface="Calibri"/>
              </a:rPr>
              <a:t>{{DAY_7_COUNT}} sự kiện</a:t>
            </a:r>
          </a:p>
        </p:txBody>
      </p:sp>
      <p:sp>
        <p:nvSpPr>
          <p:cNvPr id="133" name="TextBox 132"/>
          <p:cNvSpPr txBox="1"/>
          <p:nvPr/>
        </p:nvSpPr>
        <p:spPr>
          <a:xfrm>
            <a:off x="548640" y="6492240"/>
            <a:ext cx="8229600" cy="274320"/>
          </a:xfrm>
          <a:prstGeom prst="rect">
            <a:avLst/>
          </a:prstGeom>
          <a:noFill/>
        </p:spPr>
        <p:txBody>
          <a:bodyPr wrap="square" lIns="45720" rIns="45720" tIns="18288" bIns="18288" anchor="t">
            <a:spAutoFit/>
          </a:bodyPr>
          <a:lstStyle/>
          <a:p>
            <a:pPr algn="l"/>
            <a:r>
              <a:rPr sz="900" b="0" i="1">
                <a:solidFill>
                  <a:srgbClr val="9CA3AF"/>
                </a:solidFill>
                <a:latin typeface="Calibri"/>
              </a:rPr>
              <a:t>{{FOOTER_LEFT}}</a:t>
            </a:r>
          </a:p>
        </p:txBody>
      </p:sp>
      <p:sp>
        <p:nvSpPr>
          <p:cNvPr id="134" name="TextBox 133"/>
          <p:cNvSpPr txBox="1"/>
          <p:nvPr/>
        </p:nvSpPr>
        <p:spPr>
          <a:xfrm>
            <a:off x="10058400" y="6492240"/>
            <a:ext cx="1645920" cy="274320"/>
          </a:xfrm>
          <a:prstGeom prst="rect">
            <a:avLst/>
          </a:prstGeom>
          <a:noFill/>
        </p:spPr>
        <p:txBody>
          <a:bodyPr wrap="square" lIns="45720" rIns="45720" tIns="18288" bIns="18288" anchor="t">
            <a:spAutoFit/>
          </a:bodyPr>
          <a:lstStyle/>
          <a:p>
            <a:pPr algn="r"/>
            <a:r>
              <a:rPr sz="900" b="0" i="0">
                <a:solidFill>
                  <a:srgbClr val="9CA3AF"/>
                </a:solidFill>
                <a:latin typeface="Calibri"/>
              </a:rPr>
              <a:t>{{PAGE_NUM}}</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name="LINE_CHART_FULL">
    <p:spTree>
      <p:nvGrpSpPr>
        <p:cNvPr id="1" name=""/>
        <p:cNvGrpSpPr/>
        <p:nvPr/>
      </p:nvGrpSpPr>
      <p:grpSpPr/>
      <p:sp>
        <p:nvSpPr>
          <p:cNvPr id="2" name="Rectangle 1"/>
          <p:cNvSpPr/>
          <p:nvPr/>
        </p:nvSpPr>
        <p:spPr>
          <a:xfrm>
            <a:off x="457200" y="274320"/>
            <a:ext cx="73152" cy="32004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594359"/>
            <a:ext cx="73152" cy="320040"/>
          </a:xfrm>
          <a:prstGeom prst="rect">
            <a:avLst/>
          </a:prstGeom>
          <a:solidFill>
            <a:srgbClr val="B47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74320"/>
            <a:ext cx="10972800" cy="365760"/>
          </a:xfrm>
          <a:prstGeom prst="rect">
            <a:avLst/>
          </a:prstGeom>
          <a:noFill/>
        </p:spPr>
        <p:txBody>
          <a:bodyPr wrap="square" lIns="45720" rIns="45720" tIns="18288" bIns="18288" anchor="t">
            <a:spAutoFit/>
          </a:bodyPr>
          <a:lstStyle/>
          <a:p>
            <a:pPr algn="l"/>
            <a:r>
              <a:rPr sz="2400" b="1" i="0">
                <a:solidFill>
                  <a:srgbClr val="1F2937"/>
                </a:solidFill>
                <a:latin typeface="Calibri"/>
              </a:rPr>
              <a:t>{{SECTION_TITLE}}</a:t>
            </a:r>
          </a:p>
        </p:txBody>
      </p:sp>
      <p:sp>
        <p:nvSpPr>
          <p:cNvPr id="5" name="TextBox 4"/>
          <p:cNvSpPr txBox="1"/>
          <p:nvPr/>
        </p:nvSpPr>
        <p:spPr>
          <a:xfrm>
            <a:off x="594360" y="640080"/>
            <a:ext cx="10972800" cy="274320"/>
          </a:xfrm>
          <a:prstGeom prst="rect">
            <a:avLst/>
          </a:prstGeom>
          <a:noFill/>
        </p:spPr>
        <p:txBody>
          <a:bodyPr wrap="square" lIns="45720" rIns="45720" tIns="18288" bIns="18288" anchor="t">
            <a:spAutoFit/>
          </a:bodyPr>
          <a:lstStyle/>
          <a:p>
            <a:pPr algn="l"/>
            <a:r>
              <a:rPr sz="1100" b="0" i="1">
                <a:solidFill>
                  <a:srgbClr val="6B7280"/>
                </a:solidFill>
                <a:latin typeface="Calibri"/>
              </a:rPr>
              <a:t>{{SECTION_SUB}}</a:t>
            </a:r>
          </a:p>
        </p:txBody>
      </p:sp>
      <p:sp>
        <p:nvSpPr>
          <p:cNvPr id="6" name="Rectangle 5"/>
          <p:cNvSpPr/>
          <p:nvPr/>
        </p:nvSpPr>
        <p:spPr>
          <a:xfrm>
            <a:off x="548640" y="1005840"/>
            <a:ext cx="11091672" cy="18288"/>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280160"/>
            <a:ext cx="7498079" cy="457200"/>
          </a:xfrm>
          <a:prstGeom prst="roundRect">
            <a:avLst>
              <a:gd name="adj" fmla="val 6000"/>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371600"/>
            <a:ext cx="7132319" cy="274320"/>
          </a:xfrm>
          <a:prstGeom prst="rect">
            <a:avLst/>
          </a:prstGeom>
          <a:noFill/>
        </p:spPr>
        <p:txBody>
          <a:bodyPr wrap="square" lIns="45720" rIns="45720" tIns="18288" bIns="18288" anchor="t">
            <a:spAutoFit/>
          </a:bodyPr>
          <a:lstStyle/>
          <a:p>
            <a:pPr algn="l"/>
            <a:r>
              <a:rPr sz="1100" b="1" i="0">
                <a:solidFill>
                  <a:srgbClr val="FFFFFF"/>
                </a:solidFill>
                <a:latin typeface="Calibri"/>
              </a:rPr>
              <a:t>{{CHART_TITLE}}</a:t>
            </a:r>
          </a:p>
        </p:txBody>
      </p:sp>
      <p:sp>
        <p:nvSpPr>
          <p:cNvPr id="9" name="Rounded Rectangle 8"/>
          <p:cNvSpPr/>
          <p:nvPr/>
        </p:nvSpPr>
        <p:spPr>
          <a:xfrm>
            <a:off x="548640" y="1737360"/>
            <a:ext cx="7498079" cy="3566160"/>
          </a:xfrm>
          <a:prstGeom prst="roundRect">
            <a:avLst>
              <a:gd name="adj" fmla="val 4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3154679"/>
            <a:ext cx="7498079" cy="365760"/>
          </a:xfrm>
          <a:prstGeom prst="rect">
            <a:avLst/>
          </a:prstGeom>
          <a:noFill/>
        </p:spPr>
        <p:txBody>
          <a:bodyPr wrap="square" lIns="45720" rIns="45720" tIns="18288" bIns="18288" anchor="ctr">
            <a:spAutoFit/>
          </a:bodyPr>
          <a:lstStyle/>
          <a:p>
            <a:pPr algn="ctr"/>
            <a:r>
              <a:rPr sz="2000" b="1" i="0">
                <a:solidFill>
                  <a:srgbClr val="9CA3AF"/>
                </a:solidFill>
                <a:latin typeface="Calibri"/>
              </a:rPr>
              <a:t>{{CHART_PLACEHOLDER}}</a:t>
            </a:r>
          </a:p>
        </p:txBody>
      </p:sp>
      <p:sp>
        <p:nvSpPr>
          <p:cNvPr id="11" name="TextBox 10"/>
          <p:cNvSpPr txBox="1"/>
          <p:nvPr/>
        </p:nvSpPr>
        <p:spPr>
          <a:xfrm>
            <a:off x="548640" y="3566159"/>
            <a:ext cx="7498079" cy="274320"/>
          </a:xfrm>
          <a:prstGeom prst="rect">
            <a:avLst/>
          </a:prstGeom>
          <a:noFill/>
        </p:spPr>
        <p:txBody>
          <a:bodyPr wrap="square" lIns="45720" rIns="45720" tIns="18288" bIns="18288" anchor="t">
            <a:spAutoFit/>
          </a:bodyPr>
          <a:lstStyle/>
          <a:p>
            <a:pPr algn="ctr"/>
            <a:r>
              <a:rPr sz="1000" b="0" i="1">
                <a:solidFill>
                  <a:srgbClr val="9CA3AF"/>
                </a:solidFill>
                <a:latin typeface="Calibri"/>
              </a:rPr>
              <a:t>(Biểu đồ đường — AI ghép từ YAML block trong MD)</a:t>
            </a:r>
          </a:p>
        </p:txBody>
      </p:sp>
      <p:sp>
        <p:nvSpPr>
          <p:cNvPr id="12" name="TextBox 11"/>
          <p:cNvSpPr txBox="1"/>
          <p:nvPr/>
        </p:nvSpPr>
        <p:spPr>
          <a:xfrm>
            <a:off x="548640" y="3886200"/>
            <a:ext cx="7498079" cy="274320"/>
          </a:xfrm>
          <a:prstGeom prst="rect">
            <a:avLst/>
          </a:prstGeom>
          <a:noFill/>
        </p:spPr>
        <p:txBody>
          <a:bodyPr wrap="square" lIns="45720" rIns="45720" tIns="18288" bIns="18288" anchor="t">
            <a:spAutoFit/>
          </a:bodyPr>
          <a:lstStyle/>
          <a:p>
            <a:pPr algn="ctr"/>
            <a:r>
              <a:rPr sz="900" b="0" i="0">
                <a:solidFill>
                  <a:srgbClr val="9CA3AF"/>
                </a:solidFill>
                <a:latin typeface="Calibri"/>
              </a:rPr>
              <a:t>type: line  •  x_axis: thời gian  •  y_axis: 1-3 series</a:t>
            </a:r>
          </a:p>
        </p:txBody>
      </p:sp>
      <p:sp>
        <p:nvSpPr>
          <p:cNvPr id="13" name="TextBox 12"/>
          <p:cNvSpPr txBox="1"/>
          <p:nvPr/>
        </p:nvSpPr>
        <p:spPr>
          <a:xfrm>
            <a:off x="548640" y="5349240"/>
            <a:ext cx="7498079" cy="228600"/>
          </a:xfrm>
          <a:prstGeom prst="rect">
            <a:avLst/>
          </a:prstGeom>
          <a:noFill/>
        </p:spPr>
        <p:txBody>
          <a:bodyPr wrap="square" lIns="45720" rIns="45720" tIns="18288" bIns="18288" anchor="t">
            <a:spAutoFit/>
          </a:bodyPr>
          <a:lstStyle/>
          <a:p>
            <a:pPr algn="l"/>
            <a:r>
              <a:rPr sz="900" b="0" i="1">
                <a:solidFill>
                  <a:srgbClr val="9CA3AF"/>
                </a:solidFill>
                <a:latin typeface="Calibri"/>
              </a:rPr>
              <a:t>{{CHART_SOURCE}}</a:t>
            </a:r>
          </a:p>
        </p:txBody>
      </p:sp>
      <p:sp>
        <p:nvSpPr>
          <p:cNvPr id="14" name="Rounded Rectangle 13"/>
          <p:cNvSpPr/>
          <p:nvPr/>
        </p:nvSpPr>
        <p:spPr>
          <a:xfrm>
            <a:off x="8321040" y="1280160"/>
            <a:ext cx="3319272" cy="1325880"/>
          </a:xfrm>
          <a:prstGeom prst="roundRect">
            <a:avLst>
              <a:gd name="adj" fmla="val 4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321040" y="1325880"/>
            <a:ext cx="73152" cy="1234439"/>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19" y="1371600"/>
            <a:ext cx="3044952" cy="320040"/>
          </a:xfrm>
          <a:prstGeom prst="rect">
            <a:avLst/>
          </a:prstGeom>
          <a:noFill/>
        </p:spPr>
        <p:txBody>
          <a:bodyPr wrap="square" lIns="45720" rIns="45720" tIns="18288" bIns="18288" anchor="t">
            <a:spAutoFit/>
          </a:bodyPr>
          <a:lstStyle/>
          <a:p>
            <a:pPr algn="l"/>
            <a:r>
              <a:rPr sz="1100" b="1" i="0">
                <a:solidFill>
                  <a:srgbClr val="1F2937"/>
                </a:solidFill>
                <a:latin typeface="Calibri"/>
              </a:rPr>
              <a:t>{{NOTE_1_TITLE}}</a:t>
            </a:r>
          </a:p>
        </p:txBody>
      </p:sp>
      <p:sp>
        <p:nvSpPr>
          <p:cNvPr id="17" name="TextBox 16"/>
          <p:cNvSpPr txBox="1"/>
          <p:nvPr/>
        </p:nvSpPr>
        <p:spPr>
          <a:xfrm>
            <a:off x="8503919" y="1691639"/>
            <a:ext cx="3044952" cy="822959"/>
          </a:xfrm>
          <a:prstGeom prst="rect">
            <a:avLst/>
          </a:prstGeom>
          <a:noFill/>
        </p:spPr>
        <p:txBody>
          <a:bodyPr wrap="square" lIns="45720" rIns="45720" tIns="18288" bIns="18288" anchor="t">
            <a:spAutoFit/>
          </a:bodyPr>
          <a:lstStyle/>
          <a:p>
            <a:pPr algn="l"/>
            <a:r>
              <a:rPr sz="1000" b="0" i="0">
                <a:solidFill>
                  <a:srgbClr val="1F2937"/>
                </a:solidFill>
                <a:latin typeface="Calibri"/>
              </a:rPr>
              <a:t>{{NOTE_1_BODY}}</a:t>
            </a:r>
          </a:p>
        </p:txBody>
      </p:sp>
      <p:sp>
        <p:nvSpPr>
          <p:cNvPr id="18" name="Rounded Rectangle 17"/>
          <p:cNvSpPr/>
          <p:nvPr/>
        </p:nvSpPr>
        <p:spPr>
          <a:xfrm>
            <a:off x="8321040" y="2697480"/>
            <a:ext cx="3319272" cy="1325880"/>
          </a:xfrm>
          <a:prstGeom prst="roundRect">
            <a:avLst>
              <a:gd name="adj" fmla="val 4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321040" y="2743200"/>
            <a:ext cx="73152" cy="1234439"/>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03919" y="2788920"/>
            <a:ext cx="3044952" cy="320040"/>
          </a:xfrm>
          <a:prstGeom prst="rect">
            <a:avLst/>
          </a:prstGeom>
          <a:noFill/>
        </p:spPr>
        <p:txBody>
          <a:bodyPr wrap="square" lIns="45720" rIns="45720" tIns="18288" bIns="18288" anchor="t">
            <a:spAutoFit/>
          </a:bodyPr>
          <a:lstStyle/>
          <a:p>
            <a:pPr algn="l"/>
            <a:r>
              <a:rPr sz="1100" b="1" i="0">
                <a:solidFill>
                  <a:srgbClr val="1F2937"/>
                </a:solidFill>
                <a:latin typeface="Calibri"/>
              </a:rPr>
              <a:t>{{NOTE_2_TITLE}}</a:t>
            </a:r>
          </a:p>
        </p:txBody>
      </p:sp>
      <p:sp>
        <p:nvSpPr>
          <p:cNvPr id="21" name="TextBox 20"/>
          <p:cNvSpPr txBox="1"/>
          <p:nvPr/>
        </p:nvSpPr>
        <p:spPr>
          <a:xfrm>
            <a:off x="8503919" y="3108960"/>
            <a:ext cx="3044952" cy="822959"/>
          </a:xfrm>
          <a:prstGeom prst="rect">
            <a:avLst/>
          </a:prstGeom>
          <a:noFill/>
        </p:spPr>
        <p:txBody>
          <a:bodyPr wrap="square" lIns="45720" rIns="45720" tIns="18288" bIns="18288" anchor="t">
            <a:spAutoFit/>
          </a:bodyPr>
          <a:lstStyle/>
          <a:p>
            <a:pPr algn="l"/>
            <a:r>
              <a:rPr sz="1000" b="0" i="0">
                <a:solidFill>
                  <a:srgbClr val="1F2937"/>
                </a:solidFill>
                <a:latin typeface="Calibri"/>
              </a:rPr>
              <a:t>{{NOTE_2_BODY}}</a:t>
            </a:r>
          </a:p>
        </p:txBody>
      </p:sp>
      <p:sp>
        <p:nvSpPr>
          <p:cNvPr id="22" name="Rounded Rectangle 21"/>
          <p:cNvSpPr/>
          <p:nvPr/>
        </p:nvSpPr>
        <p:spPr>
          <a:xfrm>
            <a:off x="8321040" y="4114800"/>
            <a:ext cx="3319272" cy="1325880"/>
          </a:xfrm>
          <a:prstGeom prst="roundRect">
            <a:avLst>
              <a:gd name="adj" fmla="val 4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321040" y="4160520"/>
            <a:ext cx="73152" cy="1234439"/>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503919" y="4206240"/>
            <a:ext cx="3044952" cy="320040"/>
          </a:xfrm>
          <a:prstGeom prst="rect">
            <a:avLst/>
          </a:prstGeom>
          <a:noFill/>
        </p:spPr>
        <p:txBody>
          <a:bodyPr wrap="square" lIns="45720" rIns="45720" tIns="18288" bIns="18288" anchor="t">
            <a:spAutoFit/>
          </a:bodyPr>
          <a:lstStyle/>
          <a:p>
            <a:pPr algn="l"/>
            <a:r>
              <a:rPr sz="1100" b="1" i="0">
                <a:solidFill>
                  <a:srgbClr val="1F2937"/>
                </a:solidFill>
                <a:latin typeface="Calibri"/>
              </a:rPr>
              <a:t>{{NOTE_3_TITLE}}</a:t>
            </a:r>
          </a:p>
        </p:txBody>
      </p:sp>
      <p:sp>
        <p:nvSpPr>
          <p:cNvPr id="25" name="TextBox 24"/>
          <p:cNvSpPr txBox="1"/>
          <p:nvPr/>
        </p:nvSpPr>
        <p:spPr>
          <a:xfrm>
            <a:off x="8503919" y="4526280"/>
            <a:ext cx="3044952" cy="822959"/>
          </a:xfrm>
          <a:prstGeom prst="rect">
            <a:avLst/>
          </a:prstGeom>
          <a:noFill/>
        </p:spPr>
        <p:txBody>
          <a:bodyPr wrap="square" lIns="45720" rIns="45720" tIns="18288" bIns="18288" anchor="t">
            <a:spAutoFit/>
          </a:bodyPr>
          <a:lstStyle/>
          <a:p>
            <a:pPr algn="l"/>
            <a:r>
              <a:rPr sz="1000" b="0" i="0">
                <a:solidFill>
                  <a:srgbClr val="1F2937"/>
                </a:solidFill>
                <a:latin typeface="Calibri"/>
              </a:rPr>
              <a:t>{{NOTE_3_BODY}}</a:t>
            </a:r>
          </a:p>
        </p:txBody>
      </p:sp>
      <p:sp>
        <p:nvSpPr>
          <p:cNvPr id="26" name="TextBox 25"/>
          <p:cNvSpPr txBox="1"/>
          <p:nvPr/>
        </p:nvSpPr>
        <p:spPr>
          <a:xfrm>
            <a:off x="548640" y="6492240"/>
            <a:ext cx="8229600" cy="274320"/>
          </a:xfrm>
          <a:prstGeom prst="rect">
            <a:avLst/>
          </a:prstGeom>
          <a:noFill/>
        </p:spPr>
        <p:txBody>
          <a:bodyPr wrap="square" lIns="45720" rIns="45720" tIns="18288" bIns="18288" anchor="t">
            <a:spAutoFit/>
          </a:bodyPr>
          <a:lstStyle/>
          <a:p>
            <a:pPr algn="l"/>
            <a:r>
              <a:rPr sz="900" b="0" i="1">
                <a:solidFill>
                  <a:srgbClr val="9CA3AF"/>
                </a:solidFill>
                <a:latin typeface="Calibri"/>
              </a:rPr>
              <a:t>{{FOOTER_LEFT}}</a:t>
            </a:r>
          </a:p>
        </p:txBody>
      </p:sp>
      <p:sp>
        <p:nvSpPr>
          <p:cNvPr id="27" name="TextBox 26"/>
          <p:cNvSpPr txBox="1"/>
          <p:nvPr/>
        </p:nvSpPr>
        <p:spPr>
          <a:xfrm>
            <a:off x="10058400" y="6492240"/>
            <a:ext cx="1645920" cy="274320"/>
          </a:xfrm>
          <a:prstGeom prst="rect">
            <a:avLst/>
          </a:prstGeom>
          <a:noFill/>
        </p:spPr>
        <p:txBody>
          <a:bodyPr wrap="square" lIns="45720" rIns="45720" tIns="18288" bIns="18288" anchor="t">
            <a:spAutoFit/>
          </a:bodyPr>
          <a:lstStyle/>
          <a:p>
            <a:pPr algn="r"/>
            <a:r>
              <a:rPr sz="900" b="0" i="0">
                <a:solidFill>
                  <a:srgbClr val="9CA3AF"/>
                </a:solidFill>
                <a:latin typeface="Calibri"/>
              </a:rPr>
              <a:t>{{PAGE_NUM}}</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name="SCATTER_PEER">
    <p:spTree>
      <p:nvGrpSpPr>
        <p:cNvPr id="1" name=""/>
        <p:cNvGrpSpPr/>
        <p:nvPr/>
      </p:nvGrpSpPr>
      <p:grpSpPr/>
      <p:sp>
        <p:nvSpPr>
          <p:cNvPr id="2" name="Rectangle 1"/>
          <p:cNvSpPr/>
          <p:nvPr/>
        </p:nvSpPr>
        <p:spPr>
          <a:xfrm>
            <a:off x="457200" y="274320"/>
            <a:ext cx="73152" cy="32004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594359"/>
            <a:ext cx="73152" cy="320040"/>
          </a:xfrm>
          <a:prstGeom prst="rect">
            <a:avLst/>
          </a:prstGeom>
          <a:solidFill>
            <a:srgbClr val="B47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74320"/>
            <a:ext cx="10972800" cy="365760"/>
          </a:xfrm>
          <a:prstGeom prst="rect">
            <a:avLst/>
          </a:prstGeom>
          <a:noFill/>
        </p:spPr>
        <p:txBody>
          <a:bodyPr wrap="square" lIns="45720" rIns="45720" tIns="18288" bIns="18288" anchor="t">
            <a:spAutoFit/>
          </a:bodyPr>
          <a:lstStyle/>
          <a:p>
            <a:pPr algn="l"/>
            <a:r>
              <a:rPr sz="2400" b="1" i="0">
                <a:solidFill>
                  <a:srgbClr val="1F2937"/>
                </a:solidFill>
                <a:latin typeface="Calibri"/>
              </a:rPr>
              <a:t>{{SECTION_TITLE}}</a:t>
            </a:r>
          </a:p>
        </p:txBody>
      </p:sp>
      <p:sp>
        <p:nvSpPr>
          <p:cNvPr id="5" name="TextBox 4"/>
          <p:cNvSpPr txBox="1"/>
          <p:nvPr/>
        </p:nvSpPr>
        <p:spPr>
          <a:xfrm>
            <a:off x="594360" y="640080"/>
            <a:ext cx="10972800" cy="274320"/>
          </a:xfrm>
          <a:prstGeom prst="rect">
            <a:avLst/>
          </a:prstGeom>
          <a:noFill/>
        </p:spPr>
        <p:txBody>
          <a:bodyPr wrap="square" lIns="45720" rIns="45720" tIns="18288" bIns="18288" anchor="t">
            <a:spAutoFit/>
          </a:bodyPr>
          <a:lstStyle/>
          <a:p>
            <a:pPr algn="l"/>
            <a:r>
              <a:rPr sz="1100" b="0" i="1">
                <a:solidFill>
                  <a:srgbClr val="6B7280"/>
                </a:solidFill>
                <a:latin typeface="Calibri"/>
              </a:rPr>
              <a:t>{{SECTION_SUB}}</a:t>
            </a:r>
          </a:p>
        </p:txBody>
      </p:sp>
      <p:sp>
        <p:nvSpPr>
          <p:cNvPr id="6" name="Rectangle 5"/>
          <p:cNvSpPr/>
          <p:nvPr/>
        </p:nvSpPr>
        <p:spPr>
          <a:xfrm>
            <a:off x="548640" y="1005840"/>
            <a:ext cx="11091672" cy="18288"/>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280160"/>
            <a:ext cx="6858000" cy="457200"/>
          </a:xfrm>
          <a:prstGeom prst="roundRect">
            <a:avLst>
              <a:gd name="adj" fmla="val 6000"/>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371600"/>
            <a:ext cx="6492240" cy="274320"/>
          </a:xfrm>
          <a:prstGeom prst="rect">
            <a:avLst/>
          </a:prstGeom>
          <a:noFill/>
        </p:spPr>
        <p:txBody>
          <a:bodyPr wrap="square" lIns="45720" rIns="45720" tIns="18288" bIns="18288" anchor="t">
            <a:spAutoFit/>
          </a:bodyPr>
          <a:lstStyle/>
          <a:p>
            <a:pPr algn="l"/>
            <a:r>
              <a:rPr sz="1100" b="1" i="0">
                <a:solidFill>
                  <a:srgbClr val="FFFFFF"/>
                </a:solidFill>
                <a:latin typeface="Calibri"/>
              </a:rPr>
              <a:t>{{CHART_TITLE}}</a:t>
            </a:r>
          </a:p>
        </p:txBody>
      </p:sp>
      <p:sp>
        <p:nvSpPr>
          <p:cNvPr id="9" name="Rounded Rectangle 8"/>
          <p:cNvSpPr/>
          <p:nvPr/>
        </p:nvSpPr>
        <p:spPr>
          <a:xfrm>
            <a:off x="548640" y="1737360"/>
            <a:ext cx="6858000" cy="3566160"/>
          </a:xfrm>
          <a:prstGeom prst="roundRect">
            <a:avLst>
              <a:gd name="adj" fmla="val 4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828800"/>
            <a:ext cx="6492240" cy="274320"/>
          </a:xfrm>
          <a:prstGeom prst="rect">
            <a:avLst/>
          </a:prstGeom>
          <a:noFill/>
        </p:spPr>
        <p:txBody>
          <a:bodyPr wrap="square" lIns="45720" rIns="45720" tIns="18288" bIns="18288" anchor="t">
            <a:spAutoFit/>
          </a:bodyPr>
          <a:lstStyle/>
          <a:p>
            <a:pPr algn="l"/>
            <a:r>
              <a:rPr sz="900" b="1" i="0">
                <a:solidFill>
                  <a:srgbClr val="6B7280"/>
                </a:solidFill>
                <a:latin typeface="Calibri"/>
              </a:rPr>
              <a:t>{{Y_AXIS_LABEL}}</a:t>
            </a:r>
          </a:p>
        </p:txBody>
      </p:sp>
      <p:sp>
        <p:nvSpPr>
          <p:cNvPr id="11" name="TextBox 10"/>
          <p:cNvSpPr txBox="1"/>
          <p:nvPr/>
        </p:nvSpPr>
        <p:spPr>
          <a:xfrm>
            <a:off x="548640" y="3154679"/>
            <a:ext cx="6858000" cy="365760"/>
          </a:xfrm>
          <a:prstGeom prst="rect">
            <a:avLst/>
          </a:prstGeom>
          <a:noFill/>
        </p:spPr>
        <p:txBody>
          <a:bodyPr wrap="square" lIns="45720" rIns="45720" tIns="18288" bIns="18288" anchor="ctr">
            <a:spAutoFit/>
          </a:bodyPr>
          <a:lstStyle/>
          <a:p>
            <a:pPr algn="ctr"/>
            <a:r>
              <a:rPr sz="2000" b="1" i="0">
                <a:solidFill>
                  <a:srgbClr val="9CA3AF"/>
                </a:solidFill>
                <a:latin typeface="Calibri"/>
              </a:rPr>
              <a:t>{{CHART_PLACEHOLDER}}</a:t>
            </a:r>
          </a:p>
        </p:txBody>
      </p:sp>
      <p:sp>
        <p:nvSpPr>
          <p:cNvPr id="12" name="TextBox 11"/>
          <p:cNvSpPr txBox="1"/>
          <p:nvPr/>
        </p:nvSpPr>
        <p:spPr>
          <a:xfrm>
            <a:off x="548640" y="3566159"/>
            <a:ext cx="6858000" cy="274320"/>
          </a:xfrm>
          <a:prstGeom prst="rect">
            <a:avLst/>
          </a:prstGeom>
          <a:noFill/>
        </p:spPr>
        <p:txBody>
          <a:bodyPr wrap="square" lIns="45720" rIns="45720" tIns="18288" bIns="18288" anchor="t">
            <a:spAutoFit/>
          </a:bodyPr>
          <a:lstStyle/>
          <a:p>
            <a:pPr algn="ctr"/>
            <a:r>
              <a:rPr sz="1000" b="0" i="1">
                <a:solidFill>
                  <a:srgbClr val="9CA3AF"/>
                </a:solidFill>
                <a:latin typeface="Calibri"/>
              </a:rPr>
              <a:t>(Scatter plot — AI ghép từ YAML block trong MD)</a:t>
            </a:r>
          </a:p>
        </p:txBody>
      </p:sp>
      <p:sp>
        <p:nvSpPr>
          <p:cNvPr id="13" name="TextBox 12"/>
          <p:cNvSpPr txBox="1"/>
          <p:nvPr/>
        </p:nvSpPr>
        <p:spPr>
          <a:xfrm>
            <a:off x="548640" y="3886200"/>
            <a:ext cx="6858000" cy="274320"/>
          </a:xfrm>
          <a:prstGeom prst="rect">
            <a:avLst/>
          </a:prstGeom>
          <a:noFill/>
        </p:spPr>
        <p:txBody>
          <a:bodyPr wrap="square" lIns="45720" rIns="45720" tIns="18288" bIns="18288" anchor="t">
            <a:spAutoFit/>
          </a:bodyPr>
          <a:lstStyle/>
          <a:p>
            <a:pPr algn="ctr"/>
            <a:r>
              <a:rPr sz="900" b="0" i="0">
                <a:solidFill>
                  <a:srgbClr val="9CA3AF"/>
                </a:solidFill>
                <a:latin typeface="Calibri"/>
              </a:rPr>
              <a:t>type: scatter  •  Mã đang phân tích = highlight violet</a:t>
            </a:r>
          </a:p>
        </p:txBody>
      </p:sp>
      <p:sp>
        <p:nvSpPr>
          <p:cNvPr id="14" name="TextBox 13"/>
          <p:cNvSpPr txBox="1"/>
          <p:nvPr/>
        </p:nvSpPr>
        <p:spPr>
          <a:xfrm>
            <a:off x="731520" y="5029200"/>
            <a:ext cx="6492240" cy="228600"/>
          </a:xfrm>
          <a:prstGeom prst="rect">
            <a:avLst/>
          </a:prstGeom>
          <a:noFill/>
        </p:spPr>
        <p:txBody>
          <a:bodyPr wrap="square" lIns="45720" rIns="45720" tIns="18288" bIns="18288" anchor="t">
            <a:spAutoFit/>
          </a:bodyPr>
          <a:lstStyle/>
          <a:p>
            <a:pPr algn="r"/>
            <a:r>
              <a:rPr sz="900" b="1" i="0">
                <a:solidFill>
                  <a:srgbClr val="6B7280"/>
                </a:solidFill>
                <a:latin typeface="Calibri"/>
              </a:rPr>
              <a:t>{{X_AXIS_LABEL}}</a:t>
            </a:r>
          </a:p>
        </p:txBody>
      </p:sp>
      <p:sp>
        <p:nvSpPr>
          <p:cNvPr id="15" name="TextBox 14"/>
          <p:cNvSpPr txBox="1"/>
          <p:nvPr/>
        </p:nvSpPr>
        <p:spPr>
          <a:xfrm>
            <a:off x="548640" y="5349240"/>
            <a:ext cx="6858000" cy="228600"/>
          </a:xfrm>
          <a:prstGeom prst="rect">
            <a:avLst/>
          </a:prstGeom>
          <a:noFill/>
        </p:spPr>
        <p:txBody>
          <a:bodyPr wrap="square" lIns="45720" rIns="45720" tIns="18288" bIns="18288" anchor="t">
            <a:spAutoFit/>
          </a:bodyPr>
          <a:lstStyle/>
          <a:p>
            <a:pPr algn="l"/>
            <a:r>
              <a:rPr sz="900" b="0" i="1">
                <a:solidFill>
                  <a:srgbClr val="9CA3AF"/>
                </a:solidFill>
                <a:latin typeface="Calibri"/>
              </a:rPr>
              <a:t>{{CHART_SOURCE}}</a:t>
            </a:r>
          </a:p>
        </p:txBody>
      </p:sp>
      <p:sp>
        <p:nvSpPr>
          <p:cNvPr id="16" name="TextBox 15"/>
          <p:cNvSpPr txBox="1"/>
          <p:nvPr/>
        </p:nvSpPr>
        <p:spPr>
          <a:xfrm>
            <a:off x="7680960" y="1280160"/>
            <a:ext cx="3959352" cy="274320"/>
          </a:xfrm>
          <a:prstGeom prst="rect">
            <a:avLst/>
          </a:prstGeom>
          <a:noFill/>
        </p:spPr>
        <p:txBody>
          <a:bodyPr wrap="square" lIns="45720" rIns="45720" tIns="18288" bIns="18288" anchor="t">
            <a:spAutoFit/>
          </a:bodyPr>
          <a:lstStyle/>
          <a:p>
            <a:pPr algn="l"/>
            <a:r>
              <a:rPr sz="1000" b="1" i="0">
                <a:solidFill>
                  <a:srgbClr val="8B5CF6"/>
                </a:solidFill>
                <a:latin typeface="Calibri"/>
              </a:rPr>
              <a:t>ĐỊNH VỊ TRONG NHÓM</a:t>
            </a:r>
          </a:p>
        </p:txBody>
      </p:sp>
      <p:sp>
        <p:nvSpPr>
          <p:cNvPr id="17" name="Rectangle 16"/>
          <p:cNvSpPr/>
          <p:nvPr/>
        </p:nvSpPr>
        <p:spPr>
          <a:xfrm>
            <a:off x="7680960" y="1645919"/>
            <a:ext cx="3867912" cy="36576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80960" y="1645919"/>
            <a:ext cx="1280160" cy="365760"/>
          </a:xfrm>
          <a:prstGeom prst="rect">
            <a:avLst/>
          </a:prstGeom>
          <a:noFill/>
        </p:spPr>
        <p:txBody>
          <a:bodyPr wrap="square" lIns="45720" rIns="45720" tIns="18288" bIns="18288" anchor="ctr">
            <a:spAutoFit/>
          </a:bodyPr>
          <a:lstStyle/>
          <a:p>
            <a:pPr algn="ctr"/>
            <a:r>
              <a:rPr sz="900" b="1" i="0">
                <a:solidFill>
                  <a:srgbClr val="FFFFFF"/>
                </a:solidFill>
                <a:latin typeface="Calibri"/>
              </a:rPr>
              <a:t>Mã</a:t>
            </a:r>
          </a:p>
        </p:txBody>
      </p:sp>
      <p:sp>
        <p:nvSpPr>
          <p:cNvPr id="19" name="TextBox 18"/>
          <p:cNvSpPr txBox="1"/>
          <p:nvPr/>
        </p:nvSpPr>
        <p:spPr>
          <a:xfrm>
            <a:off x="8961120" y="1645919"/>
            <a:ext cx="2587752" cy="365760"/>
          </a:xfrm>
          <a:prstGeom prst="rect">
            <a:avLst/>
          </a:prstGeom>
          <a:noFill/>
        </p:spPr>
        <p:txBody>
          <a:bodyPr wrap="square" lIns="45720" rIns="45720" tIns="18288" bIns="18288" anchor="ctr">
            <a:spAutoFit/>
          </a:bodyPr>
          <a:lstStyle/>
          <a:p>
            <a:pPr algn="l"/>
            <a:r>
              <a:rPr sz="900" b="1" i="0">
                <a:solidFill>
                  <a:srgbClr val="FFFFFF"/>
                </a:solidFill>
                <a:latin typeface="Calibri"/>
              </a:rPr>
              <a:t>Đặc điểm</a:t>
            </a:r>
          </a:p>
        </p:txBody>
      </p:sp>
      <p:sp>
        <p:nvSpPr>
          <p:cNvPr id="20" name="Rectangle 19"/>
          <p:cNvSpPr/>
          <p:nvPr/>
        </p:nvSpPr>
        <p:spPr>
          <a:xfrm>
            <a:off x="7680960" y="2011679"/>
            <a:ext cx="3867912" cy="502920"/>
          </a:xfrm>
          <a:prstGeom prst="rect">
            <a:avLst/>
          </a:prstGeom>
          <a:solidFill>
            <a:srgbClr val="F3E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80960" y="2011679"/>
            <a:ext cx="1280160" cy="502920"/>
          </a:xfrm>
          <a:prstGeom prst="rect">
            <a:avLst/>
          </a:prstGeom>
          <a:noFill/>
        </p:spPr>
        <p:txBody>
          <a:bodyPr wrap="square" lIns="45720" rIns="45720" tIns="18288" bIns="18288" anchor="ctr">
            <a:spAutoFit/>
          </a:bodyPr>
          <a:lstStyle/>
          <a:p>
            <a:pPr algn="ctr"/>
            <a:r>
              <a:rPr sz="1000" b="1" i="0">
                <a:solidFill>
                  <a:srgbClr val="8B5CF6"/>
                </a:solidFill>
                <a:latin typeface="Calibri"/>
              </a:rPr>
              <a:t>{{PEER_1_TICKER}}</a:t>
            </a:r>
          </a:p>
        </p:txBody>
      </p:sp>
      <p:sp>
        <p:nvSpPr>
          <p:cNvPr id="22" name="TextBox 21"/>
          <p:cNvSpPr txBox="1"/>
          <p:nvPr/>
        </p:nvSpPr>
        <p:spPr>
          <a:xfrm>
            <a:off x="8961120" y="2011679"/>
            <a:ext cx="2587752" cy="502920"/>
          </a:xfrm>
          <a:prstGeom prst="rect">
            <a:avLst/>
          </a:prstGeom>
          <a:noFill/>
        </p:spPr>
        <p:txBody>
          <a:bodyPr wrap="square" lIns="45720" rIns="45720" tIns="18288" bIns="18288" anchor="ctr">
            <a:spAutoFit/>
          </a:bodyPr>
          <a:lstStyle/>
          <a:p>
            <a:pPr algn="l"/>
            <a:r>
              <a:rPr sz="900" b="0" i="0">
                <a:solidFill>
                  <a:srgbClr val="1F2937"/>
                </a:solidFill>
                <a:latin typeface="Calibri"/>
              </a:rPr>
              <a:t>{{PEER_1_NOTE}}</a:t>
            </a:r>
          </a:p>
        </p:txBody>
      </p:sp>
      <p:sp>
        <p:nvSpPr>
          <p:cNvPr id="23" name="Rectangle 22"/>
          <p:cNvSpPr/>
          <p:nvPr/>
        </p:nvSpPr>
        <p:spPr>
          <a:xfrm>
            <a:off x="7680960" y="2514600"/>
            <a:ext cx="3867912" cy="5029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80960" y="2514600"/>
            <a:ext cx="1280160" cy="502920"/>
          </a:xfrm>
          <a:prstGeom prst="rect">
            <a:avLst/>
          </a:prstGeom>
          <a:noFill/>
        </p:spPr>
        <p:txBody>
          <a:bodyPr wrap="square" lIns="45720" rIns="45720" tIns="18288" bIns="18288" anchor="ctr">
            <a:spAutoFit/>
          </a:bodyPr>
          <a:lstStyle/>
          <a:p>
            <a:pPr algn="ctr"/>
            <a:r>
              <a:rPr sz="1000" b="1" i="0">
                <a:solidFill>
                  <a:srgbClr val="1F2937"/>
                </a:solidFill>
                <a:latin typeface="Calibri"/>
              </a:rPr>
              <a:t>{{PEER_2_TICKER}}</a:t>
            </a:r>
          </a:p>
        </p:txBody>
      </p:sp>
      <p:sp>
        <p:nvSpPr>
          <p:cNvPr id="25" name="TextBox 24"/>
          <p:cNvSpPr txBox="1"/>
          <p:nvPr/>
        </p:nvSpPr>
        <p:spPr>
          <a:xfrm>
            <a:off x="8961120" y="2514600"/>
            <a:ext cx="2587752" cy="502920"/>
          </a:xfrm>
          <a:prstGeom prst="rect">
            <a:avLst/>
          </a:prstGeom>
          <a:noFill/>
        </p:spPr>
        <p:txBody>
          <a:bodyPr wrap="square" lIns="45720" rIns="45720" tIns="18288" bIns="18288" anchor="ctr">
            <a:spAutoFit/>
          </a:bodyPr>
          <a:lstStyle/>
          <a:p>
            <a:pPr algn="l"/>
            <a:r>
              <a:rPr sz="900" b="0" i="0">
                <a:solidFill>
                  <a:srgbClr val="1F2937"/>
                </a:solidFill>
                <a:latin typeface="Calibri"/>
              </a:rPr>
              <a:t>{{PEER_2_NOTE}}</a:t>
            </a:r>
          </a:p>
        </p:txBody>
      </p:sp>
      <p:sp>
        <p:nvSpPr>
          <p:cNvPr id="26" name="TextBox 25"/>
          <p:cNvSpPr txBox="1"/>
          <p:nvPr/>
        </p:nvSpPr>
        <p:spPr>
          <a:xfrm>
            <a:off x="7680960" y="3017520"/>
            <a:ext cx="1280160" cy="502920"/>
          </a:xfrm>
          <a:prstGeom prst="rect">
            <a:avLst/>
          </a:prstGeom>
          <a:noFill/>
        </p:spPr>
        <p:txBody>
          <a:bodyPr wrap="square" lIns="45720" rIns="45720" tIns="18288" bIns="18288" anchor="ctr">
            <a:spAutoFit/>
          </a:bodyPr>
          <a:lstStyle/>
          <a:p>
            <a:pPr algn="ctr"/>
            <a:r>
              <a:rPr sz="1000" b="1" i="0">
                <a:solidFill>
                  <a:srgbClr val="1F2937"/>
                </a:solidFill>
                <a:latin typeface="Calibri"/>
              </a:rPr>
              <a:t>{{PEER_3_TICKER}}</a:t>
            </a:r>
          </a:p>
        </p:txBody>
      </p:sp>
      <p:sp>
        <p:nvSpPr>
          <p:cNvPr id="27" name="TextBox 26"/>
          <p:cNvSpPr txBox="1"/>
          <p:nvPr/>
        </p:nvSpPr>
        <p:spPr>
          <a:xfrm>
            <a:off x="8961120" y="3017520"/>
            <a:ext cx="2587752" cy="502920"/>
          </a:xfrm>
          <a:prstGeom prst="rect">
            <a:avLst/>
          </a:prstGeom>
          <a:noFill/>
        </p:spPr>
        <p:txBody>
          <a:bodyPr wrap="square" lIns="45720" rIns="45720" tIns="18288" bIns="18288" anchor="ctr">
            <a:spAutoFit/>
          </a:bodyPr>
          <a:lstStyle/>
          <a:p>
            <a:pPr algn="l"/>
            <a:r>
              <a:rPr sz="900" b="0" i="0">
                <a:solidFill>
                  <a:srgbClr val="1F2937"/>
                </a:solidFill>
                <a:latin typeface="Calibri"/>
              </a:rPr>
              <a:t>{{PEER_3_NOTE}}</a:t>
            </a:r>
          </a:p>
        </p:txBody>
      </p:sp>
      <p:sp>
        <p:nvSpPr>
          <p:cNvPr id="28" name="Rectangle 27"/>
          <p:cNvSpPr/>
          <p:nvPr/>
        </p:nvSpPr>
        <p:spPr>
          <a:xfrm>
            <a:off x="7680960" y="3520439"/>
            <a:ext cx="3867912" cy="5029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680960" y="3520439"/>
            <a:ext cx="1280160" cy="502920"/>
          </a:xfrm>
          <a:prstGeom prst="rect">
            <a:avLst/>
          </a:prstGeom>
          <a:noFill/>
        </p:spPr>
        <p:txBody>
          <a:bodyPr wrap="square" lIns="45720" rIns="45720" tIns="18288" bIns="18288" anchor="ctr">
            <a:spAutoFit/>
          </a:bodyPr>
          <a:lstStyle/>
          <a:p>
            <a:pPr algn="ctr"/>
            <a:r>
              <a:rPr sz="1000" b="1" i="0">
                <a:solidFill>
                  <a:srgbClr val="1F2937"/>
                </a:solidFill>
                <a:latin typeface="Calibri"/>
              </a:rPr>
              <a:t>{{PEER_4_TICKER}}</a:t>
            </a:r>
          </a:p>
        </p:txBody>
      </p:sp>
      <p:sp>
        <p:nvSpPr>
          <p:cNvPr id="30" name="TextBox 29"/>
          <p:cNvSpPr txBox="1"/>
          <p:nvPr/>
        </p:nvSpPr>
        <p:spPr>
          <a:xfrm>
            <a:off x="8961120" y="3520439"/>
            <a:ext cx="2587752" cy="502920"/>
          </a:xfrm>
          <a:prstGeom prst="rect">
            <a:avLst/>
          </a:prstGeom>
          <a:noFill/>
        </p:spPr>
        <p:txBody>
          <a:bodyPr wrap="square" lIns="45720" rIns="45720" tIns="18288" bIns="18288" anchor="ctr">
            <a:spAutoFit/>
          </a:bodyPr>
          <a:lstStyle/>
          <a:p>
            <a:pPr algn="l"/>
            <a:r>
              <a:rPr sz="900" b="0" i="0">
                <a:solidFill>
                  <a:srgbClr val="1F2937"/>
                </a:solidFill>
                <a:latin typeface="Calibri"/>
              </a:rPr>
              <a:t>{{PEER_4_NOTE}}</a:t>
            </a:r>
          </a:p>
        </p:txBody>
      </p:sp>
      <p:sp>
        <p:nvSpPr>
          <p:cNvPr id="31" name="TextBox 30"/>
          <p:cNvSpPr txBox="1"/>
          <p:nvPr/>
        </p:nvSpPr>
        <p:spPr>
          <a:xfrm>
            <a:off x="7680960" y="4023359"/>
            <a:ext cx="1280160" cy="502920"/>
          </a:xfrm>
          <a:prstGeom prst="rect">
            <a:avLst/>
          </a:prstGeom>
          <a:noFill/>
        </p:spPr>
        <p:txBody>
          <a:bodyPr wrap="square" lIns="45720" rIns="45720" tIns="18288" bIns="18288" anchor="ctr">
            <a:spAutoFit/>
          </a:bodyPr>
          <a:lstStyle/>
          <a:p>
            <a:pPr algn="ctr"/>
            <a:r>
              <a:rPr sz="1000" b="1" i="0">
                <a:solidFill>
                  <a:srgbClr val="1F2937"/>
                </a:solidFill>
                <a:latin typeface="Calibri"/>
              </a:rPr>
              <a:t>{{PEER_5_TICKER}}</a:t>
            </a:r>
          </a:p>
        </p:txBody>
      </p:sp>
      <p:sp>
        <p:nvSpPr>
          <p:cNvPr id="32" name="TextBox 31"/>
          <p:cNvSpPr txBox="1"/>
          <p:nvPr/>
        </p:nvSpPr>
        <p:spPr>
          <a:xfrm>
            <a:off x="8961120" y="4023359"/>
            <a:ext cx="2587752" cy="502920"/>
          </a:xfrm>
          <a:prstGeom prst="rect">
            <a:avLst/>
          </a:prstGeom>
          <a:noFill/>
        </p:spPr>
        <p:txBody>
          <a:bodyPr wrap="square" lIns="45720" rIns="45720" tIns="18288" bIns="18288" anchor="ctr">
            <a:spAutoFit/>
          </a:bodyPr>
          <a:lstStyle/>
          <a:p>
            <a:pPr algn="l"/>
            <a:r>
              <a:rPr sz="900" b="0" i="0">
                <a:solidFill>
                  <a:srgbClr val="1F2937"/>
                </a:solidFill>
                <a:latin typeface="Calibri"/>
              </a:rPr>
              <a:t>{{PEER_5_NOTE}}</a:t>
            </a:r>
          </a:p>
        </p:txBody>
      </p:sp>
      <p:sp>
        <p:nvSpPr>
          <p:cNvPr id="33" name="Rectangle 32"/>
          <p:cNvSpPr/>
          <p:nvPr/>
        </p:nvSpPr>
        <p:spPr>
          <a:xfrm>
            <a:off x="7680960" y="4526279"/>
            <a:ext cx="3867912" cy="5029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680960" y="4526279"/>
            <a:ext cx="1280160" cy="502920"/>
          </a:xfrm>
          <a:prstGeom prst="rect">
            <a:avLst/>
          </a:prstGeom>
          <a:noFill/>
        </p:spPr>
        <p:txBody>
          <a:bodyPr wrap="square" lIns="45720" rIns="45720" tIns="18288" bIns="18288" anchor="ctr">
            <a:spAutoFit/>
          </a:bodyPr>
          <a:lstStyle/>
          <a:p>
            <a:pPr algn="ctr"/>
            <a:r>
              <a:rPr sz="1000" b="1" i="0">
                <a:solidFill>
                  <a:srgbClr val="1F2937"/>
                </a:solidFill>
                <a:latin typeface="Calibri"/>
              </a:rPr>
              <a:t>{{PEER_6_TICKER}}</a:t>
            </a:r>
          </a:p>
        </p:txBody>
      </p:sp>
      <p:sp>
        <p:nvSpPr>
          <p:cNvPr id="35" name="TextBox 34"/>
          <p:cNvSpPr txBox="1"/>
          <p:nvPr/>
        </p:nvSpPr>
        <p:spPr>
          <a:xfrm>
            <a:off x="8961120" y="4526279"/>
            <a:ext cx="2587752" cy="502920"/>
          </a:xfrm>
          <a:prstGeom prst="rect">
            <a:avLst/>
          </a:prstGeom>
          <a:noFill/>
        </p:spPr>
        <p:txBody>
          <a:bodyPr wrap="square" lIns="45720" rIns="45720" tIns="18288" bIns="18288" anchor="ctr">
            <a:spAutoFit/>
          </a:bodyPr>
          <a:lstStyle/>
          <a:p>
            <a:pPr algn="l"/>
            <a:r>
              <a:rPr sz="900" b="0" i="0">
                <a:solidFill>
                  <a:srgbClr val="1F2937"/>
                </a:solidFill>
                <a:latin typeface="Calibri"/>
              </a:rPr>
              <a:t>{{PEER_6_NOTE}}</a:t>
            </a:r>
          </a:p>
        </p:txBody>
      </p:sp>
      <p:sp>
        <p:nvSpPr>
          <p:cNvPr id="36" name="Rounded Rectangle 35"/>
          <p:cNvSpPr/>
          <p:nvPr/>
        </p:nvSpPr>
        <p:spPr>
          <a:xfrm>
            <a:off x="7680960" y="5212079"/>
            <a:ext cx="3959352" cy="594360"/>
          </a:xfrm>
          <a:prstGeom prst="roundRect">
            <a:avLst>
              <a:gd name="adj" fmla="val 5000"/>
            </a:avLst>
          </a:prstGeom>
          <a:solidFill>
            <a:srgbClr val="F3E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818120" y="5285231"/>
            <a:ext cx="3685032" cy="182880"/>
          </a:xfrm>
          <a:prstGeom prst="rect">
            <a:avLst/>
          </a:prstGeom>
          <a:noFill/>
        </p:spPr>
        <p:txBody>
          <a:bodyPr wrap="square" lIns="45720" rIns="45720" tIns="18288" bIns="18288" anchor="t">
            <a:spAutoFit/>
          </a:bodyPr>
          <a:lstStyle/>
          <a:p>
            <a:pPr algn="l"/>
            <a:r>
              <a:rPr sz="900" b="1" i="0">
                <a:solidFill>
                  <a:srgbClr val="8B5CF6"/>
                </a:solidFill>
                <a:latin typeface="Calibri"/>
              </a:rPr>
              <a:t>ĐÁNH GIÁ ĐỊNH VỊ</a:t>
            </a:r>
          </a:p>
        </p:txBody>
      </p:sp>
      <p:sp>
        <p:nvSpPr>
          <p:cNvPr id="38" name="TextBox 37"/>
          <p:cNvSpPr txBox="1"/>
          <p:nvPr/>
        </p:nvSpPr>
        <p:spPr>
          <a:xfrm>
            <a:off x="7818120" y="5486399"/>
            <a:ext cx="3685032" cy="274320"/>
          </a:xfrm>
          <a:prstGeom prst="rect">
            <a:avLst/>
          </a:prstGeom>
          <a:noFill/>
        </p:spPr>
        <p:txBody>
          <a:bodyPr wrap="square" lIns="45720" rIns="45720" tIns="18288" bIns="18288" anchor="t">
            <a:spAutoFit/>
          </a:bodyPr>
          <a:lstStyle/>
          <a:p>
            <a:pPr algn="l"/>
            <a:r>
              <a:rPr sz="1000" b="0" i="1">
                <a:solidFill>
                  <a:srgbClr val="1F2937"/>
                </a:solidFill>
                <a:latin typeface="Calibri"/>
              </a:rPr>
              <a:t>{{PEER_VERDICT}}</a:t>
            </a:r>
          </a:p>
        </p:txBody>
      </p:sp>
      <p:sp>
        <p:nvSpPr>
          <p:cNvPr id="39" name="TextBox 38"/>
          <p:cNvSpPr txBox="1"/>
          <p:nvPr/>
        </p:nvSpPr>
        <p:spPr>
          <a:xfrm>
            <a:off x="548640" y="6492240"/>
            <a:ext cx="8229600" cy="274320"/>
          </a:xfrm>
          <a:prstGeom prst="rect">
            <a:avLst/>
          </a:prstGeom>
          <a:noFill/>
        </p:spPr>
        <p:txBody>
          <a:bodyPr wrap="square" lIns="45720" rIns="45720" tIns="18288" bIns="18288" anchor="t">
            <a:spAutoFit/>
          </a:bodyPr>
          <a:lstStyle/>
          <a:p>
            <a:pPr algn="l"/>
            <a:r>
              <a:rPr sz="900" b="0" i="1">
                <a:solidFill>
                  <a:srgbClr val="9CA3AF"/>
                </a:solidFill>
                <a:latin typeface="Calibri"/>
              </a:rPr>
              <a:t>{{FOOTER_LEFT}}</a:t>
            </a:r>
          </a:p>
        </p:txBody>
      </p:sp>
      <p:sp>
        <p:nvSpPr>
          <p:cNvPr id="40" name="TextBox 39"/>
          <p:cNvSpPr txBox="1"/>
          <p:nvPr/>
        </p:nvSpPr>
        <p:spPr>
          <a:xfrm>
            <a:off x="10058400" y="6492240"/>
            <a:ext cx="1645920" cy="274320"/>
          </a:xfrm>
          <a:prstGeom prst="rect">
            <a:avLst/>
          </a:prstGeom>
          <a:noFill/>
        </p:spPr>
        <p:txBody>
          <a:bodyPr wrap="square" lIns="45720" rIns="45720" tIns="18288" bIns="18288" anchor="t">
            <a:spAutoFit/>
          </a:bodyPr>
          <a:lstStyle/>
          <a:p>
            <a:pPr algn="r"/>
            <a:r>
              <a:rPr sz="900" b="0" i="0">
                <a:solidFill>
                  <a:srgbClr val="9CA3AF"/>
                </a:solidFill>
                <a:latin typeface="Calibri"/>
              </a:rPr>
              <a:t>{{PAGE_NUM}}</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name="DONUT_COMPOSITION">
    <p:spTree>
      <p:nvGrpSpPr>
        <p:cNvPr id="1" name=""/>
        <p:cNvGrpSpPr/>
        <p:nvPr/>
      </p:nvGrpSpPr>
      <p:grpSpPr/>
      <p:sp>
        <p:nvSpPr>
          <p:cNvPr id="2" name="Rectangle 1"/>
          <p:cNvSpPr/>
          <p:nvPr/>
        </p:nvSpPr>
        <p:spPr>
          <a:xfrm>
            <a:off x="457200" y="274320"/>
            <a:ext cx="73152" cy="32004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594359"/>
            <a:ext cx="73152" cy="320040"/>
          </a:xfrm>
          <a:prstGeom prst="rect">
            <a:avLst/>
          </a:prstGeom>
          <a:solidFill>
            <a:srgbClr val="B47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74320"/>
            <a:ext cx="10972800" cy="365760"/>
          </a:xfrm>
          <a:prstGeom prst="rect">
            <a:avLst/>
          </a:prstGeom>
          <a:noFill/>
        </p:spPr>
        <p:txBody>
          <a:bodyPr wrap="square" lIns="45720" rIns="45720" tIns="18288" bIns="18288" anchor="t">
            <a:spAutoFit/>
          </a:bodyPr>
          <a:lstStyle/>
          <a:p>
            <a:pPr algn="l"/>
            <a:r>
              <a:rPr sz="2400" b="1" i="0">
                <a:solidFill>
                  <a:srgbClr val="1F2937"/>
                </a:solidFill>
                <a:latin typeface="Calibri"/>
              </a:rPr>
              <a:t>{{SECTION_TITLE}}</a:t>
            </a:r>
          </a:p>
        </p:txBody>
      </p:sp>
      <p:sp>
        <p:nvSpPr>
          <p:cNvPr id="5" name="TextBox 4"/>
          <p:cNvSpPr txBox="1"/>
          <p:nvPr/>
        </p:nvSpPr>
        <p:spPr>
          <a:xfrm>
            <a:off x="594360" y="640080"/>
            <a:ext cx="10972800" cy="274320"/>
          </a:xfrm>
          <a:prstGeom prst="rect">
            <a:avLst/>
          </a:prstGeom>
          <a:noFill/>
        </p:spPr>
        <p:txBody>
          <a:bodyPr wrap="square" lIns="45720" rIns="45720" tIns="18288" bIns="18288" anchor="t">
            <a:spAutoFit/>
          </a:bodyPr>
          <a:lstStyle/>
          <a:p>
            <a:pPr algn="l"/>
            <a:r>
              <a:rPr sz="1100" b="0" i="1">
                <a:solidFill>
                  <a:srgbClr val="6B7280"/>
                </a:solidFill>
                <a:latin typeface="Calibri"/>
              </a:rPr>
              <a:t>{{SECTION_SUB}}</a:t>
            </a:r>
          </a:p>
        </p:txBody>
      </p:sp>
      <p:sp>
        <p:nvSpPr>
          <p:cNvPr id="6" name="Rectangle 5"/>
          <p:cNvSpPr/>
          <p:nvPr/>
        </p:nvSpPr>
        <p:spPr>
          <a:xfrm>
            <a:off x="548640" y="1005840"/>
            <a:ext cx="11091672" cy="18288"/>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280160"/>
            <a:ext cx="5408676" cy="4389120"/>
          </a:xfrm>
          <a:prstGeom prst="roundRect">
            <a:avLst>
              <a:gd name="adj" fmla="val 5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1280160"/>
            <a:ext cx="5408676" cy="457200"/>
          </a:xfrm>
          <a:prstGeom prst="roundRect">
            <a:avLst>
              <a:gd name="adj" fmla="val 7000"/>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371600"/>
            <a:ext cx="5042916" cy="274320"/>
          </a:xfrm>
          <a:prstGeom prst="rect">
            <a:avLst/>
          </a:prstGeom>
          <a:noFill/>
        </p:spPr>
        <p:txBody>
          <a:bodyPr wrap="square" lIns="45720" rIns="45720" tIns="18288" bIns="18288" anchor="t">
            <a:spAutoFit/>
          </a:bodyPr>
          <a:lstStyle/>
          <a:p>
            <a:pPr algn="l"/>
            <a:r>
              <a:rPr sz="1100" b="1" i="0">
                <a:solidFill>
                  <a:srgbClr val="FFFFFF"/>
                </a:solidFill>
                <a:latin typeface="Calibri"/>
              </a:rPr>
              <a:t>{{DONUT_1_TITLE}}</a:t>
            </a:r>
          </a:p>
        </p:txBody>
      </p:sp>
      <p:sp>
        <p:nvSpPr>
          <p:cNvPr id="10" name="Rounded Rectangle 9"/>
          <p:cNvSpPr/>
          <p:nvPr/>
        </p:nvSpPr>
        <p:spPr>
          <a:xfrm>
            <a:off x="822959" y="1920240"/>
            <a:ext cx="2011680" cy="3383279"/>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59" y="3246120"/>
            <a:ext cx="2011680" cy="365760"/>
          </a:xfrm>
          <a:prstGeom prst="rect">
            <a:avLst/>
          </a:prstGeom>
          <a:noFill/>
        </p:spPr>
        <p:txBody>
          <a:bodyPr wrap="square" lIns="45720" rIns="45720" tIns="18288" bIns="18288" anchor="ctr">
            <a:spAutoFit/>
          </a:bodyPr>
          <a:lstStyle/>
          <a:p>
            <a:pPr algn="ctr"/>
            <a:r>
              <a:rPr sz="1400" b="1" i="0">
                <a:solidFill>
                  <a:srgbClr val="9CA3AF"/>
                </a:solidFill>
                <a:latin typeface="Calibri"/>
              </a:rPr>
              <a:t>{{DONUT_1_PLACEHOLDER}}</a:t>
            </a:r>
          </a:p>
        </p:txBody>
      </p:sp>
      <p:sp>
        <p:nvSpPr>
          <p:cNvPr id="12" name="TextBox 11"/>
          <p:cNvSpPr txBox="1"/>
          <p:nvPr/>
        </p:nvSpPr>
        <p:spPr>
          <a:xfrm>
            <a:off x="822959" y="3657600"/>
            <a:ext cx="2011680" cy="274320"/>
          </a:xfrm>
          <a:prstGeom prst="rect">
            <a:avLst/>
          </a:prstGeom>
          <a:noFill/>
        </p:spPr>
        <p:txBody>
          <a:bodyPr wrap="square" lIns="45720" rIns="45720" tIns="18288" bIns="18288" anchor="t">
            <a:spAutoFit/>
          </a:bodyPr>
          <a:lstStyle/>
          <a:p>
            <a:pPr algn="ctr"/>
            <a:r>
              <a:rPr sz="1000" b="0" i="1">
                <a:solidFill>
                  <a:srgbClr val="9CA3AF"/>
                </a:solidFill>
                <a:latin typeface="Calibri"/>
              </a:rPr>
              <a:t>(type: pie/donut)</a:t>
            </a:r>
          </a:p>
        </p:txBody>
      </p:sp>
      <p:sp>
        <p:nvSpPr>
          <p:cNvPr id="13" name="TextBox 12"/>
          <p:cNvSpPr txBox="1"/>
          <p:nvPr/>
        </p:nvSpPr>
        <p:spPr>
          <a:xfrm>
            <a:off x="822959" y="3931920"/>
            <a:ext cx="2011680" cy="274320"/>
          </a:xfrm>
          <a:prstGeom prst="rect">
            <a:avLst/>
          </a:prstGeom>
          <a:noFill/>
        </p:spPr>
        <p:txBody>
          <a:bodyPr wrap="square" lIns="45720" rIns="45720" tIns="18288" bIns="18288" anchor="t">
            <a:spAutoFit/>
          </a:bodyPr>
          <a:lstStyle/>
          <a:p>
            <a:pPr algn="ctr"/>
            <a:r>
              <a:rPr sz="900" b="0" i="1">
                <a:solidFill>
                  <a:srgbClr val="9CA3AF"/>
                </a:solidFill>
                <a:latin typeface="Calibri"/>
              </a:rPr>
              <a:t>(AI ghép từ MD)</a:t>
            </a:r>
          </a:p>
        </p:txBody>
      </p:sp>
      <p:sp>
        <p:nvSpPr>
          <p:cNvPr id="14" name="Oval 13"/>
          <p:cNvSpPr/>
          <p:nvPr/>
        </p:nvSpPr>
        <p:spPr>
          <a:xfrm>
            <a:off x="3017520" y="2011680"/>
            <a:ext cx="164592" cy="164592"/>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91840" y="1920240"/>
            <a:ext cx="1349928" cy="228600"/>
          </a:xfrm>
          <a:prstGeom prst="rect">
            <a:avLst/>
          </a:prstGeom>
          <a:noFill/>
        </p:spPr>
        <p:txBody>
          <a:bodyPr wrap="square" lIns="45720" rIns="45720" tIns="18288" bIns="18288" anchor="t">
            <a:spAutoFit/>
          </a:bodyPr>
          <a:lstStyle/>
          <a:p>
            <a:pPr algn="l"/>
            <a:r>
              <a:rPr sz="900" b="1" i="0">
                <a:solidFill>
                  <a:srgbClr val="1F2937"/>
                </a:solidFill>
                <a:latin typeface="Calibri"/>
              </a:rPr>
              <a:t>{{DONUT_1_SLICE_1_LABEL}}</a:t>
            </a:r>
          </a:p>
        </p:txBody>
      </p:sp>
      <p:sp>
        <p:nvSpPr>
          <p:cNvPr id="16" name="TextBox 15"/>
          <p:cNvSpPr txBox="1"/>
          <p:nvPr/>
        </p:nvSpPr>
        <p:spPr>
          <a:xfrm>
            <a:off x="3291840" y="2167128"/>
            <a:ext cx="1349928" cy="201168"/>
          </a:xfrm>
          <a:prstGeom prst="rect">
            <a:avLst/>
          </a:prstGeom>
          <a:noFill/>
        </p:spPr>
        <p:txBody>
          <a:bodyPr wrap="square" lIns="45720" rIns="45720" tIns="18288" bIns="18288" anchor="t">
            <a:spAutoFit/>
          </a:bodyPr>
          <a:lstStyle/>
          <a:p>
            <a:pPr algn="l"/>
            <a:r>
              <a:rPr sz="800" b="0" i="1">
                <a:solidFill>
                  <a:srgbClr val="6B7280"/>
                </a:solidFill>
                <a:latin typeface="Calibri"/>
              </a:rPr>
              <a:t>{{DONUT_1_SLICE_1_NOTE}}</a:t>
            </a:r>
          </a:p>
        </p:txBody>
      </p:sp>
      <p:sp>
        <p:nvSpPr>
          <p:cNvPr id="17" name="TextBox 16"/>
          <p:cNvSpPr txBox="1"/>
          <p:nvPr/>
        </p:nvSpPr>
        <p:spPr>
          <a:xfrm>
            <a:off x="4641768" y="1965960"/>
            <a:ext cx="995507" cy="274320"/>
          </a:xfrm>
          <a:prstGeom prst="rect">
            <a:avLst/>
          </a:prstGeom>
          <a:noFill/>
        </p:spPr>
        <p:txBody>
          <a:bodyPr wrap="square" lIns="45720" rIns="45720" tIns="18288" bIns="18288" anchor="t">
            <a:spAutoFit/>
          </a:bodyPr>
          <a:lstStyle/>
          <a:p>
            <a:pPr algn="r"/>
            <a:r>
              <a:rPr sz="1100" b="1" i="0">
                <a:solidFill>
                  <a:srgbClr val="8B5CF6"/>
                </a:solidFill>
                <a:latin typeface="Calibri"/>
              </a:rPr>
              <a:t>{{DONUT_1_SLICE_1_PCT}}</a:t>
            </a:r>
          </a:p>
        </p:txBody>
      </p:sp>
      <p:sp>
        <p:nvSpPr>
          <p:cNvPr id="18" name="Oval 17"/>
          <p:cNvSpPr/>
          <p:nvPr/>
        </p:nvSpPr>
        <p:spPr>
          <a:xfrm>
            <a:off x="3017520" y="2514600"/>
            <a:ext cx="164592" cy="164592"/>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291840" y="2423160"/>
            <a:ext cx="1349928" cy="228600"/>
          </a:xfrm>
          <a:prstGeom prst="rect">
            <a:avLst/>
          </a:prstGeom>
          <a:noFill/>
        </p:spPr>
        <p:txBody>
          <a:bodyPr wrap="square" lIns="45720" rIns="45720" tIns="18288" bIns="18288" anchor="t">
            <a:spAutoFit/>
          </a:bodyPr>
          <a:lstStyle/>
          <a:p>
            <a:pPr algn="l"/>
            <a:r>
              <a:rPr sz="900" b="1" i="0">
                <a:solidFill>
                  <a:srgbClr val="1F2937"/>
                </a:solidFill>
                <a:latin typeface="Calibri"/>
              </a:rPr>
              <a:t>{{DONUT_1_SLICE_2_LABEL}}</a:t>
            </a:r>
          </a:p>
        </p:txBody>
      </p:sp>
      <p:sp>
        <p:nvSpPr>
          <p:cNvPr id="20" name="TextBox 19"/>
          <p:cNvSpPr txBox="1"/>
          <p:nvPr/>
        </p:nvSpPr>
        <p:spPr>
          <a:xfrm>
            <a:off x="3291840" y="2670048"/>
            <a:ext cx="1349928" cy="201168"/>
          </a:xfrm>
          <a:prstGeom prst="rect">
            <a:avLst/>
          </a:prstGeom>
          <a:noFill/>
        </p:spPr>
        <p:txBody>
          <a:bodyPr wrap="square" lIns="45720" rIns="45720" tIns="18288" bIns="18288" anchor="t">
            <a:spAutoFit/>
          </a:bodyPr>
          <a:lstStyle/>
          <a:p>
            <a:pPr algn="l"/>
            <a:r>
              <a:rPr sz="800" b="0" i="1">
                <a:solidFill>
                  <a:srgbClr val="6B7280"/>
                </a:solidFill>
                <a:latin typeface="Calibri"/>
              </a:rPr>
              <a:t>{{DONUT_1_SLICE_2_NOTE}}</a:t>
            </a:r>
          </a:p>
        </p:txBody>
      </p:sp>
      <p:sp>
        <p:nvSpPr>
          <p:cNvPr id="21" name="TextBox 20"/>
          <p:cNvSpPr txBox="1"/>
          <p:nvPr/>
        </p:nvSpPr>
        <p:spPr>
          <a:xfrm>
            <a:off x="4641768" y="2468880"/>
            <a:ext cx="995507" cy="274320"/>
          </a:xfrm>
          <a:prstGeom prst="rect">
            <a:avLst/>
          </a:prstGeom>
          <a:noFill/>
        </p:spPr>
        <p:txBody>
          <a:bodyPr wrap="square" lIns="45720" rIns="45720" tIns="18288" bIns="18288" anchor="t">
            <a:spAutoFit/>
          </a:bodyPr>
          <a:lstStyle/>
          <a:p>
            <a:pPr algn="r"/>
            <a:r>
              <a:rPr sz="1100" b="1" i="0">
                <a:solidFill>
                  <a:srgbClr val="8B5CF6"/>
                </a:solidFill>
                <a:latin typeface="Calibri"/>
              </a:rPr>
              <a:t>{{DONUT_1_SLICE_2_PCT}}</a:t>
            </a:r>
          </a:p>
        </p:txBody>
      </p:sp>
      <p:sp>
        <p:nvSpPr>
          <p:cNvPr id="22" name="Oval 21"/>
          <p:cNvSpPr/>
          <p:nvPr/>
        </p:nvSpPr>
        <p:spPr>
          <a:xfrm>
            <a:off x="3017520" y="3017520"/>
            <a:ext cx="164592" cy="164592"/>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91840" y="2926080"/>
            <a:ext cx="1349928" cy="228600"/>
          </a:xfrm>
          <a:prstGeom prst="rect">
            <a:avLst/>
          </a:prstGeom>
          <a:noFill/>
        </p:spPr>
        <p:txBody>
          <a:bodyPr wrap="square" lIns="45720" rIns="45720" tIns="18288" bIns="18288" anchor="t">
            <a:spAutoFit/>
          </a:bodyPr>
          <a:lstStyle/>
          <a:p>
            <a:pPr algn="l"/>
            <a:r>
              <a:rPr sz="900" b="1" i="0">
                <a:solidFill>
                  <a:srgbClr val="1F2937"/>
                </a:solidFill>
                <a:latin typeface="Calibri"/>
              </a:rPr>
              <a:t>{{DONUT_1_SLICE_3_LABEL}}</a:t>
            </a:r>
          </a:p>
        </p:txBody>
      </p:sp>
      <p:sp>
        <p:nvSpPr>
          <p:cNvPr id="24" name="TextBox 23"/>
          <p:cNvSpPr txBox="1"/>
          <p:nvPr/>
        </p:nvSpPr>
        <p:spPr>
          <a:xfrm>
            <a:off x="3291840" y="3172968"/>
            <a:ext cx="1349928" cy="201168"/>
          </a:xfrm>
          <a:prstGeom prst="rect">
            <a:avLst/>
          </a:prstGeom>
          <a:noFill/>
        </p:spPr>
        <p:txBody>
          <a:bodyPr wrap="square" lIns="45720" rIns="45720" tIns="18288" bIns="18288" anchor="t">
            <a:spAutoFit/>
          </a:bodyPr>
          <a:lstStyle/>
          <a:p>
            <a:pPr algn="l"/>
            <a:r>
              <a:rPr sz="800" b="0" i="1">
                <a:solidFill>
                  <a:srgbClr val="6B7280"/>
                </a:solidFill>
                <a:latin typeface="Calibri"/>
              </a:rPr>
              <a:t>{{DONUT_1_SLICE_3_NOTE}}</a:t>
            </a:r>
          </a:p>
        </p:txBody>
      </p:sp>
      <p:sp>
        <p:nvSpPr>
          <p:cNvPr id="25" name="TextBox 24"/>
          <p:cNvSpPr txBox="1"/>
          <p:nvPr/>
        </p:nvSpPr>
        <p:spPr>
          <a:xfrm>
            <a:off x="4641768" y="2971800"/>
            <a:ext cx="995507" cy="274320"/>
          </a:xfrm>
          <a:prstGeom prst="rect">
            <a:avLst/>
          </a:prstGeom>
          <a:noFill/>
        </p:spPr>
        <p:txBody>
          <a:bodyPr wrap="square" lIns="45720" rIns="45720" tIns="18288" bIns="18288" anchor="t">
            <a:spAutoFit/>
          </a:bodyPr>
          <a:lstStyle/>
          <a:p>
            <a:pPr algn="r"/>
            <a:r>
              <a:rPr sz="1100" b="1" i="0">
                <a:solidFill>
                  <a:srgbClr val="8B5CF6"/>
                </a:solidFill>
                <a:latin typeface="Calibri"/>
              </a:rPr>
              <a:t>{{DONUT_1_SLICE_3_PCT}}</a:t>
            </a:r>
          </a:p>
        </p:txBody>
      </p:sp>
      <p:sp>
        <p:nvSpPr>
          <p:cNvPr id="26" name="Oval 25"/>
          <p:cNvSpPr/>
          <p:nvPr/>
        </p:nvSpPr>
        <p:spPr>
          <a:xfrm>
            <a:off x="3017520" y="3520440"/>
            <a:ext cx="164592" cy="164592"/>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291840" y="3429000"/>
            <a:ext cx="1349928" cy="228600"/>
          </a:xfrm>
          <a:prstGeom prst="rect">
            <a:avLst/>
          </a:prstGeom>
          <a:noFill/>
        </p:spPr>
        <p:txBody>
          <a:bodyPr wrap="square" lIns="45720" rIns="45720" tIns="18288" bIns="18288" anchor="t">
            <a:spAutoFit/>
          </a:bodyPr>
          <a:lstStyle/>
          <a:p>
            <a:pPr algn="l"/>
            <a:r>
              <a:rPr sz="900" b="1" i="0">
                <a:solidFill>
                  <a:srgbClr val="1F2937"/>
                </a:solidFill>
                <a:latin typeface="Calibri"/>
              </a:rPr>
              <a:t>{{DONUT_1_SLICE_4_LABEL}}</a:t>
            </a:r>
          </a:p>
        </p:txBody>
      </p:sp>
      <p:sp>
        <p:nvSpPr>
          <p:cNvPr id="28" name="TextBox 27"/>
          <p:cNvSpPr txBox="1"/>
          <p:nvPr/>
        </p:nvSpPr>
        <p:spPr>
          <a:xfrm>
            <a:off x="3291840" y="3675887"/>
            <a:ext cx="1349928" cy="201168"/>
          </a:xfrm>
          <a:prstGeom prst="rect">
            <a:avLst/>
          </a:prstGeom>
          <a:noFill/>
        </p:spPr>
        <p:txBody>
          <a:bodyPr wrap="square" lIns="45720" rIns="45720" tIns="18288" bIns="18288" anchor="t">
            <a:spAutoFit/>
          </a:bodyPr>
          <a:lstStyle/>
          <a:p>
            <a:pPr algn="l"/>
            <a:r>
              <a:rPr sz="800" b="0" i="1">
                <a:solidFill>
                  <a:srgbClr val="6B7280"/>
                </a:solidFill>
                <a:latin typeface="Calibri"/>
              </a:rPr>
              <a:t>{{DONUT_1_SLICE_4_NOTE}}</a:t>
            </a:r>
          </a:p>
        </p:txBody>
      </p:sp>
      <p:sp>
        <p:nvSpPr>
          <p:cNvPr id="29" name="TextBox 28"/>
          <p:cNvSpPr txBox="1"/>
          <p:nvPr/>
        </p:nvSpPr>
        <p:spPr>
          <a:xfrm>
            <a:off x="4641768" y="3474720"/>
            <a:ext cx="995507" cy="274320"/>
          </a:xfrm>
          <a:prstGeom prst="rect">
            <a:avLst/>
          </a:prstGeom>
          <a:noFill/>
        </p:spPr>
        <p:txBody>
          <a:bodyPr wrap="square" lIns="45720" rIns="45720" tIns="18288" bIns="18288" anchor="t">
            <a:spAutoFit/>
          </a:bodyPr>
          <a:lstStyle/>
          <a:p>
            <a:pPr algn="r"/>
            <a:r>
              <a:rPr sz="1100" b="1" i="0">
                <a:solidFill>
                  <a:srgbClr val="8B5CF6"/>
                </a:solidFill>
                <a:latin typeface="Calibri"/>
              </a:rPr>
              <a:t>{{DONUT_1_SLICE_4_PCT}}</a:t>
            </a:r>
          </a:p>
        </p:txBody>
      </p:sp>
      <p:sp>
        <p:nvSpPr>
          <p:cNvPr id="30" name="Oval 29"/>
          <p:cNvSpPr/>
          <p:nvPr/>
        </p:nvSpPr>
        <p:spPr>
          <a:xfrm>
            <a:off x="3017520" y="4023360"/>
            <a:ext cx="164592" cy="164592"/>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91840" y="3931920"/>
            <a:ext cx="1349928" cy="228600"/>
          </a:xfrm>
          <a:prstGeom prst="rect">
            <a:avLst/>
          </a:prstGeom>
          <a:noFill/>
        </p:spPr>
        <p:txBody>
          <a:bodyPr wrap="square" lIns="45720" rIns="45720" tIns="18288" bIns="18288" anchor="t">
            <a:spAutoFit/>
          </a:bodyPr>
          <a:lstStyle/>
          <a:p>
            <a:pPr algn="l"/>
            <a:r>
              <a:rPr sz="900" b="1" i="0">
                <a:solidFill>
                  <a:srgbClr val="1F2937"/>
                </a:solidFill>
                <a:latin typeface="Calibri"/>
              </a:rPr>
              <a:t>{{DONUT_1_SLICE_5_LABEL}}</a:t>
            </a:r>
          </a:p>
        </p:txBody>
      </p:sp>
      <p:sp>
        <p:nvSpPr>
          <p:cNvPr id="32" name="TextBox 31"/>
          <p:cNvSpPr txBox="1"/>
          <p:nvPr/>
        </p:nvSpPr>
        <p:spPr>
          <a:xfrm>
            <a:off x="3291840" y="4178808"/>
            <a:ext cx="1349928" cy="201168"/>
          </a:xfrm>
          <a:prstGeom prst="rect">
            <a:avLst/>
          </a:prstGeom>
          <a:noFill/>
        </p:spPr>
        <p:txBody>
          <a:bodyPr wrap="square" lIns="45720" rIns="45720" tIns="18288" bIns="18288" anchor="t">
            <a:spAutoFit/>
          </a:bodyPr>
          <a:lstStyle/>
          <a:p>
            <a:pPr algn="l"/>
            <a:r>
              <a:rPr sz="800" b="0" i="1">
                <a:solidFill>
                  <a:srgbClr val="6B7280"/>
                </a:solidFill>
                <a:latin typeface="Calibri"/>
              </a:rPr>
              <a:t>{{DONUT_1_SLICE_5_NOTE}}</a:t>
            </a:r>
          </a:p>
        </p:txBody>
      </p:sp>
      <p:sp>
        <p:nvSpPr>
          <p:cNvPr id="33" name="TextBox 32"/>
          <p:cNvSpPr txBox="1"/>
          <p:nvPr/>
        </p:nvSpPr>
        <p:spPr>
          <a:xfrm>
            <a:off x="4641768" y="3977640"/>
            <a:ext cx="995507" cy="274320"/>
          </a:xfrm>
          <a:prstGeom prst="rect">
            <a:avLst/>
          </a:prstGeom>
          <a:noFill/>
        </p:spPr>
        <p:txBody>
          <a:bodyPr wrap="square" lIns="45720" rIns="45720" tIns="18288" bIns="18288" anchor="t">
            <a:spAutoFit/>
          </a:bodyPr>
          <a:lstStyle/>
          <a:p>
            <a:pPr algn="r"/>
            <a:r>
              <a:rPr sz="1100" b="1" i="0">
                <a:solidFill>
                  <a:srgbClr val="8B5CF6"/>
                </a:solidFill>
                <a:latin typeface="Calibri"/>
              </a:rPr>
              <a:t>{{DONUT_1_SLICE_5_PCT}}</a:t>
            </a:r>
          </a:p>
        </p:txBody>
      </p:sp>
      <p:sp>
        <p:nvSpPr>
          <p:cNvPr id="34" name="TextBox 33"/>
          <p:cNvSpPr txBox="1"/>
          <p:nvPr/>
        </p:nvSpPr>
        <p:spPr>
          <a:xfrm>
            <a:off x="822959" y="5394959"/>
            <a:ext cx="4860036" cy="228600"/>
          </a:xfrm>
          <a:prstGeom prst="rect">
            <a:avLst/>
          </a:prstGeom>
          <a:noFill/>
        </p:spPr>
        <p:txBody>
          <a:bodyPr wrap="square" lIns="45720" rIns="45720" tIns="18288" bIns="18288" anchor="t">
            <a:spAutoFit/>
          </a:bodyPr>
          <a:lstStyle/>
          <a:p>
            <a:pPr algn="l"/>
            <a:r>
              <a:rPr sz="900" b="0" i="1">
                <a:solidFill>
                  <a:srgbClr val="9CA3AF"/>
                </a:solidFill>
                <a:latin typeface="Calibri"/>
              </a:rPr>
              <a:t>{{DONUT_1_SOURCE}}</a:t>
            </a:r>
          </a:p>
        </p:txBody>
      </p:sp>
      <p:sp>
        <p:nvSpPr>
          <p:cNvPr id="35" name="Rounded Rectangle 34"/>
          <p:cNvSpPr/>
          <p:nvPr/>
        </p:nvSpPr>
        <p:spPr>
          <a:xfrm>
            <a:off x="6231636" y="1280160"/>
            <a:ext cx="5408676" cy="4389120"/>
          </a:xfrm>
          <a:prstGeom prst="roundRect">
            <a:avLst>
              <a:gd name="adj" fmla="val 5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6231636" y="1280160"/>
            <a:ext cx="5408676" cy="457200"/>
          </a:xfrm>
          <a:prstGeom prst="roundRect">
            <a:avLst>
              <a:gd name="adj" fmla="val 7000"/>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14516" y="1371600"/>
            <a:ext cx="5042916" cy="274320"/>
          </a:xfrm>
          <a:prstGeom prst="rect">
            <a:avLst/>
          </a:prstGeom>
          <a:noFill/>
        </p:spPr>
        <p:txBody>
          <a:bodyPr wrap="square" lIns="45720" rIns="45720" tIns="18288" bIns="18288" anchor="t">
            <a:spAutoFit/>
          </a:bodyPr>
          <a:lstStyle/>
          <a:p>
            <a:pPr algn="l"/>
            <a:r>
              <a:rPr sz="1100" b="1" i="0">
                <a:solidFill>
                  <a:srgbClr val="FFFFFF"/>
                </a:solidFill>
                <a:latin typeface="Calibri"/>
              </a:rPr>
              <a:t>{{DONUT_2_TITLE}}</a:t>
            </a:r>
          </a:p>
        </p:txBody>
      </p:sp>
      <p:sp>
        <p:nvSpPr>
          <p:cNvPr id="38" name="Rounded Rectangle 37"/>
          <p:cNvSpPr/>
          <p:nvPr/>
        </p:nvSpPr>
        <p:spPr>
          <a:xfrm>
            <a:off x="6505955" y="1920240"/>
            <a:ext cx="2011680" cy="3383279"/>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505955" y="3246120"/>
            <a:ext cx="2011680" cy="365760"/>
          </a:xfrm>
          <a:prstGeom prst="rect">
            <a:avLst/>
          </a:prstGeom>
          <a:noFill/>
        </p:spPr>
        <p:txBody>
          <a:bodyPr wrap="square" lIns="45720" rIns="45720" tIns="18288" bIns="18288" anchor="ctr">
            <a:spAutoFit/>
          </a:bodyPr>
          <a:lstStyle/>
          <a:p>
            <a:pPr algn="ctr"/>
            <a:r>
              <a:rPr sz="1400" b="1" i="0">
                <a:solidFill>
                  <a:srgbClr val="9CA3AF"/>
                </a:solidFill>
                <a:latin typeface="Calibri"/>
              </a:rPr>
              <a:t>{{DONUT_2_PLACEHOLDER}}</a:t>
            </a:r>
          </a:p>
        </p:txBody>
      </p:sp>
      <p:sp>
        <p:nvSpPr>
          <p:cNvPr id="40" name="TextBox 39"/>
          <p:cNvSpPr txBox="1"/>
          <p:nvPr/>
        </p:nvSpPr>
        <p:spPr>
          <a:xfrm>
            <a:off x="6505955" y="3657600"/>
            <a:ext cx="2011680" cy="274320"/>
          </a:xfrm>
          <a:prstGeom prst="rect">
            <a:avLst/>
          </a:prstGeom>
          <a:noFill/>
        </p:spPr>
        <p:txBody>
          <a:bodyPr wrap="square" lIns="45720" rIns="45720" tIns="18288" bIns="18288" anchor="t">
            <a:spAutoFit/>
          </a:bodyPr>
          <a:lstStyle/>
          <a:p>
            <a:pPr algn="ctr"/>
            <a:r>
              <a:rPr sz="1000" b="0" i="1">
                <a:solidFill>
                  <a:srgbClr val="9CA3AF"/>
                </a:solidFill>
                <a:latin typeface="Calibri"/>
              </a:rPr>
              <a:t>(type: pie/donut)</a:t>
            </a:r>
          </a:p>
        </p:txBody>
      </p:sp>
      <p:sp>
        <p:nvSpPr>
          <p:cNvPr id="41" name="TextBox 40"/>
          <p:cNvSpPr txBox="1"/>
          <p:nvPr/>
        </p:nvSpPr>
        <p:spPr>
          <a:xfrm>
            <a:off x="6505955" y="3931920"/>
            <a:ext cx="2011680" cy="274320"/>
          </a:xfrm>
          <a:prstGeom prst="rect">
            <a:avLst/>
          </a:prstGeom>
          <a:noFill/>
        </p:spPr>
        <p:txBody>
          <a:bodyPr wrap="square" lIns="45720" rIns="45720" tIns="18288" bIns="18288" anchor="t">
            <a:spAutoFit/>
          </a:bodyPr>
          <a:lstStyle/>
          <a:p>
            <a:pPr algn="ctr"/>
            <a:r>
              <a:rPr sz="900" b="0" i="1">
                <a:solidFill>
                  <a:srgbClr val="9CA3AF"/>
                </a:solidFill>
                <a:latin typeface="Calibri"/>
              </a:rPr>
              <a:t>(AI ghép từ MD)</a:t>
            </a:r>
          </a:p>
        </p:txBody>
      </p:sp>
      <p:sp>
        <p:nvSpPr>
          <p:cNvPr id="42" name="Oval 41"/>
          <p:cNvSpPr/>
          <p:nvPr/>
        </p:nvSpPr>
        <p:spPr>
          <a:xfrm>
            <a:off x="8700516" y="2011680"/>
            <a:ext cx="164592" cy="164592"/>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974836" y="1920240"/>
            <a:ext cx="1349928" cy="228600"/>
          </a:xfrm>
          <a:prstGeom prst="rect">
            <a:avLst/>
          </a:prstGeom>
          <a:noFill/>
        </p:spPr>
        <p:txBody>
          <a:bodyPr wrap="square" lIns="45720" rIns="45720" tIns="18288" bIns="18288" anchor="t">
            <a:spAutoFit/>
          </a:bodyPr>
          <a:lstStyle/>
          <a:p>
            <a:pPr algn="l"/>
            <a:r>
              <a:rPr sz="900" b="1" i="0">
                <a:solidFill>
                  <a:srgbClr val="1F2937"/>
                </a:solidFill>
                <a:latin typeface="Calibri"/>
              </a:rPr>
              <a:t>{{DONUT_2_SLICE_1_LABEL}}</a:t>
            </a:r>
          </a:p>
        </p:txBody>
      </p:sp>
      <p:sp>
        <p:nvSpPr>
          <p:cNvPr id="44" name="TextBox 43"/>
          <p:cNvSpPr txBox="1"/>
          <p:nvPr/>
        </p:nvSpPr>
        <p:spPr>
          <a:xfrm>
            <a:off x="8974836" y="2167128"/>
            <a:ext cx="1349928" cy="201168"/>
          </a:xfrm>
          <a:prstGeom prst="rect">
            <a:avLst/>
          </a:prstGeom>
          <a:noFill/>
        </p:spPr>
        <p:txBody>
          <a:bodyPr wrap="square" lIns="45720" rIns="45720" tIns="18288" bIns="18288" anchor="t">
            <a:spAutoFit/>
          </a:bodyPr>
          <a:lstStyle/>
          <a:p>
            <a:pPr algn="l"/>
            <a:r>
              <a:rPr sz="800" b="0" i="1">
                <a:solidFill>
                  <a:srgbClr val="6B7280"/>
                </a:solidFill>
                <a:latin typeface="Calibri"/>
              </a:rPr>
              <a:t>{{DONUT_2_SLICE_1_NOTE}}</a:t>
            </a:r>
          </a:p>
        </p:txBody>
      </p:sp>
      <p:sp>
        <p:nvSpPr>
          <p:cNvPr id="45" name="TextBox 44"/>
          <p:cNvSpPr txBox="1"/>
          <p:nvPr/>
        </p:nvSpPr>
        <p:spPr>
          <a:xfrm>
            <a:off x="10324764" y="1965960"/>
            <a:ext cx="995507" cy="274320"/>
          </a:xfrm>
          <a:prstGeom prst="rect">
            <a:avLst/>
          </a:prstGeom>
          <a:noFill/>
        </p:spPr>
        <p:txBody>
          <a:bodyPr wrap="square" lIns="45720" rIns="45720" tIns="18288" bIns="18288" anchor="t">
            <a:spAutoFit/>
          </a:bodyPr>
          <a:lstStyle/>
          <a:p>
            <a:pPr algn="r"/>
            <a:r>
              <a:rPr sz="1100" b="1" i="0">
                <a:solidFill>
                  <a:srgbClr val="8B5CF6"/>
                </a:solidFill>
                <a:latin typeface="Calibri"/>
              </a:rPr>
              <a:t>{{DONUT_2_SLICE_1_PCT}}</a:t>
            </a:r>
          </a:p>
        </p:txBody>
      </p:sp>
      <p:sp>
        <p:nvSpPr>
          <p:cNvPr id="46" name="Oval 45"/>
          <p:cNvSpPr/>
          <p:nvPr/>
        </p:nvSpPr>
        <p:spPr>
          <a:xfrm>
            <a:off x="8700516" y="2514600"/>
            <a:ext cx="164592" cy="164592"/>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974836" y="2423160"/>
            <a:ext cx="1349928" cy="228600"/>
          </a:xfrm>
          <a:prstGeom prst="rect">
            <a:avLst/>
          </a:prstGeom>
          <a:noFill/>
        </p:spPr>
        <p:txBody>
          <a:bodyPr wrap="square" lIns="45720" rIns="45720" tIns="18288" bIns="18288" anchor="t">
            <a:spAutoFit/>
          </a:bodyPr>
          <a:lstStyle/>
          <a:p>
            <a:pPr algn="l"/>
            <a:r>
              <a:rPr sz="900" b="1" i="0">
                <a:solidFill>
                  <a:srgbClr val="1F2937"/>
                </a:solidFill>
                <a:latin typeface="Calibri"/>
              </a:rPr>
              <a:t>{{DONUT_2_SLICE_2_LABEL}}</a:t>
            </a:r>
          </a:p>
        </p:txBody>
      </p:sp>
      <p:sp>
        <p:nvSpPr>
          <p:cNvPr id="48" name="TextBox 47"/>
          <p:cNvSpPr txBox="1"/>
          <p:nvPr/>
        </p:nvSpPr>
        <p:spPr>
          <a:xfrm>
            <a:off x="8974836" y="2670048"/>
            <a:ext cx="1349928" cy="201168"/>
          </a:xfrm>
          <a:prstGeom prst="rect">
            <a:avLst/>
          </a:prstGeom>
          <a:noFill/>
        </p:spPr>
        <p:txBody>
          <a:bodyPr wrap="square" lIns="45720" rIns="45720" tIns="18288" bIns="18288" anchor="t">
            <a:spAutoFit/>
          </a:bodyPr>
          <a:lstStyle/>
          <a:p>
            <a:pPr algn="l"/>
            <a:r>
              <a:rPr sz="800" b="0" i="1">
                <a:solidFill>
                  <a:srgbClr val="6B7280"/>
                </a:solidFill>
                <a:latin typeface="Calibri"/>
              </a:rPr>
              <a:t>{{DONUT_2_SLICE_2_NOTE}}</a:t>
            </a:r>
          </a:p>
        </p:txBody>
      </p:sp>
      <p:sp>
        <p:nvSpPr>
          <p:cNvPr id="49" name="TextBox 48"/>
          <p:cNvSpPr txBox="1"/>
          <p:nvPr/>
        </p:nvSpPr>
        <p:spPr>
          <a:xfrm>
            <a:off x="10324764" y="2468880"/>
            <a:ext cx="995507" cy="274320"/>
          </a:xfrm>
          <a:prstGeom prst="rect">
            <a:avLst/>
          </a:prstGeom>
          <a:noFill/>
        </p:spPr>
        <p:txBody>
          <a:bodyPr wrap="square" lIns="45720" rIns="45720" tIns="18288" bIns="18288" anchor="t">
            <a:spAutoFit/>
          </a:bodyPr>
          <a:lstStyle/>
          <a:p>
            <a:pPr algn="r"/>
            <a:r>
              <a:rPr sz="1100" b="1" i="0">
                <a:solidFill>
                  <a:srgbClr val="8B5CF6"/>
                </a:solidFill>
                <a:latin typeface="Calibri"/>
              </a:rPr>
              <a:t>{{DONUT_2_SLICE_2_PCT}}</a:t>
            </a:r>
          </a:p>
        </p:txBody>
      </p:sp>
      <p:sp>
        <p:nvSpPr>
          <p:cNvPr id="50" name="Oval 49"/>
          <p:cNvSpPr/>
          <p:nvPr/>
        </p:nvSpPr>
        <p:spPr>
          <a:xfrm>
            <a:off x="8700516" y="3017520"/>
            <a:ext cx="164592" cy="164592"/>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974836" y="2926080"/>
            <a:ext cx="1349928" cy="228600"/>
          </a:xfrm>
          <a:prstGeom prst="rect">
            <a:avLst/>
          </a:prstGeom>
          <a:noFill/>
        </p:spPr>
        <p:txBody>
          <a:bodyPr wrap="square" lIns="45720" rIns="45720" tIns="18288" bIns="18288" anchor="t">
            <a:spAutoFit/>
          </a:bodyPr>
          <a:lstStyle/>
          <a:p>
            <a:pPr algn="l"/>
            <a:r>
              <a:rPr sz="900" b="1" i="0">
                <a:solidFill>
                  <a:srgbClr val="1F2937"/>
                </a:solidFill>
                <a:latin typeface="Calibri"/>
              </a:rPr>
              <a:t>{{DONUT_2_SLICE_3_LABEL}}</a:t>
            </a:r>
          </a:p>
        </p:txBody>
      </p:sp>
      <p:sp>
        <p:nvSpPr>
          <p:cNvPr id="52" name="TextBox 51"/>
          <p:cNvSpPr txBox="1"/>
          <p:nvPr/>
        </p:nvSpPr>
        <p:spPr>
          <a:xfrm>
            <a:off x="8974836" y="3172968"/>
            <a:ext cx="1349928" cy="201168"/>
          </a:xfrm>
          <a:prstGeom prst="rect">
            <a:avLst/>
          </a:prstGeom>
          <a:noFill/>
        </p:spPr>
        <p:txBody>
          <a:bodyPr wrap="square" lIns="45720" rIns="45720" tIns="18288" bIns="18288" anchor="t">
            <a:spAutoFit/>
          </a:bodyPr>
          <a:lstStyle/>
          <a:p>
            <a:pPr algn="l"/>
            <a:r>
              <a:rPr sz="800" b="0" i="1">
                <a:solidFill>
                  <a:srgbClr val="6B7280"/>
                </a:solidFill>
                <a:latin typeface="Calibri"/>
              </a:rPr>
              <a:t>{{DONUT_2_SLICE_3_NOTE}}</a:t>
            </a:r>
          </a:p>
        </p:txBody>
      </p:sp>
      <p:sp>
        <p:nvSpPr>
          <p:cNvPr id="53" name="TextBox 52"/>
          <p:cNvSpPr txBox="1"/>
          <p:nvPr/>
        </p:nvSpPr>
        <p:spPr>
          <a:xfrm>
            <a:off x="10324764" y="2971800"/>
            <a:ext cx="995507" cy="274320"/>
          </a:xfrm>
          <a:prstGeom prst="rect">
            <a:avLst/>
          </a:prstGeom>
          <a:noFill/>
        </p:spPr>
        <p:txBody>
          <a:bodyPr wrap="square" lIns="45720" rIns="45720" tIns="18288" bIns="18288" anchor="t">
            <a:spAutoFit/>
          </a:bodyPr>
          <a:lstStyle/>
          <a:p>
            <a:pPr algn="r"/>
            <a:r>
              <a:rPr sz="1100" b="1" i="0">
                <a:solidFill>
                  <a:srgbClr val="8B5CF6"/>
                </a:solidFill>
                <a:latin typeface="Calibri"/>
              </a:rPr>
              <a:t>{{DONUT_2_SLICE_3_PCT}}</a:t>
            </a:r>
          </a:p>
        </p:txBody>
      </p:sp>
      <p:sp>
        <p:nvSpPr>
          <p:cNvPr id="54" name="Oval 53"/>
          <p:cNvSpPr/>
          <p:nvPr/>
        </p:nvSpPr>
        <p:spPr>
          <a:xfrm>
            <a:off x="8700516" y="3520440"/>
            <a:ext cx="164592" cy="164592"/>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974836" y="3429000"/>
            <a:ext cx="1349928" cy="228600"/>
          </a:xfrm>
          <a:prstGeom prst="rect">
            <a:avLst/>
          </a:prstGeom>
          <a:noFill/>
        </p:spPr>
        <p:txBody>
          <a:bodyPr wrap="square" lIns="45720" rIns="45720" tIns="18288" bIns="18288" anchor="t">
            <a:spAutoFit/>
          </a:bodyPr>
          <a:lstStyle/>
          <a:p>
            <a:pPr algn="l"/>
            <a:r>
              <a:rPr sz="900" b="1" i="0">
                <a:solidFill>
                  <a:srgbClr val="1F2937"/>
                </a:solidFill>
                <a:latin typeface="Calibri"/>
              </a:rPr>
              <a:t>{{DONUT_2_SLICE_4_LABEL}}</a:t>
            </a:r>
          </a:p>
        </p:txBody>
      </p:sp>
      <p:sp>
        <p:nvSpPr>
          <p:cNvPr id="56" name="TextBox 55"/>
          <p:cNvSpPr txBox="1"/>
          <p:nvPr/>
        </p:nvSpPr>
        <p:spPr>
          <a:xfrm>
            <a:off x="8974836" y="3675887"/>
            <a:ext cx="1349928" cy="201168"/>
          </a:xfrm>
          <a:prstGeom prst="rect">
            <a:avLst/>
          </a:prstGeom>
          <a:noFill/>
        </p:spPr>
        <p:txBody>
          <a:bodyPr wrap="square" lIns="45720" rIns="45720" tIns="18288" bIns="18288" anchor="t">
            <a:spAutoFit/>
          </a:bodyPr>
          <a:lstStyle/>
          <a:p>
            <a:pPr algn="l"/>
            <a:r>
              <a:rPr sz="800" b="0" i="1">
                <a:solidFill>
                  <a:srgbClr val="6B7280"/>
                </a:solidFill>
                <a:latin typeface="Calibri"/>
              </a:rPr>
              <a:t>{{DONUT_2_SLICE_4_NOTE}}</a:t>
            </a:r>
          </a:p>
        </p:txBody>
      </p:sp>
      <p:sp>
        <p:nvSpPr>
          <p:cNvPr id="57" name="TextBox 56"/>
          <p:cNvSpPr txBox="1"/>
          <p:nvPr/>
        </p:nvSpPr>
        <p:spPr>
          <a:xfrm>
            <a:off x="10324764" y="3474720"/>
            <a:ext cx="995507" cy="274320"/>
          </a:xfrm>
          <a:prstGeom prst="rect">
            <a:avLst/>
          </a:prstGeom>
          <a:noFill/>
        </p:spPr>
        <p:txBody>
          <a:bodyPr wrap="square" lIns="45720" rIns="45720" tIns="18288" bIns="18288" anchor="t">
            <a:spAutoFit/>
          </a:bodyPr>
          <a:lstStyle/>
          <a:p>
            <a:pPr algn="r"/>
            <a:r>
              <a:rPr sz="1100" b="1" i="0">
                <a:solidFill>
                  <a:srgbClr val="8B5CF6"/>
                </a:solidFill>
                <a:latin typeface="Calibri"/>
              </a:rPr>
              <a:t>{{DONUT_2_SLICE_4_PCT}}</a:t>
            </a:r>
          </a:p>
        </p:txBody>
      </p:sp>
      <p:sp>
        <p:nvSpPr>
          <p:cNvPr id="58" name="Oval 57"/>
          <p:cNvSpPr/>
          <p:nvPr/>
        </p:nvSpPr>
        <p:spPr>
          <a:xfrm>
            <a:off x="8700516" y="4023360"/>
            <a:ext cx="164592" cy="164592"/>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974836" y="3931920"/>
            <a:ext cx="1349928" cy="228600"/>
          </a:xfrm>
          <a:prstGeom prst="rect">
            <a:avLst/>
          </a:prstGeom>
          <a:noFill/>
        </p:spPr>
        <p:txBody>
          <a:bodyPr wrap="square" lIns="45720" rIns="45720" tIns="18288" bIns="18288" anchor="t">
            <a:spAutoFit/>
          </a:bodyPr>
          <a:lstStyle/>
          <a:p>
            <a:pPr algn="l"/>
            <a:r>
              <a:rPr sz="900" b="1" i="0">
                <a:solidFill>
                  <a:srgbClr val="1F2937"/>
                </a:solidFill>
                <a:latin typeface="Calibri"/>
              </a:rPr>
              <a:t>{{DONUT_2_SLICE_5_LABEL}}</a:t>
            </a:r>
          </a:p>
        </p:txBody>
      </p:sp>
      <p:sp>
        <p:nvSpPr>
          <p:cNvPr id="60" name="TextBox 59"/>
          <p:cNvSpPr txBox="1"/>
          <p:nvPr/>
        </p:nvSpPr>
        <p:spPr>
          <a:xfrm>
            <a:off x="8974836" y="4178808"/>
            <a:ext cx="1349928" cy="201168"/>
          </a:xfrm>
          <a:prstGeom prst="rect">
            <a:avLst/>
          </a:prstGeom>
          <a:noFill/>
        </p:spPr>
        <p:txBody>
          <a:bodyPr wrap="square" lIns="45720" rIns="45720" tIns="18288" bIns="18288" anchor="t">
            <a:spAutoFit/>
          </a:bodyPr>
          <a:lstStyle/>
          <a:p>
            <a:pPr algn="l"/>
            <a:r>
              <a:rPr sz="800" b="0" i="1">
                <a:solidFill>
                  <a:srgbClr val="6B7280"/>
                </a:solidFill>
                <a:latin typeface="Calibri"/>
              </a:rPr>
              <a:t>{{DONUT_2_SLICE_5_NOTE}}</a:t>
            </a:r>
          </a:p>
        </p:txBody>
      </p:sp>
      <p:sp>
        <p:nvSpPr>
          <p:cNvPr id="61" name="TextBox 60"/>
          <p:cNvSpPr txBox="1"/>
          <p:nvPr/>
        </p:nvSpPr>
        <p:spPr>
          <a:xfrm>
            <a:off x="10324764" y="3977640"/>
            <a:ext cx="995507" cy="274320"/>
          </a:xfrm>
          <a:prstGeom prst="rect">
            <a:avLst/>
          </a:prstGeom>
          <a:noFill/>
        </p:spPr>
        <p:txBody>
          <a:bodyPr wrap="square" lIns="45720" rIns="45720" tIns="18288" bIns="18288" anchor="t">
            <a:spAutoFit/>
          </a:bodyPr>
          <a:lstStyle/>
          <a:p>
            <a:pPr algn="r"/>
            <a:r>
              <a:rPr sz="1100" b="1" i="0">
                <a:solidFill>
                  <a:srgbClr val="8B5CF6"/>
                </a:solidFill>
                <a:latin typeface="Calibri"/>
              </a:rPr>
              <a:t>{{DONUT_2_SLICE_5_PCT}}</a:t>
            </a:r>
          </a:p>
        </p:txBody>
      </p:sp>
      <p:sp>
        <p:nvSpPr>
          <p:cNvPr id="62" name="TextBox 61"/>
          <p:cNvSpPr txBox="1"/>
          <p:nvPr/>
        </p:nvSpPr>
        <p:spPr>
          <a:xfrm>
            <a:off x="6505955" y="5394959"/>
            <a:ext cx="4860036" cy="228600"/>
          </a:xfrm>
          <a:prstGeom prst="rect">
            <a:avLst/>
          </a:prstGeom>
          <a:noFill/>
        </p:spPr>
        <p:txBody>
          <a:bodyPr wrap="square" lIns="45720" rIns="45720" tIns="18288" bIns="18288" anchor="t">
            <a:spAutoFit/>
          </a:bodyPr>
          <a:lstStyle/>
          <a:p>
            <a:pPr algn="l"/>
            <a:r>
              <a:rPr sz="900" b="0" i="1">
                <a:solidFill>
                  <a:srgbClr val="9CA3AF"/>
                </a:solidFill>
                <a:latin typeface="Calibri"/>
              </a:rPr>
              <a:t>{{DONUT_2_SOURCE}}</a:t>
            </a:r>
          </a:p>
        </p:txBody>
      </p:sp>
      <p:sp>
        <p:nvSpPr>
          <p:cNvPr id="63" name="TextBox 62"/>
          <p:cNvSpPr txBox="1"/>
          <p:nvPr/>
        </p:nvSpPr>
        <p:spPr>
          <a:xfrm>
            <a:off x="548640" y="6492240"/>
            <a:ext cx="8229600" cy="274320"/>
          </a:xfrm>
          <a:prstGeom prst="rect">
            <a:avLst/>
          </a:prstGeom>
          <a:noFill/>
        </p:spPr>
        <p:txBody>
          <a:bodyPr wrap="square" lIns="45720" rIns="45720" tIns="18288" bIns="18288" anchor="t">
            <a:spAutoFit/>
          </a:bodyPr>
          <a:lstStyle/>
          <a:p>
            <a:pPr algn="l"/>
            <a:r>
              <a:rPr sz="900" b="0" i="1">
                <a:solidFill>
                  <a:srgbClr val="9CA3AF"/>
                </a:solidFill>
                <a:latin typeface="Calibri"/>
              </a:rPr>
              <a:t>{{FOOTER_LEFT}}</a:t>
            </a:r>
          </a:p>
        </p:txBody>
      </p:sp>
      <p:sp>
        <p:nvSpPr>
          <p:cNvPr id="64" name="TextBox 63"/>
          <p:cNvSpPr txBox="1"/>
          <p:nvPr/>
        </p:nvSpPr>
        <p:spPr>
          <a:xfrm>
            <a:off x="10058400" y="6492240"/>
            <a:ext cx="1645920" cy="274320"/>
          </a:xfrm>
          <a:prstGeom prst="rect">
            <a:avLst/>
          </a:prstGeom>
          <a:noFill/>
        </p:spPr>
        <p:txBody>
          <a:bodyPr wrap="square" lIns="45720" rIns="45720" tIns="18288" bIns="18288" anchor="t">
            <a:spAutoFit/>
          </a:bodyPr>
          <a:lstStyle/>
          <a:p>
            <a:pPr algn="r"/>
            <a:r>
              <a:rPr sz="900" b="0" i="0">
                <a:solidFill>
                  <a:srgbClr val="9CA3AF"/>
                </a:solidFill>
                <a:latin typeface="Calibri"/>
              </a:rPr>
              <a:t>{{PAGE_NUM}}</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name="DISCLAIMER">
    <p:spTree>
      <p:nvGrpSpPr>
        <p:cNvPr id="1" name=""/>
        <p:cNvGrpSpPr/>
        <p:nvPr/>
      </p:nvGrpSpPr>
      <p:grpSpPr/>
      <p:sp>
        <p:nvSpPr>
          <p:cNvPr id="2" name="Rectangle 1"/>
          <p:cNvSpPr/>
          <p:nvPr/>
        </p:nvSpPr>
        <p:spPr>
          <a:xfrm>
            <a:off x="0" y="0"/>
            <a:ext cx="12188952" cy="6858000"/>
          </a:xfrm>
          <a:prstGeom prst="rect">
            <a:avLst/>
          </a:prstGeom>
          <a:solidFill>
            <a:srgbClr val="0A0A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Chevron 2"/>
          <p:cNvSpPr/>
          <p:nvPr/>
        </p:nvSpPr>
        <p:spPr>
          <a:xfrm>
            <a:off x="9811512" y="3749039"/>
            <a:ext cx="777240" cy="1280160"/>
          </a:xfrm>
          <a:prstGeom prst="chevron">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Chevron 3"/>
          <p:cNvSpPr/>
          <p:nvPr/>
        </p:nvSpPr>
        <p:spPr>
          <a:xfrm>
            <a:off x="10863072" y="3749039"/>
            <a:ext cx="777240" cy="1280160"/>
          </a:xfrm>
          <a:prstGeom prst="chevron">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4062984" cy="914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062984" y="0"/>
            <a:ext cx="4062984" cy="9144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25968" y="0"/>
            <a:ext cx="4062984" cy="91440"/>
          </a:xfrm>
          <a:prstGeom prst="rect">
            <a:avLst/>
          </a:prstGeom>
          <a:solidFill>
            <a:srgbClr val="B47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731520"/>
            <a:ext cx="11091672" cy="548640"/>
          </a:xfrm>
          <a:prstGeom prst="rect">
            <a:avLst/>
          </a:prstGeom>
          <a:noFill/>
        </p:spPr>
        <p:txBody>
          <a:bodyPr wrap="square" lIns="45720" rIns="45720" tIns="18288" bIns="18288" anchor="t">
            <a:spAutoFit/>
          </a:bodyPr>
          <a:lstStyle/>
          <a:p>
            <a:pPr algn="l"/>
            <a:r>
              <a:rPr sz="2000" b="1" i="0">
                <a:solidFill>
                  <a:srgbClr val="FFFFFF"/>
                </a:solidFill>
                <a:latin typeface="Calibri"/>
              </a:rPr>
              <a:t>TUYÊN BỐ MIỄN TRỪ TRÁCH NHIỆM</a:t>
            </a:r>
          </a:p>
        </p:txBody>
      </p:sp>
      <p:sp>
        <p:nvSpPr>
          <p:cNvPr id="9" name="Rectangle 8"/>
          <p:cNvSpPr/>
          <p:nvPr/>
        </p:nvSpPr>
        <p:spPr>
          <a:xfrm>
            <a:off x="548640" y="1325880"/>
            <a:ext cx="914400" cy="3657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463040" y="1325880"/>
            <a:ext cx="91440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377440" y="1325880"/>
            <a:ext cx="914400" cy="36576"/>
          </a:xfrm>
          <a:prstGeom prst="rect">
            <a:avLst/>
          </a:prstGeom>
          <a:solidFill>
            <a:srgbClr val="B47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1508760"/>
            <a:ext cx="9720072" cy="3108960"/>
          </a:xfrm>
          <a:prstGeom prst="rect">
            <a:avLst/>
          </a:prstGeom>
          <a:noFill/>
        </p:spPr>
        <p:txBody>
          <a:bodyPr wrap="square" lIns="45720" rIns="45720" tIns="18288" bIns="18288" anchor="t">
            <a:spAutoFit/>
          </a:bodyPr>
          <a:lstStyle/>
          <a:p>
            <a:pPr algn="l"/>
            <a:r>
              <a:rPr sz="1100" b="0" i="0">
                <a:solidFill>
                  <a:srgbClr val="F0F0F0"/>
                </a:solidFill>
                <a:latin typeface="Calibri"/>
              </a:rPr>
              <a:t>Báo cáo này được Công ty Cổ phần Chứng khoán Finext soạn thảo trên cơ sở các thông tin, dữ liệu được thu thập từ các nguồn được cho là đáng tin cậy tại thời điểm phát hành. Tuy nhiên, Finext không cam kết hoặc bảo đảm tính chính xác, đầy đủ hay kịp thời của thông tin.
Các khuyến nghị trong báo cáo phản ánh quan điểm độc lập của Finext tại thời điểm công bố và có thể thay đổi mà không cần thông báo trước. Nhà đầu tư cần tự đánh giá mức độ phù hợp với tình hình tài chính cá nhân, khả năng chịu rủi ro và mục tiêu đầu tư trước khi ra quyết định.
Quyết định đầu tư cuối cùng hoàn toàn thuộc về Quý khách hàng. Finext không chịu trách nhiệm về bất kỳ tổn thất nào phát sinh từ việc sử dụng báo cáo này.</a:t>
            </a:r>
          </a:p>
        </p:txBody>
      </p:sp>
      <p:sp>
        <p:nvSpPr>
          <p:cNvPr id="13" name="TextBox 12"/>
          <p:cNvSpPr txBox="1"/>
          <p:nvPr/>
        </p:nvSpPr>
        <p:spPr>
          <a:xfrm>
            <a:off x="548640" y="5029200"/>
            <a:ext cx="11091672" cy="365760"/>
          </a:xfrm>
          <a:prstGeom prst="rect">
            <a:avLst/>
          </a:prstGeom>
          <a:noFill/>
        </p:spPr>
        <p:txBody>
          <a:bodyPr wrap="square" lIns="45720" rIns="45720" tIns="18288" bIns="18288" anchor="t">
            <a:spAutoFit/>
          </a:bodyPr>
          <a:lstStyle/>
          <a:p>
            <a:pPr algn="l"/>
            <a:r>
              <a:rPr sz="1100" b="1" i="0">
                <a:solidFill>
                  <a:srgbClr val="B47EFF"/>
                </a:solidFill>
                <a:latin typeface="Calibri"/>
              </a:rPr>
              <a:t>LIÊN HỆ</a:t>
            </a:r>
          </a:p>
        </p:txBody>
      </p:sp>
      <p:sp>
        <p:nvSpPr>
          <p:cNvPr id="14" name="Rectangle 13"/>
          <p:cNvSpPr/>
          <p:nvPr/>
        </p:nvSpPr>
        <p:spPr>
          <a:xfrm>
            <a:off x="548640" y="5413248"/>
            <a:ext cx="457200" cy="3657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005840" y="5413248"/>
            <a:ext cx="45720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463040" y="5413248"/>
            <a:ext cx="457200" cy="36576"/>
          </a:xfrm>
          <a:prstGeom prst="rect">
            <a:avLst/>
          </a:prstGeom>
          <a:solidFill>
            <a:srgbClr val="B47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5532120"/>
            <a:ext cx="5486400" cy="274320"/>
          </a:xfrm>
          <a:prstGeom prst="rect">
            <a:avLst/>
          </a:prstGeom>
          <a:noFill/>
        </p:spPr>
        <p:txBody>
          <a:bodyPr wrap="square" lIns="45720" rIns="45720" tIns="18288" bIns="18288" anchor="t">
            <a:spAutoFit/>
          </a:bodyPr>
          <a:lstStyle/>
          <a:p>
            <a:pPr algn="l"/>
            <a:r>
              <a:rPr sz="1100" b="0" i="0">
                <a:solidFill>
                  <a:srgbClr val="FFFFFF"/>
                </a:solidFill>
                <a:latin typeface="Calibri"/>
              </a:rPr>
              <a:t>Website:  www.finext.vn</a:t>
            </a:r>
          </a:p>
        </p:txBody>
      </p:sp>
      <p:sp>
        <p:nvSpPr>
          <p:cNvPr id="18" name="TextBox 17"/>
          <p:cNvSpPr txBox="1"/>
          <p:nvPr/>
        </p:nvSpPr>
        <p:spPr>
          <a:xfrm>
            <a:off x="548640" y="5852160"/>
            <a:ext cx="5486400" cy="274320"/>
          </a:xfrm>
          <a:prstGeom prst="rect">
            <a:avLst/>
          </a:prstGeom>
          <a:noFill/>
        </p:spPr>
        <p:txBody>
          <a:bodyPr wrap="square" lIns="45720" rIns="45720" tIns="18288" bIns="18288" anchor="t">
            <a:spAutoFit/>
          </a:bodyPr>
          <a:lstStyle/>
          <a:p>
            <a:pPr algn="l"/>
            <a:r>
              <a:rPr sz="1100" b="0" i="0">
                <a:solidFill>
                  <a:srgbClr val="FFFFFF"/>
                </a:solidFill>
                <a:latin typeface="Calibri"/>
              </a:rPr>
              <a:t>Hotline:  1900 0000</a:t>
            </a:r>
          </a:p>
        </p:txBody>
      </p:sp>
      <p:sp>
        <p:nvSpPr>
          <p:cNvPr id="19" name="TextBox 18"/>
          <p:cNvSpPr txBox="1"/>
          <p:nvPr/>
        </p:nvSpPr>
        <p:spPr>
          <a:xfrm>
            <a:off x="548640" y="6172200"/>
            <a:ext cx="7315200" cy="274320"/>
          </a:xfrm>
          <a:prstGeom prst="rect">
            <a:avLst/>
          </a:prstGeom>
          <a:noFill/>
        </p:spPr>
        <p:txBody>
          <a:bodyPr wrap="square" lIns="45720" rIns="45720" tIns="18288" bIns="18288" anchor="t">
            <a:spAutoFit/>
          </a:bodyPr>
          <a:lstStyle/>
          <a:p>
            <a:pPr algn="l"/>
            <a:r>
              <a:rPr sz="1100" b="0" i="1">
                <a:solidFill>
                  <a:srgbClr val="B47EFF"/>
                </a:solidFill>
                <a:latin typeface="Calibri"/>
              </a:rPr>
              <a:t>Finext • Phòng Phân tích Đầu tư</a:t>
            </a:r>
          </a:p>
        </p:txBody>
      </p:sp>
      <p:sp>
        <p:nvSpPr>
          <p:cNvPr id="20" name="TextBox 19"/>
          <p:cNvSpPr txBox="1"/>
          <p:nvPr/>
        </p:nvSpPr>
        <p:spPr>
          <a:xfrm>
            <a:off x="6400800" y="5532120"/>
            <a:ext cx="3657600" cy="274320"/>
          </a:xfrm>
          <a:prstGeom prst="rect">
            <a:avLst/>
          </a:prstGeom>
          <a:noFill/>
        </p:spPr>
        <p:txBody>
          <a:bodyPr wrap="square" lIns="45720" rIns="45720" tIns="18288" bIns="18288" anchor="t">
            <a:spAutoFit/>
          </a:bodyPr>
          <a:lstStyle/>
          <a:p>
            <a:pPr algn="r"/>
            <a:r>
              <a:rPr sz="1100" b="0" i="0">
                <a:solidFill>
                  <a:srgbClr val="B8B8B8"/>
                </a:solidFill>
                <a:latin typeface="Calibri"/>
              </a:rPr>
              <a:t>Phát hành: {{PUBLISH_DATE}}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