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88952" cy="6858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COVER_A_RECOMMENDATION">
    <p:spTree>
      <p:nvGrpSpPr>
        <p:cNvPr id="1" name=""/>
        <p:cNvGrpSpPr/>
        <p:nvPr/>
      </p:nvGrpSpPr>
      <p:grpSpPr/>
      <p:sp>
        <p:nvSpPr>
          <p:cNvPr id="2" name="Rectangle 1"/>
          <p:cNvSpPr/>
          <p:nvPr/>
        </p:nvSpPr>
        <p:spPr>
          <a:xfrm>
            <a:off x="0" y="0"/>
            <a:ext cx="12188952" cy="1828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5486400" cy="274320"/>
          </a:xfrm>
          <a:prstGeom prst="rect">
            <a:avLst/>
          </a:prstGeom>
          <a:noFill/>
        </p:spPr>
        <p:txBody>
          <a:bodyPr wrap="square" lIns="0" rIns="0" tIns="0" bIns="0" anchor="t">
            <a:spAutoFit/>
          </a:bodyPr>
          <a:lstStyle/>
          <a:p>
            <a:pPr algn="l"/>
            <a:r>
              <a:rPr sz="1400" b="1" i="0">
                <a:solidFill>
                  <a:srgbClr val="8B5CF6"/>
                </a:solidFill>
                <a:latin typeface="Calibri"/>
              </a:rPr>
              <a:t>FINEXT</a:t>
            </a:r>
          </a:p>
        </p:txBody>
      </p:sp>
      <p:sp>
        <p:nvSpPr>
          <p:cNvPr id="4" name="TextBox 3"/>
          <p:cNvSpPr txBox="1"/>
          <p:nvPr/>
        </p:nvSpPr>
        <p:spPr>
          <a:xfrm>
            <a:off x="548640" y="658368"/>
            <a:ext cx="5486400" cy="228600"/>
          </a:xfrm>
          <a:prstGeom prst="rect">
            <a:avLst/>
          </a:prstGeom>
          <a:noFill/>
        </p:spPr>
        <p:txBody>
          <a:bodyPr wrap="square" lIns="0" rIns="0" tIns="0" bIns="0" anchor="t">
            <a:spAutoFit/>
          </a:bodyPr>
          <a:lstStyle/>
          <a:p>
            <a:pPr algn="l"/>
            <a:r>
              <a:rPr sz="1000" b="0" i="1">
                <a:solidFill>
                  <a:srgbClr val="6B7280"/>
                </a:solidFill>
                <a:latin typeface="Calibri"/>
              </a:rPr>
              <a:t>Phòng Phân tích Đầu tư</a:t>
            </a:r>
          </a:p>
        </p:txBody>
      </p:sp>
      <p:sp>
        <p:nvSpPr>
          <p:cNvPr id="5" name="Rounded Rectangle 4"/>
          <p:cNvSpPr/>
          <p:nvPr/>
        </p:nvSpPr>
        <p:spPr>
          <a:xfrm>
            <a:off x="10177272" y="384048"/>
            <a:ext cx="1463040" cy="457200"/>
          </a:xfrm>
          <a:prstGeom prst="roundRect">
            <a:avLst>
              <a:gd name="adj" fmla="val 2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77272" y="384048"/>
            <a:ext cx="1463040" cy="457200"/>
          </a:xfrm>
          <a:prstGeom prst="rect">
            <a:avLst/>
          </a:prstGeom>
          <a:noFill/>
        </p:spPr>
        <p:txBody>
          <a:bodyPr wrap="square" lIns="0" rIns="0" tIns="0" bIns="0" anchor="ctr">
            <a:spAutoFit/>
          </a:bodyPr>
          <a:lstStyle/>
          <a:p>
            <a:pPr algn="ctr"/>
            <a:r>
              <a:rPr sz="1000" b="1" i="0">
                <a:solidFill>
                  <a:srgbClr val="FFFFFF"/>
                </a:solidFill>
                <a:latin typeface="Calibri"/>
              </a:rPr>
              <a:t>KHUYẾN NGHỊ MUA</a:t>
            </a:r>
          </a:p>
        </p:txBody>
      </p:sp>
      <p:sp>
        <p:nvSpPr>
          <p:cNvPr id="7" name="Rectangle 6"/>
          <p:cNvSpPr/>
          <p:nvPr/>
        </p:nvSpPr>
        <p:spPr>
          <a:xfrm>
            <a:off x="548640" y="1005840"/>
            <a:ext cx="11091672" cy="137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80160"/>
            <a:ext cx="11091672" cy="274320"/>
          </a:xfrm>
          <a:prstGeom prst="rect">
            <a:avLst/>
          </a:prstGeom>
          <a:noFill/>
        </p:spPr>
        <p:txBody>
          <a:bodyPr wrap="square" lIns="0" rIns="0" tIns="0" bIns="0" anchor="t">
            <a:spAutoFit/>
          </a:bodyPr>
          <a:lstStyle/>
          <a:p>
            <a:pPr algn="l"/>
            <a:r>
              <a:rPr sz="1200" b="0" i="1">
                <a:solidFill>
                  <a:srgbClr val="6B7280"/>
                </a:solidFill>
                <a:latin typeface="Calibri"/>
              </a:rPr>
              <a:t>{{REPORT_SUBTITLE}}</a:t>
            </a:r>
          </a:p>
        </p:txBody>
      </p:sp>
      <p:sp>
        <p:nvSpPr>
          <p:cNvPr id="9" name="Rounded Rectangle 8"/>
          <p:cNvSpPr/>
          <p:nvPr/>
        </p:nvSpPr>
        <p:spPr>
          <a:xfrm>
            <a:off x="548640" y="1691640"/>
            <a:ext cx="1280160" cy="411480"/>
          </a:xfrm>
          <a:prstGeom prst="roundRect">
            <a:avLst>
              <a:gd name="adj" fmla="val 30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91640"/>
            <a:ext cx="1280160" cy="411480"/>
          </a:xfrm>
          <a:prstGeom prst="rect">
            <a:avLst/>
          </a:prstGeom>
          <a:noFill/>
        </p:spPr>
        <p:txBody>
          <a:bodyPr wrap="square" lIns="0" rIns="0" tIns="0" bIns="0" anchor="ctr">
            <a:spAutoFit/>
          </a:bodyPr>
          <a:lstStyle/>
          <a:p>
            <a:pPr algn="ctr"/>
            <a:r>
              <a:rPr sz="1800" b="1" i="0">
                <a:solidFill>
                  <a:srgbClr val="7C3AED"/>
                </a:solidFill>
                <a:latin typeface="Calibri"/>
              </a:rPr>
              <a:t>{{TICKER}}</a:t>
            </a:r>
          </a:p>
        </p:txBody>
      </p:sp>
      <p:sp>
        <p:nvSpPr>
          <p:cNvPr id="11" name="TextBox 10"/>
          <p:cNvSpPr txBox="1"/>
          <p:nvPr/>
        </p:nvSpPr>
        <p:spPr>
          <a:xfrm>
            <a:off x="1965960" y="1691640"/>
            <a:ext cx="7772400" cy="411480"/>
          </a:xfrm>
          <a:prstGeom prst="rect">
            <a:avLst/>
          </a:prstGeom>
          <a:noFill/>
        </p:spPr>
        <p:txBody>
          <a:bodyPr wrap="square" lIns="0" rIns="0" tIns="0" bIns="0" anchor="ctr">
            <a:spAutoFit/>
          </a:bodyPr>
          <a:lstStyle/>
          <a:p>
            <a:pPr algn="l"/>
            <a:r>
              <a:rPr sz="2000" b="0" i="1">
                <a:solidFill>
                  <a:srgbClr val="1F2937"/>
                </a:solidFill>
                <a:latin typeface="Calibri"/>
              </a:rPr>
              <a:t>{{COMPANY_FULL_NAME}}</a:t>
            </a:r>
          </a:p>
        </p:txBody>
      </p:sp>
      <p:sp>
        <p:nvSpPr>
          <p:cNvPr id="12" name="TextBox 11"/>
          <p:cNvSpPr txBox="1"/>
          <p:nvPr/>
        </p:nvSpPr>
        <p:spPr>
          <a:xfrm>
            <a:off x="9784080" y="1691640"/>
            <a:ext cx="1874519" cy="411480"/>
          </a:xfrm>
          <a:prstGeom prst="rect">
            <a:avLst/>
          </a:prstGeom>
          <a:noFill/>
        </p:spPr>
        <p:txBody>
          <a:bodyPr wrap="square" lIns="0" rIns="0" tIns="0" bIns="0" anchor="ctr">
            <a:spAutoFit/>
          </a:bodyPr>
          <a:lstStyle/>
          <a:p>
            <a:pPr algn="r"/>
            <a:r>
              <a:rPr sz="1100" b="0" i="0">
                <a:solidFill>
                  <a:srgbClr val="9CA3AF"/>
                </a:solidFill>
                <a:latin typeface="Calibri"/>
              </a:rPr>
              <a:t>{{INDUSTRY_LABEL}}</a:t>
            </a:r>
          </a:p>
        </p:txBody>
      </p:sp>
      <p:sp>
        <p:nvSpPr>
          <p:cNvPr id="13" name="TextBox 12"/>
          <p:cNvSpPr txBox="1"/>
          <p:nvPr/>
        </p:nvSpPr>
        <p:spPr>
          <a:xfrm>
            <a:off x="457200" y="2331720"/>
            <a:ext cx="640080" cy="640080"/>
          </a:xfrm>
          <a:prstGeom prst="rect">
            <a:avLst/>
          </a:prstGeom>
          <a:noFill/>
        </p:spPr>
        <p:txBody>
          <a:bodyPr wrap="square" lIns="0" rIns="0" tIns="0" bIns="0" anchor="t">
            <a:spAutoFit/>
          </a:bodyPr>
          <a:lstStyle/>
          <a:p>
            <a:pPr algn="ctr"/>
            <a:r>
              <a:rPr sz="6000" b="1" i="0">
                <a:solidFill>
                  <a:srgbClr val="8B5CF6"/>
                </a:solidFill>
                <a:latin typeface="Calibri"/>
              </a:rPr>
              <a:t>“</a:t>
            </a:r>
          </a:p>
        </p:txBody>
      </p:sp>
      <p:sp>
        <p:nvSpPr>
          <p:cNvPr id="14" name="TextBox 13"/>
          <p:cNvSpPr txBox="1"/>
          <p:nvPr/>
        </p:nvSpPr>
        <p:spPr>
          <a:xfrm>
            <a:off x="1097280" y="2423160"/>
            <a:ext cx="10607040" cy="1691640"/>
          </a:xfrm>
          <a:prstGeom prst="rect">
            <a:avLst/>
          </a:prstGeom>
          <a:noFill/>
        </p:spPr>
        <p:txBody>
          <a:bodyPr wrap="square" lIns="0" rIns="0" tIns="0" bIns="0" anchor="ctr">
            <a:spAutoFit/>
          </a:bodyPr>
          <a:lstStyle/>
          <a:p>
            <a:pPr algn="l"/>
            <a:r>
              <a:rPr sz="3600" b="1" i="0">
                <a:solidFill>
                  <a:srgbClr val="1F2937"/>
                </a:solidFill>
                <a:latin typeface="Calibri"/>
              </a:rPr>
              <a:t>{{THESIS_HEADLINE}}</a:t>
            </a:r>
          </a:p>
        </p:txBody>
      </p:sp>
      <p:sp>
        <p:nvSpPr>
          <p:cNvPr id="15" name="Rectangle 14"/>
          <p:cNvSpPr/>
          <p:nvPr/>
        </p:nvSpPr>
        <p:spPr>
          <a:xfrm>
            <a:off x="548640" y="4434840"/>
            <a:ext cx="45720" cy="10972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526279"/>
            <a:ext cx="3331464" cy="256032"/>
          </a:xfrm>
          <a:prstGeom prst="rect">
            <a:avLst/>
          </a:prstGeom>
          <a:noFill/>
        </p:spPr>
        <p:txBody>
          <a:bodyPr wrap="square" lIns="0" rIns="0" tIns="0" bIns="0" anchor="t">
            <a:spAutoFit/>
          </a:bodyPr>
          <a:lstStyle/>
          <a:p>
            <a:pPr algn="l"/>
            <a:r>
              <a:rPr sz="1000" b="0" i="0">
                <a:solidFill>
                  <a:srgbClr val="6B7280"/>
                </a:solidFill>
                <a:latin typeface="Calibri"/>
              </a:rPr>
              <a:t>Giá hiện tại</a:t>
            </a:r>
          </a:p>
        </p:txBody>
      </p:sp>
      <p:sp>
        <p:nvSpPr>
          <p:cNvPr id="17" name="TextBox 16"/>
          <p:cNvSpPr txBox="1"/>
          <p:nvPr/>
        </p:nvSpPr>
        <p:spPr>
          <a:xfrm>
            <a:off x="731520" y="4800600"/>
            <a:ext cx="3331464" cy="640080"/>
          </a:xfrm>
          <a:prstGeom prst="rect">
            <a:avLst/>
          </a:prstGeom>
          <a:noFill/>
        </p:spPr>
        <p:txBody>
          <a:bodyPr wrap="square" lIns="0" rIns="0" tIns="0" bIns="0" anchor="t">
            <a:spAutoFit/>
          </a:bodyPr>
          <a:lstStyle/>
          <a:p>
            <a:pPr algn="l"/>
            <a:r>
              <a:rPr sz="2200" b="1" i="0">
                <a:solidFill>
                  <a:srgbClr val="7C3AED"/>
                </a:solidFill>
                <a:latin typeface="Calibri"/>
              </a:rPr>
              <a:t>{{PRICE_CURRENT}}</a:t>
            </a:r>
          </a:p>
        </p:txBody>
      </p:sp>
      <p:sp>
        <p:nvSpPr>
          <p:cNvPr id="18" name="Rectangle 17"/>
          <p:cNvSpPr/>
          <p:nvPr/>
        </p:nvSpPr>
        <p:spPr>
          <a:xfrm>
            <a:off x="4291584" y="4434840"/>
            <a:ext cx="45720" cy="10972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74464" y="4526279"/>
            <a:ext cx="3331464" cy="256032"/>
          </a:xfrm>
          <a:prstGeom prst="rect">
            <a:avLst/>
          </a:prstGeom>
          <a:noFill/>
        </p:spPr>
        <p:txBody>
          <a:bodyPr wrap="square" lIns="0" rIns="0" tIns="0" bIns="0" anchor="t">
            <a:spAutoFit/>
          </a:bodyPr>
          <a:lstStyle/>
          <a:p>
            <a:pPr algn="l"/>
            <a:r>
              <a:rPr sz="1000" b="0" i="0">
                <a:solidFill>
                  <a:srgbClr val="6B7280"/>
                </a:solidFill>
                <a:latin typeface="Calibri"/>
              </a:rPr>
              <a:t>Giá mục tiêu</a:t>
            </a:r>
          </a:p>
        </p:txBody>
      </p:sp>
      <p:sp>
        <p:nvSpPr>
          <p:cNvPr id="20" name="TextBox 19"/>
          <p:cNvSpPr txBox="1"/>
          <p:nvPr/>
        </p:nvSpPr>
        <p:spPr>
          <a:xfrm>
            <a:off x="4474464" y="4800600"/>
            <a:ext cx="3331464" cy="640080"/>
          </a:xfrm>
          <a:prstGeom prst="rect">
            <a:avLst/>
          </a:prstGeom>
          <a:noFill/>
        </p:spPr>
        <p:txBody>
          <a:bodyPr wrap="square" lIns="0" rIns="0" tIns="0" bIns="0" anchor="t">
            <a:spAutoFit/>
          </a:bodyPr>
          <a:lstStyle/>
          <a:p>
            <a:pPr algn="l"/>
            <a:r>
              <a:rPr sz="2200" b="1" i="0">
                <a:solidFill>
                  <a:srgbClr val="7C3AED"/>
                </a:solidFill>
                <a:latin typeface="Calibri"/>
              </a:rPr>
              <a:t>{{PRICE_TARGET}}</a:t>
            </a:r>
          </a:p>
        </p:txBody>
      </p:sp>
      <p:sp>
        <p:nvSpPr>
          <p:cNvPr id="21" name="Rectangle 20"/>
          <p:cNvSpPr/>
          <p:nvPr/>
        </p:nvSpPr>
        <p:spPr>
          <a:xfrm>
            <a:off x="8034528" y="4434840"/>
            <a:ext cx="45720" cy="10972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7408" y="4526279"/>
            <a:ext cx="3331464" cy="256032"/>
          </a:xfrm>
          <a:prstGeom prst="rect">
            <a:avLst/>
          </a:prstGeom>
          <a:noFill/>
        </p:spPr>
        <p:txBody>
          <a:bodyPr wrap="square" lIns="0" rIns="0" tIns="0" bIns="0" anchor="t">
            <a:spAutoFit/>
          </a:bodyPr>
          <a:lstStyle/>
          <a:p>
            <a:pPr algn="l"/>
            <a:r>
              <a:rPr sz="1000" b="0" i="0">
                <a:solidFill>
                  <a:srgbClr val="6B7280"/>
                </a:solidFill>
                <a:latin typeface="Calibri"/>
              </a:rPr>
              <a:t>Tiềm năng</a:t>
            </a:r>
          </a:p>
        </p:txBody>
      </p:sp>
      <p:sp>
        <p:nvSpPr>
          <p:cNvPr id="23" name="TextBox 22"/>
          <p:cNvSpPr txBox="1"/>
          <p:nvPr/>
        </p:nvSpPr>
        <p:spPr>
          <a:xfrm>
            <a:off x="8217408" y="4800600"/>
            <a:ext cx="3331464" cy="640080"/>
          </a:xfrm>
          <a:prstGeom prst="rect">
            <a:avLst/>
          </a:prstGeom>
          <a:noFill/>
        </p:spPr>
        <p:txBody>
          <a:bodyPr wrap="square" lIns="0" rIns="0" tIns="0" bIns="0" anchor="t">
            <a:spAutoFit/>
          </a:bodyPr>
          <a:lstStyle/>
          <a:p>
            <a:pPr algn="l"/>
            <a:r>
              <a:rPr sz="2200" b="1" i="0">
                <a:solidFill>
                  <a:srgbClr val="25B770"/>
                </a:solidFill>
                <a:latin typeface="Calibri"/>
              </a:rPr>
              <a:t>{{UPSIDE_LINE}}</a:t>
            </a:r>
          </a:p>
        </p:txBody>
      </p:sp>
      <p:sp>
        <p:nvSpPr>
          <p:cNvPr id="24" name="Rectangle 23"/>
          <p:cNvSpPr/>
          <p:nvPr/>
        </p:nvSpPr>
        <p:spPr>
          <a:xfrm>
            <a:off x="0" y="6675120"/>
            <a:ext cx="12188952" cy="1828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492240"/>
            <a:ext cx="5486400" cy="182880"/>
          </a:xfrm>
          <a:prstGeom prst="rect">
            <a:avLst/>
          </a:prstGeom>
          <a:noFill/>
        </p:spPr>
        <p:txBody>
          <a:bodyPr wrap="square" lIns="0" rIns="0" tIns="0" bIns="0" anchor="t">
            <a:spAutoFit/>
          </a:bodyPr>
          <a:lstStyle/>
          <a:p>
            <a:pPr algn="l"/>
            <a:r>
              <a:rPr sz="900" b="0" i="0">
                <a:solidFill>
                  <a:srgbClr val="9CA3AF"/>
                </a:solidFill>
                <a:latin typeface="Calibri"/>
              </a:rPr>
              <a:t>{{PUBLISH_DATE}}</a:t>
            </a:r>
          </a:p>
        </p:txBody>
      </p:sp>
      <p:sp>
        <p:nvSpPr>
          <p:cNvPr id="26" name="TextBox 25"/>
          <p:cNvSpPr txBox="1"/>
          <p:nvPr/>
        </p:nvSpPr>
        <p:spPr>
          <a:xfrm>
            <a:off x="6702552" y="6492240"/>
            <a:ext cx="4937760" cy="182880"/>
          </a:xfrm>
          <a:prstGeom prst="rect">
            <a:avLst/>
          </a:prstGeom>
          <a:noFill/>
        </p:spPr>
        <p:txBody>
          <a:bodyPr wrap="square" lIns="0" rIns="0" tIns="0" bIns="0" anchor="t">
            <a:spAutoFit/>
          </a:bodyPr>
          <a:lstStyle/>
          <a:p>
            <a:pPr algn="r"/>
            <a:r>
              <a:rPr sz="900" b="0" i="0">
                <a:solidFill>
                  <a:srgbClr val="9CA3AF"/>
                </a:solidFill>
                <a:latin typeface="Calibri"/>
              </a:rPr>
              <a:t>www.finext.vn  •  Hotline 1900 0000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COVER_B_DEEPDIVE">
    <p:spTree>
      <p:nvGrpSpPr>
        <p:cNvPr id="1" name=""/>
        <p:cNvGrpSpPr/>
        <p:nvPr/>
      </p:nvGrpSpPr>
      <p:grpSpPr/>
      <p:sp>
        <p:nvSpPr>
          <p:cNvPr id="2" name="Rectangle 1"/>
          <p:cNvSpPr/>
          <p:nvPr/>
        </p:nvSpPr>
        <p:spPr>
          <a:xfrm>
            <a:off x="0" y="0"/>
            <a:ext cx="274320" cy="6858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7315200" cy="274320"/>
          </a:xfrm>
          <a:prstGeom prst="rect">
            <a:avLst/>
          </a:prstGeom>
          <a:noFill/>
        </p:spPr>
        <p:txBody>
          <a:bodyPr wrap="square" lIns="0" rIns="0" tIns="0" bIns="0" anchor="t">
            <a:spAutoFit/>
          </a:bodyPr>
          <a:lstStyle/>
          <a:p>
            <a:pPr algn="l"/>
            <a:r>
              <a:rPr sz="1100" b="1" i="0">
                <a:solidFill>
                  <a:srgbClr val="8B5CF6"/>
                </a:solidFill>
                <a:latin typeface="Calibri"/>
              </a:rPr>
              <a:t>PHÂN TÍCH CHUYÊN SÂU</a:t>
            </a:r>
          </a:p>
        </p:txBody>
      </p:sp>
      <p:sp>
        <p:nvSpPr>
          <p:cNvPr id="4" name="TextBox 3"/>
          <p:cNvSpPr txBox="1"/>
          <p:nvPr/>
        </p:nvSpPr>
        <p:spPr>
          <a:xfrm>
            <a:off x="640080" y="777240"/>
            <a:ext cx="10058400" cy="365760"/>
          </a:xfrm>
          <a:prstGeom prst="rect">
            <a:avLst/>
          </a:prstGeom>
          <a:noFill/>
        </p:spPr>
        <p:txBody>
          <a:bodyPr wrap="square" lIns="0" rIns="0" tIns="0" bIns="0" anchor="t">
            <a:spAutoFit/>
          </a:bodyPr>
          <a:lstStyle/>
          <a:p>
            <a:pPr algn="l"/>
            <a:r>
              <a:rPr sz="2200" b="0" i="1">
                <a:solidFill>
                  <a:srgbClr val="1F2937"/>
                </a:solidFill>
                <a:latin typeface="Calibri"/>
              </a:rPr>
              <a:t>{{REPORT_SUBTITLE}}</a:t>
            </a:r>
          </a:p>
        </p:txBody>
      </p:sp>
      <p:sp>
        <p:nvSpPr>
          <p:cNvPr id="5" name="TextBox 4"/>
          <p:cNvSpPr txBox="1"/>
          <p:nvPr/>
        </p:nvSpPr>
        <p:spPr>
          <a:xfrm>
            <a:off x="640080" y="1691640"/>
            <a:ext cx="5029200" cy="1280160"/>
          </a:xfrm>
          <a:prstGeom prst="rect">
            <a:avLst/>
          </a:prstGeom>
          <a:noFill/>
        </p:spPr>
        <p:txBody>
          <a:bodyPr wrap="square" lIns="0" rIns="0" tIns="0" bIns="0" anchor="t">
            <a:spAutoFit/>
          </a:bodyPr>
          <a:lstStyle/>
          <a:p>
            <a:pPr algn="l"/>
            <a:r>
              <a:rPr sz="8400" b="1" i="0">
                <a:solidFill>
                  <a:srgbClr val="7C3AED"/>
                </a:solidFill>
                <a:latin typeface="Calibri"/>
              </a:rPr>
              <a:t>{{TICKER}}</a:t>
            </a:r>
          </a:p>
        </p:txBody>
      </p:sp>
      <p:sp>
        <p:nvSpPr>
          <p:cNvPr id="6" name="TextBox 5"/>
          <p:cNvSpPr txBox="1"/>
          <p:nvPr/>
        </p:nvSpPr>
        <p:spPr>
          <a:xfrm>
            <a:off x="640080" y="3108960"/>
            <a:ext cx="5029200" cy="365760"/>
          </a:xfrm>
          <a:prstGeom prst="rect">
            <a:avLst/>
          </a:prstGeom>
          <a:noFill/>
        </p:spPr>
        <p:txBody>
          <a:bodyPr wrap="square" lIns="0" rIns="0" tIns="0" bIns="0" anchor="t">
            <a:spAutoFit/>
          </a:bodyPr>
          <a:lstStyle/>
          <a:p>
            <a:pPr algn="l"/>
            <a:r>
              <a:rPr sz="1600" b="0" i="1">
                <a:solidFill>
                  <a:srgbClr val="1F2937"/>
                </a:solidFill>
                <a:latin typeface="Calibri"/>
              </a:rPr>
              <a:t>{{COMPANY_FULL_NAME}}</a:t>
            </a:r>
          </a:p>
        </p:txBody>
      </p:sp>
      <p:sp>
        <p:nvSpPr>
          <p:cNvPr id="7" name="TextBox 6"/>
          <p:cNvSpPr txBox="1"/>
          <p:nvPr/>
        </p:nvSpPr>
        <p:spPr>
          <a:xfrm>
            <a:off x="640080" y="3520440"/>
            <a:ext cx="5029200" cy="274320"/>
          </a:xfrm>
          <a:prstGeom prst="rect">
            <a:avLst/>
          </a:prstGeom>
          <a:noFill/>
        </p:spPr>
        <p:txBody>
          <a:bodyPr wrap="square" lIns="0" rIns="0" tIns="0" bIns="0" anchor="t">
            <a:spAutoFit/>
          </a:bodyPr>
          <a:lstStyle/>
          <a:p>
            <a:pPr algn="l"/>
            <a:r>
              <a:rPr sz="1100" b="0" i="0">
                <a:solidFill>
                  <a:srgbClr val="6B7280"/>
                </a:solidFill>
                <a:latin typeface="Calibri"/>
              </a:rPr>
              <a:t>{{INDUSTRY_LABEL}}</a:t>
            </a:r>
          </a:p>
        </p:txBody>
      </p:sp>
      <p:sp>
        <p:nvSpPr>
          <p:cNvPr id="8" name="Rounded Rectangle 7"/>
          <p:cNvSpPr/>
          <p:nvPr/>
        </p:nvSpPr>
        <p:spPr>
          <a:xfrm>
            <a:off x="6217920" y="1691640"/>
            <a:ext cx="5486400" cy="2103120"/>
          </a:xfrm>
          <a:prstGeom prst="roundRect">
            <a:avLst>
              <a:gd name="adj" fmla="val 15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20"/>
            <a:ext cx="4937760" cy="274320"/>
          </a:xfrm>
          <a:prstGeom prst="rect">
            <a:avLst/>
          </a:prstGeom>
          <a:noFill/>
        </p:spPr>
        <p:txBody>
          <a:bodyPr wrap="square" lIns="0" rIns="0" tIns="0" bIns="0" anchor="t">
            <a:spAutoFit/>
          </a:bodyPr>
          <a:lstStyle/>
          <a:p>
            <a:pPr algn="l"/>
            <a:r>
              <a:rPr sz="1000" b="1" i="0">
                <a:solidFill>
                  <a:srgbClr val="7C3AED"/>
                </a:solidFill>
                <a:latin typeface="Calibri"/>
              </a:rPr>
              <a:t>TỶ LỆ LỜI - LỖ</a:t>
            </a:r>
          </a:p>
        </p:txBody>
      </p:sp>
      <p:sp>
        <p:nvSpPr>
          <p:cNvPr id="10" name="TextBox 9"/>
          <p:cNvSpPr txBox="1"/>
          <p:nvPr/>
        </p:nvSpPr>
        <p:spPr>
          <a:xfrm>
            <a:off x="6492240" y="2148840"/>
            <a:ext cx="4937760" cy="914400"/>
          </a:xfrm>
          <a:prstGeom prst="rect">
            <a:avLst/>
          </a:prstGeom>
          <a:noFill/>
        </p:spPr>
        <p:txBody>
          <a:bodyPr wrap="square" lIns="0" rIns="0" tIns="0" bIns="0" anchor="t">
            <a:spAutoFit/>
          </a:bodyPr>
          <a:lstStyle/>
          <a:p>
            <a:pPr algn="l"/>
            <a:r>
              <a:rPr sz="7200" b="1" i="0">
                <a:solidFill>
                  <a:srgbClr val="7C3AED"/>
                </a:solidFill>
                <a:latin typeface="Calibri"/>
              </a:rPr>
              <a:t>{{RR_RATIO}}</a:t>
            </a:r>
          </a:p>
        </p:txBody>
      </p:sp>
      <p:sp>
        <p:nvSpPr>
          <p:cNvPr id="11" name="TextBox 10"/>
          <p:cNvSpPr txBox="1"/>
          <p:nvPr/>
        </p:nvSpPr>
        <p:spPr>
          <a:xfrm>
            <a:off x="6492240" y="3200400"/>
            <a:ext cx="4937760" cy="457200"/>
          </a:xfrm>
          <a:prstGeom prst="rect">
            <a:avLst/>
          </a:prstGeom>
          <a:noFill/>
        </p:spPr>
        <p:txBody>
          <a:bodyPr wrap="square" lIns="0" rIns="0" tIns="0" bIns="0" anchor="t">
            <a:spAutoFit/>
          </a:bodyPr>
          <a:lstStyle/>
          <a:p>
            <a:pPr algn="l"/>
            <a:r>
              <a:rPr sz="1400" b="0" i="1">
                <a:solidFill>
                  <a:srgbClr val="1F2937"/>
                </a:solidFill>
                <a:latin typeface="Calibri"/>
              </a:rPr>
              <a:t>{{RR_VERDICT}}</a:t>
            </a:r>
          </a:p>
        </p:txBody>
      </p:sp>
      <p:sp>
        <p:nvSpPr>
          <p:cNvPr id="12" name="Rectangle 11"/>
          <p:cNvSpPr/>
          <p:nvPr/>
        </p:nvSpPr>
        <p:spPr>
          <a:xfrm>
            <a:off x="6217920" y="3931920"/>
            <a:ext cx="365760" cy="3657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4023359"/>
            <a:ext cx="1737360" cy="201168"/>
          </a:xfrm>
          <a:prstGeom prst="rect">
            <a:avLst/>
          </a:prstGeom>
          <a:noFill/>
        </p:spPr>
        <p:txBody>
          <a:bodyPr wrap="square" lIns="0" rIns="0" tIns="0" bIns="0" anchor="t">
            <a:spAutoFit/>
          </a:bodyPr>
          <a:lstStyle/>
          <a:p>
            <a:pPr algn="l"/>
            <a:r>
              <a:rPr sz="900" b="0" i="0">
                <a:solidFill>
                  <a:srgbClr val="6B7280"/>
                </a:solidFill>
                <a:latin typeface="Calibri"/>
              </a:rPr>
              <a:t>Giá hiện tại</a:t>
            </a:r>
          </a:p>
        </p:txBody>
      </p:sp>
      <p:sp>
        <p:nvSpPr>
          <p:cNvPr id="14" name="TextBox 13"/>
          <p:cNvSpPr txBox="1"/>
          <p:nvPr/>
        </p:nvSpPr>
        <p:spPr>
          <a:xfrm>
            <a:off x="6217920" y="4242816"/>
            <a:ext cx="1737360" cy="502920"/>
          </a:xfrm>
          <a:prstGeom prst="rect">
            <a:avLst/>
          </a:prstGeom>
          <a:noFill/>
        </p:spPr>
        <p:txBody>
          <a:bodyPr wrap="square" lIns="0" rIns="0" tIns="0" bIns="0" anchor="t">
            <a:spAutoFit/>
          </a:bodyPr>
          <a:lstStyle/>
          <a:p>
            <a:pPr algn="l"/>
            <a:r>
              <a:rPr sz="2000" b="1" i="0">
                <a:solidFill>
                  <a:srgbClr val="7C3AED"/>
                </a:solidFill>
                <a:latin typeface="Calibri"/>
              </a:rPr>
              <a:t>{{PRICE_CURRENT}}</a:t>
            </a:r>
          </a:p>
        </p:txBody>
      </p:sp>
      <p:sp>
        <p:nvSpPr>
          <p:cNvPr id="15" name="TextBox 14"/>
          <p:cNvSpPr txBox="1"/>
          <p:nvPr/>
        </p:nvSpPr>
        <p:spPr>
          <a:xfrm>
            <a:off x="6217920" y="4773168"/>
            <a:ext cx="1737360" cy="228600"/>
          </a:xfrm>
          <a:prstGeom prst="rect">
            <a:avLst/>
          </a:prstGeom>
          <a:noFill/>
        </p:spPr>
        <p:txBody>
          <a:bodyPr wrap="square" lIns="0" rIns="0" tIns="0" bIns="0" anchor="t">
            <a:spAutoFit/>
          </a:bodyPr>
          <a:lstStyle/>
          <a:p>
            <a:pPr algn="l"/>
            <a:r>
              <a:rPr sz="900" b="0" i="0">
                <a:solidFill>
                  <a:srgbClr val="9CA3AF"/>
                </a:solidFill>
                <a:latin typeface="Calibri"/>
              </a:rPr>
              <a:t>{{PRICE_DATE}}</a:t>
            </a:r>
          </a:p>
        </p:txBody>
      </p:sp>
      <p:sp>
        <p:nvSpPr>
          <p:cNvPr id="16" name="Rectangle 15"/>
          <p:cNvSpPr/>
          <p:nvPr/>
        </p:nvSpPr>
        <p:spPr>
          <a:xfrm>
            <a:off x="8092440" y="3931920"/>
            <a:ext cx="365760" cy="36576"/>
          </a:xfrm>
          <a:prstGeom prst="rect">
            <a:avLst/>
          </a:prstGeom>
          <a:solidFill>
            <a:srgbClr val="25B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023359"/>
            <a:ext cx="1737360" cy="201168"/>
          </a:xfrm>
          <a:prstGeom prst="rect">
            <a:avLst/>
          </a:prstGeom>
          <a:noFill/>
        </p:spPr>
        <p:txBody>
          <a:bodyPr wrap="square" lIns="0" rIns="0" tIns="0" bIns="0" anchor="t">
            <a:spAutoFit/>
          </a:bodyPr>
          <a:lstStyle/>
          <a:p>
            <a:pPr algn="l"/>
            <a:r>
              <a:rPr sz="900" b="0" i="0">
                <a:solidFill>
                  <a:srgbClr val="6B7280"/>
                </a:solidFill>
                <a:latin typeface="Calibri"/>
              </a:rPr>
              <a:t>Mục tiêu (Cơ sở)</a:t>
            </a:r>
          </a:p>
        </p:txBody>
      </p:sp>
      <p:sp>
        <p:nvSpPr>
          <p:cNvPr id="18" name="TextBox 17"/>
          <p:cNvSpPr txBox="1"/>
          <p:nvPr/>
        </p:nvSpPr>
        <p:spPr>
          <a:xfrm>
            <a:off x="8092440" y="4242816"/>
            <a:ext cx="1737360" cy="502920"/>
          </a:xfrm>
          <a:prstGeom prst="rect">
            <a:avLst/>
          </a:prstGeom>
          <a:noFill/>
        </p:spPr>
        <p:txBody>
          <a:bodyPr wrap="square" lIns="0" rIns="0" tIns="0" bIns="0" anchor="t">
            <a:spAutoFit/>
          </a:bodyPr>
          <a:lstStyle/>
          <a:p>
            <a:pPr algn="l"/>
            <a:r>
              <a:rPr sz="2000" b="1" i="0">
                <a:solidFill>
                  <a:srgbClr val="25B770"/>
                </a:solidFill>
                <a:latin typeface="Calibri"/>
              </a:rPr>
              <a:t>{{TARGET_BASE}}</a:t>
            </a:r>
          </a:p>
        </p:txBody>
      </p:sp>
      <p:sp>
        <p:nvSpPr>
          <p:cNvPr id="19" name="TextBox 18"/>
          <p:cNvSpPr txBox="1"/>
          <p:nvPr/>
        </p:nvSpPr>
        <p:spPr>
          <a:xfrm>
            <a:off x="8092440" y="4773168"/>
            <a:ext cx="1737360" cy="228600"/>
          </a:xfrm>
          <a:prstGeom prst="rect">
            <a:avLst/>
          </a:prstGeom>
          <a:noFill/>
        </p:spPr>
        <p:txBody>
          <a:bodyPr wrap="square" lIns="0" rIns="0" tIns="0" bIns="0" anchor="t">
            <a:spAutoFit/>
          </a:bodyPr>
          <a:lstStyle/>
          <a:p>
            <a:pPr algn="l"/>
            <a:r>
              <a:rPr sz="900" b="0" i="0">
                <a:solidFill>
                  <a:srgbClr val="9CA3AF"/>
                </a:solidFill>
                <a:latin typeface="Calibri"/>
              </a:rPr>
              <a:t>{{UPSIDE_BASE}}</a:t>
            </a:r>
          </a:p>
        </p:txBody>
      </p:sp>
      <p:sp>
        <p:nvSpPr>
          <p:cNvPr id="20" name="Rectangle 19"/>
          <p:cNvSpPr/>
          <p:nvPr/>
        </p:nvSpPr>
        <p:spPr>
          <a:xfrm>
            <a:off x="9966960" y="3931920"/>
            <a:ext cx="365760" cy="36576"/>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4023359"/>
            <a:ext cx="1737360" cy="201168"/>
          </a:xfrm>
          <a:prstGeom prst="rect">
            <a:avLst/>
          </a:prstGeom>
          <a:noFill/>
        </p:spPr>
        <p:txBody>
          <a:bodyPr wrap="square" lIns="0" rIns="0" tIns="0" bIns="0" anchor="t">
            <a:spAutoFit/>
          </a:bodyPr>
          <a:lstStyle/>
          <a:p>
            <a:pPr algn="l"/>
            <a:r>
              <a:rPr sz="900" b="0" i="0">
                <a:solidFill>
                  <a:srgbClr val="6B7280"/>
                </a:solidFill>
                <a:latin typeface="Calibri"/>
              </a:rPr>
              <a:t>Cắt lỗ</a:t>
            </a:r>
          </a:p>
        </p:txBody>
      </p:sp>
      <p:sp>
        <p:nvSpPr>
          <p:cNvPr id="22" name="TextBox 21"/>
          <p:cNvSpPr txBox="1"/>
          <p:nvPr/>
        </p:nvSpPr>
        <p:spPr>
          <a:xfrm>
            <a:off x="9966960" y="4242816"/>
            <a:ext cx="1737360" cy="502920"/>
          </a:xfrm>
          <a:prstGeom prst="rect">
            <a:avLst/>
          </a:prstGeom>
          <a:noFill/>
        </p:spPr>
        <p:txBody>
          <a:bodyPr wrap="square" lIns="0" rIns="0" tIns="0" bIns="0" anchor="t">
            <a:spAutoFit/>
          </a:bodyPr>
          <a:lstStyle/>
          <a:p>
            <a:pPr algn="l"/>
            <a:r>
              <a:rPr sz="2000" b="1" i="0">
                <a:solidFill>
                  <a:srgbClr val="E14040"/>
                </a:solidFill>
                <a:latin typeface="Calibri"/>
              </a:rPr>
              <a:t>{{STOPLOSS}}</a:t>
            </a:r>
          </a:p>
        </p:txBody>
      </p:sp>
      <p:sp>
        <p:nvSpPr>
          <p:cNvPr id="23" name="TextBox 22"/>
          <p:cNvSpPr txBox="1"/>
          <p:nvPr/>
        </p:nvSpPr>
        <p:spPr>
          <a:xfrm>
            <a:off x="9966960" y="4773168"/>
            <a:ext cx="1737360" cy="228600"/>
          </a:xfrm>
          <a:prstGeom prst="rect">
            <a:avLst/>
          </a:prstGeom>
          <a:noFill/>
        </p:spPr>
        <p:txBody>
          <a:bodyPr wrap="square" lIns="0" rIns="0" tIns="0" bIns="0" anchor="t">
            <a:spAutoFit/>
          </a:bodyPr>
          <a:lstStyle/>
          <a:p>
            <a:pPr algn="l"/>
            <a:r>
              <a:rPr sz="900" b="0" i="0">
                <a:solidFill>
                  <a:srgbClr val="9CA3AF"/>
                </a:solidFill>
                <a:latin typeface="Calibri"/>
              </a:rPr>
              <a:t>{{DOWNSIDE_STOP}}</a:t>
            </a:r>
          </a:p>
        </p:txBody>
      </p:sp>
      <p:sp>
        <p:nvSpPr>
          <p:cNvPr id="24" name="TextBox 23"/>
          <p:cNvSpPr txBox="1"/>
          <p:nvPr/>
        </p:nvSpPr>
        <p:spPr>
          <a:xfrm>
            <a:off x="640080" y="6263640"/>
            <a:ext cx="7315200" cy="228600"/>
          </a:xfrm>
          <a:prstGeom prst="rect">
            <a:avLst/>
          </a:prstGeom>
          <a:noFill/>
        </p:spPr>
        <p:txBody>
          <a:bodyPr wrap="square" lIns="0" rIns="0" tIns="0" bIns="0" anchor="t">
            <a:spAutoFit/>
          </a:bodyPr>
          <a:lstStyle/>
          <a:p>
            <a:pPr algn="l"/>
            <a:r>
              <a:rPr sz="1000" b="0" i="0">
                <a:solidFill>
                  <a:srgbClr val="6B7280"/>
                </a:solidFill>
                <a:latin typeface="Calibri"/>
              </a:rPr>
              <a:t>Finext • Phòng Phân tích Đầu tư</a:t>
            </a:r>
          </a:p>
        </p:txBody>
      </p:sp>
      <p:sp>
        <p:nvSpPr>
          <p:cNvPr id="25" name="TextBox 24"/>
          <p:cNvSpPr txBox="1"/>
          <p:nvPr/>
        </p:nvSpPr>
        <p:spPr>
          <a:xfrm>
            <a:off x="640080" y="6537960"/>
            <a:ext cx="10972800" cy="228600"/>
          </a:xfrm>
          <a:prstGeom prst="rect">
            <a:avLst/>
          </a:prstGeom>
          <a:noFill/>
        </p:spPr>
        <p:txBody>
          <a:bodyPr wrap="square" lIns="0" rIns="0" tIns="0" bIns="0" anchor="t">
            <a:spAutoFit/>
          </a:bodyPr>
          <a:lstStyle/>
          <a:p>
            <a:pPr algn="l"/>
            <a:r>
              <a:rPr sz="900" b="0" i="0">
                <a:solidFill>
                  <a:srgbClr val="9CA3AF"/>
                </a:solidFill>
                <a:latin typeface="Calibri"/>
              </a:rPr>
              <a:t>{{PUBLISH_DATE}}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COVER_C_WEEKLY_MARKET">
    <p:spTree>
      <p:nvGrpSpPr>
        <p:cNvPr id="1" name=""/>
        <p:cNvGrpSpPr/>
        <p:nvPr/>
      </p:nvGrpSpPr>
      <p:grpSpPr/>
      <p:sp>
        <p:nvSpPr>
          <p:cNvPr id="2" name="Rectangle 1"/>
          <p:cNvSpPr/>
          <p:nvPr/>
        </p:nvSpPr>
        <p:spPr>
          <a:xfrm>
            <a:off x="0" y="0"/>
            <a:ext cx="12188952" cy="457200"/>
          </a:xfrm>
          <a:prstGeom prst="rect">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5486400" cy="274320"/>
          </a:xfrm>
          <a:prstGeom prst="rect">
            <a:avLst/>
          </a:prstGeom>
          <a:noFill/>
        </p:spPr>
        <p:txBody>
          <a:bodyPr wrap="square" lIns="0" rIns="0" tIns="0" bIns="0" anchor="t">
            <a:spAutoFit/>
          </a:bodyPr>
          <a:lstStyle/>
          <a:p>
            <a:pPr algn="l"/>
            <a:r>
              <a:rPr sz="1000" b="1" i="0">
                <a:solidFill>
                  <a:srgbClr val="7C3AED"/>
                </a:solidFill>
                <a:latin typeface="Calibri"/>
              </a:rPr>
              <a:t>FINEXT • PHÒNG PHÂN TÍCH ĐẦU TƯ</a:t>
            </a:r>
          </a:p>
        </p:txBody>
      </p:sp>
      <p:sp>
        <p:nvSpPr>
          <p:cNvPr id="4" name="TextBox 3"/>
          <p:cNvSpPr txBox="1"/>
          <p:nvPr/>
        </p:nvSpPr>
        <p:spPr>
          <a:xfrm>
            <a:off x="6702552" y="91440"/>
            <a:ext cx="4937760" cy="274320"/>
          </a:xfrm>
          <a:prstGeom prst="rect">
            <a:avLst/>
          </a:prstGeom>
          <a:noFill/>
        </p:spPr>
        <p:txBody>
          <a:bodyPr wrap="square" lIns="0" rIns="0" tIns="0" bIns="0" anchor="t">
            <a:spAutoFit/>
          </a:bodyPr>
          <a:lstStyle/>
          <a:p>
            <a:pPr algn="r"/>
            <a:r>
              <a:rPr sz="1000" b="1" i="0">
                <a:solidFill>
                  <a:srgbClr val="7C3AED"/>
                </a:solidFill>
                <a:latin typeface="Calibri"/>
              </a:rPr>
              <a:t>BÁO CÁO THỊ TRƯỜNG TUẦN</a:t>
            </a:r>
          </a:p>
        </p:txBody>
      </p:sp>
      <p:sp>
        <p:nvSpPr>
          <p:cNvPr id="5" name="TextBox 4"/>
          <p:cNvSpPr txBox="1"/>
          <p:nvPr/>
        </p:nvSpPr>
        <p:spPr>
          <a:xfrm>
            <a:off x="548640" y="731520"/>
            <a:ext cx="11091672" cy="1097280"/>
          </a:xfrm>
          <a:prstGeom prst="rect">
            <a:avLst/>
          </a:prstGeom>
          <a:noFill/>
        </p:spPr>
        <p:txBody>
          <a:bodyPr wrap="square" lIns="0" rIns="0" tIns="0" bIns="0" anchor="ctr">
            <a:spAutoFit/>
          </a:bodyPr>
          <a:lstStyle/>
          <a:p>
            <a:pPr algn="l"/>
            <a:r>
              <a:rPr sz="7200" b="1" i="0">
                <a:solidFill>
                  <a:srgbClr val="1F2937"/>
                </a:solidFill>
                <a:latin typeface="Calibri"/>
              </a:rPr>
              <a:t>{{WEEK_LABEL}}</a:t>
            </a:r>
          </a:p>
        </p:txBody>
      </p:sp>
      <p:sp>
        <p:nvSpPr>
          <p:cNvPr id="6" name="Rounded Rectangle 5"/>
          <p:cNvSpPr/>
          <p:nvPr/>
        </p:nvSpPr>
        <p:spPr>
          <a:xfrm>
            <a:off x="8686800" y="1005840"/>
            <a:ext cx="2953512" cy="594360"/>
          </a:xfrm>
          <a:prstGeom prst="roundRect">
            <a:avLst>
              <a:gd name="adj" fmla="val 25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0" y="1005840"/>
            <a:ext cx="2953512" cy="594360"/>
          </a:xfrm>
          <a:prstGeom prst="rect">
            <a:avLst/>
          </a:prstGeom>
          <a:noFill/>
        </p:spPr>
        <p:txBody>
          <a:bodyPr wrap="square" lIns="0" rIns="0" tIns="0" bIns="0" anchor="ctr">
            <a:spAutoFit/>
          </a:bodyPr>
          <a:lstStyle/>
          <a:p>
            <a:pPr algn="ctr"/>
            <a:r>
              <a:rPr sz="1400" b="1" i="0">
                <a:solidFill>
                  <a:srgbClr val="FFFFFF"/>
                </a:solidFill>
                <a:latin typeface="Calibri"/>
              </a:rPr>
              <a:t>{{REGIME_BADGE}}</a:t>
            </a:r>
          </a:p>
        </p:txBody>
      </p:sp>
      <p:sp>
        <p:nvSpPr>
          <p:cNvPr id="8" name="Rectangle 7"/>
          <p:cNvSpPr/>
          <p:nvPr/>
        </p:nvSpPr>
        <p:spPr>
          <a:xfrm>
            <a:off x="548640" y="2011680"/>
            <a:ext cx="11091672"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194560"/>
            <a:ext cx="11091672" cy="1645920"/>
          </a:xfrm>
          <a:prstGeom prst="rect">
            <a:avLst/>
          </a:prstGeom>
          <a:noFill/>
        </p:spPr>
        <p:txBody>
          <a:bodyPr wrap="square" lIns="0" rIns="0" tIns="0" bIns="0" anchor="t">
            <a:spAutoFit/>
          </a:bodyPr>
          <a:lstStyle/>
          <a:p>
            <a:pPr algn="l"/>
            <a:r>
              <a:rPr sz="2800" b="0" i="1">
                <a:solidFill>
                  <a:srgbClr val="1F2937"/>
                </a:solidFill>
                <a:latin typeface="Calibri"/>
              </a:rPr>
              <a:t>{{HEADLINE_LINE}}</a:t>
            </a:r>
          </a:p>
        </p:txBody>
      </p:sp>
      <p:sp>
        <p:nvSpPr>
          <p:cNvPr id="10" name="Rounded Rectangle 9"/>
          <p:cNvSpPr/>
          <p:nvPr/>
        </p:nvSpPr>
        <p:spPr>
          <a:xfrm>
            <a:off x="548640" y="4160520"/>
            <a:ext cx="3575304" cy="169164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160520"/>
            <a:ext cx="54864" cy="1691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4343400"/>
            <a:ext cx="3209544" cy="274320"/>
          </a:xfrm>
          <a:prstGeom prst="rect">
            <a:avLst/>
          </a:prstGeom>
          <a:noFill/>
        </p:spPr>
        <p:txBody>
          <a:bodyPr wrap="square" lIns="0" rIns="0" tIns="0" bIns="0" anchor="t">
            <a:spAutoFit/>
          </a:bodyPr>
          <a:lstStyle/>
          <a:p>
            <a:pPr algn="l"/>
            <a:r>
              <a:rPr sz="1100" b="1" i="0">
                <a:solidFill>
                  <a:srgbClr val="6B7280"/>
                </a:solidFill>
                <a:latin typeface="Calibri"/>
              </a:rPr>
              <a:t>VN-INDEX cuối tuần</a:t>
            </a:r>
          </a:p>
        </p:txBody>
      </p:sp>
      <p:sp>
        <p:nvSpPr>
          <p:cNvPr id="13" name="TextBox 12"/>
          <p:cNvSpPr txBox="1"/>
          <p:nvPr/>
        </p:nvSpPr>
        <p:spPr>
          <a:xfrm>
            <a:off x="822959" y="4663440"/>
            <a:ext cx="3209544" cy="777240"/>
          </a:xfrm>
          <a:prstGeom prst="rect">
            <a:avLst/>
          </a:prstGeom>
          <a:noFill/>
        </p:spPr>
        <p:txBody>
          <a:bodyPr wrap="square" lIns="0" rIns="0" tIns="0" bIns="0" anchor="t">
            <a:spAutoFit/>
          </a:bodyPr>
          <a:lstStyle/>
          <a:p>
            <a:pPr algn="l"/>
            <a:r>
              <a:rPr sz="3000" b="1" i="0">
                <a:solidFill>
                  <a:srgbClr val="7C3AED"/>
                </a:solidFill>
                <a:latin typeface="Calibri"/>
              </a:rPr>
              <a:t>{{VNINDEX_CLOSE}}</a:t>
            </a:r>
          </a:p>
        </p:txBody>
      </p:sp>
      <p:sp>
        <p:nvSpPr>
          <p:cNvPr id="14" name="TextBox 13"/>
          <p:cNvSpPr txBox="1"/>
          <p:nvPr/>
        </p:nvSpPr>
        <p:spPr>
          <a:xfrm>
            <a:off x="822959" y="5486400"/>
            <a:ext cx="3209544" cy="274320"/>
          </a:xfrm>
          <a:prstGeom prst="rect">
            <a:avLst/>
          </a:prstGeom>
          <a:noFill/>
        </p:spPr>
        <p:txBody>
          <a:bodyPr wrap="square" lIns="0" rIns="0" tIns="0" bIns="0" anchor="t">
            <a:spAutoFit/>
          </a:bodyPr>
          <a:lstStyle/>
          <a:p>
            <a:pPr algn="l"/>
            <a:r>
              <a:rPr sz="1000" b="0" i="1">
                <a:solidFill>
                  <a:srgbClr val="9CA3AF"/>
                </a:solidFill>
                <a:latin typeface="Calibri"/>
              </a:rPr>
              <a:t>{{VNINDEX_CHANGE}}</a:t>
            </a:r>
          </a:p>
        </p:txBody>
      </p:sp>
      <p:sp>
        <p:nvSpPr>
          <p:cNvPr id="15" name="Rounded Rectangle 14"/>
          <p:cNvSpPr/>
          <p:nvPr/>
        </p:nvSpPr>
        <p:spPr>
          <a:xfrm>
            <a:off x="4306824" y="4160520"/>
            <a:ext cx="3575304" cy="169164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06824" y="4160520"/>
            <a:ext cx="54864" cy="1691640"/>
          </a:xfrm>
          <a:prstGeom prst="rect">
            <a:avLst/>
          </a:prstGeom>
          <a:solidFill>
            <a:srgbClr val="059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4343400"/>
            <a:ext cx="3209544" cy="274320"/>
          </a:xfrm>
          <a:prstGeom prst="rect">
            <a:avLst/>
          </a:prstGeom>
          <a:noFill/>
        </p:spPr>
        <p:txBody>
          <a:bodyPr wrap="square" lIns="0" rIns="0" tIns="0" bIns="0" anchor="t">
            <a:spAutoFit/>
          </a:bodyPr>
          <a:lstStyle/>
          <a:p>
            <a:pPr algn="l"/>
            <a:r>
              <a:rPr sz="1100" b="1" i="0">
                <a:solidFill>
                  <a:srgbClr val="6B7280"/>
                </a:solidFill>
                <a:latin typeface="Calibri"/>
              </a:rPr>
              <a:t>Thanh khoản trung bình</a:t>
            </a:r>
          </a:p>
        </p:txBody>
      </p:sp>
      <p:sp>
        <p:nvSpPr>
          <p:cNvPr id="18" name="TextBox 17"/>
          <p:cNvSpPr txBox="1"/>
          <p:nvPr/>
        </p:nvSpPr>
        <p:spPr>
          <a:xfrm>
            <a:off x="4581144" y="4663440"/>
            <a:ext cx="3209544" cy="777240"/>
          </a:xfrm>
          <a:prstGeom prst="rect">
            <a:avLst/>
          </a:prstGeom>
          <a:noFill/>
        </p:spPr>
        <p:txBody>
          <a:bodyPr wrap="square" lIns="0" rIns="0" tIns="0" bIns="0" anchor="t">
            <a:spAutoFit/>
          </a:bodyPr>
          <a:lstStyle/>
          <a:p>
            <a:pPr algn="l"/>
            <a:r>
              <a:rPr sz="3000" b="1" i="0">
                <a:solidFill>
                  <a:srgbClr val="0593BB"/>
                </a:solidFill>
                <a:latin typeface="Calibri"/>
              </a:rPr>
              <a:t>{{LIQUIDITY_AVG}}</a:t>
            </a:r>
          </a:p>
        </p:txBody>
      </p:sp>
      <p:sp>
        <p:nvSpPr>
          <p:cNvPr id="19" name="TextBox 18"/>
          <p:cNvSpPr txBox="1"/>
          <p:nvPr/>
        </p:nvSpPr>
        <p:spPr>
          <a:xfrm>
            <a:off x="4581144" y="5486400"/>
            <a:ext cx="3209544" cy="274320"/>
          </a:xfrm>
          <a:prstGeom prst="rect">
            <a:avLst/>
          </a:prstGeom>
          <a:noFill/>
        </p:spPr>
        <p:txBody>
          <a:bodyPr wrap="square" lIns="0" rIns="0" tIns="0" bIns="0" anchor="t">
            <a:spAutoFit/>
          </a:bodyPr>
          <a:lstStyle/>
          <a:p>
            <a:pPr algn="l"/>
            <a:r>
              <a:rPr sz="1000" b="0" i="1">
                <a:solidFill>
                  <a:srgbClr val="9CA3AF"/>
                </a:solidFill>
                <a:latin typeface="Calibri"/>
              </a:rPr>
              <a:t>{{LIQUIDITY_NOTE}}</a:t>
            </a:r>
          </a:p>
        </p:txBody>
      </p:sp>
      <p:sp>
        <p:nvSpPr>
          <p:cNvPr id="20" name="Rounded Rectangle 19"/>
          <p:cNvSpPr/>
          <p:nvPr/>
        </p:nvSpPr>
        <p:spPr>
          <a:xfrm>
            <a:off x="8065008" y="4160520"/>
            <a:ext cx="3575304" cy="169164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65008" y="4160520"/>
            <a:ext cx="54864" cy="16916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9328" y="4343400"/>
            <a:ext cx="3209544" cy="274320"/>
          </a:xfrm>
          <a:prstGeom prst="rect">
            <a:avLst/>
          </a:prstGeom>
          <a:noFill/>
        </p:spPr>
        <p:txBody>
          <a:bodyPr wrap="square" lIns="0" rIns="0" tIns="0" bIns="0" anchor="t">
            <a:spAutoFit/>
          </a:bodyPr>
          <a:lstStyle/>
          <a:p>
            <a:pPr algn="l"/>
            <a:r>
              <a:rPr sz="1100" b="1" i="0">
                <a:solidFill>
                  <a:srgbClr val="6B7280"/>
                </a:solidFill>
                <a:latin typeface="Calibri"/>
              </a:rPr>
              <a:t>Khối ngoại tuần</a:t>
            </a:r>
          </a:p>
        </p:txBody>
      </p:sp>
      <p:sp>
        <p:nvSpPr>
          <p:cNvPr id="23" name="TextBox 22"/>
          <p:cNvSpPr txBox="1"/>
          <p:nvPr/>
        </p:nvSpPr>
        <p:spPr>
          <a:xfrm>
            <a:off x="8339328" y="4663440"/>
            <a:ext cx="3209544" cy="777240"/>
          </a:xfrm>
          <a:prstGeom prst="rect">
            <a:avLst/>
          </a:prstGeom>
          <a:noFill/>
        </p:spPr>
        <p:txBody>
          <a:bodyPr wrap="square" lIns="0" rIns="0" tIns="0" bIns="0" anchor="t">
            <a:spAutoFit/>
          </a:bodyPr>
          <a:lstStyle/>
          <a:p>
            <a:pPr algn="l"/>
            <a:r>
              <a:rPr sz="3000" b="1" i="0">
                <a:solidFill>
                  <a:srgbClr val="7C3AED"/>
                </a:solidFill>
                <a:latin typeface="Calibri"/>
              </a:rPr>
              <a:t>{{FOREIGN_NET}}</a:t>
            </a:r>
          </a:p>
        </p:txBody>
      </p:sp>
      <p:sp>
        <p:nvSpPr>
          <p:cNvPr id="24" name="TextBox 23"/>
          <p:cNvSpPr txBox="1"/>
          <p:nvPr/>
        </p:nvSpPr>
        <p:spPr>
          <a:xfrm>
            <a:off x="8339328" y="5486400"/>
            <a:ext cx="3209544" cy="274320"/>
          </a:xfrm>
          <a:prstGeom prst="rect">
            <a:avLst/>
          </a:prstGeom>
          <a:noFill/>
        </p:spPr>
        <p:txBody>
          <a:bodyPr wrap="square" lIns="0" rIns="0" tIns="0" bIns="0" anchor="t">
            <a:spAutoFit/>
          </a:bodyPr>
          <a:lstStyle/>
          <a:p>
            <a:pPr algn="l"/>
            <a:r>
              <a:rPr sz="1000" b="0" i="1">
                <a:solidFill>
                  <a:srgbClr val="9CA3AF"/>
                </a:solidFill>
                <a:latin typeface="Calibri"/>
              </a:rPr>
              <a:t>{{FOREIGN_NOTE}}</a:t>
            </a:r>
          </a:p>
        </p:txBody>
      </p:sp>
      <p:sp>
        <p:nvSpPr>
          <p:cNvPr id="25" name="TextBox 24"/>
          <p:cNvSpPr txBox="1"/>
          <p:nvPr/>
        </p:nvSpPr>
        <p:spPr>
          <a:xfrm>
            <a:off x="548640" y="6355080"/>
            <a:ext cx="11091672" cy="228600"/>
          </a:xfrm>
          <a:prstGeom prst="rect">
            <a:avLst/>
          </a:prstGeom>
          <a:noFill/>
        </p:spPr>
        <p:txBody>
          <a:bodyPr wrap="square" lIns="0" rIns="0" tIns="0" bIns="0" anchor="t">
            <a:spAutoFit/>
          </a:bodyPr>
          <a:lstStyle/>
          <a:p>
            <a:pPr algn="l"/>
            <a:r>
              <a:rPr sz="1000" b="0" i="1">
                <a:solidFill>
                  <a:srgbClr val="6B7280"/>
                </a:solidFill>
                <a:latin typeface="Calibri"/>
              </a:rPr>
              <a:t>Phát hành: {{PUBLISH_DATE}}</a:t>
            </a:r>
          </a:p>
        </p:txBody>
      </p:sp>
      <p:sp>
        <p:nvSpPr>
          <p:cNvPr id="26" name="Rectangle 25"/>
          <p:cNvSpPr/>
          <p:nvPr/>
        </p:nvSpPr>
        <p:spPr>
          <a:xfrm>
            <a:off x="0" y="6766560"/>
            <a:ext cx="12188952" cy="914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COVER_D_MACRO_SECTOR">
    <p:spTree>
      <p:nvGrpSpPr>
        <p:cNvPr id="1" name=""/>
        <p:cNvGrpSpPr/>
        <p:nvPr/>
      </p:nvGrpSpPr>
      <p:grpSpPr/>
      <p:sp>
        <p:nvSpPr>
          <p:cNvPr id="2" name="Rounded Rectangle 1"/>
          <p:cNvSpPr/>
          <p:nvPr/>
        </p:nvSpPr>
        <p:spPr>
          <a:xfrm>
            <a:off x="548640" y="457200"/>
            <a:ext cx="2286000" cy="365760"/>
          </a:xfrm>
          <a:prstGeom prst="roundRect">
            <a:avLst>
              <a:gd name="adj" fmla="val 25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2286000" cy="365760"/>
          </a:xfrm>
          <a:prstGeom prst="rect">
            <a:avLst/>
          </a:prstGeom>
          <a:noFill/>
        </p:spPr>
        <p:txBody>
          <a:bodyPr wrap="square" lIns="0" rIns="0" tIns="0" bIns="0" anchor="ctr">
            <a:spAutoFit/>
          </a:bodyPr>
          <a:lstStyle/>
          <a:p>
            <a:pPr algn="ctr"/>
            <a:r>
              <a:rPr sz="1100" b="1" i="0">
                <a:solidFill>
                  <a:srgbClr val="FFFFFF"/>
                </a:solidFill>
                <a:latin typeface="Calibri"/>
              </a:rPr>
              <a:t>{{THEME_TAG}}</a:t>
            </a:r>
          </a:p>
        </p:txBody>
      </p:sp>
      <p:sp>
        <p:nvSpPr>
          <p:cNvPr id="4" name="TextBox 3"/>
          <p:cNvSpPr txBox="1"/>
          <p:nvPr/>
        </p:nvSpPr>
        <p:spPr>
          <a:xfrm>
            <a:off x="548640" y="1005840"/>
            <a:ext cx="11091672" cy="1280160"/>
          </a:xfrm>
          <a:prstGeom prst="rect">
            <a:avLst/>
          </a:prstGeom>
          <a:noFill/>
        </p:spPr>
        <p:txBody>
          <a:bodyPr wrap="square" lIns="0" rIns="0" tIns="0" bIns="0" anchor="ctr">
            <a:spAutoFit/>
          </a:bodyPr>
          <a:lstStyle/>
          <a:p>
            <a:pPr algn="l"/>
            <a:r>
              <a:rPr sz="4000" b="1" i="0">
                <a:solidFill>
                  <a:srgbClr val="1F2937"/>
                </a:solidFill>
                <a:latin typeface="Calibri"/>
              </a:rPr>
              <a:t>{{REPORT_TITLE}}</a:t>
            </a:r>
          </a:p>
        </p:txBody>
      </p:sp>
      <p:sp>
        <p:nvSpPr>
          <p:cNvPr id="5" name="TextBox 4"/>
          <p:cNvSpPr txBox="1"/>
          <p:nvPr/>
        </p:nvSpPr>
        <p:spPr>
          <a:xfrm>
            <a:off x="548640" y="2331720"/>
            <a:ext cx="11091672" cy="457200"/>
          </a:xfrm>
          <a:prstGeom prst="rect">
            <a:avLst/>
          </a:prstGeom>
          <a:noFill/>
        </p:spPr>
        <p:txBody>
          <a:bodyPr wrap="square" lIns="0" rIns="0" tIns="0" bIns="0" anchor="t">
            <a:spAutoFit/>
          </a:bodyPr>
          <a:lstStyle/>
          <a:p>
            <a:pPr algn="l"/>
            <a:r>
              <a:rPr sz="1400" b="0" i="1">
                <a:solidFill>
                  <a:srgbClr val="6B7280"/>
                </a:solidFill>
                <a:latin typeface="Calibri"/>
              </a:rPr>
              <a:t>{{REPORT_SUBTITLE}}</a:t>
            </a:r>
          </a:p>
        </p:txBody>
      </p:sp>
      <p:sp>
        <p:nvSpPr>
          <p:cNvPr id="6" name="Rectangle 5"/>
          <p:cNvSpPr/>
          <p:nvPr/>
        </p:nvSpPr>
        <p:spPr>
          <a:xfrm>
            <a:off x="548640" y="29260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246120"/>
            <a:ext cx="457200" cy="640080"/>
          </a:xfrm>
          <a:prstGeom prst="rect">
            <a:avLst/>
          </a:prstGeom>
          <a:noFill/>
        </p:spPr>
        <p:txBody>
          <a:bodyPr wrap="square" lIns="0" rIns="0" tIns="0" bIns="0" anchor="t">
            <a:spAutoFit/>
          </a:bodyPr>
          <a:lstStyle/>
          <a:p>
            <a:pPr algn="l"/>
            <a:r>
              <a:rPr sz="4800" b="1" i="0">
                <a:solidFill>
                  <a:srgbClr val="8B5CF6"/>
                </a:solidFill>
                <a:latin typeface="Calibri"/>
              </a:rPr>
              <a:t>“</a:t>
            </a:r>
          </a:p>
        </p:txBody>
      </p:sp>
      <p:sp>
        <p:nvSpPr>
          <p:cNvPr id="8" name="TextBox 7"/>
          <p:cNvSpPr txBox="1"/>
          <p:nvPr/>
        </p:nvSpPr>
        <p:spPr>
          <a:xfrm>
            <a:off x="1051560" y="3337560"/>
            <a:ext cx="10588752" cy="777240"/>
          </a:xfrm>
          <a:prstGeom prst="rect">
            <a:avLst/>
          </a:prstGeom>
          <a:noFill/>
        </p:spPr>
        <p:txBody>
          <a:bodyPr wrap="square" lIns="0" rIns="0" tIns="0" bIns="0" anchor="t">
            <a:spAutoFit/>
          </a:bodyPr>
          <a:lstStyle/>
          <a:p>
            <a:pPr algn="l"/>
            <a:r>
              <a:rPr sz="1500" b="0" i="1">
                <a:solidFill>
                  <a:srgbClr val="1F2937"/>
                </a:solidFill>
                <a:latin typeface="Calibri"/>
              </a:rPr>
              <a:t>{{TAKEAWAY_1}}</a:t>
            </a:r>
          </a:p>
        </p:txBody>
      </p:sp>
      <p:sp>
        <p:nvSpPr>
          <p:cNvPr id="9" name="TextBox 8"/>
          <p:cNvSpPr txBox="1"/>
          <p:nvPr/>
        </p:nvSpPr>
        <p:spPr>
          <a:xfrm>
            <a:off x="914400" y="4251960"/>
            <a:ext cx="457200" cy="640080"/>
          </a:xfrm>
          <a:prstGeom prst="rect">
            <a:avLst/>
          </a:prstGeom>
          <a:noFill/>
        </p:spPr>
        <p:txBody>
          <a:bodyPr wrap="square" lIns="0" rIns="0" tIns="0" bIns="0" anchor="t">
            <a:spAutoFit/>
          </a:bodyPr>
          <a:lstStyle/>
          <a:p>
            <a:pPr algn="l"/>
            <a:r>
              <a:rPr sz="4800" b="1" i="0">
                <a:solidFill>
                  <a:srgbClr val="8B5CF6"/>
                </a:solidFill>
                <a:latin typeface="Calibri"/>
              </a:rPr>
              <a:t>“</a:t>
            </a:r>
          </a:p>
        </p:txBody>
      </p:sp>
      <p:sp>
        <p:nvSpPr>
          <p:cNvPr id="10" name="TextBox 9"/>
          <p:cNvSpPr txBox="1"/>
          <p:nvPr/>
        </p:nvSpPr>
        <p:spPr>
          <a:xfrm>
            <a:off x="1417320" y="4343400"/>
            <a:ext cx="10222992" cy="777240"/>
          </a:xfrm>
          <a:prstGeom prst="rect">
            <a:avLst/>
          </a:prstGeom>
          <a:noFill/>
        </p:spPr>
        <p:txBody>
          <a:bodyPr wrap="square" lIns="0" rIns="0" tIns="0" bIns="0" anchor="t">
            <a:spAutoFit/>
          </a:bodyPr>
          <a:lstStyle/>
          <a:p>
            <a:pPr algn="l"/>
            <a:r>
              <a:rPr sz="1500" b="0" i="1">
                <a:solidFill>
                  <a:srgbClr val="1F2937"/>
                </a:solidFill>
                <a:latin typeface="Calibri"/>
              </a:rPr>
              <a:t>{{TAKEAWAY_2}}</a:t>
            </a:r>
          </a:p>
        </p:txBody>
      </p:sp>
      <p:sp>
        <p:nvSpPr>
          <p:cNvPr id="11" name="TextBox 10"/>
          <p:cNvSpPr txBox="1"/>
          <p:nvPr/>
        </p:nvSpPr>
        <p:spPr>
          <a:xfrm>
            <a:off x="1280160" y="5257800"/>
            <a:ext cx="457200" cy="640080"/>
          </a:xfrm>
          <a:prstGeom prst="rect">
            <a:avLst/>
          </a:prstGeom>
          <a:noFill/>
        </p:spPr>
        <p:txBody>
          <a:bodyPr wrap="square" lIns="0" rIns="0" tIns="0" bIns="0" anchor="t">
            <a:spAutoFit/>
          </a:bodyPr>
          <a:lstStyle/>
          <a:p>
            <a:pPr algn="l"/>
            <a:r>
              <a:rPr sz="4800" b="1" i="0">
                <a:solidFill>
                  <a:srgbClr val="8B5CF6"/>
                </a:solidFill>
                <a:latin typeface="Calibri"/>
              </a:rPr>
              <a:t>“</a:t>
            </a:r>
          </a:p>
        </p:txBody>
      </p:sp>
      <p:sp>
        <p:nvSpPr>
          <p:cNvPr id="12" name="TextBox 11"/>
          <p:cNvSpPr txBox="1"/>
          <p:nvPr/>
        </p:nvSpPr>
        <p:spPr>
          <a:xfrm>
            <a:off x="1783080" y="5349240"/>
            <a:ext cx="9857232" cy="777240"/>
          </a:xfrm>
          <a:prstGeom prst="rect">
            <a:avLst/>
          </a:prstGeom>
          <a:noFill/>
        </p:spPr>
        <p:txBody>
          <a:bodyPr wrap="square" lIns="0" rIns="0" tIns="0" bIns="0" anchor="t">
            <a:spAutoFit/>
          </a:bodyPr>
          <a:lstStyle/>
          <a:p>
            <a:pPr algn="l"/>
            <a:r>
              <a:rPr sz="1500" b="0" i="1">
                <a:solidFill>
                  <a:srgbClr val="1F2937"/>
                </a:solidFill>
                <a:latin typeface="Calibri"/>
              </a:rPr>
              <a:t>{{TAKEAWAY_3}}</a:t>
            </a:r>
          </a:p>
        </p:txBody>
      </p:sp>
      <p:sp>
        <p:nvSpPr>
          <p:cNvPr id="13" name="TextBox 12"/>
          <p:cNvSpPr txBox="1"/>
          <p:nvPr/>
        </p:nvSpPr>
        <p:spPr>
          <a:xfrm>
            <a:off x="548640" y="6355080"/>
            <a:ext cx="7315200" cy="228600"/>
          </a:xfrm>
          <a:prstGeom prst="rect">
            <a:avLst/>
          </a:prstGeom>
          <a:noFill/>
        </p:spPr>
        <p:txBody>
          <a:bodyPr wrap="square" lIns="0" rIns="0" tIns="0" bIns="0" anchor="t">
            <a:spAutoFit/>
          </a:bodyPr>
          <a:lstStyle/>
          <a:p>
            <a:pPr algn="l"/>
            <a:r>
              <a:rPr sz="1000" b="0" i="0">
                <a:solidFill>
                  <a:srgbClr val="6B7280"/>
                </a:solidFill>
                <a:latin typeface="Calibri"/>
              </a:rPr>
              <a:t>Finext • Phòng Phân tích Đầu tư</a:t>
            </a:r>
          </a:p>
        </p:txBody>
      </p:sp>
      <p:sp>
        <p:nvSpPr>
          <p:cNvPr id="14" name="TextBox 13"/>
          <p:cNvSpPr txBox="1"/>
          <p:nvPr/>
        </p:nvSpPr>
        <p:spPr>
          <a:xfrm>
            <a:off x="6702552" y="6355080"/>
            <a:ext cx="4937760" cy="228600"/>
          </a:xfrm>
          <a:prstGeom prst="rect">
            <a:avLst/>
          </a:prstGeom>
          <a:noFill/>
        </p:spPr>
        <p:txBody>
          <a:bodyPr wrap="square" lIns="0" rIns="0" tIns="0" bIns="0" anchor="t">
            <a:spAutoFit/>
          </a:bodyPr>
          <a:lstStyle/>
          <a:p>
            <a:pPr algn="r"/>
            <a:r>
              <a:rPr sz="1000" b="0" i="0">
                <a:solidFill>
                  <a:srgbClr val="6B7280"/>
                </a:solidFill>
                <a:latin typeface="Calibri"/>
              </a:rPr>
              <a:t>{{PUBLISH_DATE}}</a:t>
            </a:r>
          </a:p>
        </p:txBody>
      </p:sp>
      <p:sp>
        <p:nvSpPr>
          <p:cNvPr id="15" name="Rectangle 14"/>
          <p:cNvSpPr/>
          <p:nvPr/>
        </p:nvSpPr>
        <p:spPr>
          <a:xfrm>
            <a:off x="0" y="6766560"/>
            <a:ext cx="12188952" cy="914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COVER_E_GENERIC">
    <p:spTree>
      <p:nvGrpSpPr>
        <p:cNvPr id="1" name=""/>
        <p:cNvGrpSpPr/>
        <p:nvPr/>
      </p:nvGrpSpPr>
      <p:grpSpPr/>
      <p:sp>
        <p:nvSpPr>
          <p:cNvPr id="2" name="Chevron 1"/>
          <p:cNvSpPr/>
          <p:nvPr/>
        </p:nvSpPr>
        <p:spPr>
          <a:xfrm>
            <a:off x="8686800" y="-1371600"/>
            <a:ext cx="5029200" cy="3657600"/>
          </a:xfrm>
          <a:prstGeom prst="chevron">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548640"/>
            <a:ext cx="2286000" cy="365760"/>
          </a:xfrm>
          <a:prstGeom prst="roundRect">
            <a:avLst>
              <a:gd name="adj" fmla="val 25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2286000" cy="365760"/>
          </a:xfrm>
          <a:prstGeom prst="rect">
            <a:avLst/>
          </a:prstGeom>
          <a:noFill/>
        </p:spPr>
        <p:txBody>
          <a:bodyPr wrap="square" lIns="0" rIns="0" tIns="0" bIns="0" anchor="ctr">
            <a:spAutoFit/>
          </a:bodyPr>
          <a:lstStyle/>
          <a:p>
            <a:pPr algn="ctr"/>
            <a:r>
              <a:rPr sz="1100" b="1" i="0">
                <a:solidFill>
                  <a:srgbClr val="FFFFFF"/>
                </a:solidFill>
                <a:latin typeface="Calibri"/>
              </a:rPr>
              <a:t>{{REPORT_KIND_TAG}}</a:t>
            </a:r>
          </a:p>
        </p:txBody>
      </p:sp>
      <p:sp>
        <p:nvSpPr>
          <p:cNvPr id="5" name="Rectangle 4"/>
          <p:cNvSpPr/>
          <p:nvPr/>
        </p:nvSpPr>
        <p:spPr>
          <a:xfrm>
            <a:off x="548640" y="4389120"/>
            <a:ext cx="91440" cy="13716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389120"/>
            <a:ext cx="10515600" cy="1005840"/>
          </a:xfrm>
          <a:prstGeom prst="rect">
            <a:avLst/>
          </a:prstGeom>
          <a:noFill/>
        </p:spPr>
        <p:txBody>
          <a:bodyPr wrap="square" lIns="0" rIns="0" tIns="0" bIns="0" anchor="t">
            <a:spAutoFit/>
          </a:bodyPr>
          <a:lstStyle/>
          <a:p>
            <a:pPr algn="l"/>
            <a:r>
              <a:rPr sz="4000" b="1" i="0">
                <a:solidFill>
                  <a:srgbClr val="1F2937"/>
                </a:solidFill>
                <a:latin typeface="Calibri"/>
              </a:rPr>
              <a:t>{{REPORT_TITLE}}</a:t>
            </a:r>
          </a:p>
        </p:txBody>
      </p:sp>
      <p:sp>
        <p:nvSpPr>
          <p:cNvPr id="7" name="TextBox 6"/>
          <p:cNvSpPr txBox="1"/>
          <p:nvPr/>
        </p:nvSpPr>
        <p:spPr>
          <a:xfrm>
            <a:off x="777240" y="5486400"/>
            <a:ext cx="10515600" cy="365760"/>
          </a:xfrm>
          <a:prstGeom prst="rect">
            <a:avLst/>
          </a:prstGeom>
          <a:noFill/>
        </p:spPr>
        <p:txBody>
          <a:bodyPr wrap="square" lIns="0" rIns="0" tIns="0" bIns="0" anchor="t">
            <a:spAutoFit/>
          </a:bodyPr>
          <a:lstStyle/>
          <a:p>
            <a:pPr algn="l"/>
            <a:r>
              <a:rPr sz="1400" b="0" i="1">
                <a:solidFill>
                  <a:srgbClr val="6B7280"/>
                </a:solidFill>
                <a:latin typeface="Calibri"/>
              </a:rPr>
              <a:t>{{REPORT_SUBTITLE}}</a:t>
            </a:r>
          </a:p>
        </p:txBody>
      </p:sp>
      <p:sp>
        <p:nvSpPr>
          <p:cNvPr id="8" name="TextBox 7"/>
          <p:cNvSpPr txBox="1"/>
          <p:nvPr/>
        </p:nvSpPr>
        <p:spPr>
          <a:xfrm>
            <a:off x="548640" y="6355080"/>
            <a:ext cx="7315200" cy="228600"/>
          </a:xfrm>
          <a:prstGeom prst="rect">
            <a:avLst/>
          </a:prstGeom>
          <a:noFill/>
        </p:spPr>
        <p:txBody>
          <a:bodyPr wrap="square" lIns="0" rIns="0" tIns="0" bIns="0" anchor="t">
            <a:spAutoFit/>
          </a:bodyPr>
          <a:lstStyle/>
          <a:p>
            <a:pPr algn="l"/>
            <a:r>
              <a:rPr sz="1000" b="0" i="0">
                <a:solidFill>
                  <a:srgbClr val="6B7280"/>
                </a:solidFill>
                <a:latin typeface="Calibri"/>
              </a:rPr>
              <a:t>Finext • Phòng Phân tích Đầu tư</a:t>
            </a:r>
          </a:p>
        </p:txBody>
      </p:sp>
      <p:sp>
        <p:nvSpPr>
          <p:cNvPr id="9" name="TextBox 8"/>
          <p:cNvSpPr txBox="1"/>
          <p:nvPr/>
        </p:nvSpPr>
        <p:spPr>
          <a:xfrm>
            <a:off x="6702552" y="6355080"/>
            <a:ext cx="4937760" cy="228600"/>
          </a:xfrm>
          <a:prstGeom prst="rect">
            <a:avLst/>
          </a:prstGeom>
          <a:noFill/>
        </p:spPr>
        <p:txBody>
          <a:bodyPr wrap="square" lIns="0" rIns="0" tIns="0" bIns="0" anchor="t">
            <a:spAutoFit/>
          </a:bodyPr>
          <a:lstStyle/>
          <a:p>
            <a:pPr algn="r"/>
            <a:r>
              <a:rPr sz="1000" b="0" i="0">
                <a:solidFill>
                  <a:srgbClr val="6B7280"/>
                </a:solidFill>
                <a:latin typeface="Calibri"/>
              </a:rPr>
              <a:t>{{PUBLISH_DATE}}</a:t>
            </a:r>
          </a:p>
        </p:txBody>
      </p:sp>
      <p:sp>
        <p:nvSpPr>
          <p:cNvPr id="10" name="Rectangle 9"/>
          <p:cNvSpPr/>
          <p:nvPr/>
        </p:nvSpPr>
        <p:spPr>
          <a:xfrm>
            <a:off x="0" y="6766560"/>
            <a:ext cx="12188952" cy="914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ECTION_DIVIDER">
    <p:spTree>
      <p:nvGrpSpPr>
        <p:cNvPr id="1" name=""/>
        <p:cNvGrpSpPr/>
        <p:nvPr/>
      </p:nvGrpSpPr>
      <p:grpSpPr/>
      <p:sp>
        <p:nvSpPr>
          <p:cNvPr id="2" name="Rectangle 1"/>
          <p:cNvSpPr/>
          <p:nvPr/>
        </p:nvSpPr>
        <p:spPr>
          <a:xfrm>
            <a:off x="0" y="0"/>
            <a:ext cx="1371600" cy="6858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548640"/>
            <a:ext cx="1371600" cy="365760"/>
          </a:xfrm>
          <a:prstGeom prst="rect">
            <a:avLst/>
          </a:prstGeom>
          <a:noFill/>
        </p:spPr>
        <p:txBody>
          <a:bodyPr wrap="square" lIns="0" rIns="0" tIns="0" bIns="0" anchor="ctr">
            <a:spAutoFit/>
          </a:bodyPr>
          <a:lstStyle/>
          <a:p>
            <a:pPr algn="ctr"/>
            <a:r>
              <a:rPr sz="1200" b="1" i="0">
                <a:solidFill>
                  <a:srgbClr val="FFFFFF"/>
                </a:solidFill>
                <a:latin typeface="Calibri"/>
              </a:rPr>
              <a:t>{{SECTION_TAG}}</a:t>
            </a:r>
          </a:p>
        </p:txBody>
      </p:sp>
      <p:sp>
        <p:nvSpPr>
          <p:cNvPr id="4" name="Chevron 3"/>
          <p:cNvSpPr/>
          <p:nvPr/>
        </p:nvSpPr>
        <p:spPr>
          <a:xfrm>
            <a:off x="365760" y="5852160"/>
            <a:ext cx="640080" cy="457200"/>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11680" y="2286000"/>
            <a:ext cx="9601200" cy="1371600"/>
          </a:xfrm>
          <a:prstGeom prst="rect">
            <a:avLst/>
          </a:prstGeom>
          <a:noFill/>
        </p:spPr>
        <p:txBody>
          <a:bodyPr wrap="square" lIns="0" rIns="0" tIns="0" bIns="0" anchor="ctr">
            <a:spAutoFit/>
          </a:bodyPr>
          <a:lstStyle/>
          <a:p>
            <a:pPr algn="l"/>
            <a:r>
              <a:rPr sz="4800" b="1" i="0">
                <a:solidFill>
                  <a:srgbClr val="1F2937"/>
                </a:solidFill>
                <a:latin typeface="Calibri"/>
              </a:rPr>
              <a:t>{{SECTION_TITLE}}</a:t>
            </a:r>
          </a:p>
        </p:txBody>
      </p:sp>
      <p:sp>
        <p:nvSpPr>
          <p:cNvPr id="6" name="Rectangle 5"/>
          <p:cNvSpPr/>
          <p:nvPr/>
        </p:nvSpPr>
        <p:spPr>
          <a:xfrm>
            <a:off x="2011680" y="3749039"/>
            <a:ext cx="3657600" cy="45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11680" y="3931920"/>
            <a:ext cx="9601200" cy="1645920"/>
          </a:xfrm>
          <a:prstGeom prst="rect">
            <a:avLst/>
          </a:prstGeom>
          <a:noFill/>
        </p:spPr>
        <p:txBody>
          <a:bodyPr wrap="square" lIns="0" rIns="0" tIns="0" bIns="0" anchor="t">
            <a:spAutoFit/>
          </a:bodyPr>
          <a:lstStyle/>
          <a:p>
            <a:pPr algn="l"/>
            <a:r>
              <a:rPr sz="1600" b="0" i="1">
                <a:solidFill>
                  <a:srgbClr val="6B7280"/>
                </a:solidFill>
                <a:latin typeface="Calibri"/>
              </a:rPr>
              <a:t>{{SECTION_DESC}}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BULLET_LIST_SUMMARY">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ectangle 8"/>
          <p:cNvSpPr/>
          <p:nvPr/>
        </p:nvSpPr>
        <p:spPr>
          <a:xfrm>
            <a:off x="548640" y="1325880"/>
            <a:ext cx="1097280" cy="45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17320"/>
            <a:ext cx="640080" cy="320040"/>
          </a:xfrm>
          <a:prstGeom prst="rect">
            <a:avLst/>
          </a:prstGeom>
          <a:noFill/>
        </p:spPr>
        <p:txBody>
          <a:bodyPr wrap="square" lIns="0" rIns="0" tIns="0" bIns="0" anchor="t">
            <a:spAutoFit/>
          </a:bodyPr>
          <a:lstStyle/>
          <a:p>
            <a:pPr algn="l"/>
            <a:r>
              <a:rPr sz="2200" b="1" i="0">
                <a:solidFill>
                  <a:srgbClr val="8B5CF6"/>
                </a:solidFill>
                <a:latin typeface="Calibri"/>
              </a:rPr>
              <a:t>01</a:t>
            </a:r>
          </a:p>
        </p:txBody>
      </p:sp>
      <p:sp>
        <p:nvSpPr>
          <p:cNvPr id="11" name="TextBox 10"/>
          <p:cNvSpPr txBox="1"/>
          <p:nvPr/>
        </p:nvSpPr>
        <p:spPr>
          <a:xfrm>
            <a:off x="1280160" y="1417320"/>
            <a:ext cx="10058400" cy="320040"/>
          </a:xfrm>
          <a:prstGeom prst="rect">
            <a:avLst/>
          </a:prstGeom>
          <a:noFill/>
        </p:spPr>
        <p:txBody>
          <a:bodyPr wrap="square" lIns="0" rIns="0" tIns="0" bIns="0" anchor="t">
            <a:spAutoFit/>
          </a:bodyPr>
          <a:lstStyle/>
          <a:p>
            <a:pPr algn="l"/>
            <a:r>
              <a:rPr sz="1400" b="1" i="0">
                <a:solidFill>
                  <a:srgbClr val="1F2937"/>
                </a:solidFill>
                <a:latin typeface="Calibri"/>
              </a:rPr>
              <a:t>{{BULLET_1_LABEL}}</a:t>
            </a:r>
          </a:p>
        </p:txBody>
      </p:sp>
      <p:sp>
        <p:nvSpPr>
          <p:cNvPr id="12" name="TextBox 11"/>
          <p:cNvSpPr txBox="1"/>
          <p:nvPr/>
        </p:nvSpPr>
        <p:spPr>
          <a:xfrm>
            <a:off x="1280160" y="1783080"/>
            <a:ext cx="10058400" cy="457200"/>
          </a:xfrm>
          <a:prstGeom prst="rect">
            <a:avLst/>
          </a:prstGeom>
          <a:noFill/>
        </p:spPr>
        <p:txBody>
          <a:bodyPr wrap="square" lIns="0" rIns="0" tIns="0" bIns="0" anchor="t">
            <a:spAutoFit/>
          </a:bodyPr>
          <a:lstStyle/>
          <a:p>
            <a:pPr algn="l"/>
            <a:r>
              <a:rPr sz="1200" b="0" i="1">
                <a:solidFill>
                  <a:srgbClr val="6B7280"/>
                </a:solidFill>
                <a:latin typeface="Calibri"/>
              </a:rPr>
              <a:t>{{BULLET_1_BODY}}</a:t>
            </a:r>
          </a:p>
        </p:txBody>
      </p:sp>
      <p:sp>
        <p:nvSpPr>
          <p:cNvPr id="13" name="Rectangle 12"/>
          <p:cNvSpPr/>
          <p:nvPr/>
        </p:nvSpPr>
        <p:spPr>
          <a:xfrm>
            <a:off x="548640" y="2308860"/>
            <a:ext cx="11091672" cy="137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23160"/>
            <a:ext cx="640080" cy="320040"/>
          </a:xfrm>
          <a:prstGeom prst="rect">
            <a:avLst/>
          </a:prstGeom>
          <a:noFill/>
        </p:spPr>
        <p:txBody>
          <a:bodyPr wrap="square" lIns="0" rIns="0" tIns="0" bIns="0" anchor="t">
            <a:spAutoFit/>
          </a:bodyPr>
          <a:lstStyle/>
          <a:p>
            <a:pPr algn="l"/>
            <a:r>
              <a:rPr sz="2200" b="1" i="0">
                <a:solidFill>
                  <a:srgbClr val="8B5CF6"/>
                </a:solidFill>
                <a:latin typeface="Calibri"/>
              </a:rPr>
              <a:t>02</a:t>
            </a:r>
          </a:p>
        </p:txBody>
      </p:sp>
      <p:sp>
        <p:nvSpPr>
          <p:cNvPr id="15" name="TextBox 14"/>
          <p:cNvSpPr txBox="1"/>
          <p:nvPr/>
        </p:nvSpPr>
        <p:spPr>
          <a:xfrm>
            <a:off x="1280160" y="2423160"/>
            <a:ext cx="10058400" cy="320040"/>
          </a:xfrm>
          <a:prstGeom prst="rect">
            <a:avLst/>
          </a:prstGeom>
          <a:noFill/>
        </p:spPr>
        <p:txBody>
          <a:bodyPr wrap="square" lIns="0" rIns="0" tIns="0" bIns="0" anchor="t">
            <a:spAutoFit/>
          </a:bodyPr>
          <a:lstStyle/>
          <a:p>
            <a:pPr algn="l"/>
            <a:r>
              <a:rPr sz="1400" b="1" i="0">
                <a:solidFill>
                  <a:srgbClr val="1F2937"/>
                </a:solidFill>
                <a:latin typeface="Calibri"/>
              </a:rPr>
              <a:t>{{BULLET_2_LABEL}}</a:t>
            </a:r>
          </a:p>
        </p:txBody>
      </p:sp>
      <p:sp>
        <p:nvSpPr>
          <p:cNvPr id="16" name="TextBox 15"/>
          <p:cNvSpPr txBox="1"/>
          <p:nvPr/>
        </p:nvSpPr>
        <p:spPr>
          <a:xfrm>
            <a:off x="1280160" y="2788920"/>
            <a:ext cx="10058400" cy="457200"/>
          </a:xfrm>
          <a:prstGeom prst="rect">
            <a:avLst/>
          </a:prstGeom>
          <a:noFill/>
        </p:spPr>
        <p:txBody>
          <a:bodyPr wrap="square" lIns="0" rIns="0" tIns="0" bIns="0" anchor="t">
            <a:spAutoFit/>
          </a:bodyPr>
          <a:lstStyle/>
          <a:p>
            <a:pPr algn="l"/>
            <a:r>
              <a:rPr sz="1200" b="0" i="1">
                <a:solidFill>
                  <a:srgbClr val="6B7280"/>
                </a:solidFill>
                <a:latin typeface="Calibri"/>
              </a:rPr>
              <a:t>{{BULLET_2_BODY}}</a:t>
            </a:r>
          </a:p>
        </p:txBody>
      </p:sp>
      <p:sp>
        <p:nvSpPr>
          <p:cNvPr id="17" name="Rectangle 16"/>
          <p:cNvSpPr/>
          <p:nvPr/>
        </p:nvSpPr>
        <p:spPr>
          <a:xfrm>
            <a:off x="548640" y="3314700"/>
            <a:ext cx="11091672" cy="137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429000"/>
            <a:ext cx="640080" cy="320040"/>
          </a:xfrm>
          <a:prstGeom prst="rect">
            <a:avLst/>
          </a:prstGeom>
          <a:noFill/>
        </p:spPr>
        <p:txBody>
          <a:bodyPr wrap="square" lIns="0" rIns="0" tIns="0" bIns="0" anchor="t">
            <a:spAutoFit/>
          </a:bodyPr>
          <a:lstStyle/>
          <a:p>
            <a:pPr algn="l"/>
            <a:r>
              <a:rPr sz="2200" b="1" i="0">
                <a:solidFill>
                  <a:srgbClr val="8B5CF6"/>
                </a:solidFill>
                <a:latin typeface="Calibri"/>
              </a:rPr>
              <a:t>03</a:t>
            </a:r>
          </a:p>
        </p:txBody>
      </p:sp>
      <p:sp>
        <p:nvSpPr>
          <p:cNvPr id="19" name="TextBox 18"/>
          <p:cNvSpPr txBox="1"/>
          <p:nvPr/>
        </p:nvSpPr>
        <p:spPr>
          <a:xfrm>
            <a:off x="1280160" y="3429000"/>
            <a:ext cx="10058400" cy="320040"/>
          </a:xfrm>
          <a:prstGeom prst="rect">
            <a:avLst/>
          </a:prstGeom>
          <a:noFill/>
        </p:spPr>
        <p:txBody>
          <a:bodyPr wrap="square" lIns="0" rIns="0" tIns="0" bIns="0" anchor="t">
            <a:spAutoFit/>
          </a:bodyPr>
          <a:lstStyle/>
          <a:p>
            <a:pPr algn="l"/>
            <a:r>
              <a:rPr sz="1400" b="1" i="0">
                <a:solidFill>
                  <a:srgbClr val="1F2937"/>
                </a:solidFill>
                <a:latin typeface="Calibri"/>
              </a:rPr>
              <a:t>{{BULLET_3_LABEL}}</a:t>
            </a:r>
          </a:p>
        </p:txBody>
      </p:sp>
      <p:sp>
        <p:nvSpPr>
          <p:cNvPr id="20" name="TextBox 19"/>
          <p:cNvSpPr txBox="1"/>
          <p:nvPr/>
        </p:nvSpPr>
        <p:spPr>
          <a:xfrm>
            <a:off x="1280160" y="3794760"/>
            <a:ext cx="10058400" cy="457200"/>
          </a:xfrm>
          <a:prstGeom prst="rect">
            <a:avLst/>
          </a:prstGeom>
          <a:noFill/>
        </p:spPr>
        <p:txBody>
          <a:bodyPr wrap="square" lIns="0" rIns="0" tIns="0" bIns="0" anchor="t">
            <a:spAutoFit/>
          </a:bodyPr>
          <a:lstStyle/>
          <a:p>
            <a:pPr algn="l"/>
            <a:r>
              <a:rPr sz="1200" b="0" i="1">
                <a:solidFill>
                  <a:srgbClr val="6B7280"/>
                </a:solidFill>
                <a:latin typeface="Calibri"/>
              </a:rPr>
              <a:t>{{BULLET_3_BODY}}</a:t>
            </a:r>
          </a:p>
        </p:txBody>
      </p:sp>
      <p:sp>
        <p:nvSpPr>
          <p:cNvPr id="21" name="Rectangle 20"/>
          <p:cNvSpPr/>
          <p:nvPr/>
        </p:nvSpPr>
        <p:spPr>
          <a:xfrm>
            <a:off x="548640" y="4320540"/>
            <a:ext cx="11091672" cy="137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34840"/>
            <a:ext cx="640080" cy="320040"/>
          </a:xfrm>
          <a:prstGeom prst="rect">
            <a:avLst/>
          </a:prstGeom>
          <a:noFill/>
        </p:spPr>
        <p:txBody>
          <a:bodyPr wrap="square" lIns="0" rIns="0" tIns="0" bIns="0" anchor="t">
            <a:spAutoFit/>
          </a:bodyPr>
          <a:lstStyle/>
          <a:p>
            <a:pPr algn="l"/>
            <a:r>
              <a:rPr sz="2200" b="1" i="0">
                <a:solidFill>
                  <a:srgbClr val="8B5CF6"/>
                </a:solidFill>
                <a:latin typeface="Calibri"/>
              </a:rPr>
              <a:t>04</a:t>
            </a:r>
          </a:p>
        </p:txBody>
      </p:sp>
      <p:sp>
        <p:nvSpPr>
          <p:cNvPr id="23" name="TextBox 22"/>
          <p:cNvSpPr txBox="1"/>
          <p:nvPr/>
        </p:nvSpPr>
        <p:spPr>
          <a:xfrm>
            <a:off x="1280160" y="4434840"/>
            <a:ext cx="10058400" cy="320040"/>
          </a:xfrm>
          <a:prstGeom prst="rect">
            <a:avLst/>
          </a:prstGeom>
          <a:noFill/>
        </p:spPr>
        <p:txBody>
          <a:bodyPr wrap="square" lIns="0" rIns="0" tIns="0" bIns="0" anchor="t">
            <a:spAutoFit/>
          </a:bodyPr>
          <a:lstStyle/>
          <a:p>
            <a:pPr algn="l"/>
            <a:r>
              <a:rPr sz="1400" b="1" i="0">
                <a:solidFill>
                  <a:srgbClr val="1F2937"/>
                </a:solidFill>
                <a:latin typeface="Calibri"/>
              </a:rPr>
              <a:t>{{BULLET_4_LABEL}}</a:t>
            </a:r>
          </a:p>
        </p:txBody>
      </p:sp>
      <p:sp>
        <p:nvSpPr>
          <p:cNvPr id="24" name="TextBox 23"/>
          <p:cNvSpPr txBox="1"/>
          <p:nvPr/>
        </p:nvSpPr>
        <p:spPr>
          <a:xfrm>
            <a:off x="1280160" y="4800600"/>
            <a:ext cx="10058400" cy="457200"/>
          </a:xfrm>
          <a:prstGeom prst="rect">
            <a:avLst/>
          </a:prstGeom>
          <a:noFill/>
        </p:spPr>
        <p:txBody>
          <a:bodyPr wrap="square" lIns="0" rIns="0" tIns="0" bIns="0" anchor="t">
            <a:spAutoFit/>
          </a:bodyPr>
          <a:lstStyle/>
          <a:p>
            <a:pPr algn="l"/>
            <a:r>
              <a:rPr sz="1200" b="0" i="1">
                <a:solidFill>
                  <a:srgbClr val="6B7280"/>
                </a:solidFill>
                <a:latin typeface="Calibri"/>
              </a:rPr>
              <a:t>{{BULLET_4_BODY}}</a:t>
            </a:r>
          </a:p>
        </p:txBody>
      </p:sp>
      <p:sp>
        <p:nvSpPr>
          <p:cNvPr id="25" name="Rectangle 24"/>
          <p:cNvSpPr/>
          <p:nvPr/>
        </p:nvSpPr>
        <p:spPr>
          <a:xfrm>
            <a:off x="548640" y="5326380"/>
            <a:ext cx="11091672" cy="1371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440680"/>
            <a:ext cx="640080" cy="320040"/>
          </a:xfrm>
          <a:prstGeom prst="rect">
            <a:avLst/>
          </a:prstGeom>
          <a:noFill/>
        </p:spPr>
        <p:txBody>
          <a:bodyPr wrap="square" lIns="0" rIns="0" tIns="0" bIns="0" anchor="t">
            <a:spAutoFit/>
          </a:bodyPr>
          <a:lstStyle/>
          <a:p>
            <a:pPr algn="l"/>
            <a:r>
              <a:rPr sz="2200" b="1" i="0">
                <a:solidFill>
                  <a:srgbClr val="8B5CF6"/>
                </a:solidFill>
                <a:latin typeface="Calibri"/>
              </a:rPr>
              <a:t>05</a:t>
            </a:r>
          </a:p>
        </p:txBody>
      </p:sp>
      <p:sp>
        <p:nvSpPr>
          <p:cNvPr id="27" name="TextBox 26"/>
          <p:cNvSpPr txBox="1"/>
          <p:nvPr/>
        </p:nvSpPr>
        <p:spPr>
          <a:xfrm>
            <a:off x="1280160" y="5440680"/>
            <a:ext cx="10058400" cy="320040"/>
          </a:xfrm>
          <a:prstGeom prst="rect">
            <a:avLst/>
          </a:prstGeom>
          <a:noFill/>
        </p:spPr>
        <p:txBody>
          <a:bodyPr wrap="square" lIns="0" rIns="0" tIns="0" bIns="0" anchor="t">
            <a:spAutoFit/>
          </a:bodyPr>
          <a:lstStyle/>
          <a:p>
            <a:pPr algn="l"/>
            <a:r>
              <a:rPr sz="1400" b="1" i="0">
                <a:solidFill>
                  <a:srgbClr val="1F2937"/>
                </a:solidFill>
                <a:latin typeface="Calibri"/>
              </a:rPr>
              <a:t>{{BULLET_5_LABEL}}</a:t>
            </a:r>
          </a:p>
        </p:txBody>
      </p:sp>
      <p:sp>
        <p:nvSpPr>
          <p:cNvPr id="28" name="TextBox 27"/>
          <p:cNvSpPr txBox="1"/>
          <p:nvPr/>
        </p:nvSpPr>
        <p:spPr>
          <a:xfrm>
            <a:off x="1280160" y="5806440"/>
            <a:ext cx="10058400" cy="457200"/>
          </a:xfrm>
          <a:prstGeom prst="rect">
            <a:avLst/>
          </a:prstGeom>
          <a:noFill/>
        </p:spPr>
        <p:txBody>
          <a:bodyPr wrap="square" lIns="0" rIns="0" tIns="0" bIns="0" anchor="t">
            <a:spAutoFit/>
          </a:bodyPr>
          <a:lstStyle/>
          <a:p>
            <a:pPr algn="l"/>
            <a:r>
              <a:rPr sz="1200" b="0" i="1">
                <a:solidFill>
                  <a:srgbClr val="6B7280"/>
                </a:solidFill>
                <a:latin typeface="Calibri"/>
              </a:rPr>
              <a:t>{{BULLET_5_BODY}}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TAT_CALLOUT_GRID_4CELL">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25880"/>
            <a:ext cx="54864" cy="1005840"/>
          </a:xfrm>
          <a:prstGeom prst="rect">
            <a:avLst/>
          </a:prstGeom>
          <a:solidFill>
            <a:srgbClr val="25B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Mục tiêu ngắn</a:t>
            </a:r>
          </a:p>
        </p:txBody>
      </p:sp>
      <p:sp>
        <p:nvSpPr>
          <p:cNvPr id="12" name="TextBox 11"/>
          <p:cNvSpPr txBox="1"/>
          <p:nvPr/>
        </p:nvSpPr>
        <p:spPr>
          <a:xfrm>
            <a:off x="731520" y="1645919"/>
            <a:ext cx="2430018" cy="457200"/>
          </a:xfrm>
          <a:prstGeom prst="rect">
            <a:avLst/>
          </a:prstGeom>
          <a:noFill/>
        </p:spPr>
        <p:txBody>
          <a:bodyPr wrap="square" lIns="0" rIns="0" tIns="0" bIns="0" anchor="t">
            <a:spAutoFit/>
          </a:bodyPr>
          <a:lstStyle/>
          <a:p>
            <a:pPr algn="l"/>
            <a:r>
              <a:rPr sz="2200" b="1" i="0">
                <a:solidFill>
                  <a:srgbClr val="25B770"/>
                </a:solidFill>
                <a:latin typeface="Calibri"/>
              </a:rPr>
              <a:t>{{TARGET_SHORT}}</a:t>
            </a:r>
          </a:p>
        </p:txBody>
      </p:sp>
      <p:sp>
        <p:nvSpPr>
          <p:cNvPr id="13" name="TextBox 12"/>
          <p:cNvSpPr txBox="1"/>
          <p:nvPr/>
        </p:nvSpPr>
        <p:spPr>
          <a:xfrm>
            <a:off x="731520"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{{UPSIDE_SHORT}}</a:t>
            </a:r>
          </a:p>
        </p:txBody>
      </p:sp>
      <p:sp>
        <p:nvSpPr>
          <p:cNvPr id="14" name="Rounded Rectangle 13"/>
          <p:cNvSpPr/>
          <p:nvPr/>
        </p:nvSpPr>
        <p:spPr>
          <a:xfrm>
            <a:off x="3344418"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4418" y="1325880"/>
            <a:ext cx="54864" cy="1005840"/>
          </a:xfrm>
          <a:prstGeom prst="rect">
            <a:avLst/>
          </a:prstGeom>
          <a:solidFill>
            <a:srgbClr val="25B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298"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Mục tiêu trung</a:t>
            </a:r>
          </a:p>
        </p:txBody>
      </p:sp>
      <p:sp>
        <p:nvSpPr>
          <p:cNvPr id="17" name="TextBox 16"/>
          <p:cNvSpPr txBox="1"/>
          <p:nvPr/>
        </p:nvSpPr>
        <p:spPr>
          <a:xfrm>
            <a:off x="3527298" y="1645919"/>
            <a:ext cx="2430018" cy="457200"/>
          </a:xfrm>
          <a:prstGeom prst="rect">
            <a:avLst/>
          </a:prstGeom>
          <a:noFill/>
        </p:spPr>
        <p:txBody>
          <a:bodyPr wrap="square" lIns="0" rIns="0" tIns="0" bIns="0" anchor="t">
            <a:spAutoFit/>
          </a:bodyPr>
          <a:lstStyle/>
          <a:p>
            <a:pPr algn="l"/>
            <a:r>
              <a:rPr sz="2200" b="1" i="0">
                <a:solidFill>
                  <a:srgbClr val="25B770"/>
                </a:solidFill>
                <a:latin typeface="Calibri"/>
              </a:rPr>
              <a:t>{{TARGET_MID}}</a:t>
            </a:r>
          </a:p>
        </p:txBody>
      </p:sp>
      <p:sp>
        <p:nvSpPr>
          <p:cNvPr id="18" name="TextBox 17"/>
          <p:cNvSpPr txBox="1"/>
          <p:nvPr/>
        </p:nvSpPr>
        <p:spPr>
          <a:xfrm>
            <a:off x="3527298"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{{UPSIDE_MID}}</a:t>
            </a:r>
          </a:p>
        </p:txBody>
      </p:sp>
      <p:sp>
        <p:nvSpPr>
          <p:cNvPr id="19" name="Rounded Rectangle 18"/>
          <p:cNvSpPr/>
          <p:nvPr/>
        </p:nvSpPr>
        <p:spPr>
          <a:xfrm>
            <a:off x="6140196"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0196" y="1325880"/>
            <a:ext cx="54864" cy="1005840"/>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3076"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Cắt lỗ</a:t>
            </a:r>
          </a:p>
        </p:txBody>
      </p:sp>
      <p:sp>
        <p:nvSpPr>
          <p:cNvPr id="22" name="TextBox 21"/>
          <p:cNvSpPr txBox="1"/>
          <p:nvPr/>
        </p:nvSpPr>
        <p:spPr>
          <a:xfrm>
            <a:off x="6323076" y="1645919"/>
            <a:ext cx="2430018" cy="457200"/>
          </a:xfrm>
          <a:prstGeom prst="rect">
            <a:avLst/>
          </a:prstGeom>
          <a:noFill/>
        </p:spPr>
        <p:txBody>
          <a:bodyPr wrap="square" lIns="0" rIns="0" tIns="0" bIns="0" anchor="t">
            <a:spAutoFit/>
          </a:bodyPr>
          <a:lstStyle/>
          <a:p>
            <a:pPr algn="l"/>
            <a:r>
              <a:rPr sz="2200" b="1" i="0">
                <a:solidFill>
                  <a:srgbClr val="E14040"/>
                </a:solidFill>
                <a:latin typeface="Calibri"/>
              </a:rPr>
              <a:t>{{STOPLOSS}}</a:t>
            </a:r>
          </a:p>
        </p:txBody>
      </p:sp>
      <p:sp>
        <p:nvSpPr>
          <p:cNvPr id="23" name="TextBox 22"/>
          <p:cNvSpPr txBox="1"/>
          <p:nvPr/>
        </p:nvSpPr>
        <p:spPr>
          <a:xfrm>
            <a:off x="6323076"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{{DOWNSIDE_STOP}}</a:t>
            </a:r>
          </a:p>
        </p:txBody>
      </p:sp>
      <p:sp>
        <p:nvSpPr>
          <p:cNvPr id="24" name="Rounded Rectangle 23"/>
          <p:cNvSpPr/>
          <p:nvPr/>
        </p:nvSpPr>
        <p:spPr>
          <a:xfrm>
            <a:off x="8935974"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35974" y="1325880"/>
            <a:ext cx="54864"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18853"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Tỷ lệ lời-lỗ</a:t>
            </a:r>
          </a:p>
        </p:txBody>
      </p:sp>
      <p:sp>
        <p:nvSpPr>
          <p:cNvPr id="27" name="TextBox 26"/>
          <p:cNvSpPr txBox="1"/>
          <p:nvPr/>
        </p:nvSpPr>
        <p:spPr>
          <a:xfrm>
            <a:off x="9118853" y="1645919"/>
            <a:ext cx="2430018" cy="457200"/>
          </a:xfrm>
          <a:prstGeom prst="rect">
            <a:avLst/>
          </a:prstGeom>
          <a:noFill/>
        </p:spPr>
        <p:txBody>
          <a:bodyPr wrap="square" lIns="0" rIns="0" tIns="0" bIns="0" anchor="t">
            <a:spAutoFit/>
          </a:bodyPr>
          <a:lstStyle/>
          <a:p>
            <a:pPr algn="l"/>
            <a:r>
              <a:rPr sz="2200" b="1" i="0">
                <a:solidFill>
                  <a:srgbClr val="7C3AED"/>
                </a:solidFill>
                <a:latin typeface="Calibri"/>
              </a:rPr>
              <a:t>{{RR_RATIO}}</a:t>
            </a:r>
          </a:p>
        </p:txBody>
      </p:sp>
      <p:sp>
        <p:nvSpPr>
          <p:cNvPr id="28" name="TextBox 27"/>
          <p:cNvSpPr txBox="1"/>
          <p:nvPr/>
        </p:nvSpPr>
        <p:spPr>
          <a:xfrm>
            <a:off x="9118853"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{{RR_VERDICT}}</a:t>
            </a:r>
          </a:p>
        </p:txBody>
      </p:sp>
      <p:sp>
        <p:nvSpPr>
          <p:cNvPr id="29" name="Oval 28"/>
          <p:cNvSpPr/>
          <p:nvPr/>
        </p:nvSpPr>
        <p:spPr>
          <a:xfrm>
            <a:off x="548640" y="2697480"/>
            <a:ext cx="502920" cy="50292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700" b="1">
                <a:solidFill>
                  <a:srgbClr val="FFFFFF"/>
                </a:solidFill>
                <a:latin typeface="Calibri"/>
              </a:rPr>
              <a:t>01</a:t>
            </a:r>
          </a:p>
        </p:txBody>
      </p:sp>
      <p:sp>
        <p:nvSpPr>
          <p:cNvPr id="30" name="TextBox 29"/>
          <p:cNvSpPr txBox="1"/>
          <p:nvPr/>
        </p:nvSpPr>
        <p:spPr>
          <a:xfrm>
            <a:off x="1188719" y="2651760"/>
            <a:ext cx="10360152" cy="320040"/>
          </a:xfrm>
          <a:prstGeom prst="rect">
            <a:avLst/>
          </a:prstGeom>
          <a:noFill/>
        </p:spPr>
        <p:txBody>
          <a:bodyPr wrap="square" lIns="0" rIns="0" tIns="0" bIns="0" anchor="t">
            <a:spAutoFit/>
          </a:bodyPr>
          <a:lstStyle/>
          <a:p>
            <a:pPr algn="l"/>
            <a:r>
              <a:rPr sz="1300" b="1" i="0">
                <a:solidFill>
                  <a:srgbClr val="1F2937"/>
                </a:solidFill>
                <a:latin typeface="Calibri"/>
              </a:rPr>
              <a:t>{{POINT_1_TITLE}}</a:t>
            </a:r>
          </a:p>
        </p:txBody>
      </p:sp>
      <p:sp>
        <p:nvSpPr>
          <p:cNvPr id="31" name="TextBox 30"/>
          <p:cNvSpPr txBox="1"/>
          <p:nvPr/>
        </p:nvSpPr>
        <p:spPr>
          <a:xfrm>
            <a:off x="1188719" y="2990088"/>
            <a:ext cx="10360152" cy="457200"/>
          </a:xfrm>
          <a:prstGeom prst="rect">
            <a:avLst/>
          </a:prstGeom>
          <a:noFill/>
        </p:spPr>
        <p:txBody>
          <a:bodyPr wrap="square" lIns="0" rIns="0" tIns="0" bIns="0" anchor="t">
            <a:spAutoFit/>
          </a:bodyPr>
          <a:lstStyle/>
          <a:p>
            <a:pPr algn="l"/>
            <a:r>
              <a:rPr sz="1100" b="0" i="1">
                <a:solidFill>
                  <a:srgbClr val="6B7280"/>
                </a:solidFill>
                <a:latin typeface="Calibri"/>
              </a:rPr>
              <a:t>{{POINT_1_BODY}}</a:t>
            </a:r>
          </a:p>
        </p:txBody>
      </p:sp>
      <p:sp>
        <p:nvSpPr>
          <p:cNvPr id="32" name="Oval 31"/>
          <p:cNvSpPr/>
          <p:nvPr/>
        </p:nvSpPr>
        <p:spPr>
          <a:xfrm>
            <a:off x="1280160" y="3657600"/>
            <a:ext cx="502920" cy="50292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700" b="1">
                <a:solidFill>
                  <a:srgbClr val="FFFFFF"/>
                </a:solidFill>
                <a:latin typeface="Calibri"/>
              </a:rPr>
              <a:t>02</a:t>
            </a:r>
          </a:p>
        </p:txBody>
      </p:sp>
      <p:sp>
        <p:nvSpPr>
          <p:cNvPr id="33" name="TextBox 32"/>
          <p:cNvSpPr txBox="1"/>
          <p:nvPr/>
        </p:nvSpPr>
        <p:spPr>
          <a:xfrm>
            <a:off x="1920239" y="3611880"/>
            <a:ext cx="9628632" cy="320040"/>
          </a:xfrm>
          <a:prstGeom prst="rect">
            <a:avLst/>
          </a:prstGeom>
          <a:noFill/>
        </p:spPr>
        <p:txBody>
          <a:bodyPr wrap="square" lIns="0" rIns="0" tIns="0" bIns="0" anchor="t">
            <a:spAutoFit/>
          </a:bodyPr>
          <a:lstStyle/>
          <a:p>
            <a:pPr algn="l"/>
            <a:r>
              <a:rPr sz="1300" b="1" i="0">
                <a:solidFill>
                  <a:srgbClr val="1F2937"/>
                </a:solidFill>
                <a:latin typeface="Calibri"/>
              </a:rPr>
              <a:t>{{POINT_2_TITLE}}</a:t>
            </a:r>
          </a:p>
        </p:txBody>
      </p:sp>
      <p:sp>
        <p:nvSpPr>
          <p:cNvPr id="34" name="TextBox 33"/>
          <p:cNvSpPr txBox="1"/>
          <p:nvPr/>
        </p:nvSpPr>
        <p:spPr>
          <a:xfrm>
            <a:off x="1920239" y="3950208"/>
            <a:ext cx="9628632" cy="457200"/>
          </a:xfrm>
          <a:prstGeom prst="rect">
            <a:avLst/>
          </a:prstGeom>
          <a:noFill/>
        </p:spPr>
        <p:txBody>
          <a:bodyPr wrap="square" lIns="0" rIns="0" tIns="0" bIns="0" anchor="t">
            <a:spAutoFit/>
          </a:bodyPr>
          <a:lstStyle/>
          <a:p>
            <a:pPr algn="l"/>
            <a:r>
              <a:rPr sz="1100" b="0" i="1">
                <a:solidFill>
                  <a:srgbClr val="6B7280"/>
                </a:solidFill>
                <a:latin typeface="Calibri"/>
              </a:rPr>
              <a:t>{{POINT_2_BODY}}</a:t>
            </a:r>
          </a:p>
        </p:txBody>
      </p:sp>
      <p:sp>
        <p:nvSpPr>
          <p:cNvPr id="35" name="Oval 34"/>
          <p:cNvSpPr/>
          <p:nvPr/>
        </p:nvSpPr>
        <p:spPr>
          <a:xfrm>
            <a:off x="548640" y="4617720"/>
            <a:ext cx="502920" cy="50292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700" b="1">
                <a:solidFill>
                  <a:srgbClr val="FFFFFF"/>
                </a:solidFill>
                <a:latin typeface="Calibri"/>
              </a:rPr>
              <a:t>03</a:t>
            </a:r>
          </a:p>
        </p:txBody>
      </p:sp>
      <p:sp>
        <p:nvSpPr>
          <p:cNvPr id="36" name="TextBox 35"/>
          <p:cNvSpPr txBox="1"/>
          <p:nvPr/>
        </p:nvSpPr>
        <p:spPr>
          <a:xfrm>
            <a:off x="1188719" y="4572000"/>
            <a:ext cx="10360152" cy="320040"/>
          </a:xfrm>
          <a:prstGeom prst="rect">
            <a:avLst/>
          </a:prstGeom>
          <a:noFill/>
        </p:spPr>
        <p:txBody>
          <a:bodyPr wrap="square" lIns="0" rIns="0" tIns="0" bIns="0" anchor="t">
            <a:spAutoFit/>
          </a:bodyPr>
          <a:lstStyle/>
          <a:p>
            <a:pPr algn="l"/>
            <a:r>
              <a:rPr sz="1300" b="1" i="0">
                <a:solidFill>
                  <a:srgbClr val="1F2937"/>
                </a:solidFill>
                <a:latin typeface="Calibri"/>
              </a:rPr>
              <a:t>{{POINT_3_TITLE}}</a:t>
            </a:r>
          </a:p>
        </p:txBody>
      </p:sp>
      <p:sp>
        <p:nvSpPr>
          <p:cNvPr id="37" name="TextBox 36"/>
          <p:cNvSpPr txBox="1"/>
          <p:nvPr/>
        </p:nvSpPr>
        <p:spPr>
          <a:xfrm>
            <a:off x="1188719" y="4910328"/>
            <a:ext cx="10360152" cy="457200"/>
          </a:xfrm>
          <a:prstGeom prst="rect">
            <a:avLst/>
          </a:prstGeom>
          <a:noFill/>
        </p:spPr>
        <p:txBody>
          <a:bodyPr wrap="square" lIns="0" rIns="0" tIns="0" bIns="0" anchor="t">
            <a:spAutoFit/>
          </a:bodyPr>
          <a:lstStyle/>
          <a:p>
            <a:pPr algn="l"/>
            <a:r>
              <a:rPr sz="1100" b="0" i="1">
                <a:solidFill>
                  <a:srgbClr val="6B7280"/>
                </a:solidFill>
                <a:latin typeface="Calibri"/>
              </a:rPr>
              <a:t>{{POINT_3_BODY}}</a:t>
            </a:r>
          </a:p>
        </p:txBody>
      </p:sp>
      <p:sp>
        <p:nvSpPr>
          <p:cNvPr id="38" name="Oval 37"/>
          <p:cNvSpPr/>
          <p:nvPr/>
        </p:nvSpPr>
        <p:spPr>
          <a:xfrm>
            <a:off x="1280160" y="5577840"/>
            <a:ext cx="502920" cy="50292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700" b="1">
                <a:solidFill>
                  <a:srgbClr val="FFFFFF"/>
                </a:solidFill>
                <a:latin typeface="Calibri"/>
              </a:rPr>
              <a:t>04</a:t>
            </a:r>
          </a:p>
        </p:txBody>
      </p:sp>
      <p:sp>
        <p:nvSpPr>
          <p:cNvPr id="39" name="TextBox 38"/>
          <p:cNvSpPr txBox="1"/>
          <p:nvPr/>
        </p:nvSpPr>
        <p:spPr>
          <a:xfrm>
            <a:off x="1920239" y="5532120"/>
            <a:ext cx="9628632" cy="320040"/>
          </a:xfrm>
          <a:prstGeom prst="rect">
            <a:avLst/>
          </a:prstGeom>
          <a:noFill/>
        </p:spPr>
        <p:txBody>
          <a:bodyPr wrap="square" lIns="0" rIns="0" tIns="0" bIns="0" anchor="t">
            <a:spAutoFit/>
          </a:bodyPr>
          <a:lstStyle/>
          <a:p>
            <a:pPr algn="l"/>
            <a:r>
              <a:rPr sz="1300" b="1" i="0">
                <a:solidFill>
                  <a:srgbClr val="1F2937"/>
                </a:solidFill>
                <a:latin typeface="Calibri"/>
              </a:rPr>
              <a:t>{{POINT_4_TITLE}}</a:t>
            </a:r>
          </a:p>
        </p:txBody>
      </p:sp>
      <p:sp>
        <p:nvSpPr>
          <p:cNvPr id="40" name="TextBox 39"/>
          <p:cNvSpPr txBox="1"/>
          <p:nvPr/>
        </p:nvSpPr>
        <p:spPr>
          <a:xfrm>
            <a:off x="1920239" y="5870448"/>
            <a:ext cx="9628632" cy="457200"/>
          </a:xfrm>
          <a:prstGeom prst="rect">
            <a:avLst/>
          </a:prstGeom>
          <a:noFill/>
        </p:spPr>
        <p:txBody>
          <a:bodyPr wrap="square" lIns="0" rIns="0" tIns="0" bIns="0" anchor="t">
            <a:spAutoFit/>
          </a:bodyPr>
          <a:lstStyle/>
          <a:p>
            <a:pPr algn="l"/>
            <a:r>
              <a:rPr sz="1100" b="0" i="1">
                <a:solidFill>
                  <a:srgbClr val="6B7280"/>
                </a:solidFill>
                <a:latin typeface="Calibri"/>
              </a:rPr>
              <a:t>{{POINT_4_BODY}}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BIG_STAT_SUBPOINTS">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{{LUANDIEM_TITLE}}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{{LUANDIEM_SUB}}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11091672" cy="1280160"/>
          </a:xfrm>
          <a:prstGeom prst="roundRect">
            <a:avLst>
              <a:gd name="adj" fmla="val 15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25880"/>
            <a:ext cx="91440" cy="12801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63039"/>
            <a:ext cx="4572000" cy="274320"/>
          </a:xfrm>
          <a:prstGeom prst="rect">
            <a:avLst/>
          </a:prstGeom>
          <a:noFill/>
        </p:spPr>
        <p:txBody>
          <a:bodyPr wrap="square" lIns="0" rIns="0" tIns="0" bIns="0" anchor="t">
            <a:spAutoFit/>
          </a:bodyPr>
          <a:lstStyle/>
          <a:p>
            <a:pPr algn="l"/>
            <a:r>
              <a:rPr sz="1200" b="1" i="0">
                <a:solidFill>
                  <a:srgbClr val="7C3AED"/>
                </a:solidFill>
                <a:latin typeface="Calibri"/>
              </a:rPr>
              <a:t>{{KPI_LABEL}}</a:t>
            </a:r>
          </a:p>
        </p:txBody>
      </p:sp>
      <p:sp>
        <p:nvSpPr>
          <p:cNvPr id="12" name="TextBox 11"/>
          <p:cNvSpPr txBox="1"/>
          <p:nvPr/>
        </p:nvSpPr>
        <p:spPr>
          <a:xfrm>
            <a:off x="777240" y="1737360"/>
            <a:ext cx="5029200" cy="777240"/>
          </a:xfrm>
          <a:prstGeom prst="rect">
            <a:avLst/>
          </a:prstGeom>
          <a:noFill/>
        </p:spPr>
        <p:txBody>
          <a:bodyPr wrap="square" lIns="0" rIns="0" tIns="0" bIns="0" anchor="ctr">
            <a:spAutoFit/>
          </a:bodyPr>
          <a:lstStyle/>
          <a:p>
            <a:pPr algn="l"/>
            <a:r>
              <a:rPr sz="6400" b="1" i="0">
                <a:solidFill>
                  <a:srgbClr val="7C3AED"/>
                </a:solidFill>
                <a:latin typeface="Calibri"/>
              </a:rPr>
              <a:t>{{KPI_VALUE}}</a:t>
            </a:r>
          </a:p>
        </p:txBody>
      </p:sp>
      <p:sp>
        <p:nvSpPr>
          <p:cNvPr id="13" name="TextBox 12"/>
          <p:cNvSpPr txBox="1"/>
          <p:nvPr/>
        </p:nvSpPr>
        <p:spPr>
          <a:xfrm>
            <a:off x="5943600" y="1600200"/>
            <a:ext cx="5029200" cy="365760"/>
          </a:xfrm>
          <a:prstGeom prst="rect">
            <a:avLst/>
          </a:prstGeom>
          <a:noFill/>
        </p:spPr>
        <p:txBody>
          <a:bodyPr wrap="square" lIns="0" rIns="0" tIns="0" bIns="0" anchor="t">
            <a:spAutoFit/>
          </a:bodyPr>
          <a:lstStyle/>
          <a:p>
            <a:pPr algn="l"/>
            <a:r>
              <a:rPr sz="1400" b="0" i="1">
                <a:solidFill>
                  <a:srgbClr val="1F2937"/>
                </a:solidFill>
                <a:latin typeface="Calibri"/>
              </a:rPr>
              <a:t>{{KPI_NOTE}}</a:t>
            </a:r>
          </a:p>
        </p:txBody>
      </p:sp>
      <p:sp>
        <p:nvSpPr>
          <p:cNvPr id="14" name="TextBox 13"/>
          <p:cNvSpPr txBox="1"/>
          <p:nvPr/>
        </p:nvSpPr>
        <p:spPr>
          <a:xfrm>
            <a:off x="5943600" y="2011680"/>
            <a:ext cx="5029200" cy="502920"/>
          </a:xfrm>
          <a:prstGeom prst="rect">
            <a:avLst/>
          </a:prstGeom>
          <a:noFill/>
        </p:spPr>
        <p:txBody>
          <a:bodyPr wrap="square" lIns="0" rIns="0" tIns="0" bIns="0" anchor="t">
            <a:spAutoFit/>
          </a:bodyPr>
          <a:lstStyle/>
          <a:p>
            <a:pPr algn="l"/>
            <a:r>
              <a:rPr sz="1100" b="0" i="0">
                <a:solidFill>
                  <a:srgbClr val="6B7280"/>
                </a:solidFill>
                <a:latin typeface="Calibri"/>
              </a:rPr>
              <a:t>{{KPI_SUB}}</a:t>
            </a:r>
          </a:p>
        </p:txBody>
      </p:sp>
      <p:sp>
        <p:nvSpPr>
          <p:cNvPr id="15" name="Rounded Rectangle 14"/>
          <p:cNvSpPr/>
          <p:nvPr/>
        </p:nvSpPr>
        <p:spPr>
          <a:xfrm>
            <a:off x="548640" y="2788920"/>
            <a:ext cx="3605784" cy="11887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788920"/>
            <a:ext cx="54864" cy="1188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2926079"/>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18" name="TextBox 17"/>
          <p:cNvSpPr txBox="1"/>
          <p:nvPr/>
        </p:nvSpPr>
        <p:spPr>
          <a:xfrm>
            <a:off x="1234440" y="2953512"/>
            <a:ext cx="2828544" cy="274320"/>
          </a:xfrm>
          <a:prstGeom prst="rect">
            <a:avLst/>
          </a:prstGeom>
          <a:noFill/>
        </p:spPr>
        <p:txBody>
          <a:bodyPr wrap="square" lIns="0" rIns="0" tIns="0" bIns="0" anchor="t">
            <a:spAutoFit/>
          </a:bodyPr>
          <a:lstStyle/>
          <a:p>
            <a:pPr algn="l"/>
            <a:r>
              <a:rPr sz="1200" b="1" i="0">
                <a:solidFill>
                  <a:srgbClr val="1F2937"/>
                </a:solidFill>
                <a:latin typeface="Calibri"/>
              </a:rPr>
              <a:t>{{SUBPOINT_1_TITLE}}</a:t>
            </a:r>
          </a:p>
        </p:txBody>
      </p:sp>
      <p:sp>
        <p:nvSpPr>
          <p:cNvPr id="19" name="TextBox 18"/>
          <p:cNvSpPr txBox="1"/>
          <p:nvPr/>
        </p:nvSpPr>
        <p:spPr>
          <a:xfrm>
            <a:off x="731520" y="3337560"/>
            <a:ext cx="3331464" cy="594360"/>
          </a:xfrm>
          <a:prstGeom prst="rect">
            <a:avLst/>
          </a:prstGeom>
          <a:noFill/>
        </p:spPr>
        <p:txBody>
          <a:bodyPr wrap="square" lIns="0" rIns="0" tIns="0" bIns="0" anchor="t">
            <a:spAutoFit/>
          </a:bodyPr>
          <a:lstStyle/>
          <a:p>
            <a:pPr algn="l"/>
            <a:r>
              <a:rPr sz="1000" b="0" i="1">
                <a:solidFill>
                  <a:srgbClr val="6B7280"/>
                </a:solidFill>
                <a:latin typeface="Calibri"/>
              </a:rPr>
              <a:t>{{SUBPOINT_1_BODY}}</a:t>
            </a:r>
          </a:p>
        </p:txBody>
      </p:sp>
      <p:sp>
        <p:nvSpPr>
          <p:cNvPr id="20" name="Rounded Rectangle 19"/>
          <p:cNvSpPr/>
          <p:nvPr/>
        </p:nvSpPr>
        <p:spPr>
          <a:xfrm>
            <a:off x="4291584" y="2788920"/>
            <a:ext cx="3605784" cy="11887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1584" y="2788920"/>
            <a:ext cx="54864" cy="1188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474464" y="2926079"/>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23" name="TextBox 22"/>
          <p:cNvSpPr txBox="1"/>
          <p:nvPr/>
        </p:nvSpPr>
        <p:spPr>
          <a:xfrm>
            <a:off x="4977384" y="2953512"/>
            <a:ext cx="2828544" cy="274320"/>
          </a:xfrm>
          <a:prstGeom prst="rect">
            <a:avLst/>
          </a:prstGeom>
          <a:noFill/>
        </p:spPr>
        <p:txBody>
          <a:bodyPr wrap="square" lIns="0" rIns="0" tIns="0" bIns="0" anchor="t">
            <a:spAutoFit/>
          </a:bodyPr>
          <a:lstStyle/>
          <a:p>
            <a:pPr algn="l"/>
            <a:r>
              <a:rPr sz="1200" b="1" i="0">
                <a:solidFill>
                  <a:srgbClr val="1F2937"/>
                </a:solidFill>
                <a:latin typeface="Calibri"/>
              </a:rPr>
              <a:t>{{SUBPOINT_2_TITLE}}</a:t>
            </a:r>
          </a:p>
        </p:txBody>
      </p:sp>
      <p:sp>
        <p:nvSpPr>
          <p:cNvPr id="24" name="TextBox 23"/>
          <p:cNvSpPr txBox="1"/>
          <p:nvPr/>
        </p:nvSpPr>
        <p:spPr>
          <a:xfrm>
            <a:off x="4474464" y="3337560"/>
            <a:ext cx="3331464" cy="594360"/>
          </a:xfrm>
          <a:prstGeom prst="rect">
            <a:avLst/>
          </a:prstGeom>
          <a:noFill/>
        </p:spPr>
        <p:txBody>
          <a:bodyPr wrap="square" lIns="0" rIns="0" tIns="0" bIns="0" anchor="t">
            <a:spAutoFit/>
          </a:bodyPr>
          <a:lstStyle/>
          <a:p>
            <a:pPr algn="l"/>
            <a:r>
              <a:rPr sz="1000" b="0" i="1">
                <a:solidFill>
                  <a:srgbClr val="6B7280"/>
                </a:solidFill>
                <a:latin typeface="Calibri"/>
              </a:rPr>
              <a:t>{{SUBPOINT_2_BODY}}</a:t>
            </a:r>
          </a:p>
        </p:txBody>
      </p:sp>
      <p:sp>
        <p:nvSpPr>
          <p:cNvPr id="25" name="Rounded Rectangle 24"/>
          <p:cNvSpPr/>
          <p:nvPr/>
        </p:nvSpPr>
        <p:spPr>
          <a:xfrm>
            <a:off x="8034528" y="2788920"/>
            <a:ext cx="3605784" cy="11887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34528" y="2788920"/>
            <a:ext cx="54864" cy="1188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17408" y="2926079"/>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28" name="TextBox 27"/>
          <p:cNvSpPr txBox="1"/>
          <p:nvPr/>
        </p:nvSpPr>
        <p:spPr>
          <a:xfrm>
            <a:off x="8720328" y="2953512"/>
            <a:ext cx="2828544" cy="274320"/>
          </a:xfrm>
          <a:prstGeom prst="rect">
            <a:avLst/>
          </a:prstGeom>
          <a:noFill/>
        </p:spPr>
        <p:txBody>
          <a:bodyPr wrap="square" lIns="0" rIns="0" tIns="0" bIns="0" anchor="t">
            <a:spAutoFit/>
          </a:bodyPr>
          <a:lstStyle/>
          <a:p>
            <a:pPr algn="l"/>
            <a:r>
              <a:rPr sz="1200" b="1" i="0">
                <a:solidFill>
                  <a:srgbClr val="1F2937"/>
                </a:solidFill>
                <a:latin typeface="Calibri"/>
              </a:rPr>
              <a:t>{{SUBPOINT_3_TITLE}}</a:t>
            </a:r>
          </a:p>
        </p:txBody>
      </p:sp>
      <p:sp>
        <p:nvSpPr>
          <p:cNvPr id="29" name="TextBox 28"/>
          <p:cNvSpPr txBox="1"/>
          <p:nvPr/>
        </p:nvSpPr>
        <p:spPr>
          <a:xfrm>
            <a:off x="8217408" y="3337560"/>
            <a:ext cx="3331464" cy="594360"/>
          </a:xfrm>
          <a:prstGeom prst="rect">
            <a:avLst/>
          </a:prstGeom>
          <a:noFill/>
        </p:spPr>
        <p:txBody>
          <a:bodyPr wrap="square" lIns="0" rIns="0" tIns="0" bIns="0" anchor="t">
            <a:spAutoFit/>
          </a:bodyPr>
          <a:lstStyle/>
          <a:p>
            <a:pPr algn="l"/>
            <a:r>
              <a:rPr sz="1000" b="0" i="1">
                <a:solidFill>
                  <a:srgbClr val="6B7280"/>
                </a:solidFill>
                <a:latin typeface="Calibri"/>
              </a:rPr>
              <a:t>{{SUBPOINT_3_BODY}}</a:t>
            </a:r>
          </a:p>
        </p:txBody>
      </p:sp>
      <p:sp>
        <p:nvSpPr>
          <p:cNvPr id="30" name="Rounded Rectangle 29"/>
          <p:cNvSpPr/>
          <p:nvPr/>
        </p:nvSpPr>
        <p:spPr>
          <a:xfrm>
            <a:off x="548640" y="4114800"/>
            <a:ext cx="11091672" cy="21945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114800"/>
            <a:ext cx="11091672" cy="27432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4114800"/>
            <a:ext cx="5486400" cy="274320"/>
          </a:xfrm>
          <a:prstGeom prst="rect">
            <a:avLst/>
          </a:prstGeom>
          <a:noFill/>
        </p:spPr>
        <p:txBody>
          <a:bodyPr wrap="square" lIns="0" rIns="0" tIns="0" bIns="0" anchor="ctr">
            <a:spAutoFit/>
          </a:bodyPr>
          <a:lstStyle/>
          <a:p>
            <a:pPr algn="l"/>
            <a:r>
              <a:rPr sz="1100" b="1" i="0">
                <a:solidFill>
                  <a:srgbClr val="FFFFFF"/>
                </a:solidFill>
                <a:latin typeface="Calibri"/>
              </a:rPr>
              <a:t>Chỉ số tài chính</a:t>
            </a:r>
          </a:p>
        </p:txBody>
      </p:sp>
      <p:sp>
        <p:nvSpPr>
          <p:cNvPr id="33" name="TextBox 32"/>
          <p:cNvSpPr txBox="1"/>
          <p:nvPr/>
        </p:nvSpPr>
        <p:spPr>
          <a:xfrm>
            <a:off x="7315200" y="4114800"/>
            <a:ext cx="3657600" cy="274320"/>
          </a:xfrm>
          <a:prstGeom prst="rect">
            <a:avLst/>
          </a:prstGeom>
          <a:noFill/>
        </p:spPr>
        <p:txBody>
          <a:bodyPr wrap="square" lIns="0" rIns="0" tIns="0" bIns="0" anchor="ctr">
            <a:spAutoFit/>
          </a:bodyPr>
          <a:lstStyle/>
          <a:p>
            <a:pPr algn="l"/>
            <a:r>
              <a:rPr sz="1100" b="1" i="0">
                <a:solidFill>
                  <a:srgbClr val="FFFFFF"/>
                </a:solidFill>
                <a:latin typeface="Calibri"/>
              </a:rPr>
              <a:t>Giá trị</a:t>
            </a:r>
          </a:p>
        </p:txBody>
      </p:sp>
      <p:sp>
        <p:nvSpPr>
          <p:cNvPr id="34" name="TextBox 33"/>
          <p:cNvSpPr txBox="1"/>
          <p:nvPr/>
        </p:nvSpPr>
        <p:spPr>
          <a:xfrm>
            <a:off x="777240" y="4389120"/>
            <a:ext cx="5486400" cy="384048"/>
          </a:xfrm>
          <a:prstGeom prst="rect">
            <a:avLst/>
          </a:prstGeom>
          <a:noFill/>
        </p:spPr>
        <p:txBody>
          <a:bodyPr wrap="square" lIns="0" rIns="0" tIns="0" bIns="0" anchor="ctr">
            <a:spAutoFit/>
          </a:bodyPr>
          <a:lstStyle/>
          <a:p>
            <a:pPr algn="l"/>
            <a:r>
              <a:rPr sz="1100" b="0" i="0">
                <a:solidFill>
                  <a:srgbClr val="1F2937"/>
                </a:solidFill>
                <a:latin typeface="Calibri"/>
              </a:rPr>
              <a:t>{{KPI_ROW_1_LABEL}}</a:t>
            </a:r>
          </a:p>
        </p:txBody>
      </p:sp>
      <p:sp>
        <p:nvSpPr>
          <p:cNvPr id="35" name="TextBox 34"/>
          <p:cNvSpPr txBox="1"/>
          <p:nvPr/>
        </p:nvSpPr>
        <p:spPr>
          <a:xfrm>
            <a:off x="7315200" y="4389120"/>
            <a:ext cx="3657600" cy="384048"/>
          </a:xfrm>
          <a:prstGeom prst="rect">
            <a:avLst/>
          </a:prstGeom>
          <a:noFill/>
        </p:spPr>
        <p:txBody>
          <a:bodyPr wrap="square" lIns="0" rIns="0" tIns="0" bIns="0" anchor="ctr">
            <a:spAutoFit/>
          </a:bodyPr>
          <a:lstStyle/>
          <a:p>
            <a:pPr algn="l"/>
            <a:r>
              <a:rPr sz="1200" b="1" i="0">
                <a:solidFill>
                  <a:srgbClr val="7C3AED"/>
                </a:solidFill>
                <a:latin typeface="Calibri"/>
              </a:rPr>
              <a:t>{{KPI_ROW_1_VALUE}}</a:t>
            </a:r>
          </a:p>
        </p:txBody>
      </p:sp>
      <p:sp>
        <p:nvSpPr>
          <p:cNvPr id="36" name="Rectangle 35"/>
          <p:cNvSpPr/>
          <p:nvPr/>
        </p:nvSpPr>
        <p:spPr>
          <a:xfrm>
            <a:off x="594360" y="4773168"/>
            <a:ext cx="1100023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4773168"/>
            <a:ext cx="5486400" cy="384048"/>
          </a:xfrm>
          <a:prstGeom prst="rect">
            <a:avLst/>
          </a:prstGeom>
          <a:noFill/>
        </p:spPr>
        <p:txBody>
          <a:bodyPr wrap="square" lIns="0" rIns="0" tIns="0" bIns="0" anchor="ctr">
            <a:spAutoFit/>
          </a:bodyPr>
          <a:lstStyle/>
          <a:p>
            <a:pPr algn="l"/>
            <a:r>
              <a:rPr sz="1100" b="0" i="0">
                <a:solidFill>
                  <a:srgbClr val="1F2937"/>
                </a:solidFill>
                <a:latin typeface="Calibri"/>
              </a:rPr>
              <a:t>{{KPI_ROW_2_LABEL}}</a:t>
            </a:r>
          </a:p>
        </p:txBody>
      </p:sp>
      <p:sp>
        <p:nvSpPr>
          <p:cNvPr id="38" name="TextBox 37"/>
          <p:cNvSpPr txBox="1"/>
          <p:nvPr/>
        </p:nvSpPr>
        <p:spPr>
          <a:xfrm>
            <a:off x="7315200" y="4773168"/>
            <a:ext cx="3657600" cy="384048"/>
          </a:xfrm>
          <a:prstGeom prst="rect">
            <a:avLst/>
          </a:prstGeom>
          <a:noFill/>
        </p:spPr>
        <p:txBody>
          <a:bodyPr wrap="square" lIns="0" rIns="0" tIns="0" bIns="0" anchor="ctr">
            <a:spAutoFit/>
          </a:bodyPr>
          <a:lstStyle/>
          <a:p>
            <a:pPr algn="l"/>
            <a:r>
              <a:rPr sz="1200" b="1" i="0">
                <a:solidFill>
                  <a:srgbClr val="7C3AED"/>
                </a:solidFill>
                <a:latin typeface="Calibri"/>
              </a:rPr>
              <a:t>{{KPI_ROW_2_VALUE}}</a:t>
            </a:r>
          </a:p>
        </p:txBody>
      </p:sp>
      <p:sp>
        <p:nvSpPr>
          <p:cNvPr id="39" name="TextBox 38"/>
          <p:cNvSpPr txBox="1"/>
          <p:nvPr/>
        </p:nvSpPr>
        <p:spPr>
          <a:xfrm>
            <a:off x="777240" y="5157216"/>
            <a:ext cx="5486400" cy="384048"/>
          </a:xfrm>
          <a:prstGeom prst="rect">
            <a:avLst/>
          </a:prstGeom>
          <a:noFill/>
        </p:spPr>
        <p:txBody>
          <a:bodyPr wrap="square" lIns="0" rIns="0" tIns="0" bIns="0" anchor="ctr">
            <a:spAutoFit/>
          </a:bodyPr>
          <a:lstStyle/>
          <a:p>
            <a:pPr algn="l"/>
            <a:r>
              <a:rPr sz="1100" b="0" i="0">
                <a:solidFill>
                  <a:srgbClr val="1F2937"/>
                </a:solidFill>
                <a:latin typeface="Calibri"/>
              </a:rPr>
              <a:t>{{KPI_ROW_3_LABEL}}</a:t>
            </a:r>
          </a:p>
        </p:txBody>
      </p:sp>
      <p:sp>
        <p:nvSpPr>
          <p:cNvPr id="40" name="TextBox 39"/>
          <p:cNvSpPr txBox="1"/>
          <p:nvPr/>
        </p:nvSpPr>
        <p:spPr>
          <a:xfrm>
            <a:off x="7315200" y="5157216"/>
            <a:ext cx="3657600" cy="384048"/>
          </a:xfrm>
          <a:prstGeom prst="rect">
            <a:avLst/>
          </a:prstGeom>
          <a:noFill/>
        </p:spPr>
        <p:txBody>
          <a:bodyPr wrap="square" lIns="0" rIns="0" tIns="0" bIns="0" anchor="ctr">
            <a:spAutoFit/>
          </a:bodyPr>
          <a:lstStyle/>
          <a:p>
            <a:pPr algn="l"/>
            <a:r>
              <a:rPr sz="1200" b="1" i="0">
                <a:solidFill>
                  <a:srgbClr val="7C3AED"/>
                </a:solidFill>
                <a:latin typeface="Calibri"/>
              </a:rPr>
              <a:t>{{KPI_ROW_3_VALUE}}</a:t>
            </a:r>
          </a:p>
        </p:txBody>
      </p:sp>
      <p:sp>
        <p:nvSpPr>
          <p:cNvPr id="41" name="Rectangle 40"/>
          <p:cNvSpPr/>
          <p:nvPr/>
        </p:nvSpPr>
        <p:spPr>
          <a:xfrm>
            <a:off x="594360" y="5541264"/>
            <a:ext cx="1100023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541264"/>
            <a:ext cx="5486400" cy="384048"/>
          </a:xfrm>
          <a:prstGeom prst="rect">
            <a:avLst/>
          </a:prstGeom>
          <a:noFill/>
        </p:spPr>
        <p:txBody>
          <a:bodyPr wrap="square" lIns="0" rIns="0" tIns="0" bIns="0" anchor="ctr">
            <a:spAutoFit/>
          </a:bodyPr>
          <a:lstStyle/>
          <a:p>
            <a:pPr algn="l"/>
            <a:r>
              <a:rPr sz="1100" b="0" i="0">
                <a:solidFill>
                  <a:srgbClr val="1F2937"/>
                </a:solidFill>
                <a:latin typeface="Calibri"/>
              </a:rPr>
              <a:t>{{KPI_ROW_4_LABEL}}</a:t>
            </a:r>
          </a:p>
        </p:txBody>
      </p:sp>
      <p:sp>
        <p:nvSpPr>
          <p:cNvPr id="43" name="TextBox 42"/>
          <p:cNvSpPr txBox="1"/>
          <p:nvPr/>
        </p:nvSpPr>
        <p:spPr>
          <a:xfrm>
            <a:off x="7315200" y="5541264"/>
            <a:ext cx="3657600" cy="384048"/>
          </a:xfrm>
          <a:prstGeom prst="rect">
            <a:avLst/>
          </a:prstGeom>
          <a:noFill/>
        </p:spPr>
        <p:txBody>
          <a:bodyPr wrap="square" lIns="0" rIns="0" tIns="0" bIns="0" anchor="ctr">
            <a:spAutoFit/>
          </a:bodyPr>
          <a:lstStyle/>
          <a:p>
            <a:pPr algn="l"/>
            <a:r>
              <a:rPr sz="1200" b="1" i="0">
                <a:solidFill>
                  <a:srgbClr val="7C3AED"/>
                </a:solidFill>
                <a:latin typeface="Calibri"/>
              </a:rPr>
              <a:t>{{KPI_ROW_4_VALUE}}</a:t>
            </a:r>
          </a:p>
        </p:txBody>
      </p:sp>
      <p:sp>
        <p:nvSpPr>
          <p:cNvPr id="44" name="TextBox 43"/>
          <p:cNvSpPr txBox="1"/>
          <p:nvPr/>
        </p:nvSpPr>
        <p:spPr>
          <a:xfrm>
            <a:off x="777240" y="5925312"/>
            <a:ext cx="5486400" cy="384048"/>
          </a:xfrm>
          <a:prstGeom prst="rect">
            <a:avLst/>
          </a:prstGeom>
          <a:noFill/>
        </p:spPr>
        <p:txBody>
          <a:bodyPr wrap="square" lIns="0" rIns="0" tIns="0" bIns="0" anchor="ctr">
            <a:spAutoFit/>
          </a:bodyPr>
          <a:lstStyle/>
          <a:p>
            <a:pPr algn="l"/>
            <a:r>
              <a:rPr sz="1100" b="0" i="0">
                <a:solidFill>
                  <a:srgbClr val="1F2937"/>
                </a:solidFill>
                <a:latin typeface="Calibri"/>
              </a:rPr>
              <a:t>{{KPI_ROW_5_LABEL}}</a:t>
            </a:r>
          </a:p>
        </p:txBody>
      </p:sp>
      <p:sp>
        <p:nvSpPr>
          <p:cNvPr id="45" name="TextBox 44"/>
          <p:cNvSpPr txBox="1"/>
          <p:nvPr/>
        </p:nvSpPr>
        <p:spPr>
          <a:xfrm>
            <a:off x="7315200" y="5925312"/>
            <a:ext cx="3657600" cy="384048"/>
          </a:xfrm>
          <a:prstGeom prst="rect">
            <a:avLst/>
          </a:prstGeom>
          <a:noFill/>
        </p:spPr>
        <p:txBody>
          <a:bodyPr wrap="square" lIns="0" rIns="0" tIns="0" bIns="0" anchor="ctr">
            <a:spAutoFit/>
          </a:bodyPr>
          <a:lstStyle/>
          <a:p>
            <a:pPr algn="l"/>
            <a:r>
              <a:rPr sz="1200" b="1" i="0">
                <a:solidFill>
                  <a:srgbClr val="7C3AED"/>
                </a:solidFill>
                <a:latin typeface="Calibri"/>
              </a:rPr>
              <a:t>{{KPI_ROW_5_VALUE}}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TWO_COLUMN_INFO_BUSINESS">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3474720" cy="498348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325880"/>
            <a:ext cx="3474720" cy="36576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25880"/>
            <a:ext cx="3200400" cy="365760"/>
          </a:xfrm>
          <a:prstGeom prst="rect">
            <a:avLst/>
          </a:prstGeom>
          <a:noFill/>
        </p:spPr>
        <p:txBody>
          <a:bodyPr wrap="square" lIns="0" rIns="0" tIns="0" bIns="0" anchor="ctr">
            <a:spAutoFit/>
          </a:bodyPr>
          <a:lstStyle/>
          <a:p>
            <a:pPr algn="l"/>
            <a:r>
              <a:rPr sz="1200" b="1" i="0">
                <a:solidFill>
                  <a:srgbClr val="FFFFFF"/>
                </a:solidFill>
                <a:latin typeface="Calibri"/>
              </a:rPr>
              <a:t>Hồ sơ doanh nghiệp</a:t>
            </a:r>
          </a:p>
        </p:txBody>
      </p:sp>
      <p:sp>
        <p:nvSpPr>
          <p:cNvPr id="12" name="TextBox 11"/>
          <p:cNvSpPr txBox="1"/>
          <p:nvPr/>
        </p:nvSpPr>
        <p:spPr>
          <a:xfrm>
            <a:off x="731520" y="1691640"/>
            <a:ext cx="1280160" cy="513080"/>
          </a:xfrm>
          <a:prstGeom prst="rect">
            <a:avLst/>
          </a:prstGeom>
          <a:noFill/>
        </p:spPr>
        <p:txBody>
          <a:bodyPr wrap="square" lIns="0" rIns="0" tIns="0" bIns="0" anchor="ctr">
            <a:spAutoFit/>
          </a:bodyPr>
          <a:lstStyle/>
          <a:p>
            <a:pPr algn="l"/>
            <a:r>
              <a:rPr sz="1000" b="0" i="0">
                <a:solidFill>
                  <a:srgbClr val="6B7280"/>
                </a:solidFill>
                <a:latin typeface="Calibri"/>
              </a:rPr>
              <a:t>Mã CP</a:t>
            </a:r>
          </a:p>
        </p:txBody>
      </p:sp>
      <p:sp>
        <p:nvSpPr>
          <p:cNvPr id="13" name="TextBox 12"/>
          <p:cNvSpPr txBox="1"/>
          <p:nvPr/>
        </p:nvSpPr>
        <p:spPr>
          <a:xfrm>
            <a:off x="2057400" y="169164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{{INFO_1}}</a:t>
            </a:r>
          </a:p>
        </p:txBody>
      </p:sp>
      <p:sp>
        <p:nvSpPr>
          <p:cNvPr id="14" name="Rectangle 13"/>
          <p:cNvSpPr/>
          <p:nvPr/>
        </p:nvSpPr>
        <p:spPr>
          <a:xfrm>
            <a:off x="594360" y="2204720"/>
            <a:ext cx="3383279" cy="51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204720"/>
            <a:ext cx="1280160" cy="513080"/>
          </a:xfrm>
          <a:prstGeom prst="rect">
            <a:avLst/>
          </a:prstGeom>
          <a:noFill/>
        </p:spPr>
        <p:txBody>
          <a:bodyPr wrap="square" lIns="0" rIns="0" tIns="0" bIns="0" anchor="ctr">
            <a:spAutoFit/>
          </a:bodyPr>
          <a:lstStyle/>
          <a:p>
            <a:pPr algn="l"/>
            <a:r>
              <a:rPr sz="1000" b="0" i="0">
                <a:solidFill>
                  <a:srgbClr val="6B7280"/>
                </a:solidFill>
                <a:latin typeface="Calibri"/>
              </a:rPr>
              <a:t>Ngày NY</a:t>
            </a:r>
          </a:p>
        </p:txBody>
      </p:sp>
      <p:sp>
        <p:nvSpPr>
          <p:cNvPr id="16" name="TextBox 15"/>
          <p:cNvSpPr txBox="1"/>
          <p:nvPr/>
        </p:nvSpPr>
        <p:spPr>
          <a:xfrm>
            <a:off x="2057400" y="220472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{{INFO_2}}</a:t>
            </a:r>
          </a:p>
        </p:txBody>
      </p:sp>
      <p:sp>
        <p:nvSpPr>
          <p:cNvPr id="17" name="TextBox 16"/>
          <p:cNvSpPr txBox="1"/>
          <p:nvPr/>
        </p:nvSpPr>
        <p:spPr>
          <a:xfrm>
            <a:off x="731520" y="2717800"/>
            <a:ext cx="1280160" cy="513080"/>
          </a:xfrm>
          <a:prstGeom prst="rect">
            <a:avLst/>
          </a:prstGeom>
          <a:noFill/>
        </p:spPr>
        <p:txBody>
          <a:bodyPr wrap="square" lIns="0" rIns="0" tIns="0" bIns="0" anchor="ctr">
            <a:spAutoFit/>
          </a:bodyPr>
          <a:lstStyle/>
          <a:p>
            <a:pPr algn="l"/>
            <a:r>
              <a:rPr sz="1000" b="0" i="0">
                <a:solidFill>
                  <a:srgbClr val="6B7280"/>
                </a:solidFill>
                <a:latin typeface="Calibri"/>
              </a:rPr>
              <a:t>Vốn ĐL</a:t>
            </a:r>
          </a:p>
        </p:txBody>
      </p:sp>
      <p:sp>
        <p:nvSpPr>
          <p:cNvPr id="18" name="TextBox 17"/>
          <p:cNvSpPr txBox="1"/>
          <p:nvPr/>
        </p:nvSpPr>
        <p:spPr>
          <a:xfrm>
            <a:off x="2057400" y="271780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{{INFO_3}}</a:t>
            </a:r>
          </a:p>
        </p:txBody>
      </p:sp>
      <p:sp>
        <p:nvSpPr>
          <p:cNvPr id="19" name="Rectangle 18"/>
          <p:cNvSpPr/>
          <p:nvPr/>
        </p:nvSpPr>
        <p:spPr>
          <a:xfrm>
            <a:off x="594360" y="3230880"/>
            <a:ext cx="3383279" cy="51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30880"/>
            <a:ext cx="1280160" cy="513080"/>
          </a:xfrm>
          <a:prstGeom prst="rect">
            <a:avLst/>
          </a:prstGeom>
          <a:noFill/>
        </p:spPr>
        <p:txBody>
          <a:bodyPr wrap="square" lIns="0" rIns="0" tIns="0" bIns="0" anchor="ctr">
            <a:spAutoFit/>
          </a:bodyPr>
          <a:lstStyle/>
          <a:p>
            <a:pPr algn="l"/>
            <a:r>
              <a:rPr sz="1000" b="0" i="0">
                <a:solidFill>
                  <a:srgbClr val="6B7280"/>
                </a:solidFill>
                <a:latin typeface="Calibri"/>
              </a:rPr>
              <a:t>Số CP LH</a:t>
            </a:r>
          </a:p>
        </p:txBody>
      </p:sp>
      <p:sp>
        <p:nvSpPr>
          <p:cNvPr id="21" name="TextBox 20"/>
          <p:cNvSpPr txBox="1"/>
          <p:nvPr/>
        </p:nvSpPr>
        <p:spPr>
          <a:xfrm>
            <a:off x="2057400" y="323088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{{INFO_4}}</a:t>
            </a:r>
          </a:p>
        </p:txBody>
      </p:sp>
      <p:sp>
        <p:nvSpPr>
          <p:cNvPr id="22" name="TextBox 21"/>
          <p:cNvSpPr txBox="1"/>
          <p:nvPr/>
        </p:nvSpPr>
        <p:spPr>
          <a:xfrm>
            <a:off x="731520" y="3743960"/>
            <a:ext cx="1280160" cy="513080"/>
          </a:xfrm>
          <a:prstGeom prst="rect">
            <a:avLst/>
          </a:prstGeom>
          <a:noFill/>
        </p:spPr>
        <p:txBody>
          <a:bodyPr wrap="square" lIns="0" rIns="0" tIns="0" bIns="0" anchor="ctr">
            <a:spAutoFit/>
          </a:bodyPr>
          <a:lstStyle/>
          <a:p>
            <a:pPr algn="l"/>
            <a:r>
              <a:rPr sz="1000" b="0" i="0">
                <a:solidFill>
                  <a:srgbClr val="6B7280"/>
                </a:solidFill>
                <a:latin typeface="Calibri"/>
              </a:rPr>
              <a:t>Vốn hoá</a:t>
            </a:r>
          </a:p>
        </p:txBody>
      </p:sp>
      <p:sp>
        <p:nvSpPr>
          <p:cNvPr id="23" name="TextBox 22"/>
          <p:cNvSpPr txBox="1"/>
          <p:nvPr/>
        </p:nvSpPr>
        <p:spPr>
          <a:xfrm>
            <a:off x="2057400" y="374396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{{INFO_5}}</a:t>
            </a:r>
          </a:p>
        </p:txBody>
      </p:sp>
      <p:sp>
        <p:nvSpPr>
          <p:cNvPr id="24" name="Rectangle 23"/>
          <p:cNvSpPr/>
          <p:nvPr/>
        </p:nvSpPr>
        <p:spPr>
          <a:xfrm>
            <a:off x="594360" y="4257039"/>
            <a:ext cx="3383279" cy="51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257039"/>
            <a:ext cx="1280160" cy="513080"/>
          </a:xfrm>
          <a:prstGeom prst="rect">
            <a:avLst/>
          </a:prstGeom>
          <a:noFill/>
        </p:spPr>
        <p:txBody>
          <a:bodyPr wrap="square" lIns="0" rIns="0" tIns="0" bIns="0" anchor="ctr">
            <a:spAutoFit/>
          </a:bodyPr>
          <a:lstStyle/>
          <a:p>
            <a:pPr algn="l"/>
            <a:r>
              <a:rPr sz="1000" b="0" i="0">
                <a:solidFill>
                  <a:srgbClr val="6B7280"/>
                </a:solidFill>
                <a:latin typeface="Calibri"/>
              </a:rPr>
              <a:t>Tự do CN</a:t>
            </a:r>
          </a:p>
        </p:txBody>
      </p:sp>
      <p:sp>
        <p:nvSpPr>
          <p:cNvPr id="26" name="TextBox 25"/>
          <p:cNvSpPr txBox="1"/>
          <p:nvPr/>
        </p:nvSpPr>
        <p:spPr>
          <a:xfrm>
            <a:off x="2057400" y="4257039"/>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{{INFO_6}}</a:t>
            </a:r>
          </a:p>
        </p:txBody>
      </p:sp>
      <p:sp>
        <p:nvSpPr>
          <p:cNvPr id="27" name="TextBox 26"/>
          <p:cNvSpPr txBox="1"/>
          <p:nvPr/>
        </p:nvSpPr>
        <p:spPr>
          <a:xfrm>
            <a:off x="731520" y="4770120"/>
            <a:ext cx="1280160" cy="513080"/>
          </a:xfrm>
          <a:prstGeom prst="rect">
            <a:avLst/>
          </a:prstGeom>
          <a:noFill/>
        </p:spPr>
        <p:txBody>
          <a:bodyPr wrap="square" lIns="0" rIns="0" tIns="0" bIns="0" anchor="ctr">
            <a:spAutoFit/>
          </a:bodyPr>
          <a:lstStyle/>
          <a:p>
            <a:pPr algn="l"/>
            <a:r>
              <a:rPr sz="1000" b="0" i="0">
                <a:solidFill>
                  <a:srgbClr val="6B7280"/>
                </a:solidFill>
                <a:latin typeface="Calibri"/>
              </a:rPr>
              <a:t>CĐ lớn</a:t>
            </a:r>
          </a:p>
        </p:txBody>
      </p:sp>
      <p:sp>
        <p:nvSpPr>
          <p:cNvPr id="28" name="TextBox 27"/>
          <p:cNvSpPr txBox="1"/>
          <p:nvPr/>
        </p:nvSpPr>
        <p:spPr>
          <a:xfrm>
            <a:off x="2057400" y="477012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{{INFO_7}}</a:t>
            </a:r>
          </a:p>
        </p:txBody>
      </p:sp>
      <p:sp>
        <p:nvSpPr>
          <p:cNvPr id="29" name="Rectangle 28"/>
          <p:cNvSpPr/>
          <p:nvPr/>
        </p:nvSpPr>
        <p:spPr>
          <a:xfrm>
            <a:off x="594360" y="5283200"/>
            <a:ext cx="3383279" cy="51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283200"/>
            <a:ext cx="1280160" cy="513080"/>
          </a:xfrm>
          <a:prstGeom prst="rect">
            <a:avLst/>
          </a:prstGeom>
          <a:noFill/>
        </p:spPr>
        <p:txBody>
          <a:bodyPr wrap="square" lIns="0" rIns="0" tIns="0" bIns="0" anchor="ctr">
            <a:spAutoFit/>
          </a:bodyPr>
          <a:lstStyle/>
          <a:p>
            <a:pPr algn="l"/>
            <a:r>
              <a:rPr sz="1000" b="0" i="0">
                <a:solidFill>
                  <a:srgbClr val="6B7280"/>
                </a:solidFill>
                <a:latin typeface="Calibri"/>
              </a:rPr>
              <a:t>NN%</a:t>
            </a:r>
          </a:p>
        </p:txBody>
      </p:sp>
      <p:sp>
        <p:nvSpPr>
          <p:cNvPr id="31" name="TextBox 30"/>
          <p:cNvSpPr txBox="1"/>
          <p:nvPr/>
        </p:nvSpPr>
        <p:spPr>
          <a:xfrm>
            <a:off x="2057400" y="528320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{{INFO_8}}</a:t>
            </a:r>
          </a:p>
        </p:txBody>
      </p:sp>
      <p:sp>
        <p:nvSpPr>
          <p:cNvPr id="32" name="TextBox 31"/>
          <p:cNvSpPr txBox="1"/>
          <p:nvPr/>
        </p:nvSpPr>
        <p:spPr>
          <a:xfrm>
            <a:off x="731520" y="5796280"/>
            <a:ext cx="1280160" cy="513080"/>
          </a:xfrm>
          <a:prstGeom prst="rect">
            <a:avLst/>
          </a:prstGeom>
          <a:noFill/>
        </p:spPr>
        <p:txBody>
          <a:bodyPr wrap="square" lIns="0" rIns="0" tIns="0" bIns="0" anchor="ctr">
            <a:spAutoFit/>
          </a:bodyPr>
          <a:lstStyle/>
          <a:p>
            <a:pPr algn="l"/>
            <a:r>
              <a:rPr sz="1000" b="0" i="0">
                <a:solidFill>
                  <a:srgbClr val="6B7280"/>
                </a:solidFill>
                <a:latin typeface="Calibri"/>
              </a:rPr>
              <a:t>Ngành</a:t>
            </a:r>
          </a:p>
        </p:txBody>
      </p:sp>
      <p:sp>
        <p:nvSpPr>
          <p:cNvPr id="33" name="TextBox 32"/>
          <p:cNvSpPr txBox="1"/>
          <p:nvPr/>
        </p:nvSpPr>
        <p:spPr>
          <a:xfrm>
            <a:off x="2057400" y="5796280"/>
            <a:ext cx="1828799" cy="513080"/>
          </a:xfrm>
          <a:prstGeom prst="rect">
            <a:avLst/>
          </a:prstGeom>
          <a:noFill/>
        </p:spPr>
        <p:txBody>
          <a:bodyPr wrap="square" lIns="0" rIns="0" tIns="0" bIns="0" anchor="ctr">
            <a:spAutoFit/>
          </a:bodyPr>
          <a:lstStyle/>
          <a:p>
            <a:pPr algn="l"/>
            <a:r>
              <a:rPr sz="1100" b="1" i="0">
                <a:solidFill>
                  <a:srgbClr val="1F2937"/>
                </a:solidFill>
                <a:latin typeface="Calibri"/>
              </a:rPr>
              <a:t>{{INFO_9}}</a:t>
            </a:r>
          </a:p>
        </p:txBody>
      </p:sp>
      <p:sp>
        <p:nvSpPr>
          <p:cNvPr id="34" name="Rounded Rectangle 33"/>
          <p:cNvSpPr/>
          <p:nvPr/>
        </p:nvSpPr>
        <p:spPr>
          <a:xfrm>
            <a:off x="4206240" y="1325880"/>
            <a:ext cx="7434072" cy="923544"/>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06240" y="1325880"/>
            <a:ext cx="54864" cy="9235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389120" y="1604772"/>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37" name="TextBox 36"/>
          <p:cNvSpPr txBox="1"/>
          <p:nvPr/>
        </p:nvSpPr>
        <p:spPr>
          <a:xfrm>
            <a:off x="4892040" y="1417320"/>
            <a:ext cx="6656832" cy="274320"/>
          </a:xfrm>
          <a:prstGeom prst="rect">
            <a:avLst/>
          </a:prstGeom>
          <a:noFill/>
        </p:spPr>
        <p:txBody>
          <a:bodyPr wrap="square" lIns="0" rIns="0" tIns="0" bIns="0" anchor="t">
            <a:spAutoFit/>
          </a:bodyPr>
          <a:lstStyle/>
          <a:p>
            <a:pPr algn="l"/>
            <a:r>
              <a:rPr sz="1200" b="1" i="0">
                <a:solidFill>
                  <a:srgbClr val="1F2937"/>
                </a:solidFill>
                <a:latin typeface="Calibri"/>
              </a:rPr>
              <a:t>{{SEGMENT_1_TITLE}}</a:t>
            </a:r>
          </a:p>
        </p:txBody>
      </p:sp>
      <p:sp>
        <p:nvSpPr>
          <p:cNvPr id="38" name="TextBox 37"/>
          <p:cNvSpPr txBox="1"/>
          <p:nvPr/>
        </p:nvSpPr>
        <p:spPr>
          <a:xfrm>
            <a:off x="4892040" y="1709928"/>
            <a:ext cx="6656832" cy="466344"/>
          </a:xfrm>
          <a:prstGeom prst="rect">
            <a:avLst/>
          </a:prstGeom>
          <a:noFill/>
        </p:spPr>
        <p:txBody>
          <a:bodyPr wrap="square" lIns="0" rIns="0" tIns="0" bIns="0" anchor="t">
            <a:spAutoFit/>
          </a:bodyPr>
          <a:lstStyle/>
          <a:p>
            <a:pPr algn="l"/>
            <a:r>
              <a:rPr sz="1000" b="0" i="1">
                <a:solidFill>
                  <a:srgbClr val="6B7280"/>
                </a:solidFill>
                <a:latin typeface="Calibri"/>
              </a:rPr>
              <a:t>{{SEGMENT_1_BODY}}</a:t>
            </a:r>
          </a:p>
        </p:txBody>
      </p:sp>
      <p:sp>
        <p:nvSpPr>
          <p:cNvPr id="39" name="Rounded Rectangle 38"/>
          <p:cNvSpPr/>
          <p:nvPr/>
        </p:nvSpPr>
        <p:spPr>
          <a:xfrm>
            <a:off x="4206240" y="2340864"/>
            <a:ext cx="7434072" cy="923544"/>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06240" y="2340864"/>
            <a:ext cx="54864" cy="9235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389120" y="2619756"/>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42" name="TextBox 41"/>
          <p:cNvSpPr txBox="1"/>
          <p:nvPr/>
        </p:nvSpPr>
        <p:spPr>
          <a:xfrm>
            <a:off x="4892040" y="2432304"/>
            <a:ext cx="6656832" cy="274320"/>
          </a:xfrm>
          <a:prstGeom prst="rect">
            <a:avLst/>
          </a:prstGeom>
          <a:noFill/>
        </p:spPr>
        <p:txBody>
          <a:bodyPr wrap="square" lIns="0" rIns="0" tIns="0" bIns="0" anchor="t">
            <a:spAutoFit/>
          </a:bodyPr>
          <a:lstStyle/>
          <a:p>
            <a:pPr algn="l"/>
            <a:r>
              <a:rPr sz="1200" b="1" i="0">
                <a:solidFill>
                  <a:srgbClr val="1F2937"/>
                </a:solidFill>
                <a:latin typeface="Calibri"/>
              </a:rPr>
              <a:t>{{SEGMENT_2_TITLE}}</a:t>
            </a:r>
          </a:p>
        </p:txBody>
      </p:sp>
      <p:sp>
        <p:nvSpPr>
          <p:cNvPr id="43" name="TextBox 42"/>
          <p:cNvSpPr txBox="1"/>
          <p:nvPr/>
        </p:nvSpPr>
        <p:spPr>
          <a:xfrm>
            <a:off x="4892040" y="2724912"/>
            <a:ext cx="6656832" cy="466344"/>
          </a:xfrm>
          <a:prstGeom prst="rect">
            <a:avLst/>
          </a:prstGeom>
          <a:noFill/>
        </p:spPr>
        <p:txBody>
          <a:bodyPr wrap="square" lIns="0" rIns="0" tIns="0" bIns="0" anchor="t">
            <a:spAutoFit/>
          </a:bodyPr>
          <a:lstStyle/>
          <a:p>
            <a:pPr algn="l"/>
            <a:r>
              <a:rPr sz="1000" b="0" i="1">
                <a:solidFill>
                  <a:srgbClr val="6B7280"/>
                </a:solidFill>
                <a:latin typeface="Calibri"/>
              </a:rPr>
              <a:t>{{SEGMENT_2_BODY}}</a:t>
            </a:r>
          </a:p>
        </p:txBody>
      </p:sp>
      <p:sp>
        <p:nvSpPr>
          <p:cNvPr id="44" name="Rounded Rectangle 43"/>
          <p:cNvSpPr/>
          <p:nvPr/>
        </p:nvSpPr>
        <p:spPr>
          <a:xfrm>
            <a:off x="4206240" y="3355848"/>
            <a:ext cx="7434072" cy="923544"/>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206240" y="3355848"/>
            <a:ext cx="54864" cy="9235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389120" y="3634740"/>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47" name="TextBox 46"/>
          <p:cNvSpPr txBox="1"/>
          <p:nvPr/>
        </p:nvSpPr>
        <p:spPr>
          <a:xfrm>
            <a:off x="4892040" y="3447288"/>
            <a:ext cx="6656832" cy="274320"/>
          </a:xfrm>
          <a:prstGeom prst="rect">
            <a:avLst/>
          </a:prstGeom>
          <a:noFill/>
        </p:spPr>
        <p:txBody>
          <a:bodyPr wrap="square" lIns="0" rIns="0" tIns="0" bIns="0" anchor="t">
            <a:spAutoFit/>
          </a:bodyPr>
          <a:lstStyle/>
          <a:p>
            <a:pPr algn="l"/>
            <a:r>
              <a:rPr sz="1200" b="1" i="0">
                <a:solidFill>
                  <a:srgbClr val="1F2937"/>
                </a:solidFill>
                <a:latin typeface="Calibri"/>
              </a:rPr>
              <a:t>{{SEGMENT_3_TITLE}}</a:t>
            </a:r>
          </a:p>
        </p:txBody>
      </p:sp>
      <p:sp>
        <p:nvSpPr>
          <p:cNvPr id="48" name="TextBox 47"/>
          <p:cNvSpPr txBox="1"/>
          <p:nvPr/>
        </p:nvSpPr>
        <p:spPr>
          <a:xfrm>
            <a:off x="4892040" y="3739896"/>
            <a:ext cx="6656832" cy="466344"/>
          </a:xfrm>
          <a:prstGeom prst="rect">
            <a:avLst/>
          </a:prstGeom>
          <a:noFill/>
        </p:spPr>
        <p:txBody>
          <a:bodyPr wrap="square" lIns="0" rIns="0" tIns="0" bIns="0" anchor="t">
            <a:spAutoFit/>
          </a:bodyPr>
          <a:lstStyle/>
          <a:p>
            <a:pPr algn="l"/>
            <a:r>
              <a:rPr sz="1000" b="0" i="1">
                <a:solidFill>
                  <a:srgbClr val="6B7280"/>
                </a:solidFill>
                <a:latin typeface="Calibri"/>
              </a:rPr>
              <a:t>{{SEGMENT_3_BODY}}</a:t>
            </a:r>
          </a:p>
        </p:txBody>
      </p:sp>
      <p:sp>
        <p:nvSpPr>
          <p:cNvPr id="49" name="Rounded Rectangle 48"/>
          <p:cNvSpPr/>
          <p:nvPr/>
        </p:nvSpPr>
        <p:spPr>
          <a:xfrm>
            <a:off x="4206240" y="4370832"/>
            <a:ext cx="7434072" cy="923544"/>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06240" y="4370832"/>
            <a:ext cx="54864" cy="9235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389120" y="4649724"/>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52" name="TextBox 51"/>
          <p:cNvSpPr txBox="1"/>
          <p:nvPr/>
        </p:nvSpPr>
        <p:spPr>
          <a:xfrm>
            <a:off x="4892040" y="4462272"/>
            <a:ext cx="6656832" cy="274320"/>
          </a:xfrm>
          <a:prstGeom prst="rect">
            <a:avLst/>
          </a:prstGeom>
          <a:noFill/>
        </p:spPr>
        <p:txBody>
          <a:bodyPr wrap="square" lIns="0" rIns="0" tIns="0" bIns="0" anchor="t">
            <a:spAutoFit/>
          </a:bodyPr>
          <a:lstStyle/>
          <a:p>
            <a:pPr algn="l"/>
            <a:r>
              <a:rPr sz="1200" b="1" i="0">
                <a:solidFill>
                  <a:srgbClr val="1F2937"/>
                </a:solidFill>
                <a:latin typeface="Calibri"/>
              </a:rPr>
              <a:t>{{SEGMENT_4_TITLE}}</a:t>
            </a:r>
          </a:p>
        </p:txBody>
      </p:sp>
      <p:sp>
        <p:nvSpPr>
          <p:cNvPr id="53" name="TextBox 52"/>
          <p:cNvSpPr txBox="1"/>
          <p:nvPr/>
        </p:nvSpPr>
        <p:spPr>
          <a:xfrm>
            <a:off x="4892040" y="4754880"/>
            <a:ext cx="6656832" cy="466344"/>
          </a:xfrm>
          <a:prstGeom prst="rect">
            <a:avLst/>
          </a:prstGeom>
          <a:noFill/>
        </p:spPr>
        <p:txBody>
          <a:bodyPr wrap="square" lIns="0" rIns="0" tIns="0" bIns="0" anchor="t">
            <a:spAutoFit/>
          </a:bodyPr>
          <a:lstStyle/>
          <a:p>
            <a:pPr algn="l"/>
            <a:r>
              <a:rPr sz="1000" b="0" i="1">
                <a:solidFill>
                  <a:srgbClr val="6B7280"/>
                </a:solidFill>
                <a:latin typeface="Calibri"/>
              </a:rPr>
              <a:t>{{SEGMENT_4_BODY}}</a:t>
            </a:r>
          </a:p>
        </p:txBody>
      </p:sp>
      <p:sp>
        <p:nvSpPr>
          <p:cNvPr id="54" name="Rounded Rectangle 53"/>
          <p:cNvSpPr/>
          <p:nvPr/>
        </p:nvSpPr>
        <p:spPr>
          <a:xfrm>
            <a:off x="4206240" y="5385816"/>
            <a:ext cx="7434072" cy="923544"/>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06240" y="5385816"/>
            <a:ext cx="54864" cy="9235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389120" y="5664708"/>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57" name="TextBox 56"/>
          <p:cNvSpPr txBox="1"/>
          <p:nvPr/>
        </p:nvSpPr>
        <p:spPr>
          <a:xfrm>
            <a:off x="4892040" y="5477256"/>
            <a:ext cx="6656832" cy="274320"/>
          </a:xfrm>
          <a:prstGeom prst="rect">
            <a:avLst/>
          </a:prstGeom>
          <a:noFill/>
        </p:spPr>
        <p:txBody>
          <a:bodyPr wrap="square" lIns="0" rIns="0" tIns="0" bIns="0" anchor="t">
            <a:spAutoFit/>
          </a:bodyPr>
          <a:lstStyle/>
          <a:p>
            <a:pPr algn="l"/>
            <a:r>
              <a:rPr sz="1200" b="1" i="0">
                <a:solidFill>
                  <a:srgbClr val="1F2937"/>
                </a:solidFill>
                <a:latin typeface="Calibri"/>
              </a:rPr>
              <a:t>{{SEGMENT_5_TITLE}}</a:t>
            </a:r>
          </a:p>
        </p:txBody>
      </p:sp>
      <p:sp>
        <p:nvSpPr>
          <p:cNvPr id="58" name="TextBox 57"/>
          <p:cNvSpPr txBox="1"/>
          <p:nvPr/>
        </p:nvSpPr>
        <p:spPr>
          <a:xfrm>
            <a:off x="4892040" y="5769864"/>
            <a:ext cx="6656832" cy="466344"/>
          </a:xfrm>
          <a:prstGeom prst="rect">
            <a:avLst/>
          </a:prstGeom>
          <a:noFill/>
        </p:spPr>
        <p:txBody>
          <a:bodyPr wrap="square" lIns="0" rIns="0" tIns="0" bIns="0" anchor="t">
            <a:spAutoFit/>
          </a:bodyPr>
          <a:lstStyle/>
          <a:p>
            <a:pPr algn="l"/>
            <a:r>
              <a:rPr sz="1000" b="0" i="1">
                <a:solidFill>
                  <a:srgbClr val="6B7280"/>
                </a:solidFill>
                <a:latin typeface="Calibri"/>
              </a:rPr>
              <a:t>{{SEGMENT_5_BODY}}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COMPARISON_3CELL_SCENARIOS">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11091672" cy="457200"/>
          </a:xfrm>
          <a:prstGeom prst="roundRect">
            <a:avLst>
              <a:gd name="adj" fmla="val 15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325880"/>
            <a:ext cx="11091672" cy="457200"/>
          </a:xfrm>
          <a:prstGeom prst="rect">
            <a:avLst/>
          </a:prstGeom>
          <a:noFill/>
        </p:spPr>
        <p:txBody>
          <a:bodyPr wrap="square" lIns="0" rIns="0" tIns="0" bIns="0" anchor="ctr">
            <a:spAutoFit/>
          </a:bodyPr>
          <a:lstStyle/>
          <a:p>
            <a:pPr algn="ctr"/>
            <a:r>
              <a:rPr sz="1400" b="1" i="0">
                <a:solidFill>
                  <a:srgbClr val="FFFFFF"/>
                </a:solidFill>
                <a:latin typeface="Calibri"/>
              </a:rPr>
              <a:t>{{ACTION_RECOMMENDED}}</a:t>
            </a:r>
          </a:p>
        </p:txBody>
      </p:sp>
      <p:sp>
        <p:nvSpPr>
          <p:cNvPr id="11" name="Rounded Rectangle 10"/>
          <p:cNvSpPr/>
          <p:nvPr/>
        </p:nvSpPr>
        <p:spPr>
          <a:xfrm>
            <a:off x="548640" y="1965960"/>
            <a:ext cx="2606040" cy="434340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965960"/>
            <a:ext cx="2606040" cy="365760"/>
          </a:xfrm>
          <a:prstGeom prst="roundRect">
            <a:avLst>
              <a:gd name="adj" fmla="val 12000"/>
            </a:avLst>
          </a:prstGeom>
          <a:solidFill>
            <a:srgbClr val="25B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65960"/>
            <a:ext cx="2606040" cy="365760"/>
          </a:xfrm>
          <a:prstGeom prst="rect">
            <a:avLst/>
          </a:prstGeom>
          <a:noFill/>
        </p:spPr>
        <p:txBody>
          <a:bodyPr wrap="square" lIns="0" rIns="0" tIns="0" bIns="0" anchor="ctr">
            <a:spAutoFit/>
          </a:bodyPr>
          <a:lstStyle/>
          <a:p>
            <a:pPr algn="ctr"/>
            <a:r>
              <a:rPr sz="1100" b="1" i="0">
                <a:solidFill>
                  <a:srgbClr val="FFFFFF"/>
                </a:solidFill>
                <a:latin typeface="Calibri"/>
              </a:rPr>
              <a:t>TÍCH CỰC</a:t>
            </a:r>
          </a:p>
        </p:txBody>
      </p:sp>
      <p:sp>
        <p:nvSpPr>
          <p:cNvPr id="14" name="TextBox 13"/>
          <p:cNvSpPr txBox="1"/>
          <p:nvPr/>
        </p:nvSpPr>
        <p:spPr>
          <a:xfrm>
            <a:off x="731520" y="2423160"/>
            <a:ext cx="2240280" cy="274320"/>
          </a:xfrm>
          <a:prstGeom prst="rect">
            <a:avLst/>
          </a:prstGeom>
          <a:noFill/>
        </p:spPr>
        <p:txBody>
          <a:bodyPr wrap="square" lIns="0" rIns="0" tIns="0" bIns="0" anchor="t">
            <a:spAutoFit/>
          </a:bodyPr>
          <a:lstStyle/>
          <a:p>
            <a:pPr algn="l"/>
            <a:r>
              <a:rPr sz="900" b="0" i="1">
                <a:solidFill>
                  <a:srgbClr val="6B7280"/>
                </a:solidFill>
                <a:latin typeface="Calibri"/>
              </a:rPr>
              <a:t>Khả năng thấp</a:t>
            </a:r>
          </a:p>
        </p:txBody>
      </p:sp>
      <p:sp>
        <p:nvSpPr>
          <p:cNvPr id="15" name="TextBox 14"/>
          <p:cNvSpPr txBox="1"/>
          <p:nvPr/>
        </p:nvSpPr>
        <p:spPr>
          <a:xfrm>
            <a:off x="731520" y="2743200"/>
            <a:ext cx="2240280" cy="274320"/>
          </a:xfrm>
          <a:prstGeom prst="rect">
            <a:avLst/>
          </a:prstGeom>
          <a:noFill/>
        </p:spPr>
        <p:txBody>
          <a:bodyPr wrap="square" lIns="0" rIns="0" tIns="0" bIns="0" anchor="t">
            <a:spAutoFit/>
          </a:bodyPr>
          <a:lstStyle/>
          <a:p>
            <a:pPr algn="l"/>
            <a:r>
              <a:rPr sz="1000" b="0" i="0">
                <a:solidFill>
                  <a:srgbClr val="6B7280"/>
                </a:solidFill>
                <a:latin typeface="Calibri"/>
              </a:rPr>
              <a:t>{{BULL_TIMEFRAME}}</a:t>
            </a:r>
          </a:p>
        </p:txBody>
      </p:sp>
      <p:sp>
        <p:nvSpPr>
          <p:cNvPr id="16" name="TextBox 15"/>
          <p:cNvSpPr txBox="1"/>
          <p:nvPr/>
        </p:nvSpPr>
        <p:spPr>
          <a:xfrm>
            <a:off x="731520" y="3017520"/>
            <a:ext cx="2240280" cy="365760"/>
          </a:xfrm>
          <a:prstGeom prst="rect">
            <a:avLst/>
          </a:prstGeom>
          <a:noFill/>
        </p:spPr>
        <p:txBody>
          <a:bodyPr wrap="square" lIns="0" rIns="0" tIns="0" bIns="0" anchor="t">
            <a:spAutoFit/>
          </a:bodyPr>
          <a:lstStyle/>
          <a:p>
            <a:pPr algn="l"/>
            <a:r>
              <a:rPr sz="1800" b="1" i="0">
                <a:solidFill>
                  <a:srgbClr val="25B770"/>
                </a:solidFill>
                <a:latin typeface="Calibri"/>
              </a:rPr>
              <a:t>{{BULL_TARGET}}</a:t>
            </a:r>
          </a:p>
        </p:txBody>
      </p:sp>
      <p:sp>
        <p:nvSpPr>
          <p:cNvPr id="17" name="TextBox 16"/>
          <p:cNvSpPr txBox="1"/>
          <p:nvPr/>
        </p:nvSpPr>
        <p:spPr>
          <a:xfrm>
            <a:off x="731520" y="3383280"/>
            <a:ext cx="2240280" cy="274320"/>
          </a:xfrm>
          <a:prstGeom prst="rect">
            <a:avLst/>
          </a:prstGeom>
          <a:noFill/>
        </p:spPr>
        <p:txBody>
          <a:bodyPr wrap="square" lIns="0" rIns="0" tIns="0" bIns="0" anchor="t">
            <a:spAutoFit/>
          </a:bodyPr>
          <a:lstStyle/>
          <a:p>
            <a:pPr algn="l"/>
            <a:r>
              <a:rPr sz="1100" b="0" i="0">
                <a:solidFill>
                  <a:srgbClr val="25B770"/>
                </a:solidFill>
                <a:latin typeface="Calibri"/>
              </a:rPr>
              <a:t>{{BULL_RETURN}}</a:t>
            </a:r>
          </a:p>
        </p:txBody>
      </p:sp>
      <p:sp>
        <p:nvSpPr>
          <p:cNvPr id="18" name="TextBox 17"/>
          <p:cNvSpPr txBox="1"/>
          <p:nvPr/>
        </p:nvSpPr>
        <p:spPr>
          <a:xfrm>
            <a:off x="731520" y="3657600"/>
            <a:ext cx="2240280" cy="457200"/>
          </a:xfrm>
          <a:prstGeom prst="rect">
            <a:avLst/>
          </a:prstGeom>
          <a:noFill/>
        </p:spPr>
        <p:txBody>
          <a:bodyPr wrap="square" lIns="0" rIns="0" tIns="0" bIns="0" anchor="t">
            <a:spAutoFit/>
          </a:bodyPr>
          <a:lstStyle/>
          <a:p>
            <a:pPr algn="l"/>
            <a:r>
              <a:rPr sz="2200" b="1" i="0">
                <a:solidFill>
                  <a:srgbClr val="25B770"/>
                </a:solidFill>
                <a:latin typeface="Calibri"/>
              </a:rPr>
              <a:t>{{BULL_BIG_PCT}}</a:t>
            </a:r>
          </a:p>
        </p:txBody>
      </p:sp>
      <p:sp>
        <p:nvSpPr>
          <p:cNvPr id="19" name="TextBox 18"/>
          <p:cNvSpPr txBox="1"/>
          <p:nvPr/>
        </p:nvSpPr>
        <p:spPr>
          <a:xfrm>
            <a:off x="731520" y="4160520"/>
            <a:ext cx="2240280" cy="2011680"/>
          </a:xfrm>
          <a:prstGeom prst="rect">
            <a:avLst/>
          </a:prstGeom>
          <a:noFill/>
        </p:spPr>
        <p:txBody>
          <a:bodyPr wrap="square" lIns="0" rIns="0" tIns="0" bIns="0" anchor="t">
            <a:spAutoFit/>
          </a:bodyPr>
          <a:lstStyle/>
          <a:p>
            <a:pPr algn="l"/>
            <a:r>
              <a:rPr sz="900" b="0" i="1">
                <a:solidFill>
                  <a:srgbClr val="1F2937"/>
                </a:solidFill>
                <a:latin typeface="Calibri"/>
              </a:rPr>
              <a:t>{{BULL_BODY}}</a:t>
            </a:r>
          </a:p>
        </p:txBody>
      </p:sp>
      <p:sp>
        <p:nvSpPr>
          <p:cNvPr id="20" name="Rounded Rectangle 19"/>
          <p:cNvSpPr/>
          <p:nvPr/>
        </p:nvSpPr>
        <p:spPr>
          <a:xfrm>
            <a:off x="3351276" y="1965960"/>
            <a:ext cx="5486400" cy="4343400"/>
          </a:xfrm>
          <a:prstGeom prst="roundRect">
            <a:avLst>
              <a:gd name="adj" fmla="val 15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351276" y="1965960"/>
            <a:ext cx="5486400" cy="457200"/>
          </a:xfrm>
          <a:prstGeom prst="roundRect">
            <a:avLst>
              <a:gd name="adj" fmla="val 15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51276" y="1965960"/>
            <a:ext cx="5486400" cy="457200"/>
          </a:xfrm>
          <a:prstGeom prst="rect">
            <a:avLst/>
          </a:prstGeom>
          <a:noFill/>
        </p:spPr>
        <p:txBody>
          <a:bodyPr wrap="square" lIns="0" rIns="0" tIns="0" bIns="0" anchor="ctr">
            <a:spAutoFit/>
          </a:bodyPr>
          <a:lstStyle/>
          <a:p>
            <a:pPr algn="ctr"/>
            <a:r>
              <a:rPr sz="1300" b="1" i="0">
                <a:solidFill>
                  <a:srgbClr val="FFFFFF"/>
                </a:solidFill>
                <a:latin typeface="Calibri"/>
              </a:rPr>
              <a:t>CƠ SỞ — KHẢ NĂNG CAO NHẤT</a:t>
            </a:r>
          </a:p>
        </p:txBody>
      </p:sp>
      <p:sp>
        <p:nvSpPr>
          <p:cNvPr id="23" name="TextBox 22"/>
          <p:cNvSpPr txBox="1"/>
          <p:nvPr/>
        </p:nvSpPr>
        <p:spPr>
          <a:xfrm>
            <a:off x="3625596" y="2560320"/>
            <a:ext cx="4937760" cy="274320"/>
          </a:xfrm>
          <a:prstGeom prst="rect">
            <a:avLst/>
          </a:prstGeom>
          <a:noFill/>
        </p:spPr>
        <p:txBody>
          <a:bodyPr wrap="square" lIns="0" rIns="0" tIns="0" bIns="0" anchor="t">
            <a:spAutoFit/>
          </a:bodyPr>
          <a:lstStyle/>
          <a:p>
            <a:pPr algn="l"/>
            <a:r>
              <a:rPr sz="1200" b="0" i="1">
                <a:solidFill>
                  <a:srgbClr val="7C3AED"/>
                </a:solidFill>
                <a:latin typeface="Calibri"/>
              </a:rPr>
              <a:t>{{BASE_TIMEFRAME}}</a:t>
            </a:r>
          </a:p>
        </p:txBody>
      </p:sp>
      <p:sp>
        <p:nvSpPr>
          <p:cNvPr id="24" name="TextBox 23"/>
          <p:cNvSpPr txBox="1"/>
          <p:nvPr/>
        </p:nvSpPr>
        <p:spPr>
          <a:xfrm>
            <a:off x="3625596" y="2880360"/>
            <a:ext cx="4937760" cy="548640"/>
          </a:xfrm>
          <a:prstGeom prst="rect">
            <a:avLst/>
          </a:prstGeom>
          <a:noFill/>
        </p:spPr>
        <p:txBody>
          <a:bodyPr wrap="square" lIns="0" rIns="0" tIns="0" bIns="0" anchor="t">
            <a:spAutoFit/>
          </a:bodyPr>
          <a:lstStyle/>
          <a:p>
            <a:pPr algn="l"/>
            <a:r>
              <a:rPr sz="2800" b="1" i="0">
                <a:solidFill>
                  <a:srgbClr val="7C3AED"/>
                </a:solidFill>
                <a:latin typeface="Calibri"/>
              </a:rPr>
              <a:t>{{BASE_TARGET}}</a:t>
            </a:r>
          </a:p>
        </p:txBody>
      </p:sp>
      <p:sp>
        <p:nvSpPr>
          <p:cNvPr id="25" name="TextBox 24"/>
          <p:cNvSpPr txBox="1"/>
          <p:nvPr/>
        </p:nvSpPr>
        <p:spPr>
          <a:xfrm>
            <a:off x="3625596" y="3474720"/>
            <a:ext cx="4937760" cy="274320"/>
          </a:xfrm>
          <a:prstGeom prst="rect">
            <a:avLst/>
          </a:prstGeom>
          <a:noFill/>
        </p:spPr>
        <p:txBody>
          <a:bodyPr wrap="square" lIns="0" rIns="0" tIns="0" bIns="0" anchor="t">
            <a:spAutoFit/>
          </a:bodyPr>
          <a:lstStyle/>
          <a:p>
            <a:pPr algn="l"/>
            <a:r>
              <a:rPr sz="1200" b="0" i="0">
                <a:solidFill>
                  <a:srgbClr val="7C3AED"/>
                </a:solidFill>
                <a:latin typeface="Calibri"/>
              </a:rPr>
              <a:t>{{BASE_RETURN}}</a:t>
            </a:r>
          </a:p>
        </p:txBody>
      </p:sp>
      <p:sp>
        <p:nvSpPr>
          <p:cNvPr id="26" name="TextBox 25"/>
          <p:cNvSpPr txBox="1"/>
          <p:nvPr/>
        </p:nvSpPr>
        <p:spPr>
          <a:xfrm>
            <a:off x="3625596" y="3794760"/>
            <a:ext cx="4937760" cy="822960"/>
          </a:xfrm>
          <a:prstGeom prst="rect">
            <a:avLst/>
          </a:prstGeom>
          <a:noFill/>
        </p:spPr>
        <p:txBody>
          <a:bodyPr wrap="square" lIns="0" rIns="0" tIns="0" bIns="0" anchor="t">
            <a:spAutoFit/>
          </a:bodyPr>
          <a:lstStyle/>
          <a:p>
            <a:pPr algn="l"/>
            <a:r>
              <a:rPr sz="4400" b="1" i="0">
                <a:solidFill>
                  <a:srgbClr val="7C3AED"/>
                </a:solidFill>
                <a:latin typeface="Calibri"/>
              </a:rPr>
              <a:t>{{BASE_BIG_PCT}}</a:t>
            </a:r>
          </a:p>
        </p:txBody>
      </p:sp>
      <p:sp>
        <p:nvSpPr>
          <p:cNvPr id="27" name="TextBox 26"/>
          <p:cNvSpPr txBox="1"/>
          <p:nvPr/>
        </p:nvSpPr>
        <p:spPr>
          <a:xfrm>
            <a:off x="3625596" y="4709160"/>
            <a:ext cx="4937760" cy="1463040"/>
          </a:xfrm>
          <a:prstGeom prst="rect">
            <a:avLst/>
          </a:prstGeom>
          <a:noFill/>
        </p:spPr>
        <p:txBody>
          <a:bodyPr wrap="square" lIns="0" rIns="0" tIns="0" bIns="0" anchor="t">
            <a:spAutoFit/>
          </a:bodyPr>
          <a:lstStyle/>
          <a:p>
            <a:pPr algn="l"/>
            <a:r>
              <a:rPr sz="1100" b="0" i="1">
                <a:solidFill>
                  <a:srgbClr val="1F2937"/>
                </a:solidFill>
                <a:latin typeface="Calibri"/>
              </a:rPr>
              <a:t>{{BASE_BODY}}</a:t>
            </a:r>
          </a:p>
        </p:txBody>
      </p:sp>
      <p:sp>
        <p:nvSpPr>
          <p:cNvPr id="28" name="Rounded Rectangle 27"/>
          <p:cNvSpPr/>
          <p:nvPr/>
        </p:nvSpPr>
        <p:spPr>
          <a:xfrm>
            <a:off x="9034272" y="1965960"/>
            <a:ext cx="2606040" cy="434340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34272" y="1965960"/>
            <a:ext cx="2606040" cy="365760"/>
          </a:xfrm>
          <a:prstGeom prst="roundRect">
            <a:avLst>
              <a:gd name="adj" fmla="val 12000"/>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34272" y="1965960"/>
            <a:ext cx="2606040" cy="365760"/>
          </a:xfrm>
          <a:prstGeom prst="rect">
            <a:avLst/>
          </a:prstGeom>
          <a:noFill/>
        </p:spPr>
        <p:txBody>
          <a:bodyPr wrap="square" lIns="0" rIns="0" tIns="0" bIns="0" anchor="ctr">
            <a:spAutoFit/>
          </a:bodyPr>
          <a:lstStyle/>
          <a:p>
            <a:pPr algn="ctr"/>
            <a:r>
              <a:rPr sz="1100" b="1" i="0">
                <a:solidFill>
                  <a:srgbClr val="FFFFFF"/>
                </a:solidFill>
                <a:latin typeface="Calibri"/>
              </a:rPr>
              <a:t>THẬN TRỌNG</a:t>
            </a:r>
          </a:p>
        </p:txBody>
      </p:sp>
      <p:sp>
        <p:nvSpPr>
          <p:cNvPr id="31" name="TextBox 30"/>
          <p:cNvSpPr txBox="1"/>
          <p:nvPr/>
        </p:nvSpPr>
        <p:spPr>
          <a:xfrm>
            <a:off x="9217151" y="2423160"/>
            <a:ext cx="2240280" cy="274320"/>
          </a:xfrm>
          <a:prstGeom prst="rect">
            <a:avLst/>
          </a:prstGeom>
          <a:noFill/>
        </p:spPr>
        <p:txBody>
          <a:bodyPr wrap="square" lIns="0" rIns="0" tIns="0" bIns="0" anchor="t">
            <a:spAutoFit/>
          </a:bodyPr>
          <a:lstStyle/>
          <a:p>
            <a:pPr algn="l"/>
            <a:r>
              <a:rPr sz="900" b="0" i="1">
                <a:solidFill>
                  <a:srgbClr val="6B7280"/>
                </a:solidFill>
                <a:latin typeface="Calibri"/>
              </a:rPr>
              <a:t>Khả năng thấp</a:t>
            </a:r>
          </a:p>
        </p:txBody>
      </p:sp>
      <p:sp>
        <p:nvSpPr>
          <p:cNvPr id="32" name="TextBox 31"/>
          <p:cNvSpPr txBox="1"/>
          <p:nvPr/>
        </p:nvSpPr>
        <p:spPr>
          <a:xfrm>
            <a:off x="9217151" y="2743200"/>
            <a:ext cx="2240280" cy="274320"/>
          </a:xfrm>
          <a:prstGeom prst="rect">
            <a:avLst/>
          </a:prstGeom>
          <a:noFill/>
        </p:spPr>
        <p:txBody>
          <a:bodyPr wrap="square" lIns="0" rIns="0" tIns="0" bIns="0" anchor="t">
            <a:spAutoFit/>
          </a:bodyPr>
          <a:lstStyle/>
          <a:p>
            <a:pPr algn="l"/>
            <a:r>
              <a:rPr sz="1000" b="0" i="0">
                <a:solidFill>
                  <a:srgbClr val="6B7280"/>
                </a:solidFill>
                <a:latin typeface="Calibri"/>
              </a:rPr>
              <a:t>{{BEAR_TIMEFRAME}}</a:t>
            </a:r>
          </a:p>
        </p:txBody>
      </p:sp>
      <p:sp>
        <p:nvSpPr>
          <p:cNvPr id="33" name="TextBox 32"/>
          <p:cNvSpPr txBox="1"/>
          <p:nvPr/>
        </p:nvSpPr>
        <p:spPr>
          <a:xfrm>
            <a:off x="9217151" y="3017520"/>
            <a:ext cx="2240280" cy="365760"/>
          </a:xfrm>
          <a:prstGeom prst="rect">
            <a:avLst/>
          </a:prstGeom>
          <a:noFill/>
        </p:spPr>
        <p:txBody>
          <a:bodyPr wrap="square" lIns="0" rIns="0" tIns="0" bIns="0" anchor="t">
            <a:spAutoFit/>
          </a:bodyPr>
          <a:lstStyle/>
          <a:p>
            <a:pPr algn="l"/>
            <a:r>
              <a:rPr sz="1800" b="1" i="0">
                <a:solidFill>
                  <a:srgbClr val="E14040"/>
                </a:solidFill>
                <a:latin typeface="Calibri"/>
              </a:rPr>
              <a:t>{{BEAR_TARGET}}</a:t>
            </a:r>
          </a:p>
        </p:txBody>
      </p:sp>
      <p:sp>
        <p:nvSpPr>
          <p:cNvPr id="34" name="TextBox 33"/>
          <p:cNvSpPr txBox="1"/>
          <p:nvPr/>
        </p:nvSpPr>
        <p:spPr>
          <a:xfrm>
            <a:off x="9217151" y="3383280"/>
            <a:ext cx="2240280" cy="274320"/>
          </a:xfrm>
          <a:prstGeom prst="rect">
            <a:avLst/>
          </a:prstGeom>
          <a:noFill/>
        </p:spPr>
        <p:txBody>
          <a:bodyPr wrap="square" lIns="0" rIns="0" tIns="0" bIns="0" anchor="t">
            <a:spAutoFit/>
          </a:bodyPr>
          <a:lstStyle/>
          <a:p>
            <a:pPr algn="l"/>
            <a:r>
              <a:rPr sz="1100" b="0" i="0">
                <a:solidFill>
                  <a:srgbClr val="E14040"/>
                </a:solidFill>
                <a:latin typeface="Calibri"/>
              </a:rPr>
              <a:t>{{BEAR_RETURN}}</a:t>
            </a:r>
          </a:p>
        </p:txBody>
      </p:sp>
      <p:sp>
        <p:nvSpPr>
          <p:cNvPr id="35" name="TextBox 34"/>
          <p:cNvSpPr txBox="1"/>
          <p:nvPr/>
        </p:nvSpPr>
        <p:spPr>
          <a:xfrm>
            <a:off x="9217151" y="3657600"/>
            <a:ext cx="2240280" cy="457200"/>
          </a:xfrm>
          <a:prstGeom prst="rect">
            <a:avLst/>
          </a:prstGeom>
          <a:noFill/>
        </p:spPr>
        <p:txBody>
          <a:bodyPr wrap="square" lIns="0" rIns="0" tIns="0" bIns="0" anchor="t">
            <a:spAutoFit/>
          </a:bodyPr>
          <a:lstStyle/>
          <a:p>
            <a:pPr algn="l"/>
            <a:r>
              <a:rPr sz="2200" b="1" i="0">
                <a:solidFill>
                  <a:srgbClr val="E14040"/>
                </a:solidFill>
                <a:latin typeface="Calibri"/>
              </a:rPr>
              <a:t>{{BEAR_BIG_PCT}}</a:t>
            </a:r>
          </a:p>
        </p:txBody>
      </p:sp>
      <p:sp>
        <p:nvSpPr>
          <p:cNvPr id="36" name="TextBox 35"/>
          <p:cNvSpPr txBox="1"/>
          <p:nvPr/>
        </p:nvSpPr>
        <p:spPr>
          <a:xfrm>
            <a:off x="9217151" y="4160520"/>
            <a:ext cx="2240280" cy="2011680"/>
          </a:xfrm>
          <a:prstGeom prst="rect">
            <a:avLst/>
          </a:prstGeom>
          <a:noFill/>
        </p:spPr>
        <p:txBody>
          <a:bodyPr wrap="square" lIns="0" rIns="0" tIns="0" bIns="0" anchor="t">
            <a:spAutoFit/>
          </a:bodyPr>
          <a:lstStyle/>
          <a:p>
            <a:pPr algn="l"/>
            <a:r>
              <a:rPr sz="900" b="0" i="1">
                <a:solidFill>
                  <a:srgbClr val="1F2937"/>
                </a:solidFill>
                <a:latin typeface="Calibri"/>
              </a:rPr>
              <a:t>{{BEAR_BODY}}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TAT_TABLE_COMBO_SESSION">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25880"/>
            <a:ext cx="54864"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Đóng cửa</a:t>
            </a:r>
          </a:p>
        </p:txBody>
      </p:sp>
      <p:sp>
        <p:nvSpPr>
          <p:cNvPr id="12" name="TextBox 11"/>
          <p:cNvSpPr txBox="1"/>
          <p:nvPr/>
        </p:nvSpPr>
        <p:spPr>
          <a:xfrm>
            <a:off x="731520" y="1645919"/>
            <a:ext cx="2430018" cy="457200"/>
          </a:xfrm>
          <a:prstGeom prst="rect">
            <a:avLst/>
          </a:prstGeom>
          <a:noFill/>
        </p:spPr>
        <p:txBody>
          <a:bodyPr wrap="square" lIns="0" rIns="0" tIns="0" bIns="0" anchor="t">
            <a:spAutoFit/>
          </a:bodyPr>
          <a:lstStyle/>
          <a:p>
            <a:pPr algn="l"/>
            <a:r>
              <a:rPr sz="2200" b="1" i="0">
                <a:solidFill>
                  <a:srgbClr val="7C3AED"/>
                </a:solidFill>
                <a:latin typeface="Calibri"/>
              </a:rPr>
              <a:t>{{CLOSE_PRICE}}</a:t>
            </a:r>
          </a:p>
        </p:txBody>
      </p:sp>
      <p:sp>
        <p:nvSpPr>
          <p:cNvPr id="13" name="TextBox 12"/>
          <p:cNvSpPr txBox="1"/>
          <p:nvPr/>
        </p:nvSpPr>
        <p:spPr>
          <a:xfrm>
            <a:off x="731520"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{{CLOSE_CHANGE}}</a:t>
            </a:r>
          </a:p>
        </p:txBody>
      </p:sp>
      <p:sp>
        <p:nvSpPr>
          <p:cNvPr id="14" name="Rounded Rectangle 13"/>
          <p:cNvSpPr/>
          <p:nvPr/>
        </p:nvSpPr>
        <p:spPr>
          <a:xfrm>
            <a:off x="3344418"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4418" y="1325880"/>
            <a:ext cx="54864" cy="1005840"/>
          </a:xfrm>
          <a:prstGeom prst="rect">
            <a:avLst/>
          </a:prstGeom>
          <a:solidFill>
            <a:srgbClr val="25B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298"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Cao nhất</a:t>
            </a:r>
          </a:p>
        </p:txBody>
      </p:sp>
      <p:sp>
        <p:nvSpPr>
          <p:cNvPr id="17" name="TextBox 16"/>
          <p:cNvSpPr txBox="1"/>
          <p:nvPr/>
        </p:nvSpPr>
        <p:spPr>
          <a:xfrm>
            <a:off x="3527298" y="1645919"/>
            <a:ext cx="2430018" cy="457200"/>
          </a:xfrm>
          <a:prstGeom prst="rect">
            <a:avLst/>
          </a:prstGeom>
          <a:noFill/>
        </p:spPr>
        <p:txBody>
          <a:bodyPr wrap="square" lIns="0" rIns="0" tIns="0" bIns="0" anchor="t">
            <a:spAutoFit/>
          </a:bodyPr>
          <a:lstStyle/>
          <a:p>
            <a:pPr algn="l"/>
            <a:r>
              <a:rPr sz="2200" b="1" i="0">
                <a:solidFill>
                  <a:srgbClr val="25B770"/>
                </a:solidFill>
                <a:latin typeface="Calibri"/>
              </a:rPr>
              <a:t>{{HIGH_PRICE}}</a:t>
            </a:r>
          </a:p>
        </p:txBody>
      </p:sp>
      <p:sp>
        <p:nvSpPr>
          <p:cNvPr id="18" name="TextBox 17"/>
          <p:cNvSpPr txBox="1"/>
          <p:nvPr/>
        </p:nvSpPr>
        <p:spPr>
          <a:xfrm>
            <a:off x="3527298"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{{HIGH_NOTE}}</a:t>
            </a:r>
          </a:p>
        </p:txBody>
      </p:sp>
      <p:sp>
        <p:nvSpPr>
          <p:cNvPr id="19" name="Rounded Rectangle 18"/>
          <p:cNvSpPr/>
          <p:nvPr/>
        </p:nvSpPr>
        <p:spPr>
          <a:xfrm>
            <a:off x="6140196"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0196" y="1325880"/>
            <a:ext cx="54864" cy="1005840"/>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3076"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Thấp nhất</a:t>
            </a:r>
          </a:p>
        </p:txBody>
      </p:sp>
      <p:sp>
        <p:nvSpPr>
          <p:cNvPr id="22" name="TextBox 21"/>
          <p:cNvSpPr txBox="1"/>
          <p:nvPr/>
        </p:nvSpPr>
        <p:spPr>
          <a:xfrm>
            <a:off x="6323076" y="1645919"/>
            <a:ext cx="2430018" cy="457200"/>
          </a:xfrm>
          <a:prstGeom prst="rect">
            <a:avLst/>
          </a:prstGeom>
          <a:noFill/>
        </p:spPr>
        <p:txBody>
          <a:bodyPr wrap="square" lIns="0" rIns="0" tIns="0" bIns="0" anchor="t">
            <a:spAutoFit/>
          </a:bodyPr>
          <a:lstStyle/>
          <a:p>
            <a:pPr algn="l"/>
            <a:r>
              <a:rPr sz="2200" b="1" i="0">
                <a:solidFill>
                  <a:srgbClr val="E14040"/>
                </a:solidFill>
                <a:latin typeface="Calibri"/>
              </a:rPr>
              <a:t>{{LOW_PRICE}}</a:t>
            </a:r>
          </a:p>
        </p:txBody>
      </p:sp>
      <p:sp>
        <p:nvSpPr>
          <p:cNvPr id="23" name="TextBox 22"/>
          <p:cNvSpPr txBox="1"/>
          <p:nvPr/>
        </p:nvSpPr>
        <p:spPr>
          <a:xfrm>
            <a:off x="6323076"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{{LOW_NOTE}}</a:t>
            </a:r>
          </a:p>
        </p:txBody>
      </p:sp>
      <p:sp>
        <p:nvSpPr>
          <p:cNvPr id="24" name="Rounded Rectangle 23"/>
          <p:cNvSpPr/>
          <p:nvPr/>
        </p:nvSpPr>
        <p:spPr>
          <a:xfrm>
            <a:off x="8935974" y="1325880"/>
            <a:ext cx="2704338" cy="10058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35974" y="1325880"/>
            <a:ext cx="54864" cy="1005840"/>
          </a:xfrm>
          <a:prstGeom prst="rect">
            <a:avLst/>
          </a:prstGeom>
          <a:solidFill>
            <a:srgbClr val="059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18853" y="1417320"/>
            <a:ext cx="2430018" cy="228600"/>
          </a:xfrm>
          <a:prstGeom prst="rect">
            <a:avLst/>
          </a:prstGeom>
          <a:noFill/>
        </p:spPr>
        <p:txBody>
          <a:bodyPr wrap="square" lIns="0" rIns="0" tIns="0" bIns="0" anchor="t">
            <a:spAutoFit/>
          </a:bodyPr>
          <a:lstStyle/>
          <a:p>
            <a:pPr algn="l"/>
            <a:r>
              <a:rPr sz="1000" b="0" i="0">
                <a:solidFill>
                  <a:srgbClr val="6B7280"/>
                </a:solidFill>
                <a:latin typeface="Calibri"/>
              </a:rPr>
              <a:t>Giá trị GD</a:t>
            </a:r>
          </a:p>
        </p:txBody>
      </p:sp>
      <p:sp>
        <p:nvSpPr>
          <p:cNvPr id="27" name="TextBox 26"/>
          <p:cNvSpPr txBox="1"/>
          <p:nvPr/>
        </p:nvSpPr>
        <p:spPr>
          <a:xfrm>
            <a:off x="9118853" y="1645919"/>
            <a:ext cx="2430018" cy="457200"/>
          </a:xfrm>
          <a:prstGeom prst="rect">
            <a:avLst/>
          </a:prstGeom>
          <a:noFill/>
        </p:spPr>
        <p:txBody>
          <a:bodyPr wrap="square" lIns="0" rIns="0" tIns="0" bIns="0" anchor="t">
            <a:spAutoFit/>
          </a:bodyPr>
          <a:lstStyle/>
          <a:p>
            <a:pPr algn="l"/>
            <a:r>
              <a:rPr sz="2200" b="1" i="0">
                <a:solidFill>
                  <a:srgbClr val="0593BB"/>
                </a:solidFill>
                <a:latin typeface="Calibri"/>
              </a:rPr>
              <a:t>{{VALUE_AMOUNT}}</a:t>
            </a:r>
          </a:p>
        </p:txBody>
      </p:sp>
      <p:sp>
        <p:nvSpPr>
          <p:cNvPr id="28" name="TextBox 27"/>
          <p:cNvSpPr txBox="1"/>
          <p:nvPr/>
        </p:nvSpPr>
        <p:spPr>
          <a:xfrm>
            <a:off x="9118853" y="2103120"/>
            <a:ext cx="2430018" cy="182880"/>
          </a:xfrm>
          <a:prstGeom prst="rect">
            <a:avLst/>
          </a:prstGeom>
          <a:noFill/>
        </p:spPr>
        <p:txBody>
          <a:bodyPr wrap="square" lIns="0" rIns="0" tIns="0" bIns="0" anchor="t">
            <a:spAutoFit/>
          </a:bodyPr>
          <a:lstStyle/>
          <a:p>
            <a:pPr algn="l"/>
            <a:r>
              <a:rPr sz="900" b="0" i="1">
                <a:solidFill>
                  <a:srgbClr val="9CA3AF"/>
                </a:solidFill>
                <a:latin typeface="Calibri"/>
              </a:rPr>
              <a:t>{{LIQUIDITY_NOTE}}</a:t>
            </a:r>
          </a:p>
        </p:txBody>
      </p:sp>
      <p:sp>
        <p:nvSpPr>
          <p:cNvPr id="29" name="Rectangle 28"/>
          <p:cNvSpPr/>
          <p:nvPr/>
        </p:nvSpPr>
        <p:spPr>
          <a:xfrm>
            <a:off x="6341364" y="2606040"/>
            <a:ext cx="45720" cy="370332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309360" y="2962656"/>
            <a:ext cx="109728" cy="109728"/>
          </a:xfrm>
          <a:prstGeom prst="ellipse">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libri"/>
              </a:rPr>
              <a:t/>
            </a:r>
          </a:p>
        </p:txBody>
      </p:sp>
      <p:sp>
        <p:nvSpPr>
          <p:cNvPr id="31" name="TextBox 30"/>
          <p:cNvSpPr txBox="1"/>
          <p:nvPr/>
        </p:nvSpPr>
        <p:spPr>
          <a:xfrm>
            <a:off x="548640" y="2834639"/>
            <a:ext cx="5029200" cy="365760"/>
          </a:xfrm>
          <a:prstGeom prst="rect">
            <a:avLst/>
          </a:prstGeom>
          <a:noFill/>
        </p:spPr>
        <p:txBody>
          <a:bodyPr wrap="square" lIns="0" rIns="0" tIns="0" bIns="0" anchor="ctr">
            <a:spAutoFit/>
          </a:bodyPr>
          <a:lstStyle/>
          <a:p>
            <a:pPr algn="r"/>
            <a:r>
              <a:rPr sz="1100" b="0" i="0">
                <a:solidFill>
                  <a:srgbClr val="1F2937"/>
                </a:solidFill>
                <a:latin typeface="Calibri"/>
              </a:rPr>
              <a:t>{{LEVEL_1_NAME}}</a:t>
            </a:r>
          </a:p>
        </p:txBody>
      </p:sp>
      <p:sp>
        <p:nvSpPr>
          <p:cNvPr id="32" name="TextBox 31"/>
          <p:cNvSpPr txBox="1"/>
          <p:nvPr/>
        </p:nvSpPr>
        <p:spPr>
          <a:xfrm>
            <a:off x="6675120" y="2834639"/>
            <a:ext cx="2743200" cy="365760"/>
          </a:xfrm>
          <a:prstGeom prst="rect">
            <a:avLst/>
          </a:prstGeom>
          <a:noFill/>
        </p:spPr>
        <p:txBody>
          <a:bodyPr wrap="square" lIns="0" rIns="0" tIns="0" bIns="0" anchor="ctr">
            <a:spAutoFit/>
          </a:bodyPr>
          <a:lstStyle/>
          <a:p>
            <a:pPr algn="l"/>
            <a:r>
              <a:rPr sz="1400" b="1" i="0">
                <a:solidFill>
                  <a:srgbClr val="1F2937"/>
                </a:solidFill>
                <a:latin typeface="Calibri"/>
              </a:rPr>
              <a:t>{{LEVEL_1_PRICE}}</a:t>
            </a:r>
          </a:p>
        </p:txBody>
      </p:sp>
      <p:sp>
        <p:nvSpPr>
          <p:cNvPr id="33" name="TextBox 32"/>
          <p:cNvSpPr txBox="1"/>
          <p:nvPr/>
        </p:nvSpPr>
        <p:spPr>
          <a:xfrm>
            <a:off x="9418320" y="2834639"/>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{{LEVEL_1_DELTA}}</a:t>
            </a:r>
          </a:p>
        </p:txBody>
      </p:sp>
      <p:sp>
        <p:nvSpPr>
          <p:cNvPr id="34" name="Oval 33"/>
          <p:cNvSpPr/>
          <p:nvPr/>
        </p:nvSpPr>
        <p:spPr>
          <a:xfrm>
            <a:off x="6309360" y="3374136"/>
            <a:ext cx="109728" cy="109728"/>
          </a:xfrm>
          <a:prstGeom prst="ellipse">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libri"/>
              </a:rPr>
              <a:t/>
            </a:r>
          </a:p>
        </p:txBody>
      </p:sp>
      <p:sp>
        <p:nvSpPr>
          <p:cNvPr id="35" name="TextBox 34"/>
          <p:cNvSpPr txBox="1"/>
          <p:nvPr/>
        </p:nvSpPr>
        <p:spPr>
          <a:xfrm>
            <a:off x="548640" y="3246120"/>
            <a:ext cx="5029200" cy="365760"/>
          </a:xfrm>
          <a:prstGeom prst="rect">
            <a:avLst/>
          </a:prstGeom>
          <a:noFill/>
        </p:spPr>
        <p:txBody>
          <a:bodyPr wrap="square" lIns="0" rIns="0" tIns="0" bIns="0" anchor="ctr">
            <a:spAutoFit/>
          </a:bodyPr>
          <a:lstStyle/>
          <a:p>
            <a:pPr algn="r"/>
            <a:r>
              <a:rPr sz="1100" b="0" i="0">
                <a:solidFill>
                  <a:srgbClr val="1F2937"/>
                </a:solidFill>
                <a:latin typeface="Calibri"/>
              </a:rPr>
              <a:t>{{LEVEL_2_NAME}}</a:t>
            </a:r>
          </a:p>
        </p:txBody>
      </p:sp>
      <p:sp>
        <p:nvSpPr>
          <p:cNvPr id="36" name="TextBox 35"/>
          <p:cNvSpPr txBox="1"/>
          <p:nvPr/>
        </p:nvSpPr>
        <p:spPr>
          <a:xfrm>
            <a:off x="6675120" y="3246120"/>
            <a:ext cx="2743200" cy="365760"/>
          </a:xfrm>
          <a:prstGeom prst="rect">
            <a:avLst/>
          </a:prstGeom>
          <a:noFill/>
        </p:spPr>
        <p:txBody>
          <a:bodyPr wrap="square" lIns="0" rIns="0" tIns="0" bIns="0" anchor="ctr">
            <a:spAutoFit/>
          </a:bodyPr>
          <a:lstStyle/>
          <a:p>
            <a:pPr algn="l"/>
            <a:r>
              <a:rPr sz="1400" b="1" i="0">
                <a:solidFill>
                  <a:srgbClr val="1F2937"/>
                </a:solidFill>
                <a:latin typeface="Calibri"/>
              </a:rPr>
              <a:t>{{LEVEL_2_PRICE}}</a:t>
            </a:r>
          </a:p>
        </p:txBody>
      </p:sp>
      <p:sp>
        <p:nvSpPr>
          <p:cNvPr id="37" name="TextBox 36"/>
          <p:cNvSpPr txBox="1"/>
          <p:nvPr/>
        </p:nvSpPr>
        <p:spPr>
          <a:xfrm>
            <a:off x="9418320" y="3246120"/>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{{LEVEL_2_DELTA}}</a:t>
            </a:r>
          </a:p>
        </p:txBody>
      </p:sp>
      <p:sp>
        <p:nvSpPr>
          <p:cNvPr id="38" name="Oval 37"/>
          <p:cNvSpPr/>
          <p:nvPr/>
        </p:nvSpPr>
        <p:spPr>
          <a:xfrm>
            <a:off x="6309360" y="3785616"/>
            <a:ext cx="109728" cy="109728"/>
          </a:xfrm>
          <a:prstGeom prst="ellipse">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libri"/>
              </a:rPr>
              <a:t/>
            </a:r>
          </a:p>
        </p:txBody>
      </p:sp>
      <p:sp>
        <p:nvSpPr>
          <p:cNvPr id="39" name="TextBox 38"/>
          <p:cNvSpPr txBox="1"/>
          <p:nvPr/>
        </p:nvSpPr>
        <p:spPr>
          <a:xfrm>
            <a:off x="548640" y="3657600"/>
            <a:ext cx="5029200" cy="365760"/>
          </a:xfrm>
          <a:prstGeom prst="rect">
            <a:avLst/>
          </a:prstGeom>
          <a:noFill/>
        </p:spPr>
        <p:txBody>
          <a:bodyPr wrap="square" lIns="0" rIns="0" tIns="0" bIns="0" anchor="ctr">
            <a:spAutoFit/>
          </a:bodyPr>
          <a:lstStyle/>
          <a:p>
            <a:pPr algn="r"/>
            <a:r>
              <a:rPr sz="1100" b="0" i="0">
                <a:solidFill>
                  <a:srgbClr val="1F2937"/>
                </a:solidFill>
                <a:latin typeface="Calibri"/>
              </a:rPr>
              <a:t>{{LEVEL_3_NAME}}</a:t>
            </a:r>
          </a:p>
        </p:txBody>
      </p:sp>
      <p:sp>
        <p:nvSpPr>
          <p:cNvPr id="40" name="TextBox 39"/>
          <p:cNvSpPr txBox="1"/>
          <p:nvPr/>
        </p:nvSpPr>
        <p:spPr>
          <a:xfrm>
            <a:off x="6675120" y="3657600"/>
            <a:ext cx="2743200" cy="365760"/>
          </a:xfrm>
          <a:prstGeom prst="rect">
            <a:avLst/>
          </a:prstGeom>
          <a:noFill/>
        </p:spPr>
        <p:txBody>
          <a:bodyPr wrap="square" lIns="0" rIns="0" tIns="0" bIns="0" anchor="ctr">
            <a:spAutoFit/>
          </a:bodyPr>
          <a:lstStyle/>
          <a:p>
            <a:pPr algn="l"/>
            <a:r>
              <a:rPr sz="1400" b="1" i="0">
                <a:solidFill>
                  <a:srgbClr val="1F2937"/>
                </a:solidFill>
                <a:latin typeface="Calibri"/>
              </a:rPr>
              <a:t>{{LEVEL_3_PRICE}}</a:t>
            </a:r>
          </a:p>
        </p:txBody>
      </p:sp>
      <p:sp>
        <p:nvSpPr>
          <p:cNvPr id="41" name="TextBox 40"/>
          <p:cNvSpPr txBox="1"/>
          <p:nvPr/>
        </p:nvSpPr>
        <p:spPr>
          <a:xfrm>
            <a:off x="9418320" y="3657600"/>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{{LEVEL_3_DELTA}}</a:t>
            </a:r>
          </a:p>
        </p:txBody>
      </p:sp>
      <p:sp>
        <p:nvSpPr>
          <p:cNvPr id="42" name="Oval 41"/>
          <p:cNvSpPr/>
          <p:nvPr/>
        </p:nvSpPr>
        <p:spPr>
          <a:xfrm>
            <a:off x="6309360" y="4197096"/>
            <a:ext cx="109728" cy="109728"/>
          </a:xfrm>
          <a:prstGeom prst="ellipse">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libri"/>
              </a:rPr>
              <a:t/>
            </a:r>
          </a:p>
        </p:txBody>
      </p:sp>
      <p:sp>
        <p:nvSpPr>
          <p:cNvPr id="43" name="TextBox 42"/>
          <p:cNvSpPr txBox="1"/>
          <p:nvPr/>
        </p:nvSpPr>
        <p:spPr>
          <a:xfrm>
            <a:off x="548640" y="4069080"/>
            <a:ext cx="5029200" cy="365760"/>
          </a:xfrm>
          <a:prstGeom prst="rect">
            <a:avLst/>
          </a:prstGeom>
          <a:noFill/>
        </p:spPr>
        <p:txBody>
          <a:bodyPr wrap="square" lIns="0" rIns="0" tIns="0" bIns="0" anchor="ctr">
            <a:spAutoFit/>
          </a:bodyPr>
          <a:lstStyle/>
          <a:p>
            <a:pPr algn="r"/>
            <a:r>
              <a:rPr sz="1100" b="0" i="0">
                <a:solidFill>
                  <a:srgbClr val="1F2937"/>
                </a:solidFill>
                <a:latin typeface="Calibri"/>
              </a:rPr>
              <a:t>{{LEVEL_4_NAME}}</a:t>
            </a:r>
          </a:p>
        </p:txBody>
      </p:sp>
      <p:sp>
        <p:nvSpPr>
          <p:cNvPr id="44" name="TextBox 43"/>
          <p:cNvSpPr txBox="1"/>
          <p:nvPr/>
        </p:nvSpPr>
        <p:spPr>
          <a:xfrm>
            <a:off x="6675120" y="4069080"/>
            <a:ext cx="2743200" cy="365760"/>
          </a:xfrm>
          <a:prstGeom prst="rect">
            <a:avLst/>
          </a:prstGeom>
          <a:noFill/>
        </p:spPr>
        <p:txBody>
          <a:bodyPr wrap="square" lIns="0" rIns="0" tIns="0" bIns="0" anchor="ctr">
            <a:spAutoFit/>
          </a:bodyPr>
          <a:lstStyle/>
          <a:p>
            <a:pPr algn="l"/>
            <a:r>
              <a:rPr sz="1400" b="1" i="0">
                <a:solidFill>
                  <a:srgbClr val="1F2937"/>
                </a:solidFill>
                <a:latin typeface="Calibri"/>
              </a:rPr>
              <a:t>{{LEVEL_4_PRICE}}</a:t>
            </a:r>
          </a:p>
        </p:txBody>
      </p:sp>
      <p:sp>
        <p:nvSpPr>
          <p:cNvPr id="45" name="TextBox 44"/>
          <p:cNvSpPr txBox="1"/>
          <p:nvPr/>
        </p:nvSpPr>
        <p:spPr>
          <a:xfrm>
            <a:off x="9418320" y="4069080"/>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{{LEVEL_4_DELTA}}</a:t>
            </a:r>
          </a:p>
        </p:txBody>
      </p:sp>
      <p:sp>
        <p:nvSpPr>
          <p:cNvPr id="46" name="Oval 45"/>
          <p:cNvSpPr/>
          <p:nvPr/>
        </p:nvSpPr>
        <p:spPr>
          <a:xfrm>
            <a:off x="6263640" y="4562855"/>
            <a:ext cx="201168" cy="201168"/>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
            </a:r>
          </a:p>
        </p:txBody>
      </p:sp>
      <p:sp>
        <p:nvSpPr>
          <p:cNvPr id="47" name="TextBox 46"/>
          <p:cNvSpPr txBox="1"/>
          <p:nvPr/>
        </p:nvSpPr>
        <p:spPr>
          <a:xfrm>
            <a:off x="548640" y="4480559"/>
            <a:ext cx="5029200" cy="365760"/>
          </a:xfrm>
          <a:prstGeom prst="rect">
            <a:avLst/>
          </a:prstGeom>
          <a:noFill/>
        </p:spPr>
        <p:txBody>
          <a:bodyPr wrap="square" lIns="0" rIns="0" tIns="0" bIns="0" anchor="ctr">
            <a:spAutoFit/>
          </a:bodyPr>
          <a:lstStyle/>
          <a:p>
            <a:pPr algn="r"/>
            <a:r>
              <a:rPr sz="1100" b="1" i="0">
                <a:solidFill>
                  <a:srgbClr val="1F2937"/>
                </a:solidFill>
                <a:latin typeface="Calibri"/>
              </a:rPr>
              <a:t>{{LEVEL_5_NAME}}</a:t>
            </a:r>
          </a:p>
        </p:txBody>
      </p:sp>
      <p:sp>
        <p:nvSpPr>
          <p:cNvPr id="48" name="TextBox 47"/>
          <p:cNvSpPr txBox="1"/>
          <p:nvPr/>
        </p:nvSpPr>
        <p:spPr>
          <a:xfrm>
            <a:off x="6675120" y="4480559"/>
            <a:ext cx="2743200" cy="365760"/>
          </a:xfrm>
          <a:prstGeom prst="rect">
            <a:avLst/>
          </a:prstGeom>
          <a:noFill/>
        </p:spPr>
        <p:txBody>
          <a:bodyPr wrap="square" lIns="0" rIns="0" tIns="0" bIns="0" anchor="ctr">
            <a:spAutoFit/>
          </a:bodyPr>
          <a:lstStyle/>
          <a:p>
            <a:pPr algn="l"/>
            <a:r>
              <a:rPr sz="1400" b="1" i="0">
                <a:solidFill>
                  <a:srgbClr val="7C3AED"/>
                </a:solidFill>
                <a:latin typeface="Calibri"/>
              </a:rPr>
              <a:t>{{LEVEL_5_PRICE}}</a:t>
            </a:r>
          </a:p>
        </p:txBody>
      </p:sp>
      <p:sp>
        <p:nvSpPr>
          <p:cNvPr id="49" name="TextBox 48"/>
          <p:cNvSpPr txBox="1"/>
          <p:nvPr/>
        </p:nvSpPr>
        <p:spPr>
          <a:xfrm>
            <a:off x="9418320" y="4480559"/>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{{LEVEL_5_DELTA}}</a:t>
            </a:r>
          </a:p>
        </p:txBody>
      </p:sp>
      <p:sp>
        <p:nvSpPr>
          <p:cNvPr id="50" name="Oval 49"/>
          <p:cNvSpPr/>
          <p:nvPr/>
        </p:nvSpPr>
        <p:spPr>
          <a:xfrm>
            <a:off x="6309360" y="5020056"/>
            <a:ext cx="109728" cy="109728"/>
          </a:xfrm>
          <a:prstGeom prst="ellipse">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libri"/>
              </a:rPr>
              <a:t/>
            </a:r>
          </a:p>
        </p:txBody>
      </p:sp>
      <p:sp>
        <p:nvSpPr>
          <p:cNvPr id="51" name="TextBox 50"/>
          <p:cNvSpPr txBox="1"/>
          <p:nvPr/>
        </p:nvSpPr>
        <p:spPr>
          <a:xfrm>
            <a:off x="548640" y="4892040"/>
            <a:ext cx="5029200" cy="365760"/>
          </a:xfrm>
          <a:prstGeom prst="rect">
            <a:avLst/>
          </a:prstGeom>
          <a:noFill/>
        </p:spPr>
        <p:txBody>
          <a:bodyPr wrap="square" lIns="0" rIns="0" tIns="0" bIns="0" anchor="ctr">
            <a:spAutoFit/>
          </a:bodyPr>
          <a:lstStyle/>
          <a:p>
            <a:pPr algn="r"/>
            <a:r>
              <a:rPr sz="1100" b="0" i="0">
                <a:solidFill>
                  <a:srgbClr val="1F2937"/>
                </a:solidFill>
                <a:latin typeface="Calibri"/>
              </a:rPr>
              <a:t>{{LEVEL_6_NAME}}</a:t>
            </a:r>
          </a:p>
        </p:txBody>
      </p:sp>
      <p:sp>
        <p:nvSpPr>
          <p:cNvPr id="52" name="TextBox 51"/>
          <p:cNvSpPr txBox="1"/>
          <p:nvPr/>
        </p:nvSpPr>
        <p:spPr>
          <a:xfrm>
            <a:off x="6675120" y="4892040"/>
            <a:ext cx="2743200" cy="365760"/>
          </a:xfrm>
          <a:prstGeom prst="rect">
            <a:avLst/>
          </a:prstGeom>
          <a:noFill/>
        </p:spPr>
        <p:txBody>
          <a:bodyPr wrap="square" lIns="0" rIns="0" tIns="0" bIns="0" anchor="ctr">
            <a:spAutoFit/>
          </a:bodyPr>
          <a:lstStyle/>
          <a:p>
            <a:pPr algn="l"/>
            <a:r>
              <a:rPr sz="1400" b="1" i="0">
                <a:solidFill>
                  <a:srgbClr val="1F2937"/>
                </a:solidFill>
                <a:latin typeface="Calibri"/>
              </a:rPr>
              <a:t>{{LEVEL_6_PRICE}}</a:t>
            </a:r>
          </a:p>
        </p:txBody>
      </p:sp>
      <p:sp>
        <p:nvSpPr>
          <p:cNvPr id="53" name="TextBox 52"/>
          <p:cNvSpPr txBox="1"/>
          <p:nvPr/>
        </p:nvSpPr>
        <p:spPr>
          <a:xfrm>
            <a:off x="9418320" y="4892040"/>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{{LEVEL_6_DELTA}}</a:t>
            </a:r>
          </a:p>
        </p:txBody>
      </p:sp>
      <p:sp>
        <p:nvSpPr>
          <p:cNvPr id="54" name="Oval 53"/>
          <p:cNvSpPr/>
          <p:nvPr/>
        </p:nvSpPr>
        <p:spPr>
          <a:xfrm>
            <a:off x="6309360" y="5431536"/>
            <a:ext cx="109728" cy="109728"/>
          </a:xfrm>
          <a:prstGeom prst="ellipse">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libri"/>
              </a:rPr>
              <a:t/>
            </a:r>
          </a:p>
        </p:txBody>
      </p:sp>
      <p:sp>
        <p:nvSpPr>
          <p:cNvPr id="55" name="TextBox 54"/>
          <p:cNvSpPr txBox="1"/>
          <p:nvPr/>
        </p:nvSpPr>
        <p:spPr>
          <a:xfrm>
            <a:off x="548640" y="5303520"/>
            <a:ext cx="5029200" cy="365760"/>
          </a:xfrm>
          <a:prstGeom prst="rect">
            <a:avLst/>
          </a:prstGeom>
          <a:noFill/>
        </p:spPr>
        <p:txBody>
          <a:bodyPr wrap="square" lIns="0" rIns="0" tIns="0" bIns="0" anchor="ctr">
            <a:spAutoFit/>
          </a:bodyPr>
          <a:lstStyle/>
          <a:p>
            <a:pPr algn="r"/>
            <a:r>
              <a:rPr sz="1100" b="0" i="0">
                <a:solidFill>
                  <a:srgbClr val="1F2937"/>
                </a:solidFill>
                <a:latin typeface="Calibri"/>
              </a:rPr>
              <a:t>{{LEVEL_7_NAME}}</a:t>
            </a:r>
          </a:p>
        </p:txBody>
      </p:sp>
      <p:sp>
        <p:nvSpPr>
          <p:cNvPr id="56" name="TextBox 55"/>
          <p:cNvSpPr txBox="1"/>
          <p:nvPr/>
        </p:nvSpPr>
        <p:spPr>
          <a:xfrm>
            <a:off x="6675120" y="5303520"/>
            <a:ext cx="2743200" cy="365760"/>
          </a:xfrm>
          <a:prstGeom prst="rect">
            <a:avLst/>
          </a:prstGeom>
          <a:noFill/>
        </p:spPr>
        <p:txBody>
          <a:bodyPr wrap="square" lIns="0" rIns="0" tIns="0" bIns="0" anchor="ctr">
            <a:spAutoFit/>
          </a:bodyPr>
          <a:lstStyle/>
          <a:p>
            <a:pPr algn="l"/>
            <a:r>
              <a:rPr sz="1400" b="1" i="0">
                <a:solidFill>
                  <a:srgbClr val="1F2937"/>
                </a:solidFill>
                <a:latin typeface="Calibri"/>
              </a:rPr>
              <a:t>{{LEVEL_7_PRICE}}</a:t>
            </a:r>
          </a:p>
        </p:txBody>
      </p:sp>
      <p:sp>
        <p:nvSpPr>
          <p:cNvPr id="57" name="TextBox 56"/>
          <p:cNvSpPr txBox="1"/>
          <p:nvPr/>
        </p:nvSpPr>
        <p:spPr>
          <a:xfrm>
            <a:off x="9418320" y="5303520"/>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{{LEVEL_7_DELTA}}</a:t>
            </a:r>
          </a:p>
        </p:txBody>
      </p:sp>
      <p:sp>
        <p:nvSpPr>
          <p:cNvPr id="58" name="Oval 57"/>
          <p:cNvSpPr/>
          <p:nvPr/>
        </p:nvSpPr>
        <p:spPr>
          <a:xfrm>
            <a:off x="6309360" y="5843016"/>
            <a:ext cx="109728" cy="109728"/>
          </a:xfrm>
          <a:prstGeom prst="ellipse">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libri"/>
              </a:rPr>
              <a:t/>
            </a:r>
          </a:p>
        </p:txBody>
      </p:sp>
      <p:sp>
        <p:nvSpPr>
          <p:cNvPr id="59" name="TextBox 58"/>
          <p:cNvSpPr txBox="1"/>
          <p:nvPr/>
        </p:nvSpPr>
        <p:spPr>
          <a:xfrm>
            <a:off x="548640" y="5714999"/>
            <a:ext cx="5029200" cy="365760"/>
          </a:xfrm>
          <a:prstGeom prst="rect">
            <a:avLst/>
          </a:prstGeom>
          <a:noFill/>
        </p:spPr>
        <p:txBody>
          <a:bodyPr wrap="square" lIns="0" rIns="0" tIns="0" bIns="0" anchor="ctr">
            <a:spAutoFit/>
          </a:bodyPr>
          <a:lstStyle/>
          <a:p>
            <a:pPr algn="r"/>
            <a:r>
              <a:rPr sz="1100" b="0" i="0">
                <a:solidFill>
                  <a:srgbClr val="1F2937"/>
                </a:solidFill>
                <a:latin typeface="Calibri"/>
              </a:rPr>
              <a:t>{{LEVEL_8_NAME}}</a:t>
            </a:r>
          </a:p>
        </p:txBody>
      </p:sp>
      <p:sp>
        <p:nvSpPr>
          <p:cNvPr id="60" name="TextBox 59"/>
          <p:cNvSpPr txBox="1"/>
          <p:nvPr/>
        </p:nvSpPr>
        <p:spPr>
          <a:xfrm>
            <a:off x="6675120" y="5714999"/>
            <a:ext cx="2743200" cy="365760"/>
          </a:xfrm>
          <a:prstGeom prst="rect">
            <a:avLst/>
          </a:prstGeom>
          <a:noFill/>
        </p:spPr>
        <p:txBody>
          <a:bodyPr wrap="square" lIns="0" rIns="0" tIns="0" bIns="0" anchor="ctr">
            <a:spAutoFit/>
          </a:bodyPr>
          <a:lstStyle/>
          <a:p>
            <a:pPr algn="l"/>
            <a:r>
              <a:rPr sz="1400" b="1" i="0">
                <a:solidFill>
                  <a:srgbClr val="1F2937"/>
                </a:solidFill>
                <a:latin typeface="Calibri"/>
              </a:rPr>
              <a:t>{{LEVEL_8_PRICE}}</a:t>
            </a:r>
          </a:p>
        </p:txBody>
      </p:sp>
      <p:sp>
        <p:nvSpPr>
          <p:cNvPr id="61" name="TextBox 60"/>
          <p:cNvSpPr txBox="1"/>
          <p:nvPr/>
        </p:nvSpPr>
        <p:spPr>
          <a:xfrm>
            <a:off x="9418320" y="5714999"/>
            <a:ext cx="2221992" cy="365760"/>
          </a:xfrm>
          <a:prstGeom prst="rect">
            <a:avLst/>
          </a:prstGeom>
          <a:noFill/>
        </p:spPr>
        <p:txBody>
          <a:bodyPr wrap="square" lIns="0" rIns="0" tIns="0" bIns="0" anchor="ctr">
            <a:spAutoFit/>
          </a:bodyPr>
          <a:lstStyle/>
          <a:p>
            <a:pPr algn="l"/>
            <a:r>
              <a:rPr sz="1000" b="0" i="1">
                <a:solidFill>
                  <a:srgbClr val="6B7280"/>
                </a:solidFill>
                <a:latin typeface="Calibri"/>
              </a:rPr>
              <a:t>{{LEVEL_8_DELTA}}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DATA_TABLE_FULL">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11091672" cy="4572000"/>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325880"/>
            <a:ext cx="11091672" cy="36576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{{COL_1_HEAD}}</a:t>
            </a:r>
          </a:p>
        </p:txBody>
      </p:sp>
      <p:sp>
        <p:nvSpPr>
          <p:cNvPr id="12" name="TextBox 11"/>
          <p:cNvSpPr txBox="1"/>
          <p:nvPr/>
        </p:nvSpPr>
        <p:spPr>
          <a:xfrm>
            <a:off x="1980818"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{{COL_2_HEAD}}</a:t>
            </a:r>
          </a:p>
        </p:txBody>
      </p:sp>
      <p:sp>
        <p:nvSpPr>
          <p:cNvPr id="13" name="TextBox 12"/>
          <p:cNvSpPr txBox="1"/>
          <p:nvPr/>
        </p:nvSpPr>
        <p:spPr>
          <a:xfrm>
            <a:off x="3367278"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{{COL_3_HEAD}}</a:t>
            </a:r>
          </a:p>
        </p:txBody>
      </p:sp>
      <p:sp>
        <p:nvSpPr>
          <p:cNvPr id="14" name="TextBox 13"/>
          <p:cNvSpPr txBox="1"/>
          <p:nvPr/>
        </p:nvSpPr>
        <p:spPr>
          <a:xfrm>
            <a:off x="4753737"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{{COL_4_HEAD}}</a:t>
            </a:r>
          </a:p>
        </p:txBody>
      </p:sp>
      <p:sp>
        <p:nvSpPr>
          <p:cNvPr id="15" name="TextBox 14"/>
          <p:cNvSpPr txBox="1"/>
          <p:nvPr/>
        </p:nvSpPr>
        <p:spPr>
          <a:xfrm>
            <a:off x="6140196"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{{COL_5_HEAD}}</a:t>
            </a:r>
          </a:p>
        </p:txBody>
      </p:sp>
      <p:sp>
        <p:nvSpPr>
          <p:cNvPr id="16" name="TextBox 15"/>
          <p:cNvSpPr txBox="1"/>
          <p:nvPr/>
        </p:nvSpPr>
        <p:spPr>
          <a:xfrm>
            <a:off x="7526655"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{{COL_6_HEAD}}</a:t>
            </a:r>
          </a:p>
        </p:txBody>
      </p:sp>
      <p:sp>
        <p:nvSpPr>
          <p:cNvPr id="17" name="TextBox 16"/>
          <p:cNvSpPr txBox="1"/>
          <p:nvPr/>
        </p:nvSpPr>
        <p:spPr>
          <a:xfrm>
            <a:off x="8913114"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{{COL_7_HEAD}}</a:t>
            </a:r>
          </a:p>
        </p:txBody>
      </p:sp>
      <p:sp>
        <p:nvSpPr>
          <p:cNvPr id="18" name="TextBox 17"/>
          <p:cNvSpPr txBox="1"/>
          <p:nvPr/>
        </p:nvSpPr>
        <p:spPr>
          <a:xfrm>
            <a:off x="10299573" y="1325880"/>
            <a:ext cx="1295019" cy="365760"/>
          </a:xfrm>
          <a:prstGeom prst="rect">
            <a:avLst/>
          </a:prstGeom>
          <a:noFill/>
        </p:spPr>
        <p:txBody>
          <a:bodyPr wrap="square" lIns="0" rIns="0" tIns="0" bIns="0" anchor="ctr">
            <a:spAutoFit/>
          </a:bodyPr>
          <a:lstStyle/>
          <a:p>
            <a:pPr algn="ctr"/>
            <a:r>
              <a:rPr sz="1000" b="1" i="0">
                <a:solidFill>
                  <a:srgbClr val="FFFFFF"/>
                </a:solidFill>
                <a:latin typeface="Calibri"/>
              </a:rPr>
              <a:t>{{COL_8_HEAD}}</a:t>
            </a:r>
          </a:p>
        </p:txBody>
      </p:sp>
      <p:sp>
        <p:nvSpPr>
          <p:cNvPr id="19" name="TextBox 18"/>
          <p:cNvSpPr txBox="1"/>
          <p:nvPr/>
        </p:nvSpPr>
        <p:spPr>
          <a:xfrm>
            <a:off x="594360" y="169164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{{R1_C1}}</a:t>
            </a:r>
          </a:p>
        </p:txBody>
      </p:sp>
      <p:sp>
        <p:nvSpPr>
          <p:cNvPr id="20" name="TextBox 19"/>
          <p:cNvSpPr txBox="1"/>
          <p:nvPr/>
        </p:nvSpPr>
        <p:spPr>
          <a:xfrm>
            <a:off x="1980818" y="16916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{{R1_C2}}</a:t>
            </a:r>
          </a:p>
        </p:txBody>
      </p:sp>
      <p:sp>
        <p:nvSpPr>
          <p:cNvPr id="21" name="TextBox 20"/>
          <p:cNvSpPr txBox="1"/>
          <p:nvPr/>
        </p:nvSpPr>
        <p:spPr>
          <a:xfrm>
            <a:off x="3367278" y="16916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{{R1_C3}}</a:t>
            </a:r>
          </a:p>
        </p:txBody>
      </p:sp>
      <p:sp>
        <p:nvSpPr>
          <p:cNvPr id="22" name="TextBox 21"/>
          <p:cNvSpPr txBox="1"/>
          <p:nvPr/>
        </p:nvSpPr>
        <p:spPr>
          <a:xfrm>
            <a:off x="4753737" y="16916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{{R1_C4}}</a:t>
            </a:r>
          </a:p>
        </p:txBody>
      </p:sp>
      <p:sp>
        <p:nvSpPr>
          <p:cNvPr id="23" name="TextBox 22"/>
          <p:cNvSpPr txBox="1"/>
          <p:nvPr/>
        </p:nvSpPr>
        <p:spPr>
          <a:xfrm>
            <a:off x="6140196" y="16916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{{R1_C5}}</a:t>
            </a:r>
          </a:p>
        </p:txBody>
      </p:sp>
      <p:sp>
        <p:nvSpPr>
          <p:cNvPr id="24" name="TextBox 23"/>
          <p:cNvSpPr txBox="1"/>
          <p:nvPr/>
        </p:nvSpPr>
        <p:spPr>
          <a:xfrm>
            <a:off x="7526655" y="16916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{{R1_C6}}</a:t>
            </a:r>
          </a:p>
        </p:txBody>
      </p:sp>
      <p:sp>
        <p:nvSpPr>
          <p:cNvPr id="25" name="TextBox 24"/>
          <p:cNvSpPr txBox="1"/>
          <p:nvPr/>
        </p:nvSpPr>
        <p:spPr>
          <a:xfrm>
            <a:off x="8913114" y="16916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{{R1_C7}}</a:t>
            </a:r>
          </a:p>
        </p:txBody>
      </p:sp>
      <p:sp>
        <p:nvSpPr>
          <p:cNvPr id="26" name="TextBox 25"/>
          <p:cNvSpPr txBox="1"/>
          <p:nvPr/>
        </p:nvSpPr>
        <p:spPr>
          <a:xfrm>
            <a:off x="10299573" y="16916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{{R1_C8}}</a:t>
            </a:r>
          </a:p>
        </p:txBody>
      </p:sp>
      <p:sp>
        <p:nvSpPr>
          <p:cNvPr id="27" name="Rectangle 26"/>
          <p:cNvSpPr/>
          <p:nvPr/>
        </p:nvSpPr>
        <p:spPr>
          <a:xfrm>
            <a:off x="594360" y="2217420"/>
            <a:ext cx="11000232" cy="5257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221742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{{R2_C1}}</a:t>
            </a:r>
          </a:p>
        </p:txBody>
      </p:sp>
      <p:sp>
        <p:nvSpPr>
          <p:cNvPr id="29" name="TextBox 28"/>
          <p:cNvSpPr txBox="1"/>
          <p:nvPr/>
        </p:nvSpPr>
        <p:spPr>
          <a:xfrm>
            <a:off x="1980818" y="22174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{{R2_C2}}</a:t>
            </a:r>
          </a:p>
        </p:txBody>
      </p:sp>
      <p:sp>
        <p:nvSpPr>
          <p:cNvPr id="30" name="TextBox 29"/>
          <p:cNvSpPr txBox="1"/>
          <p:nvPr/>
        </p:nvSpPr>
        <p:spPr>
          <a:xfrm>
            <a:off x="3367278" y="22174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{{R2_C3}}</a:t>
            </a:r>
          </a:p>
        </p:txBody>
      </p:sp>
      <p:sp>
        <p:nvSpPr>
          <p:cNvPr id="31" name="TextBox 30"/>
          <p:cNvSpPr txBox="1"/>
          <p:nvPr/>
        </p:nvSpPr>
        <p:spPr>
          <a:xfrm>
            <a:off x="4753737" y="22174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{{R2_C4}}</a:t>
            </a:r>
          </a:p>
        </p:txBody>
      </p:sp>
      <p:sp>
        <p:nvSpPr>
          <p:cNvPr id="32" name="TextBox 31"/>
          <p:cNvSpPr txBox="1"/>
          <p:nvPr/>
        </p:nvSpPr>
        <p:spPr>
          <a:xfrm>
            <a:off x="6140196" y="22174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{{R2_C5}}</a:t>
            </a:r>
          </a:p>
        </p:txBody>
      </p:sp>
      <p:sp>
        <p:nvSpPr>
          <p:cNvPr id="33" name="TextBox 32"/>
          <p:cNvSpPr txBox="1"/>
          <p:nvPr/>
        </p:nvSpPr>
        <p:spPr>
          <a:xfrm>
            <a:off x="7526655" y="22174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{{R2_C6}}</a:t>
            </a:r>
          </a:p>
        </p:txBody>
      </p:sp>
      <p:sp>
        <p:nvSpPr>
          <p:cNvPr id="34" name="TextBox 33"/>
          <p:cNvSpPr txBox="1"/>
          <p:nvPr/>
        </p:nvSpPr>
        <p:spPr>
          <a:xfrm>
            <a:off x="8913114" y="22174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{{R2_C7}}</a:t>
            </a:r>
          </a:p>
        </p:txBody>
      </p:sp>
      <p:sp>
        <p:nvSpPr>
          <p:cNvPr id="35" name="TextBox 34"/>
          <p:cNvSpPr txBox="1"/>
          <p:nvPr/>
        </p:nvSpPr>
        <p:spPr>
          <a:xfrm>
            <a:off x="10299573" y="22174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{{R2_C8}}</a:t>
            </a:r>
          </a:p>
        </p:txBody>
      </p:sp>
      <p:sp>
        <p:nvSpPr>
          <p:cNvPr id="36" name="TextBox 35"/>
          <p:cNvSpPr txBox="1"/>
          <p:nvPr/>
        </p:nvSpPr>
        <p:spPr>
          <a:xfrm>
            <a:off x="594360" y="274320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{{R3_C1}}</a:t>
            </a:r>
          </a:p>
        </p:txBody>
      </p:sp>
      <p:sp>
        <p:nvSpPr>
          <p:cNvPr id="37" name="TextBox 36"/>
          <p:cNvSpPr txBox="1"/>
          <p:nvPr/>
        </p:nvSpPr>
        <p:spPr>
          <a:xfrm>
            <a:off x="1980818" y="27432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{{R3_C2}}</a:t>
            </a:r>
          </a:p>
        </p:txBody>
      </p:sp>
      <p:sp>
        <p:nvSpPr>
          <p:cNvPr id="38" name="TextBox 37"/>
          <p:cNvSpPr txBox="1"/>
          <p:nvPr/>
        </p:nvSpPr>
        <p:spPr>
          <a:xfrm>
            <a:off x="3367278" y="27432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{{R3_C3}}</a:t>
            </a:r>
          </a:p>
        </p:txBody>
      </p:sp>
      <p:sp>
        <p:nvSpPr>
          <p:cNvPr id="39" name="TextBox 38"/>
          <p:cNvSpPr txBox="1"/>
          <p:nvPr/>
        </p:nvSpPr>
        <p:spPr>
          <a:xfrm>
            <a:off x="4753737" y="27432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{{R3_C4}}</a:t>
            </a:r>
          </a:p>
        </p:txBody>
      </p:sp>
      <p:sp>
        <p:nvSpPr>
          <p:cNvPr id="40" name="TextBox 39"/>
          <p:cNvSpPr txBox="1"/>
          <p:nvPr/>
        </p:nvSpPr>
        <p:spPr>
          <a:xfrm>
            <a:off x="6140196" y="27432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{{R3_C5}}</a:t>
            </a:r>
          </a:p>
        </p:txBody>
      </p:sp>
      <p:sp>
        <p:nvSpPr>
          <p:cNvPr id="41" name="TextBox 40"/>
          <p:cNvSpPr txBox="1"/>
          <p:nvPr/>
        </p:nvSpPr>
        <p:spPr>
          <a:xfrm>
            <a:off x="7526655" y="27432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{{R3_C6}}</a:t>
            </a:r>
          </a:p>
        </p:txBody>
      </p:sp>
      <p:sp>
        <p:nvSpPr>
          <p:cNvPr id="42" name="TextBox 41"/>
          <p:cNvSpPr txBox="1"/>
          <p:nvPr/>
        </p:nvSpPr>
        <p:spPr>
          <a:xfrm>
            <a:off x="8913114" y="27432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{{R3_C7}}</a:t>
            </a:r>
          </a:p>
        </p:txBody>
      </p:sp>
      <p:sp>
        <p:nvSpPr>
          <p:cNvPr id="43" name="TextBox 42"/>
          <p:cNvSpPr txBox="1"/>
          <p:nvPr/>
        </p:nvSpPr>
        <p:spPr>
          <a:xfrm>
            <a:off x="10299573" y="27432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{{R3_C8}}</a:t>
            </a:r>
          </a:p>
        </p:txBody>
      </p:sp>
      <p:sp>
        <p:nvSpPr>
          <p:cNvPr id="44" name="Rectangle 43"/>
          <p:cNvSpPr/>
          <p:nvPr/>
        </p:nvSpPr>
        <p:spPr>
          <a:xfrm>
            <a:off x="594360" y="3268980"/>
            <a:ext cx="11000232" cy="5257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326898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{{R4_C1}}</a:t>
            </a:r>
          </a:p>
        </p:txBody>
      </p:sp>
      <p:sp>
        <p:nvSpPr>
          <p:cNvPr id="46" name="TextBox 45"/>
          <p:cNvSpPr txBox="1"/>
          <p:nvPr/>
        </p:nvSpPr>
        <p:spPr>
          <a:xfrm>
            <a:off x="1980818" y="326898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{{R4_C2}}</a:t>
            </a:r>
          </a:p>
        </p:txBody>
      </p:sp>
      <p:sp>
        <p:nvSpPr>
          <p:cNvPr id="47" name="TextBox 46"/>
          <p:cNvSpPr txBox="1"/>
          <p:nvPr/>
        </p:nvSpPr>
        <p:spPr>
          <a:xfrm>
            <a:off x="3367278" y="326898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{{R4_C3}}</a:t>
            </a:r>
          </a:p>
        </p:txBody>
      </p:sp>
      <p:sp>
        <p:nvSpPr>
          <p:cNvPr id="48" name="TextBox 47"/>
          <p:cNvSpPr txBox="1"/>
          <p:nvPr/>
        </p:nvSpPr>
        <p:spPr>
          <a:xfrm>
            <a:off x="4753737" y="326898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{{R4_C4}}</a:t>
            </a:r>
          </a:p>
        </p:txBody>
      </p:sp>
      <p:sp>
        <p:nvSpPr>
          <p:cNvPr id="49" name="TextBox 48"/>
          <p:cNvSpPr txBox="1"/>
          <p:nvPr/>
        </p:nvSpPr>
        <p:spPr>
          <a:xfrm>
            <a:off x="6140196" y="326898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{{R4_C5}}</a:t>
            </a:r>
          </a:p>
        </p:txBody>
      </p:sp>
      <p:sp>
        <p:nvSpPr>
          <p:cNvPr id="50" name="TextBox 49"/>
          <p:cNvSpPr txBox="1"/>
          <p:nvPr/>
        </p:nvSpPr>
        <p:spPr>
          <a:xfrm>
            <a:off x="7526655" y="326898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{{R4_C6}}</a:t>
            </a:r>
          </a:p>
        </p:txBody>
      </p:sp>
      <p:sp>
        <p:nvSpPr>
          <p:cNvPr id="51" name="TextBox 50"/>
          <p:cNvSpPr txBox="1"/>
          <p:nvPr/>
        </p:nvSpPr>
        <p:spPr>
          <a:xfrm>
            <a:off x="8913114" y="326898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{{R4_C7}}</a:t>
            </a:r>
          </a:p>
        </p:txBody>
      </p:sp>
      <p:sp>
        <p:nvSpPr>
          <p:cNvPr id="52" name="TextBox 51"/>
          <p:cNvSpPr txBox="1"/>
          <p:nvPr/>
        </p:nvSpPr>
        <p:spPr>
          <a:xfrm>
            <a:off x="10299573" y="326898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{{R4_C8}}</a:t>
            </a:r>
          </a:p>
        </p:txBody>
      </p:sp>
      <p:sp>
        <p:nvSpPr>
          <p:cNvPr id="53" name="TextBox 52"/>
          <p:cNvSpPr txBox="1"/>
          <p:nvPr/>
        </p:nvSpPr>
        <p:spPr>
          <a:xfrm>
            <a:off x="594360" y="379476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{{R5_C1}}</a:t>
            </a:r>
          </a:p>
        </p:txBody>
      </p:sp>
      <p:sp>
        <p:nvSpPr>
          <p:cNvPr id="54" name="TextBox 53"/>
          <p:cNvSpPr txBox="1"/>
          <p:nvPr/>
        </p:nvSpPr>
        <p:spPr>
          <a:xfrm>
            <a:off x="1980818" y="379476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{{R5_C2}}</a:t>
            </a:r>
          </a:p>
        </p:txBody>
      </p:sp>
      <p:sp>
        <p:nvSpPr>
          <p:cNvPr id="55" name="TextBox 54"/>
          <p:cNvSpPr txBox="1"/>
          <p:nvPr/>
        </p:nvSpPr>
        <p:spPr>
          <a:xfrm>
            <a:off x="3367278" y="379476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{{R5_C3}}</a:t>
            </a:r>
          </a:p>
        </p:txBody>
      </p:sp>
      <p:sp>
        <p:nvSpPr>
          <p:cNvPr id="56" name="TextBox 55"/>
          <p:cNvSpPr txBox="1"/>
          <p:nvPr/>
        </p:nvSpPr>
        <p:spPr>
          <a:xfrm>
            <a:off x="4753737" y="379476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{{R5_C4}}</a:t>
            </a:r>
          </a:p>
        </p:txBody>
      </p:sp>
      <p:sp>
        <p:nvSpPr>
          <p:cNvPr id="57" name="TextBox 56"/>
          <p:cNvSpPr txBox="1"/>
          <p:nvPr/>
        </p:nvSpPr>
        <p:spPr>
          <a:xfrm>
            <a:off x="6140196" y="379476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{{R5_C5}}</a:t>
            </a:r>
          </a:p>
        </p:txBody>
      </p:sp>
      <p:sp>
        <p:nvSpPr>
          <p:cNvPr id="58" name="TextBox 57"/>
          <p:cNvSpPr txBox="1"/>
          <p:nvPr/>
        </p:nvSpPr>
        <p:spPr>
          <a:xfrm>
            <a:off x="7526655" y="379476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{{R5_C6}}</a:t>
            </a:r>
          </a:p>
        </p:txBody>
      </p:sp>
      <p:sp>
        <p:nvSpPr>
          <p:cNvPr id="59" name="TextBox 58"/>
          <p:cNvSpPr txBox="1"/>
          <p:nvPr/>
        </p:nvSpPr>
        <p:spPr>
          <a:xfrm>
            <a:off x="8913114" y="379476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{{R5_C7}}</a:t>
            </a:r>
          </a:p>
        </p:txBody>
      </p:sp>
      <p:sp>
        <p:nvSpPr>
          <p:cNvPr id="60" name="TextBox 59"/>
          <p:cNvSpPr txBox="1"/>
          <p:nvPr/>
        </p:nvSpPr>
        <p:spPr>
          <a:xfrm>
            <a:off x="10299573" y="379476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{{R5_C8}}</a:t>
            </a:r>
          </a:p>
        </p:txBody>
      </p:sp>
      <p:sp>
        <p:nvSpPr>
          <p:cNvPr id="61" name="Rectangle 60"/>
          <p:cNvSpPr/>
          <p:nvPr/>
        </p:nvSpPr>
        <p:spPr>
          <a:xfrm>
            <a:off x="594360" y="4320540"/>
            <a:ext cx="11000232" cy="5257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432054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{{R6_C1}}</a:t>
            </a:r>
          </a:p>
        </p:txBody>
      </p:sp>
      <p:sp>
        <p:nvSpPr>
          <p:cNvPr id="63" name="TextBox 62"/>
          <p:cNvSpPr txBox="1"/>
          <p:nvPr/>
        </p:nvSpPr>
        <p:spPr>
          <a:xfrm>
            <a:off x="1980818" y="43205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{{R6_C2}}</a:t>
            </a:r>
          </a:p>
        </p:txBody>
      </p:sp>
      <p:sp>
        <p:nvSpPr>
          <p:cNvPr id="64" name="TextBox 63"/>
          <p:cNvSpPr txBox="1"/>
          <p:nvPr/>
        </p:nvSpPr>
        <p:spPr>
          <a:xfrm>
            <a:off x="3367278" y="43205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{{R6_C3}}</a:t>
            </a:r>
          </a:p>
        </p:txBody>
      </p:sp>
      <p:sp>
        <p:nvSpPr>
          <p:cNvPr id="65" name="TextBox 64"/>
          <p:cNvSpPr txBox="1"/>
          <p:nvPr/>
        </p:nvSpPr>
        <p:spPr>
          <a:xfrm>
            <a:off x="4753737" y="43205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{{R6_C4}}</a:t>
            </a:r>
          </a:p>
        </p:txBody>
      </p:sp>
      <p:sp>
        <p:nvSpPr>
          <p:cNvPr id="66" name="TextBox 65"/>
          <p:cNvSpPr txBox="1"/>
          <p:nvPr/>
        </p:nvSpPr>
        <p:spPr>
          <a:xfrm>
            <a:off x="6140196" y="43205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{{R6_C5}}</a:t>
            </a:r>
          </a:p>
        </p:txBody>
      </p:sp>
      <p:sp>
        <p:nvSpPr>
          <p:cNvPr id="67" name="TextBox 66"/>
          <p:cNvSpPr txBox="1"/>
          <p:nvPr/>
        </p:nvSpPr>
        <p:spPr>
          <a:xfrm>
            <a:off x="7526655" y="43205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{{R6_C6}}</a:t>
            </a:r>
          </a:p>
        </p:txBody>
      </p:sp>
      <p:sp>
        <p:nvSpPr>
          <p:cNvPr id="68" name="TextBox 67"/>
          <p:cNvSpPr txBox="1"/>
          <p:nvPr/>
        </p:nvSpPr>
        <p:spPr>
          <a:xfrm>
            <a:off x="8913114" y="43205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{{R6_C7}}</a:t>
            </a:r>
          </a:p>
        </p:txBody>
      </p:sp>
      <p:sp>
        <p:nvSpPr>
          <p:cNvPr id="69" name="TextBox 68"/>
          <p:cNvSpPr txBox="1"/>
          <p:nvPr/>
        </p:nvSpPr>
        <p:spPr>
          <a:xfrm>
            <a:off x="10299573" y="432054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{{R6_C8}}</a:t>
            </a:r>
          </a:p>
        </p:txBody>
      </p:sp>
      <p:sp>
        <p:nvSpPr>
          <p:cNvPr id="70" name="TextBox 69"/>
          <p:cNvSpPr txBox="1"/>
          <p:nvPr/>
        </p:nvSpPr>
        <p:spPr>
          <a:xfrm>
            <a:off x="594360" y="484632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{{R7_C1}}</a:t>
            </a:r>
          </a:p>
        </p:txBody>
      </p:sp>
      <p:sp>
        <p:nvSpPr>
          <p:cNvPr id="71" name="TextBox 70"/>
          <p:cNvSpPr txBox="1"/>
          <p:nvPr/>
        </p:nvSpPr>
        <p:spPr>
          <a:xfrm>
            <a:off x="1980818" y="48463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{{R7_C2}}</a:t>
            </a:r>
          </a:p>
        </p:txBody>
      </p:sp>
      <p:sp>
        <p:nvSpPr>
          <p:cNvPr id="72" name="TextBox 71"/>
          <p:cNvSpPr txBox="1"/>
          <p:nvPr/>
        </p:nvSpPr>
        <p:spPr>
          <a:xfrm>
            <a:off x="3367278" y="48463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{{R7_C3}}</a:t>
            </a:r>
          </a:p>
        </p:txBody>
      </p:sp>
      <p:sp>
        <p:nvSpPr>
          <p:cNvPr id="73" name="TextBox 72"/>
          <p:cNvSpPr txBox="1"/>
          <p:nvPr/>
        </p:nvSpPr>
        <p:spPr>
          <a:xfrm>
            <a:off x="4753737" y="48463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{{R7_C4}}</a:t>
            </a:r>
          </a:p>
        </p:txBody>
      </p:sp>
      <p:sp>
        <p:nvSpPr>
          <p:cNvPr id="74" name="TextBox 73"/>
          <p:cNvSpPr txBox="1"/>
          <p:nvPr/>
        </p:nvSpPr>
        <p:spPr>
          <a:xfrm>
            <a:off x="6140196" y="48463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{{R7_C5}}</a:t>
            </a:r>
          </a:p>
        </p:txBody>
      </p:sp>
      <p:sp>
        <p:nvSpPr>
          <p:cNvPr id="75" name="TextBox 74"/>
          <p:cNvSpPr txBox="1"/>
          <p:nvPr/>
        </p:nvSpPr>
        <p:spPr>
          <a:xfrm>
            <a:off x="7526655" y="48463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{{R7_C6}}</a:t>
            </a:r>
          </a:p>
        </p:txBody>
      </p:sp>
      <p:sp>
        <p:nvSpPr>
          <p:cNvPr id="76" name="TextBox 75"/>
          <p:cNvSpPr txBox="1"/>
          <p:nvPr/>
        </p:nvSpPr>
        <p:spPr>
          <a:xfrm>
            <a:off x="8913114" y="48463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{{R7_C7}}</a:t>
            </a:r>
          </a:p>
        </p:txBody>
      </p:sp>
      <p:sp>
        <p:nvSpPr>
          <p:cNvPr id="77" name="TextBox 76"/>
          <p:cNvSpPr txBox="1"/>
          <p:nvPr/>
        </p:nvSpPr>
        <p:spPr>
          <a:xfrm>
            <a:off x="10299573" y="484632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{{R7_C8}}</a:t>
            </a:r>
          </a:p>
        </p:txBody>
      </p:sp>
      <p:sp>
        <p:nvSpPr>
          <p:cNvPr id="78" name="Rectangle 77"/>
          <p:cNvSpPr/>
          <p:nvPr/>
        </p:nvSpPr>
        <p:spPr>
          <a:xfrm>
            <a:off x="594360" y="5372100"/>
            <a:ext cx="11000232" cy="5257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94360" y="5372100"/>
            <a:ext cx="1295019" cy="525780"/>
          </a:xfrm>
          <a:prstGeom prst="rect">
            <a:avLst/>
          </a:prstGeom>
          <a:noFill/>
        </p:spPr>
        <p:txBody>
          <a:bodyPr wrap="square" lIns="0" rIns="0" tIns="0" bIns="0" anchor="ctr">
            <a:spAutoFit/>
          </a:bodyPr>
          <a:lstStyle/>
          <a:p>
            <a:pPr algn="ctr"/>
            <a:r>
              <a:rPr sz="1000" b="1" i="0">
                <a:solidFill>
                  <a:srgbClr val="7C3AED"/>
                </a:solidFill>
                <a:latin typeface="Calibri"/>
              </a:rPr>
              <a:t>{{R8_C1}}</a:t>
            </a:r>
          </a:p>
        </p:txBody>
      </p:sp>
      <p:sp>
        <p:nvSpPr>
          <p:cNvPr id="80" name="TextBox 79"/>
          <p:cNvSpPr txBox="1"/>
          <p:nvPr/>
        </p:nvSpPr>
        <p:spPr>
          <a:xfrm>
            <a:off x="1980818" y="53721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{{R8_C2}}</a:t>
            </a:r>
          </a:p>
        </p:txBody>
      </p:sp>
      <p:sp>
        <p:nvSpPr>
          <p:cNvPr id="81" name="TextBox 80"/>
          <p:cNvSpPr txBox="1"/>
          <p:nvPr/>
        </p:nvSpPr>
        <p:spPr>
          <a:xfrm>
            <a:off x="3367278" y="53721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{{R8_C3}}</a:t>
            </a:r>
          </a:p>
        </p:txBody>
      </p:sp>
      <p:sp>
        <p:nvSpPr>
          <p:cNvPr id="82" name="TextBox 81"/>
          <p:cNvSpPr txBox="1"/>
          <p:nvPr/>
        </p:nvSpPr>
        <p:spPr>
          <a:xfrm>
            <a:off x="4753737" y="53721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{{R8_C4}}</a:t>
            </a:r>
          </a:p>
        </p:txBody>
      </p:sp>
      <p:sp>
        <p:nvSpPr>
          <p:cNvPr id="83" name="TextBox 82"/>
          <p:cNvSpPr txBox="1"/>
          <p:nvPr/>
        </p:nvSpPr>
        <p:spPr>
          <a:xfrm>
            <a:off x="6140196" y="53721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{{R8_C5}}</a:t>
            </a:r>
          </a:p>
        </p:txBody>
      </p:sp>
      <p:sp>
        <p:nvSpPr>
          <p:cNvPr id="84" name="TextBox 83"/>
          <p:cNvSpPr txBox="1"/>
          <p:nvPr/>
        </p:nvSpPr>
        <p:spPr>
          <a:xfrm>
            <a:off x="7526655" y="53721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{{R8_C6}}</a:t>
            </a:r>
          </a:p>
        </p:txBody>
      </p:sp>
      <p:sp>
        <p:nvSpPr>
          <p:cNvPr id="85" name="TextBox 84"/>
          <p:cNvSpPr txBox="1"/>
          <p:nvPr/>
        </p:nvSpPr>
        <p:spPr>
          <a:xfrm>
            <a:off x="8913114" y="53721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{{R8_C7}}</a:t>
            </a:r>
          </a:p>
        </p:txBody>
      </p:sp>
      <p:sp>
        <p:nvSpPr>
          <p:cNvPr id="86" name="TextBox 85"/>
          <p:cNvSpPr txBox="1"/>
          <p:nvPr/>
        </p:nvSpPr>
        <p:spPr>
          <a:xfrm>
            <a:off x="10299573" y="5372100"/>
            <a:ext cx="1295019" cy="525780"/>
          </a:xfrm>
          <a:prstGeom prst="rect">
            <a:avLst/>
          </a:prstGeom>
          <a:noFill/>
        </p:spPr>
        <p:txBody>
          <a:bodyPr wrap="square" lIns="0" rIns="0" tIns="0" bIns="0" anchor="ctr">
            <a:spAutoFit/>
          </a:bodyPr>
          <a:lstStyle/>
          <a:p>
            <a:pPr algn="ctr"/>
            <a:r>
              <a:rPr sz="1000" b="0" i="0">
                <a:solidFill>
                  <a:srgbClr val="1F2937"/>
                </a:solidFill>
                <a:latin typeface="Calibri"/>
              </a:rPr>
              <a:t>{{R8_C8}}</a:t>
            </a:r>
          </a:p>
        </p:txBody>
      </p:sp>
      <p:sp>
        <p:nvSpPr>
          <p:cNvPr id="87" name="TextBox 86"/>
          <p:cNvSpPr txBox="1"/>
          <p:nvPr/>
        </p:nvSpPr>
        <p:spPr>
          <a:xfrm>
            <a:off x="548640" y="5989320"/>
            <a:ext cx="11091672" cy="274320"/>
          </a:xfrm>
          <a:prstGeom prst="rect">
            <a:avLst/>
          </a:prstGeom>
          <a:noFill/>
        </p:spPr>
        <p:txBody>
          <a:bodyPr wrap="square" lIns="0" rIns="0" tIns="0" bIns="0" anchor="t">
            <a:spAutoFit/>
          </a:bodyPr>
          <a:lstStyle/>
          <a:p>
            <a:pPr algn="l"/>
            <a:r>
              <a:rPr sz="1000" b="0" i="1">
                <a:solidFill>
                  <a:srgbClr val="9CA3AF"/>
                </a:solidFill>
                <a:latin typeface="Calibri"/>
              </a:rPr>
              <a:t>{{TABLE_NOTE}}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TIMELINE_NEWS">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ectangle 8"/>
          <p:cNvSpPr/>
          <p:nvPr/>
        </p:nvSpPr>
        <p:spPr>
          <a:xfrm>
            <a:off x="914400" y="2903220"/>
            <a:ext cx="10515600" cy="45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60220" y="1988820"/>
            <a:ext cx="2377440" cy="274320"/>
          </a:xfrm>
          <a:prstGeom prst="rect">
            <a:avLst/>
          </a:prstGeom>
          <a:noFill/>
        </p:spPr>
        <p:txBody>
          <a:bodyPr wrap="square" lIns="0" rIns="0" tIns="0" bIns="0" anchor="t">
            <a:spAutoFit/>
          </a:bodyPr>
          <a:lstStyle/>
          <a:p>
            <a:pPr algn="ctr"/>
            <a:r>
              <a:rPr sz="1100" b="1" i="0">
                <a:solidFill>
                  <a:srgbClr val="7C3AED"/>
                </a:solidFill>
                <a:latin typeface="Calibri"/>
              </a:rPr>
              <a:t>{{EVENT_1_DATE}}</a:t>
            </a:r>
          </a:p>
        </p:txBody>
      </p:sp>
      <p:sp>
        <p:nvSpPr>
          <p:cNvPr id="11" name="TextBox 10"/>
          <p:cNvSpPr txBox="1"/>
          <p:nvPr/>
        </p:nvSpPr>
        <p:spPr>
          <a:xfrm>
            <a:off x="1760220" y="2308860"/>
            <a:ext cx="2377440" cy="228600"/>
          </a:xfrm>
          <a:prstGeom prst="rect">
            <a:avLst/>
          </a:prstGeom>
          <a:noFill/>
        </p:spPr>
        <p:txBody>
          <a:bodyPr wrap="square" lIns="0" rIns="0" tIns="0" bIns="0" anchor="t">
            <a:spAutoFit/>
          </a:bodyPr>
          <a:lstStyle/>
          <a:p>
            <a:pPr algn="ctr"/>
            <a:r>
              <a:rPr sz="900" b="0" i="1">
                <a:solidFill>
                  <a:srgbClr val="9CA3AF"/>
                </a:solidFill>
                <a:latin typeface="Calibri"/>
              </a:rPr>
              <a:t>{{EVENT_1_TAG}}</a:t>
            </a:r>
          </a:p>
        </p:txBody>
      </p:sp>
      <p:sp>
        <p:nvSpPr>
          <p:cNvPr id="12" name="TextBox 11"/>
          <p:cNvSpPr txBox="1"/>
          <p:nvPr/>
        </p:nvSpPr>
        <p:spPr>
          <a:xfrm>
            <a:off x="1577340" y="3268980"/>
            <a:ext cx="2560320" cy="365760"/>
          </a:xfrm>
          <a:prstGeom prst="rect">
            <a:avLst/>
          </a:prstGeom>
          <a:noFill/>
        </p:spPr>
        <p:txBody>
          <a:bodyPr wrap="square" lIns="0" rIns="0" tIns="0" bIns="0" anchor="t">
            <a:spAutoFit/>
          </a:bodyPr>
          <a:lstStyle/>
          <a:p>
            <a:pPr algn="ctr"/>
            <a:r>
              <a:rPr sz="1200" b="1" i="0">
                <a:solidFill>
                  <a:srgbClr val="1F2937"/>
                </a:solidFill>
                <a:latin typeface="Calibri"/>
              </a:rPr>
              <a:t>{{EVENT_1_TITLE}}</a:t>
            </a:r>
          </a:p>
        </p:txBody>
      </p:sp>
      <p:sp>
        <p:nvSpPr>
          <p:cNvPr id="13" name="TextBox 12"/>
          <p:cNvSpPr txBox="1"/>
          <p:nvPr/>
        </p:nvSpPr>
        <p:spPr>
          <a:xfrm>
            <a:off x="1577340" y="3680460"/>
            <a:ext cx="2560320" cy="1097280"/>
          </a:xfrm>
          <a:prstGeom prst="rect">
            <a:avLst/>
          </a:prstGeom>
          <a:noFill/>
        </p:spPr>
        <p:txBody>
          <a:bodyPr wrap="square" lIns="0" rIns="0" tIns="0" bIns="0" anchor="t">
            <a:spAutoFit/>
          </a:bodyPr>
          <a:lstStyle/>
          <a:p>
            <a:pPr algn="ctr"/>
            <a:r>
              <a:rPr sz="1000" b="0" i="1">
                <a:solidFill>
                  <a:srgbClr val="6B7280"/>
                </a:solidFill>
                <a:latin typeface="Calibri"/>
              </a:rPr>
              <a:t>{{EVENT_1_BODY}}</a:t>
            </a:r>
          </a:p>
        </p:txBody>
      </p:sp>
      <p:sp>
        <p:nvSpPr>
          <p:cNvPr id="14" name="Oval 13"/>
          <p:cNvSpPr/>
          <p:nvPr/>
        </p:nvSpPr>
        <p:spPr>
          <a:xfrm>
            <a:off x="2857500" y="2766060"/>
            <a:ext cx="320040" cy="3200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15" name="TextBox 14"/>
          <p:cNvSpPr txBox="1"/>
          <p:nvPr/>
        </p:nvSpPr>
        <p:spPr>
          <a:xfrm>
            <a:off x="3680460" y="1074420"/>
            <a:ext cx="2560320" cy="365760"/>
          </a:xfrm>
          <a:prstGeom prst="rect">
            <a:avLst/>
          </a:prstGeom>
          <a:noFill/>
        </p:spPr>
        <p:txBody>
          <a:bodyPr wrap="square" lIns="0" rIns="0" tIns="0" bIns="0" anchor="t">
            <a:spAutoFit/>
          </a:bodyPr>
          <a:lstStyle/>
          <a:p>
            <a:pPr algn="ctr"/>
            <a:r>
              <a:rPr sz="1200" b="1" i="0">
                <a:solidFill>
                  <a:srgbClr val="1F2937"/>
                </a:solidFill>
                <a:latin typeface="Calibri"/>
              </a:rPr>
              <a:t>{{EVENT_2_TITLE}}</a:t>
            </a:r>
          </a:p>
        </p:txBody>
      </p:sp>
      <p:sp>
        <p:nvSpPr>
          <p:cNvPr id="16" name="TextBox 15"/>
          <p:cNvSpPr txBox="1"/>
          <p:nvPr/>
        </p:nvSpPr>
        <p:spPr>
          <a:xfrm>
            <a:off x="3680460" y="1485900"/>
            <a:ext cx="2560320" cy="1005840"/>
          </a:xfrm>
          <a:prstGeom prst="rect">
            <a:avLst/>
          </a:prstGeom>
          <a:noFill/>
        </p:spPr>
        <p:txBody>
          <a:bodyPr wrap="square" lIns="0" rIns="0" tIns="0" bIns="0" anchor="b">
            <a:spAutoFit/>
          </a:bodyPr>
          <a:lstStyle/>
          <a:p>
            <a:pPr algn="ctr"/>
            <a:r>
              <a:rPr sz="1000" b="0" i="1">
                <a:solidFill>
                  <a:srgbClr val="6B7280"/>
                </a:solidFill>
                <a:latin typeface="Calibri"/>
              </a:rPr>
              <a:t>{{EVENT_2_BODY}}</a:t>
            </a:r>
          </a:p>
        </p:txBody>
      </p:sp>
      <p:sp>
        <p:nvSpPr>
          <p:cNvPr id="17" name="TextBox 16"/>
          <p:cNvSpPr txBox="1"/>
          <p:nvPr/>
        </p:nvSpPr>
        <p:spPr>
          <a:xfrm>
            <a:off x="3863339" y="3268980"/>
            <a:ext cx="2377440" cy="274320"/>
          </a:xfrm>
          <a:prstGeom prst="rect">
            <a:avLst/>
          </a:prstGeom>
          <a:noFill/>
        </p:spPr>
        <p:txBody>
          <a:bodyPr wrap="square" lIns="0" rIns="0" tIns="0" bIns="0" anchor="t">
            <a:spAutoFit/>
          </a:bodyPr>
          <a:lstStyle/>
          <a:p>
            <a:pPr algn="ctr"/>
            <a:r>
              <a:rPr sz="1100" b="1" i="0">
                <a:solidFill>
                  <a:srgbClr val="7C3AED"/>
                </a:solidFill>
                <a:latin typeface="Calibri"/>
              </a:rPr>
              <a:t>{{EVENT_2_DATE}}</a:t>
            </a:r>
          </a:p>
        </p:txBody>
      </p:sp>
      <p:sp>
        <p:nvSpPr>
          <p:cNvPr id="18" name="TextBox 17"/>
          <p:cNvSpPr txBox="1"/>
          <p:nvPr/>
        </p:nvSpPr>
        <p:spPr>
          <a:xfrm>
            <a:off x="3863339" y="3589020"/>
            <a:ext cx="2377440" cy="228600"/>
          </a:xfrm>
          <a:prstGeom prst="rect">
            <a:avLst/>
          </a:prstGeom>
          <a:noFill/>
        </p:spPr>
        <p:txBody>
          <a:bodyPr wrap="square" lIns="0" rIns="0" tIns="0" bIns="0" anchor="t">
            <a:spAutoFit/>
          </a:bodyPr>
          <a:lstStyle/>
          <a:p>
            <a:pPr algn="ctr"/>
            <a:r>
              <a:rPr sz="900" b="0" i="1">
                <a:solidFill>
                  <a:srgbClr val="9CA3AF"/>
                </a:solidFill>
                <a:latin typeface="Calibri"/>
              </a:rPr>
              <a:t>{{EVENT_2_TAG}}</a:t>
            </a:r>
          </a:p>
        </p:txBody>
      </p:sp>
      <p:sp>
        <p:nvSpPr>
          <p:cNvPr id="19" name="Oval 18"/>
          <p:cNvSpPr/>
          <p:nvPr/>
        </p:nvSpPr>
        <p:spPr>
          <a:xfrm>
            <a:off x="4960620" y="2766060"/>
            <a:ext cx="320040" cy="3200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20" name="TextBox 19"/>
          <p:cNvSpPr txBox="1"/>
          <p:nvPr/>
        </p:nvSpPr>
        <p:spPr>
          <a:xfrm>
            <a:off x="5966459" y="1988820"/>
            <a:ext cx="2377440" cy="274320"/>
          </a:xfrm>
          <a:prstGeom prst="rect">
            <a:avLst/>
          </a:prstGeom>
          <a:noFill/>
        </p:spPr>
        <p:txBody>
          <a:bodyPr wrap="square" lIns="0" rIns="0" tIns="0" bIns="0" anchor="t">
            <a:spAutoFit/>
          </a:bodyPr>
          <a:lstStyle/>
          <a:p>
            <a:pPr algn="ctr"/>
            <a:r>
              <a:rPr sz="1100" b="1" i="0">
                <a:solidFill>
                  <a:srgbClr val="7C3AED"/>
                </a:solidFill>
                <a:latin typeface="Calibri"/>
              </a:rPr>
              <a:t>{{EVENT_3_DATE}}</a:t>
            </a:r>
          </a:p>
        </p:txBody>
      </p:sp>
      <p:sp>
        <p:nvSpPr>
          <p:cNvPr id="21" name="TextBox 20"/>
          <p:cNvSpPr txBox="1"/>
          <p:nvPr/>
        </p:nvSpPr>
        <p:spPr>
          <a:xfrm>
            <a:off x="5966459" y="2308860"/>
            <a:ext cx="2377440" cy="228600"/>
          </a:xfrm>
          <a:prstGeom prst="rect">
            <a:avLst/>
          </a:prstGeom>
          <a:noFill/>
        </p:spPr>
        <p:txBody>
          <a:bodyPr wrap="square" lIns="0" rIns="0" tIns="0" bIns="0" anchor="t">
            <a:spAutoFit/>
          </a:bodyPr>
          <a:lstStyle/>
          <a:p>
            <a:pPr algn="ctr"/>
            <a:r>
              <a:rPr sz="900" b="0" i="1">
                <a:solidFill>
                  <a:srgbClr val="9CA3AF"/>
                </a:solidFill>
                <a:latin typeface="Calibri"/>
              </a:rPr>
              <a:t>{{EVENT_3_TAG}}</a:t>
            </a:r>
          </a:p>
        </p:txBody>
      </p:sp>
      <p:sp>
        <p:nvSpPr>
          <p:cNvPr id="22" name="TextBox 21"/>
          <p:cNvSpPr txBox="1"/>
          <p:nvPr/>
        </p:nvSpPr>
        <p:spPr>
          <a:xfrm>
            <a:off x="5783579" y="3268980"/>
            <a:ext cx="2560320" cy="365760"/>
          </a:xfrm>
          <a:prstGeom prst="rect">
            <a:avLst/>
          </a:prstGeom>
          <a:noFill/>
        </p:spPr>
        <p:txBody>
          <a:bodyPr wrap="square" lIns="0" rIns="0" tIns="0" bIns="0" anchor="t">
            <a:spAutoFit/>
          </a:bodyPr>
          <a:lstStyle/>
          <a:p>
            <a:pPr algn="ctr"/>
            <a:r>
              <a:rPr sz="1200" b="1" i="0">
                <a:solidFill>
                  <a:srgbClr val="1F2937"/>
                </a:solidFill>
                <a:latin typeface="Calibri"/>
              </a:rPr>
              <a:t>{{EVENT_3_TITLE}}</a:t>
            </a:r>
          </a:p>
        </p:txBody>
      </p:sp>
      <p:sp>
        <p:nvSpPr>
          <p:cNvPr id="23" name="TextBox 22"/>
          <p:cNvSpPr txBox="1"/>
          <p:nvPr/>
        </p:nvSpPr>
        <p:spPr>
          <a:xfrm>
            <a:off x="5783579" y="3680460"/>
            <a:ext cx="2560320" cy="1097280"/>
          </a:xfrm>
          <a:prstGeom prst="rect">
            <a:avLst/>
          </a:prstGeom>
          <a:noFill/>
        </p:spPr>
        <p:txBody>
          <a:bodyPr wrap="square" lIns="0" rIns="0" tIns="0" bIns="0" anchor="t">
            <a:spAutoFit/>
          </a:bodyPr>
          <a:lstStyle/>
          <a:p>
            <a:pPr algn="ctr"/>
            <a:r>
              <a:rPr sz="1000" b="0" i="1">
                <a:solidFill>
                  <a:srgbClr val="6B7280"/>
                </a:solidFill>
                <a:latin typeface="Calibri"/>
              </a:rPr>
              <a:t>{{EVENT_3_BODY}}</a:t>
            </a:r>
          </a:p>
        </p:txBody>
      </p:sp>
      <p:sp>
        <p:nvSpPr>
          <p:cNvPr id="24" name="Oval 23"/>
          <p:cNvSpPr/>
          <p:nvPr/>
        </p:nvSpPr>
        <p:spPr>
          <a:xfrm>
            <a:off x="7063740" y="2766060"/>
            <a:ext cx="320040" cy="3200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25" name="TextBox 24"/>
          <p:cNvSpPr txBox="1"/>
          <p:nvPr/>
        </p:nvSpPr>
        <p:spPr>
          <a:xfrm>
            <a:off x="7886699" y="1074420"/>
            <a:ext cx="2560320" cy="365760"/>
          </a:xfrm>
          <a:prstGeom prst="rect">
            <a:avLst/>
          </a:prstGeom>
          <a:noFill/>
        </p:spPr>
        <p:txBody>
          <a:bodyPr wrap="square" lIns="0" rIns="0" tIns="0" bIns="0" anchor="t">
            <a:spAutoFit/>
          </a:bodyPr>
          <a:lstStyle/>
          <a:p>
            <a:pPr algn="ctr"/>
            <a:r>
              <a:rPr sz="1200" b="1" i="0">
                <a:solidFill>
                  <a:srgbClr val="1F2937"/>
                </a:solidFill>
                <a:latin typeface="Calibri"/>
              </a:rPr>
              <a:t>{{EVENT_4_TITLE}}</a:t>
            </a:r>
          </a:p>
        </p:txBody>
      </p:sp>
      <p:sp>
        <p:nvSpPr>
          <p:cNvPr id="26" name="TextBox 25"/>
          <p:cNvSpPr txBox="1"/>
          <p:nvPr/>
        </p:nvSpPr>
        <p:spPr>
          <a:xfrm>
            <a:off x="7886699" y="1485900"/>
            <a:ext cx="2560320" cy="1005840"/>
          </a:xfrm>
          <a:prstGeom prst="rect">
            <a:avLst/>
          </a:prstGeom>
          <a:noFill/>
        </p:spPr>
        <p:txBody>
          <a:bodyPr wrap="square" lIns="0" rIns="0" tIns="0" bIns="0" anchor="b">
            <a:spAutoFit/>
          </a:bodyPr>
          <a:lstStyle/>
          <a:p>
            <a:pPr algn="ctr"/>
            <a:r>
              <a:rPr sz="1000" b="0" i="1">
                <a:solidFill>
                  <a:srgbClr val="6B7280"/>
                </a:solidFill>
                <a:latin typeface="Calibri"/>
              </a:rPr>
              <a:t>{{EVENT_4_BODY}}</a:t>
            </a:r>
          </a:p>
        </p:txBody>
      </p:sp>
      <p:sp>
        <p:nvSpPr>
          <p:cNvPr id="27" name="TextBox 26"/>
          <p:cNvSpPr txBox="1"/>
          <p:nvPr/>
        </p:nvSpPr>
        <p:spPr>
          <a:xfrm>
            <a:off x="8069579" y="3268980"/>
            <a:ext cx="2377440" cy="274320"/>
          </a:xfrm>
          <a:prstGeom prst="rect">
            <a:avLst/>
          </a:prstGeom>
          <a:noFill/>
        </p:spPr>
        <p:txBody>
          <a:bodyPr wrap="square" lIns="0" rIns="0" tIns="0" bIns="0" anchor="t">
            <a:spAutoFit/>
          </a:bodyPr>
          <a:lstStyle/>
          <a:p>
            <a:pPr algn="ctr"/>
            <a:r>
              <a:rPr sz="1100" b="1" i="0">
                <a:solidFill>
                  <a:srgbClr val="7C3AED"/>
                </a:solidFill>
                <a:latin typeface="Calibri"/>
              </a:rPr>
              <a:t>{{EVENT_4_DATE}}</a:t>
            </a:r>
          </a:p>
        </p:txBody>
      </p:sp>
      <p:sp>
        <p:nvSpPr>
          <p:cNvPr id="28" name="TextBox 27"/>
          <p:cNvSpPr txBox="1"/>
          <p:nvPr/>
        </p:nvSpPr>
        <p:spPr>
          <a:xfrm>
            <a:off x="8069579" y="3589020"/>
            <a:ext cx="2377440" cy="228600"/>
          </a:xfrm>
          <a:prstGeom prst="rect">
            <a:avLst/>
          </a:prstGeom>
          <a:noFill/>
        </p:spPr>
        <p:txBody>
          <a:bodyPr wrap="square" lIns="0" rIns="0" tIns="0" bIns="0" anchor="t">
            <a:spAutoFit/>
          </a:bodyPr>
          <a:lstStyle/>
          <a:p>
            <a:pPr algn="ctr"/>
            <a:r>
              <a:rPr sz="900" b="0" i="1">
                <a:solidFill>
                  <a:srgbClr val="9CA3AF"/>
                </a:solidFill>
                <a:latin typeface="Calibri"/>
              </a:rPr>
              <a:t>{{EVENT_4_TAG}}</a:t>
            </a:r>
          </a:p>
        </p:txBody>
      </p:sp>
      <p:sp>
        <p:nvSpPr>
          <p:cNvPr id="29" name="Oval 28"/>
          <p:cNvSpPr/>
          <p:nvPr/>
        </p:nvSpPr>
        <p:spPr>
          <a:xfrm>
            <a:off x="9166859" y="2766060"/>
            <a:ext cx="320040" cy="3200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RISK_GRID_STEELMAN">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4846320" cy="7848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25880"/>
            <a:ext cx="54864" cy="78486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85800" y="1558290"/>
            <a:ext cx="320040" cy="320040"/>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12" name="TextBox 11"/>
          <p:cNvSpPr txBox="1"/>
          <p:nvPr/>
        </p:nvSpPr>
        <p:spPr>
          <a:xfrm>
            <a:off x="1097280" y="1371600"/>
            <a:ext cx="3657600" cy="693420"/>
          </a:xfrm>
          <a:prstGeom prst="rect">
            <a:avLst/>
          </a:prstGeom>
          <a:noFill/>
        </p:spPr>
        <p:txBody>
          <a:bodyPr wrap="square" lIns="0" rIns="0" tIns="0" bIns="0" anchor="ctr">
            <a:spAutoFit/>
          </a:bodyPr>
          <a:lstStyle/>
          <a:p>
            <a:pPr algn="l"/>
            <a:r>
              <a:rPr sz="1100" b="0" i="0">
                <a:solidFill>
                  <a:srgbClr val="1F2937"/>
                </a:solidFill>
                <a:latin typeface="Calibri"/>
              </a:rPr>
              <a:t>{{CONCERN_1}}</a:t>
            </a:r>
          </a:p>
        </p:txBody>
      </p:sp>
      <p:sp>
        <p:nvSpPr>
          <p:cNvPr id="13" name="Right Arrow 12"/>
          <p:cNvSpPr/>
          <p:nvPr/>
        </p:nvSpPr>
        <p:spPr>
          <a:xfrm>
            <a:off x="5486399" y="1581149"/>
            <a:ext cx="457200" cy="274320"/>
          </a:xfrm>
          <a:prstGeom prst="rightArrow">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39" y="1325880"/>
            <a:ext cx="5513832" cy="784860"/>
          </a:xfrm>
          <a:prstGeom prst="roundRect">
            <a:avLst>
              <a:gd name="adj" fmla="val 8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35039" y="1325880"/>
            <a:ext cx="54864" cy="7848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19" y="1371600"/>
            <a:ext cx="5239512" cy="693420"/>
          </a:xfrm>
          <a:prstGeom prst="rect">
            <a:avLst/>
          </a:prstGeom>
          <a:noFill/>
        </p:spPr>
        <p:txBody>
          <a:bodyPr wrap="square" lIns="0" rIns="0" tIns="0" bIns="0" anchor="ctr">
            <a:spAutoFit/>
          </a:bodyPr>
          <a:lstStyle/>
          <a:p>
            <a:pPr algn="l"/>
            <a:r>
              <a:rPr sz="1100" b="0" i="0">
                <a:solidFill>
                  <a:srgbClr val="1F2937"/>
                </a:solidFill>
                <a:latin typeface="Calibri"/>
              </a:rPr>
              <a:t>{{REBUT_1}}</a:t>
            </a:r>
          </a:p>
        </p:txBody>
      </p:sp>
      <p:sp>
        <p:nvSpPr>
          <p:cNvPr id="17" name="Rounded Rectangle 16"/>
          <p:cNvSpPr/>
          <p:nvPr/>
        </p:nvSpPr>
        <p:spPr>
          <a:xfrm>
            <a:off x="548640" y="2165604"/>
            <a:ext cx="4846320" cy="7848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2165604"/>
            <a:ext cx="54864" cy="78486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5800" y="2398014"/>
            <a:ext cx="320040" cy="320040"/>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20" name="TextBox 19"/>
          <p:cNvSpPr txBox="1"/>
          <p:nvPr/>
        </p:nvSpPr>
        <p:spPr>
          <a:xfrm>
            <a:off x="1097280" y="2211323"/>
            <a:ext cx="3657600" cy="693420"/>
          </a:xfrm>
          <a:prstGeom prst="rect">
            <a:avLst/>
          </a:prstGeom>
          <a:noFill/>
        </p:spPr>
        <p:txBody>
          <a:bodyPr wrap="square" lIns="0" rIns="0" tIns="0" bIns="0" anchor="ctr">
            <a:spAutoFit/>
          </a:bodyPr>
          <a:lstStyle/>
          <a:p>
            <a:pPr algn="l"/>
            <a:r>
              <a:rPr sz="1100" b="0" i="0">
                <a:solidFill>
                  <a:srgbClr val="1F2937"/>
                </a:solidFill>
                <a:latin typeface="Calibri"/>
              </a:rPr>
              <a:t>{{CONCERN_2}}</a:t>
            </a:r>
          </a:p>
        </p:txBody>
      </p:sp>
      <p:sp>
        <p:nvSpPr>
          <p:cNvPr id="21" name="Right Arrow 20"/>
          <p:cNvSpPr/>
          <p:nvPr/>
        </p:nvSpPr>
        <p:spPr>
          <a:xfrm>
            <a:off x="5486399" y="2420874"/>
            <a:ext cx="457200" cy="274320"/>
          </a:xfrm>
          <a:prstGeom prst="rightArrow">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035039" y="2165604"/>
            <a:ext cx="5513832" cy="784860"/>
          </a:xfrm>
          <a:prstGeom prst="roundRect">
            <a:avLst>
              <a:gd name="adj" fmla="val 8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35039" y="2165604"/>
            <a:ext cx="54864" cy="7848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19" y="2211323"/>
            <a:ext cx="5239512" cy="693420"/>
          </a:xfrm>
          <a:prstGeom prst="rect">
            <a:avLst/>
          </a:prstGeom>
          <a:noFill/>
        </p:spPr>
        <p:txBody>
          <a:bodyPr wrap="square" lIns="0" rIns="0" tIns="0" bIns="0" anchor="ctr">
            <a:spAutoFit/>
          </a:bodyPr>
          <a:lstStyle/>
          <a:p>
            <a:pPr algn="l"/>
            <a:r>
              <a:rPr sz="1100" b="0" i="0">
                <a:solidFill>
                  <a:srgbClr val="1F2937"/>
                </a:solidFill>
                <a:latin typeface="Calibri"/>
              </a:rPr>
              <a:t>{{REBUT_2}}</a:t>
            </a:r>
          </a:p>
        </p:txBody>
      </p:sp>
      <p:sp>
        <p:nvSpPr>
          <p:cNvPr id="25" name="Rounded Rectangle 24"/>
          <p:cNvSpPr/>
          <p:nvPr/>
        </p:nvSpPr>
        <p:spPr>
          <a:xfrm>
            <a:off x="548640" y="3005328"/>
            <a:ext cx="4846320" cy="7848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005328"/>
            <a:ext cx="54864" cy="78486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85800" y="3237738"/>
            <a:ext cx="320040" cy="320040"/>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28" name="TextBox 27"/>
          <p:cNvSpPr txBox="1"/>
          <p:nvPr/>
        </p:nvSpPr>
        <p:spPr>
          <a:xfrm>
            <a:off x="1097280" y="3051048"/>
            <a:ext cx="3657600" cy="693420"/>
          </a:xfrm>
          <a:prstGeom prst="rect">
            <a:avLst/>
          </a:prstGeom>
          <a:noFill/>
        </p:spPr>
        <p:txBody>
          <a:bodyPr wrap="square" lIns="0" rIns="0" tIns="0" bIns="0" anchor="ctr">
            <a:spAutoFit/>
          </a:bodyPr>
          <a:lstStyle/>
          <a:p>
            <a:pPr algn="l"/>
            <a:r>
              <a:rPr sz="1100" b="0" i="0">
                <a:solidFill>
                  <a:srgbClr val="1F2937"/>
                </a:solidFill>
                <a:latin typeface="Calibri"/>
              </a:rPr>
              <a:t>{{CONCERN_3}}</a:t>
            </a:r>
          </a:p>
        </p:txBody>
      </p:sp>
      <p:sp>
        <p:nvSpPr>
          <p:cNvPr id="29" name="Right Arrow 28"/>
          <p:cNvSpPr/>
          <p:nvPr/>
        </p:nvSpPr>
        <p:spPr>
          <a:xfrm>
            <a:off x="5486399" y="3260598"/>
            <a:ext cx="457200" cy="274320"/>
          </a:xfrm>
          <a:prstGeom prst="rightArrow">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035039" y="3005328"/>
            <a:ext cx="5513832" cy="784860"/>
          </a:xfrm>
          <a:prstGeom prst="roundRect">
            <a:avLst>
              <a:gd name="adj" fmla="val 8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35039" y="3005328"/>
            <a:ext cx="54864" cy="7848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19" y="3051048"/>
            <a:ext cx="5239512" cy="693420"/>
          </a:xfrm>
          <a:prstGeom prst="rect">
            <a:avLst/>
          </a:prstGeom>
          <a:noFill/>
        </p:spPr>
        <p:txBody>
          <a:bodyPr wrap="square" lIns="0" rIns="0" tIns="0" bIns="0" anchor="ctr">
            <a:spAutoFit/>
          </a:bodyPr>
          <a:lstStyle/>
          <a:p>
            <a:pPr algn="l"/>
            <a:r>
              <a:rPr sz="1100" b="0" i="0">
                <a:solidFill>
                  <a:srgbClr val="1F2937"/>
                </a:solidFill>
                <a:latin typeface="Calibri"/>
              </a:rPr>
              <a:t>{{REBUT_3}}</a:t>
            </a:r>
          </a:p>
        </p:txBody>
      </p:sp>
      <p:sp>
        <p:nvSpPr>
          <p:cNvPr id="33" name="Rounded Rectangle 32"/>
          <p:cNvSpPr/>
          <p:nvPr/>
        </p:nvSpPr>
        <p:spPr>
          <a:xfrm>
            <a:off x="548640" y="3845052"/>
            <a:ext cx="4846320" cy="7848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3845052"/>
            <a:ext cx="54864" cy="78486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85800" y="4077462"/>
            <a:ext cx="320040" cy="320040"/>
          </a:xfrm>
          <a:prstGeom prst="ellipse">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4</a:t>
            </a:r>
          </a:p>
        </p:txBody>
      </p:sp>
      <p:sp>
        <p:nvSpPr>
          <p:cNvPr id="36" name="TextBox 35"/>
          <p:cNvSpPr txBox="1"/>
          <p:nvPr/>
        </p:nvSpPr>
        <p:spPr>
          <a:xfrm>
            <a:off x="1097280" y="3890772"/>
            <a:ext cx="3657600" cy="693420"/>
          </a:xfrm>
          <a:prstGeom prst="rect">
            <a:avLst/>
          </a:prstGeom>
          <a:noFill/>
        </p:spPr>
        <p:txBody>
          <a:bodyPr wrap="square" lIns="0" rIns="0" tIns="0" bIns="0" anchor="ctr">
            <a:spAutoFit/>
          </a:bodyPr>
          <a:lstStyle/>
          <a:p>
            <a:pPr algn="l"/>
            <a:r>
              <a:rPr sz="1100" b="0" i="0">
                <a:solidFill>
                  <a:srgbClr val="1F2937"/>
                </a:solidFill>
                <a:latin typeface="Calibri"/>
              </a:rPr>
              <a:t>{{CONCERN_4}}</a:t>
            </a:r>
          </a:p>
        </p:txBody>
      </p:sp>
      <p:sp>
        <p:nvSpPr>
          <p:cNvPr id="37" name="Right Arrow 36"/>
          <p:cNvSpPr/>
          <p:nvPr/>
        </p:nvSpPr>
        <p:spPr>
          <a:xfrm>
            <a:off x="5486399" y="4100322"/>
            <a:ext cx="457200" cy="274320"/>
          </a:xfrm>
          <a:prstGeom prst="rightArrow">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035039" y="3845052"/>
            <a:ext cx="5513832" cy="784860"/>
          </a:xfrm>
          <a:prstGeom prst="roundRect">
            <a:avLst>
              <a:gd name="adj" fmla="val 8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35039" y="3845052"/>
            <a:ext cx="54864" cy="7848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19" y="3890772"/>
            <a:ext cx="5239512" cy="693420"/>
          </a:xfrm>
          <a:prstGeom prst="rect">
            <a:avLst/>
          </a:prstGeom>
          <a:noFill/>
        </p:spPr>
        <p:txBody>
          <a:bodyPr wrap="square" lIns="0" rIns="0" tIns="0" bIns="0" anchor="ctr">
            <a:spAutoFit/>
          </a:bodyPr>
          <a:lstStyle/>
          <a:p>
            <a:pPr algn="l"/>
            <a:r>
              <a:rPr sz="1100" b="0" i="0">
                <a:solidFill>
                  <a:srgbClr val="1F2937"/>
                </a:solidFill>
                <a:latin typeface="Calibri"/>
              </a:rPr>
              <a:t>{{REBUT_4}}</a:t>
            </a:r>
          </a:p>
        </p:txBody>
      </p:sp>
      <p:sp>
        <p:nvSpPr>
          <p:cNvPr id="41" name="Rounded Rectangle 40"/>
          <p:cNvSpPr/>
          <p:nvPr/>
        </p:nvSpPr>
        <p:spPr>
          <a:xfrm>
            <a:off x="548640" y="4684776"/>
            <a:ext cx="4846320" cy="784860"/>
          </a:xfrm>
          <a:prstGeom prst="roundRect">
            <a:avLst>
              <a:gd name="adj" fmla="val 8000"/>
            </a:avLst>
          </a:prstGeom>
          <a:solidFill>
            <a:srgbClr val="FD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48640" y="4684776"/>
            <a:ext cx="54864" cy="784860"/>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5800" y="4917186"/>
            <a:ext cx="320040" cy="320040"/>
          </a:xfrm>
          <a:prstGeom prst="ellipse">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5</a:t>
            </a:r>
          </a:p>
        </p:txBody>
      </p:sp>
      <p:sp>
        <p:nvSpPr>
          <p:cNvPr id="44" name="TextBox 43"/>
          <p:cNvSpPr txBox="1"/>
          <p:nvPr/>
        </p:nvSpPr>
        <p:spPr>
          <a:xfrm>
            <a:off x="1097280" y="4730496"/>
            <a:ext cx="3657600" cy="693420"/>
          </a:xfrm>
          <a:prstGeom prst="rect">
            <a:avLst/>
          </a:prstGeom>
          <a:noFill/>
        </p:spPr>
        <p:txBody>
          <a:bodyPr wrap="square" lIns="0" rIns="0" tIns="0" bIns="0" anchor="ctr">
            <a:spAutoFit/>
          </a:bodyPr>
          <a:lstStyle/>
          <a:p>
            <a:pPr algn="l"/>
            <a:r>
              <a:rPr sz="1100" b="0" i="0">
                <a:solidFill>
                  <a:srgbClr val="1F2937"/>
                </a:solidFill>
                <a:latin typeface="Calibri"/>
              </a:rPr>
              <a:t>{{CONCERN_5}}</a:t>
            </a:r>
          </a:p>
        </p:txBody>
      </p:sp>
      <p:sp>
        <p:nvSpPr>
          <p:cNvPr id="45" name="Right Arrow 44"/>
          <p:cNvSpPr/>
          <p:nvPr/>
        </p:nvSpPr>
        <p:spPr>
          <a:xfrm>
            <a:off x="5486399" y="4940046"/>
            <a:ext cx="457200" cy="274320"/>
          </a:xfrm>
          <a:prstGeom prst="rightArrow">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035039" y="4684776"/>
            <a:ext cx="5513832" cy="784860"/>
          </a:xfrm>
          <a:prstGeom prst="roundRect">
            <a:avLst>
              <a:gd name="adj" fmla="val 8000"/>
            </a:avLst>
          </a:prstGeom>
          <a:solidFill>
            <a:srgbClr val="FD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35039" y="4684776"/>
            <a:ext cx="54864" cy="784860"/>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19" y="4730496"/>
            <a:ext cx="5239512" cy="693420"/>
          </a:xfrm>
          <a:prstGeom prst="rect">
            <a:avLst/>
          </a:prstGeom>
          <a:noFill/>
        </p:spPr>
        <p:txBody>
          <a:bodyPr wrap="square" lIns="0" rIns="0" tIns="0" bIns="0" anchor="ctr">
            <a:spAutoFit/>
          </a:bodyPr>
          <a:lstStyle/>
          <a:p>
            <a:pPr algn="l"/>
            <a:r>
              <a:rPr sz="1100" b="0" i="1">
                <a:solidFill>
                  <a:srgbClr val="1F2937"/>
                </a:solidFill>
                <a:latin typeface="Calibri"/>
              </a:rPr>
              <a:t>{{REBUT_5}}</a:t>
            </a:r>
          </a:p>
        </p:txBody>
      </p:sp>
      <p:sp>
        <p:nvSpPr>
          <p:cNvPr id="49" name="Rounded Rectangle 48"/>
          <p:cNvSpPr/>
          <p:nvPr/>
        </p:nvSpPr>
        <p:spPr>
          <a:xfrm>
            <a:off x="548640" y="5524500"/>
            <a:ext cx="4846320" cy="784860"/>
          </a:xfrm>
          <a:prstGeom prst="roundRect">
            <a:avLst>
              <a:gd name="adj" fmla="val 8000"/>
            </a:avLst>
          </a:prstGeom>
          <a:solidFill>
            <a:srgbClr val="FD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8640" y="5524500"/>
            <a:ext cx="54864" cy="784860"/>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85800" y="5756910"/>
            <a:ext cx="320040" cy="320040"/>
          </a:xfrm>
          <a:prstGeom prst="ellipse">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6</a:t>
            </a:r>
          </a:p>
        </p:txBody>
      </p:sp>
      <p:sp>
        <p:nvSpPr>
          <p:cNvPr id="52" name="TextBox 51"/>
          <p:cNvSpPr txBox="1"/>
          <p:nvPr/>
        </p:nvSpPr>
        <p:spPr>
          <a:xfrm>
            <a:off x="1097280" y="5570220"/>
            <a:ext cx="3657600" cy="693420"/>
          </a:xfrm>
          <a:prstGeom prst="rect">
            <a:avLst/>
          </a:prstGeom>
          <a:noFill/>
        </p:spPr>
        <p:txBody>
          <a:bodyPr wrap="square" lIns="0" rIns="0" tIns="0" bIns="0" anchor="ctr">
            <a:spAutoFit/>
          </a:bodyPr>
          <a:lstStyle/>
          <a:p>
            <a:pPr algn="l"/>
            <a:r>
              <a:rPr sz="1100" b="0" i="0">
                <a:solidFill>
                  <a:srgbClr val="1F2937"/>
                </a:solidFill>
                <a:latin typeface="Calibri"/>
              </a:rPr>
              <a:t>{{CONCERN_6}}</a:t>
            </a:r>
          </a:p>
        </p:txBody>
      </p:sp>
      <p:sp>
        <p:nvSpPr>
          <p:cNvPr id="53" name="Right Arrow 52"/>
          <p:cNvSpPr/>
          <p:nvPr/>
        </p:nvSpPr>
        <p:spPr>
          <a:xfrm>
            <a:off x="5486399" y="5779770"/>
            <a:ext cx="457200" cy="274320"/>
          </a:xfrm>
          <a:prstGeom prst="rightArrow">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035039" y="5524500"/>
            <a:ext cx="5513832" cy="784860"/>
          </a:xfrm>
          <a:prstGeom prst="roundRect">
            <a:avLst>
              <a:gd name="adj" fmla="val 8000"/>
            </a:avLst>
          </a:prstGeom>
          <a:solidFill>
            <a:srgbClr val="FD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035039" y="5524500"/>
            <a:ext cx="54864" cy="784860"/>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19" y="5570220"/>
            <a:ext cx="5239512" cy="693420"/>
          </a:xfrm>
          <a:prstGeom prst="rect">
            <a:avLst/>
          </a:prstGeom>
          <a:noFill/>
        </p:spPr>
        <p:txBody>
          <a:bodyPr wrap="square" lIns="0" rIns="0" tIns="0" bIns="0" anchor="ctr">
            <a:spAutoFit/>
          </a:bodyPr>
          <a:lstStyle/>
          <a:p>
            <a:pPr algn="l"/>
            <a:r>
              <a:rPr sz="1100" b="0" i="1">
                <a:solidFill>
                  <a:srgbClr val="1F2937"/>
                </a:solidFill>
                <a:latin typeface="Calibri"/>
              </a:rPr>
              <a:t>{{REBUT_6}}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VARIANT_PERCEPTION">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4114800" y="1325880"/>
            <a:ext cx="7525512" cy="1371600"/>
          </a:xfrm>
          <a:prstGeom prst="roundRect">
            <a:avLst>
              <a:gd name="adj" fmla="val 15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1188720"/>
            <a:ext cx="914400" cy="914400"/>
          </a:xfrm>
          <a:prstGeom prst="rect">
            <a:avLst/>
          </a:prstGeom>
          <a:noFill/>
        </p:spPr>
        <p:txBody>
          <a:bodyPr wrap="square" lIns="0" rIns="0" tIns="0" bIns="0" anchor="t">
            <a:spAutoFit/>
          </a:bodyPr>
          <a:lstStyle/>
          <a:p>
            <a:pPr algn="l"/>
            <a:r>
              <a:rPr sz="8000" b="1" i="0">
                <a:solidFill>
                  <a:srgbClr val="B47EFF"/>
                </a:solidFill>
                <a:latin typeface="Calibri"/>
              </a:rPr>
              <a:t>“</a:t>
            </a:r>
          </a:p>
        </p:txBody>
      </p:sp>
      <p:sp>
        <p:nvSpPr>
          <p:cNvPr id="11" name="TextBox 10"/>
          <p:cNvSpPr txBox="1"/>
          <p:nvPr/>
        </p:nvSpPr>
        <p:spPr>
          <a:xfrm>
            <a:off x="4892040" y="1508760"/>
            <a:ext cx="6611112" cy="1005840"/>
          </a:xfrm>
          <a:prstGeom prst="rect">
            <a:avLst/>
          </a:prstGeom>
          <a:noFill/>
        </p:spPr>
        <p:txBody>
          <a:bodyPr wrap="square" lIns="0" rIns="0" tIns="0" bIns="0" anchor="ctr">
            <a:spAutoFit/>
          </a:bodyPr>
          <a:lstStyle/>
          <a:p>
            <a:pPr algn="l"/>
            <a:r>
              <a:rPr sz="1400" b="1" i="1">
                <a:solidFill>
                  <a:srgbClr val="FFFFFF"/>
                </a:solidFill>
                <a:latin typeface="Calibri"/>
              </a:rPr>
              <a:t>{{INSIGHT_KEY}}</a:t>
            </a:r>
          </a:p>
        </p:txBody>
      </p:sp>
      <p:sp>
        <p:nvSpPr>
          <p:cNvPr id="12" name="TextBox 11"/>
          <p:cNvSpPr txBox="1"/>
          <p:nvPr/>
        </p:nvSpPr>
        <p:spPr>
          <a:xfrm>
            <a:off x="548640" y="1417320"/>
            <a:ext cx="3383280" cy="365760"/>
          </a:xfrm>
          <a:prstGeom prst="rect">
            <a:avLst/>
          </a:prstGeom>
          <a:noFill/>
        </p:spPr>
        <p:txBody>
          <a:bodyPr wrap="square" lIns="0" rIns="0" tIns="0" bIns="0" anchor="t">
            <a:spAutoFit/>
          </a:bodyPr>
          <a:lstStyle/>
          <a:p>
            <a:pPr algn="l"/>
            <a:r>
              <a:rPr sz="1400" b="1" i="0">
                <a:solidFill>
                  <a:srgbClr val="7C3AED"/>
                </a:solidFill>
                <a:latin typeface="Calibri"/>
              </a:rPr>
              <a:t>GÓC NHÌN KHÁC BIỆT</a:t>
            </a:r>
          </a:p>
        </p:txBody>
      </p:sp>
      <p:sp>
        <p:nvSpPr>
          <p:cNvPr id="13" name="TextBox 12"/>
          <p:cNvSpPr txBox="1"/>
          <p:nvPr/>
        </p:nvSpPr>
        <p:spPr>
          <a:xfrm>
            <a:off x="548640" y="1783080"/>
            <a:ext cx="3383280" cy="914400"/>
          </a:xfrm>
          <a:prstGeom prst="rect">
            <a:avLst/>
          </a:prstGeom>
          <a:noFill/>
        </p:spPr>
        <p:txBody>
          <a:bodyPr wrap="square" lIns="0" rIns="0" tIns="0" bIns="0" anchor="t">
            <a:spAutoFit/>
          </a:bodyPr>
          <a:lstStyle/>
          <a:p>
            <a:pPr algn="l"/>
            <a:r>
              <a:rPr sz="1000" b="0" i="1">
                <a:solidFill>
                  <a:srgbClr val="6B7280"/>
                </a:solidFill>
                <a:latin typeface="Calibri"/>
              </a:rPr>
              <a:t>Đối chiếu 3 cách diễn giải cùng dữ liệu — phát hiện điểm bất đối xứng.</a:t>
            </a:r>
          </a:p>
        </p:txBody>
      </p:sp>
      <p:sp>
        <p:nvSpPr>
          <p:cNvPr id="14" name="Rounded Rectangle 13"/>
          <p:cNvSpPr/>
          <p:nvPr/>
        </p:nvSpPr>
        <p:spPr>
          <a:xfrm>
            <a:off x="548640" y="2880360"/>
            <a:ext cx="3605784" cy="333756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2880360"/>
            <a:ext cx="3605784" cy="457200"/>
          </a:xfrm>
          <a:prstGeom prst="roundRect">
            <a:avLst>
              <a:gd name="adj" fmla="val 12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880360"/>
            <a:ext cx="3331464" cy="457200"/>
          </a:xfrm>
          <a:prstGeom prst="rect">
            <a:avLst/>
          </a:prstGeom>
          <a:noFill/>
        </p:spPr>
        <p:txBody>
          <a:bodyPr wrap="square" lIns="0" rIns="0" tIns="0" bIns="0" anchor="ctr">
            <a:spAutoFit/>
          </a:bodyPr>
          <a:lstStyle/>
          <a:p>
            <a:pPr algn="l"/>
            <a:r>
              <a:rPr sz="1000" b="1" i="0">
                <a:solidFill>
                  <a:srgbClr val="FFFFFF"/>
                </a:solidFill>
                <a:latin typeface="Calibri"/>
              </a:rPr>
              <a:t>ĐỒNG THUẬN THỊ TRƯỜNG</a:t>
            </a:r>
          </a:p>
        </p:txBody>
      </p:sp>
      <p:sp>
        <p:nvSpPr>
          <p:cNvPr id="17" name="TextBox 16"/>
          <p:cNvSpPr txBox="1"/>
          <p:nvPr/>
        </p:nvSpPr>
        <p:spPr>
          <a:xfrm>
            <a:off x="777240" y="3474720"/>
            <a:ext cx="3240024" cy="2606039"/>
          </a:xfrm>
          <a:prstGeom prst="rect">
            <a:avLst/>
          </a:prstGeom>
          <a:noFill/>
        </p:spPr>
        <p:txBody>
          <a:bodyPr wrap="square" lIns="0" rIns="0" tIns="0" bIns="0" anchor="t">
            <a:spAutoFit/>
          </a:bodyPr>
          <a:lstStyle/>
          <a:p>
            <a:pPr algn="l"/>
            <a:r>
              <a:rPr sz="1100" b="0" i="1">
                <a:solidFill>
                  <a:srgbClr val="1F2937"/>
                </a:solidFill>
                <a:latin typeface="Calibri"/>
              </a:rPr>
              <a:t>{{CONSENSUS_VIEW}}</a:t>
            </a:r>
          </a:p>
        </p:txBody>
      </p:sp>
      <p:sp>
        <p:nvSpPr>
          <p:cNvPr id="18" name="Rounded Rectangle 17"/>
          <p:cNvSpPr/>
          <p:nvPr/>
        </p:nvSpPr>
        <p:spPr>
          <a:xfrm>
            <a:off x="4291584" y="2880360"/>
            <a:ext cx="3605784" cy="333756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91584" y="2880360"/>
            <a:ext cx="3605784" cy="457200"/>
          </a:xfrm>
          <a:prstGeom prst="roundRect">
            <a:avLst>
              <a:gd name="adj" fmla="val 12000"/>
            </a:avLst>
          </a:prstGeom>
          <a:solidFill>
            <a:srgbClr val="059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4464" y="2880360"/>
            <a:ext cx="3331464" cy="457200"/>
          </a:xfrm>
          <a:prstGeom prst="rect">
            <a:avLst/>
          </a:prstGeom>
          <a:noFill/>
        </p:spPr>
        <p:txBody>
          <a:bodyPr wrap="square" lIns="0" rIns="0" tIns="0" bIns="0" anchor="ctr">
            <a:spAutoFit/>
          </a:bodyPr>
          <a:lstStyle/>
          <a:p>
            <a:pPr algn="l"/>
            <a:r>
              <a:rPr sz="1000" b="1" i="0">
                <a:solidFill>
                  <a:srgbClr val="FFFFFF"/>
                </a:solidFill>
                <a:latin typeface="Calibri"/>
              </a:rPr>
              <a:t>TÂM LÝ NĐT CÁ NHÂN</a:t>
            </a:r>
          </a:p>
        </p:txBody>
      </p:sp>
      <p:sp>
        <p:nvSpPr>
          <p:cNvPr id="21" name="TextBox 20"/>
          <p:cNvSpPr txBox="1"/>
          <p:nvPr/>
        </p:nvSpPr>
        <p:spPr>
          <a:xfrm>
            <a:off x="4520184" y="3474720"/>
            <a:ext cx="3240024" cy="2606039"/>
          </a:xfrm>
          <a:prstGeom prst="rect">
            <a:avLst/>
          </a:prstGeom>
          <a:noFill/>
        </p:spPr>
        <p:txBody>
          <a:bodyPr wrap="square" lIns="0" rIns="0" tIns="0" bIns="0" anchor="t">
            <a:spAutoFit/>
          </a:bodyPr>
          <a:lstStyle/>
          <a:p>
            <a:pPr algn="l"/>
            <a:r>
              <a:rPr sz="1100" b="0" i="1">
                <a:solidFill>
                  <a:srgbClr val="1F2937"/>
                </a:solidFill>
                <a:latin typeface="Calibri"/>
              </a:rPr>
              <a:t>{{RETAIL_VIEW}}</a:t>
            </a:r>
          </a:p>
        </p:txBody>
      </p:sp>
      <p:sp>
        <p:nvSpPr>
          <p:cNvPr id="22" name="Rounded Rectangle 21"/>
          <p:cNvSpPr/>
          <p:nvPr/>
        </p:nvSpPr>
        <p:spPr>
          <a:xfrm>
            <a:off x="8034528" y="2880360"/>
            <a:ext cx="3605784" cy="333756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34528" y="2880360"/>
            <a:ext cx="3605784" cy="45720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7408" y="2880360"/>
            <a:ext cx="3331464" cy="457200"/>
          </a:xfrm>
          <a:prstGeom prst="rect">
            <a:avLst/>
          </a:prstGeom>
          <a:noFill/>
        </p:spPr>
        <p:txBody>
          <a:bodyPr wrap="square" lIns="0" rIns="0" tIns="0" bIns="0" anchor="ctr">
            <a:spAutoFit/>
          </a:bodyPr>
          <a:lstStyle/>
          <a:p>
            <a:pPr algn="l"/>
            <a:r>
              <a:rPr sz="1000" b="1" i="0">
                <a:solidFill>
                  <a:srgbClr val="FFFFFF"/>
                </a:solidFill>
                <a:latin typeface="Calibri"/>
              </a:rPr>
              <a:t>GÓC NHÌN KHÁC ĐỒNG THUẬN</a:t>
            </a:r>
          </a:p>
        </p:txBody>
      </p:sp>
      <p:sp>
        <p:nvSpPr>
          <p:cNvPr id="25" name="TextBox 24"/>
          <p:cNvSpPr txBox="1"/>
          <p:nvPr/>
        </p:nvSpPr>
        <p:spPr>
          <a:xfrm>
            <a:off x="8263128" y="3474720"/>
            <a:ext cx="3240024" cy="2606039"/>
          </a:xfrm>
          <a:prstGeom prst="rect">
            <a:avLst/>
          </a:prstGeom>
          <a:noFill/>
        </p:spPr>
        <p:txBody>
          <a:bodyPr wrap="square" lIns="0" rIns="0" tIns="0" bIns="0" anchor="t">
            <a:spAutoFit/>
          </a:bodyPr>
          <a:lstStyle/>
          <a:p>
            <a:pPr algn="l"/>
            <a:r>
              <a:rPr sz="1100" b="0" i="1">
                <a:solidFill>
                  <a:srgbClr val="1F2937"/>
                </a:solidFill>
                <a:latin typeface="Calibri"/>
              </a:rPr>
              <a:t>{{DIFFERENT_VIEW}}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BUY_STRUCTURE_FLEX">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TextBox 8"/>
          <p:cNvSpPr txBox="1"/>
          <p:nvPr/>
        </p:nvSpPr>
        <p:spPr>
          <a:xfrm>
            <a:off x="548640" y="1325880"/>
            <a:ext cx="8229600" cy="274320"/>
          </a:xfrm>
          <a:prstGeom prst="rect">
            <a:avLst/>
          </a:prstGeom>
          <a:noFill/>
        </p:spPr>
        <p:txBody>
          <a:bodyPr wrap="square" lIns="0" rIns="0" tIns="0" bIns="0" anchor="t">
            <a:spAutoFit/>
          </a:bodyPr>
          <a:lstStyle/>
          <a:p>
            <a:pPr algn="l"/>
            <a:r>
              <a:rPr sz="1200" b="0" i="1">
                <a:solidFill>
                  <a:srgbClr val="1F2937"/>
                </a:solidFill>
                <a:latin typeface="Calibri"/>
              </a:rPr>
              <a:t>{{STRUCTURE_NOTE}}</a:t>
            </a:r>
          </a:p>
        </p:txBody>
      </p:sp>
      <p:sp>
        <p:nvSpPr>
          <p:cNvPr id="10" name="Rounded Rectangle 9"/>
          <p:cNvSpPr/>
          <p:nvPr/>
        </p:nvSpPr>
        <p:spPr>
          <a:xfrm>
            <a:off x="9418320" y="1280160"/>
            <a:ext cx="2221992" cy="365760"/>
          </a:xfrm>
          <a:prstGeom prst="roundRect">
            <a:avLst>
              <a:gd name="adj" fmla="val 15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0" y="1280160"/>
            <a:ext cx="2221992" cy="365760"/>
          </a:xfrm>
          <a:prstGeom prst="rect">
            <a:avLst/>
          </a:prstGeom>
          <a:noFill/>
        </p:spPr>
        <p:txBody>
          <a:bodyPr wrap="square" lIns="0" rIns="0" tIns="0" bIns="0" anchor="ctr">
            <a:spAutoFit/>
          </a:bodyPr>
          <a:lstStyle/>
          <a:p>
            <a:pPr algn="ctr"/>
            <a:r>
              <a:rPr sz="1200" b="1" i="0">
                <a:solidFill>
                  <a:srgbClr val="7C3AED"/>
                </a:solidFill>
                <a:latin typeface="Calibri"/>
              </a:rPr>
              <a:t>{{LAYER_COUNT}}</a:t>
            </a:r>
          </a:p>
        </p:txBody>
      </p:sp>
      <p:sp>
        <p:nvSpPr>
          <p:cNvPr id="12" name="Rounded Rectangle 11"/>
          <p:cNvSpPr/>
          <p:nvPr/>
        </p:nvSpPr>
        <p:spPr>
          <a:xfrm>
            <a:off x="548640" y="1783080"/>
            <a:ext cx="11091672" cy="5943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783080"/>
            <a:ext cx="1463040" cy="59436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828800"/>
            <a:ext cx="1280160" cy="228600"/>
          </a:xfrm>
          <a:prstGeom prst="rect">
            <a:avLst/>
          </a:prstGeom>
          <a:noFill/>
        </p:spPr>
        <p:txBody>
          <a:bodyPr wrap="square" lIns="0" rIns="0" tIns="0" bIns="0" anchor="t">
            <a:spAutoFit/>
          </a:bodyPr>
          <a:lstStyle/>
          <a:p>
            <a:pPr algn="l"/>
            <a:r>
              <a:rPr sz="1000" b="1" i="0">
                <a:solidFill>
                  <a:srgbClr val="FFFFFF"/>
                </a:solidFill>
                <a:latin typeface="Calibri"/>
              </a:rPr>
              <a:t>{{LAYER_1_LABEL}}</a:t>
            </a:r>
          </a:p>
        </p:txBody>
      </p:sp>
      <p:sp>
        <p:nvSpPr>
          <p:cNvPr id="15" name="TextBox 14"/>
          <p:cNvSpPr txBox="1"/>
          <p:nvPr/>
        </p:nvSpPr>
        <p:spPr>
          <a:xfrm>
            <a:off x="640080" y="2057400"/>
            <a:ext cx="1280160" cy="274320"/>
          </a:xfrm>
          <a:prstGeom prst="rect">
            <a:avLst/>
          </a:prstGeom>
          <a:noFill/>
        </p:spPr>
        <p:txBody>
          <a:bodyPr wrap="square" lIns="0" rIns="0" tIns="0" bIns="0" anchor="t">
            <a:spAutoFit/>
          </a:bodyPr>
          <a:lstStyle/>
          <a:p>
            <a:pPr algn="l"/>
            <a:r>
              <a:rPr sz="1000" b="1" i="0">
                <a:solidFill>
                  <a:srgbClr val="FFFFFF"/>
                </a:solidFill>
                <a:latin typeface="Calibri"/>
              </a:rPr>
              <a:t>{{LAYER_1_ACTION}}</a:t>
            </a:r>
          </a:p>
        </p:txBody>
      </p:sp>
      <p:sp>
        <p:nvSpPr>
          <p:cNvPr id="16" name="TextBox 15"/>
          <p:cNvSpPr txBox="1"/>
          <p:nvPr/>
        </p:nvSpPr>
        <p:spPr>
          <a:xfrm>
            <a:off x="2148839" y="1828800"/>
            <a:ext cx="3087624" cy="182880"/>
          </a:xfrm>
          <a:prstGeom prst="rect">
            <a:avLst/>
          </a:prstGeom>
          <a:noFill/>
        </p:spPr>
        <p:txBody>
          <a:bodyPr wrap="square" lIns="0" rIns="0" tIns="0" bIns="0" anchor="t">
            <a:spAutoFit/>
          </a:bodyPr>
          <a:lstStyle/>
          <a:p>
            <a:pPr algn="l"/>
            <a:r>
              <a:rPr sz="800" b="0" i="0">
                <a:solidFill>
                  <a:srgbClr val="9CA3AF"/>
                </a:solidFill>
                <a:latin typeface="Calibri"/>
              </a:rPr>
              <a:t>Vùng giá</a:t>
            </a:r>
          </a:p>
        </p:txBody>
      </p:sp>
      <p:sp>
        <p:nvSpPr>
          <p:cNvPr id="17" name="TextBox 16"/>
          <p:cNvSpPr txBox="1"/>
          <p:nvPr/>
        </p:nvSpPr>
        <p:spPr>
          <a:xfrm>
            <a:off x="2148839" y="2011680"/>
            <a:ext cx="3087624" cy="274320"/>
          </a:xfrm>
          <a:prstGeom prst="rect">
            <a:avLst/>
          </a:prstGeom>
          <a:noFill/>
        </p:spPr>
        <p:txBody>
          <a:bodyPr wrap="square" lIns="0" rIns="0" tIns="0" bIns="0" anchor="t">
            <a:spAutoFit/>
          </a:bodyPr>
          <a:lstStyle/>
          <a:p>
            <a:pPr algn="l"/>
            <a:r>
              <a:rPr sz="1100" b="1" i="0">
                <a:solidFill>
                  <a:srgbClr val="1F2937"/>
                </a:solidFill>
                <a:latin typeface="Calibri"/>
              </a:rPr>
              <a:t>{{LAYER_1_PRICE_ZONE}}</a:t>
            </a:r>
          </a:p>
        </p:txBody>
      </p:sp>
      <p:sp>
        <p:nvSpPr>
          <p:cNvPr id="18" name="TextBox 17"/>
          <p:cNvSpPr txBox="1"/>
          <p:nvPr/>
        </p:nvSpPr>
        <p:spPr>
          <a:xfrm>
            <a:off x="5327904" y="1828800"/>
            <a:ext cx="3087624" cy="182880"/>
          </a:xfrm>
          <a:prstGeom prst="rect">
            <a:avLst/>
          </a:prstGeom>
          <a:noFill/>
        </p:spPr>
        <p:txBody>
          <a:bodyPr wrap="square" lIns="0" rIns="0" tIns="0" bIns="0" anchor="t">
            <a:spAutoFit/>
          </a:bodyPr>
          <a:lstStyle/>
          <a:p>
            <a:pPr algn="l"/>
            <a:r>
              <a:rPr sz="800" b="0" i="0">
                <a:solidFill>
                  <a:srgbClr val="9CA3AF"/>
                </a:solidFill>
                <a:latin typeface="Calibri"/>
              </a:rPr>
              <a:t>Phân bổ</a:t>
            </a:r>
          </a:p>
        </p:txBody>
      </p:sp>
      <p:sp>
        <p:nvSpPr>
          <p:cNvPr id="19" name="TextBox 18"/>
          <p:cNvSpPr txBox="1"/>
          <p:nvPr/>
        </p:nvSpPr>
        <p:spPr>
          <a:xfrm>
            <a:off x="5327904" y="2011680"/>
            <a:ext cx="3087624" cy="274320"/>
          </a:xfrm>
          <a:prstGeom prst="rect">
            <a:avLst/>
          </a:prstGeom>
          <a:noFill/>
        </p:spPr>
        <p:txBody>
          <a:bodyPr wrap="square" lIns="0" rIns="0" tIns="0" bIns="0" anchor="t">
            <a:spAutoFit/>
          </a:bodyPr>
          <a:lstStyle/>
          <a:p>
            <a:pPr algn="l"/>
            <a:r>
              <a:rPr sz="1100" b="1" i="0">
                <a:solidFill>
                  <a:srgbClr val="7C3AED"/>
                </a:solidFill>
                <a:latin typeface="Calibri"/>
              </a:rPr>
              <a:t>{{LAYER_1_ALLOCATION}}</a:t>
            </a:r>
          </a:p>
        </p:txBody>
      </p:sp>
      <p:sp>
        <p:nvSpPr>
          <p:cNvPr id="20" name="TextBox 19"/>
          <p:cNvSpPr txBox="1"/>
          <p:nvPr/>
        </p:nvSpPr>
        <p:spPr>
          <a:xfrm>
            <a:off x="8506968" y="1828800"/>
            <a:ext cx="3087624" cy="182880"/>
          </a:xfrm>
          <a:prstGeom prst="rect">
            <a:avLst/>
          </a:prstGeom>
          <a:noFill/>
        </p:spPr>
        <p:txBody>
          <a:bodyPr wrap="square" lIns="0" rIns="0" tIns="0" bIns="0" anchor="t">
            <a:spAutoFit/>
          </a:bodyPr>
          <a:lstStyle/>
          <a:p>
            <a:pPr algn="l"/>
            <a:r>
              <a:rPr sz="800" b="0" i="0">
                <a:solidFill>
                  <a:srgbClr val="9CA3AF"/>
                </a:solidFill>
                <a:latin typeface="Calibri"/>
              </a:rPr>
              <a:t>Trigger</a:t>
            </a:r>
          </a:p>
        </p:txBody>
      </p:sp>
      <p:sp>
        <p:nvSpPr>
          <p:cNvPr id="21" name="TextBox 20"/>
          <p:cNvSpPr txBox="1"/>
          <p:nvPr/>
        </p:nvSpPr>
        <p:spPr>
          <a:xfrm>
            <a:off x="8506968" y="2011680"/>
            <a:ext cx="3087624" cy="320040"/>
          </a:xfrm>
          <a:prstGeom prst="rect">
            <a:avLst/>
          </a:prstGeom>
          <a:noFill/>
        </p:spPr>
        <p:txBody>
          <a:bodyPr wrap="square" lIns="0" rIns="0" tIns="0" bIns="0" anchor="t">
            <a:spAutoFit/>
          </a:bodyPr>
          <a:lstStyle/>
          <a:p>
            <a:pPr algn="l"/>
            <a:r>
              <a:rPr sz="1000" b="0" i="1">
                <a:solidFill>
                  <a:srgbClr val="6B7280"/>
                </a:solidFill>
                <a:latin typeface="Calibri"/>
              </a:rPr>
              <a:t>{{LAYER_1_TRIGGER}}</a:t>
            </a:r>
          </a:p>
        </p:txBody>
      </p:sp>
      <p:sp>
        <p:nvSpPr>
          <p:cNvPr id="22" name="Rounded Rectangle 21"/>
          <p:cNvSpPr/>
          <p:nvPr/>
        </p:nvSpPr>
        <p:spPr>
          <a:xfrm>
            <a:off x="731520" y="2423160"/>
            <a:ext cx="10908792" cy="5943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2423160"/>
            <a:ext cx="1463040" cy="59436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2468879"/>
            <a:ext cx="1280160" cy="228600"/>
          </a:xfrm>
          <a:prstGeom prst="rect">
            <a:avLst/>
          </a:prstGeom>
          <a:noFill/>
        </p:spPr>
        <p:txBody>
          <a:bodyPr wrap="square" lIns="0" rIns="0" tIns="0" bIns="0" anchor="t">
            <a:spAutoFit/>
          </a:bodyPr>
          <a:lstStyle/>
          <a:p>
            <a:pPr algn="l"/>
            <a:r>
              <a:rPr sz="1000" b="1" i="0">
                <a:solidFill>
                  <a:srgbClr val="FFFFFF"/>
                </a:solidFill>
                <a:latin typeface="Calibri"/>
              </a:rPr>
              <a:t>{{LAYER_2_LABEL}}</a:t>
            </a:r>
          </a:p>
        </p:txBody>
      </p:sp>
      <p:sp>
        <p:nvSpPr>
          <p:cNvPr id="25" name="TextBox 24"/>
          <p:cNvSpPr txBox="1"/>
          <p:nvPr/>
        </p:nvSpPr>
        <p:spPr>
          <a:xfrm>
            <a:off x="822960" y="2697479"/>
            <a:ext cx="1280160" cy="274320"/>
          </a:xfrm>
          <a:prstGeom prst="rect">
            <a:avLst/>
          </a:prstGeom>
          <a:noFill/>
        </p:spPr>
        <p:txBody>
          <a:bodyPr wrap="square" lIns="0" rIns="0" tIns="0" bIns="0" anchor="t">
            <a:spAutoFit/>
          </a:bodyPr>
          <a:lstStyle/>
          <a:p>
            <a:pPr algn="l"/>
            <a:r>
              <a:rPr sz="1000" b="1" i="0">
                <a:solidFill>
                  <a:srgbClr val="FFFFFF"/>
                </a:solidFill>
                <a:latin typeface="Calibri"/>
              </a:rPr>
              <a:t>{{LAYER_2_ACTION}}</a:t>
            </a:r>
          </a:p>
        </p:txBody>
      </p:sp>
      <p:sp>
        <p:nvSpPr>
          <p:cNvPr id="26" name="TextBox 25"/>
          <p:cNvSpPr txBox="1"/>
          <p:nvPr/>
        </p:nvSpPr>
        <p:spPr>
          <a:xfrm>
            <a:off x="2331720" y="2468879"/>
            <a:ext cx="3026664" cy="182880"/>
          </a:xfrm>
          <a:prstGeom prst="rect">
            <a:avLst/>
          </a:prstGeom>
          <a:noFill/>
        </p:spPr>
        <p:txBody>
          <a:bodyPr wrap="square" lIns="0" rIns="0" tIns="0" bIns="0" anchor="t">
            <a:spAutoFit/>
          </a:bodyPr>
          <a:lstStyle/>
          <a:p>
            <a:pPr algn="l"/>
            <a:r>
              <a:rPr sz="800" b="0" i="0">
                <a:solidFill>
                  <a:srgbClr val="9CA3AF"/>
                </a:solidFill>
                <a:latin typeface="Calibri"/>
              </a:rPr>
              <a:t>Vùng giá</a:t>
            </a:r>
          </a:p>
        </p:txBody>
      </p:sp>
      <p:sp>
        <p:nvSpPr>
          <p:cNvPr id="27" name="TextBox 26"/>
          <p:cNvSpPr txBox="1"/>
          <p:nvPr/>
        </p:nvSpPr>
        <p:spPr>
          <a:xfrm>
            <a:off x="2331720" y="2651760"/>
            <a:ext cx="3026664" cy="274320"/>
          </a:xfrm>
          <a:prstGeom prst="rect">
            <a:avLst/>
          </a:prstGeom>
          <a:noFill/>
        </p:spPr>
        <p:txBody>
          <a:bodyPr wrap="square" lIns="0" rIns="0" tIns="0" bIns="0" anchor="t">
            <a:spAutoFit/>
          </a:bodyPr>
          <a:lstStyle/>
          <a:p>
            <a:pPr algn="l"/>
            <a:r>
              <a:rPr sz="1100" b="1" i="0">
                <a:solidFill>
                  <a:srgbClr val="1F2937"/>
                </a:solidFill>
                <a:latin typeface="Calibri"/>
              </a:rPr>
              <a:t>{{LAYER_2_PRICE_ZONE}}</a:t>
            </a:r>
          </a:p>
        </p:txBody>
      </p:sp>
      <p:sp>
        <p:nvSpPr>
          <p:cNvPr id="28" name="TextBox 27"/>
          <p:cNvSpPr txBox="1"/>
          <p:nvPr/>
        </p:nvSpPr>
        <p:spPr>
          <a:xfrm>
            <a:off x="5449824" y="2468879"/>
            <a:ext cx="3026664" cy="182880"/>
          </a:xfrm>
          <a:prstGeom prst="rect">
            <a:avLst/>
          </a:prstGeom>
          <a:noFill/>
        </p:spPr>
        <p:txBody>
          <a:bodyPr wrap="square" lIns="0" rIns="0" tIns="0" bIns="0" anchor="t">
            <a:spAutoFit/>
          </a:bodyPr>
          <a:lstStyle/>
          <a:p>
            <a:pPr algn="l"/>
            <a:r>
              <a:rPr sz="800" b="0" i="0">
                <a:solidFill>
                  <a:srgbClr val="9CA3AF"/>
                </a:solidFill>
                <a:latin typeface="Calibri"/>
              </a:rPr>
              <a:t>Phân bổ</a:t>
            </a:r>
          </a:p>
        </p:txBody>
      </p:sp>
      <p:sp>
        <p:nvSpPr>
          <p:cNvPr id="29" name="TextBox 28"/>
          <p:cNvSpPr txBox="1"/>
          <p:nvPr/>
        </p:nvSpPr>
        <p:spPr>
          <a:xfrm>
            <a:off x="5449824" y="2651760"/>
            <a:ext cx="3026664" cy="274320"/>
          </a:xfrm>
          <a:prstGeom prst="rect">
            <a:avLst/>
          </a:prstGeom>
          <a:noFill/>
        </p:spPr>
        <p:txBody>
          <a:bodyPr wrap="square" lIns="0" rIns="0" tIns="0" bIns="0" anchor="t">
            <a:spAutoFit/>
          </a:bodyPr>
          <a:lstStyle/>
          <a:p>
            <a:pPr algn="l"/>
            <a:r>
              <a:rPr sz="1100" b="1" i="0">
                <a:solidFill>
                  <a:srgbClr val="7C3AED"/>
                </a:solidFill>
                <a:latin typeface="Calibri"/>
              </a:rPr>
              <a:t>{{LAYER_2_ALLOCATION}}</a:t>
            </a:r>
          </a:p>
        </p:txBody>
      </p:sp>
      <p:sp>
        <p:nvSpPr>
          <p:cNvPr id="30" name="TextBox 29"/>
          <p:cNvSpPr txBox="1"/>
          <p:nvPr/>
        </p:nvSpPr>
        <p:spPr>
          <a:xfrm>
            <a:off x="8567928" y="2468879"/>
            <a:ext cx="3026664" cy="182880"/>
          </a:xfrm>
          <a:prstGeom prst="rect">
            <a:avLst/>
          </a:prstGeom>
          <a:noFill/>
        </p:spPr>
        <p:txBody>
          <a:bodyPr wrap="square" lIns="0" rIns="0" tIns="0" bIns="0" anchor="t">
            <a:spAutoFit/>
          </a:bodyPr>
          <a:lstStyle/>
          <a:p>
            <a:pPr algn="l"/>
            <a:r>
              <a:rPr sz="800" b="0" i="0">
                <a:solidFill>
                  <a:srgbClr val="9CA3AF"/>
                </a:solidFill>
                <a:latin typeface="Calibri"/>
              </a:rPr>
              <a:t>Trigger</a:t>
            </a:r>
          </a:p>
        </p:txBody>
      </p:sp>
      <p:sp>
        <p:nvSpPr>
          <p:cNvPr id="31" name="TextBox 30"/>
          <p:cNvSpPr txBox="1"/>
          <p:nvPr/>
        </p:nvSpPr>
        <p:spPr>
          <a:xfrm>
            <a:off x="8567928" y="2651760"/>
            <a:ext cx="3026664" cy="320040"/>
          </a:xfrm>
          <a:prstGeom prst="rect">
            <a:avLst/>
          </a:prstGeom>
          <a:noFill/>
        </p:spPr>
        <p:txBody>
          <a:bodyPr wrap="square" lIns="0" rIns="0" tIns="0" bIns="0" anchor="t">
            <a:spAutoFit/>
          </a:bodyPr>
          <a:lstStyle/>
          <a:p>
            <a:pPr algn="l"/>
            <a:r>
              <a:rPr sz="1000" b="0" i="1">
                <a:solidFill>
                  <a:srgbClr val="6B7280"/>
                </a:solidFill>
                <a:latin typeface="Calibri"/>
              </a:rPr>
              <a:t>{{LAYER_2_TRIGGER}}</a:t>
            </a:r>
          </a:p>
        </p:txBody>
      </p:sp>
      <p:sp>
        <p:nvSpPr>
          <p:cNvPr id="32" name="Rounded Rectangle 31"/>
          <p:cNvSpPr/>
          <p:nvPr/>
        </p:nvSpPr>
        <p:spPr>
          <a:xfrm>
            <a:off x="914400" y="3063240"/>
            <a:ext cx="10725912" cy="5943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14400" y="3063240"/>
            <a:ext cx="1463040" cy="59436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3108960"/>
            <a:ext cx="1280160" cy="228600"/>
          </a:xfrm>
          <a:prstGeom prst="rect">
            <a:avLst/>
          </a:prstGeom>
          <a:noFill/>
        </p:spPr>
        <p:txBody>
          <a:bodyPr wrap="square" lIns="0" rIns="0" tIns="0" bIns="0" anchor="t">
            <a:spAutoFit/>
          </a:bodyPr>
          <a:lstStyle/>
          <a:p>
            <a:pPr algn="l"/>
            <a:r>
              <a:rPr sz="1000" b="1" i="0">
                <a:solidFill>
                  <a:srgbClr val="FFFFFF"/>
                </a:solidFill>
                <a:latin typeface="Calibri"/>
              </a:rPr>
              <a:t>{{LAYER_3_LABEL}}</a:t>
            </a:r>
          </a:p>
        </p:txBody>
      </p:sp>
      <p:sp>
        <p:nvSpPr>
          <p:cNvPr id="35" name="TextBox 34"/>
          <p:cNvSpPr txBox="1"/>
          <p:nvPr/>
        </p:nvSpPr>
        <p:spPr>
          <a:xfrm>
            <a:off x="1005840" y="3337560"/>
            <a:ext cx="1280160" cy="274320"/>
          </a:xfrm>
          <a:prstGeom prst="rect">
            <a:avLst/>
          </a:prstGeom>
          <a:noFill/>
        </p:spPr>
        <p:txBody>
          <a:bodyPr wrap="square" lIns="0" rIns="0" tIns="0" bIns="0" anchor="t">
            <a:spAutoFit/>
          </a:bodyPr>
          <a:lstStyle/>
          <a:p>
            <a:pPr algn="l"/>
            <a:r>
              <a:rPr sz="1000" b="1" i="0">
                <a:solidFill>
                  <a:srgbClr val="FFFFFF"/>
                </a:solidFill>
                <a:latin typeface="Calibri"/>
              </a:rPr>
              <a:t>{{LAYER_3_ACTION}}</a:t>
            </a:r>
          </a:p>
        </p:txBody>
      </p:sp>
      <p:sp>
        <p:nvSpPr>
          <p:cNvPr id="36" name="TextBox 35"/>
          <p:cNvSpPr txBox="1"/>
          <p:nvPr/>
        </p:nvSpPr>
        <p:spPr>
          <a:xfrm>
            <a:off x="2514600" y="3108960"/>
            <a:ext cx="2965704" cy="182880"/>
          </a:xfrm>
          <a:prstGeom prst="rect">
            <a:avLst/>
          </a:prstGeom>
          <a:noFill/>
        </p:spPr>
        <p:txBody>
          <a:bodyPr wrap="square" lIns="0" rIns="0" tIns="0" bIns="0" anchor="t">
            <a:spAutoFit/>
          </a:bodyPr>
          <a:lstStyle/>
          <a:p>
            <a:pPr algn="l"/>
            <a:r>
              <a:rPr sz="800" b="0" i="0">
                <a:solidFill>
                  <a:srgbClr val="9CA3AF"/>
                </a:solidFill>
                <a:latin typeface="Calibri"/>
              </a:rPr>
              <a:t>Vùng giá</a:t>
            </a:r>
          </a:p>
        </p:txBody>
      </p:sp>
      <p:sp>
        <p:nvSpPr>
          <p:cNvPr id="37" name="TextBox 36"/>
          <p:cNvSpPr txBox="1"/>
          <p:nvPr/>
        </p:nvSpPr>
        <p:spPr>
          <a:xfrm>
            <a:off x="2514600" y="3291840"/>
            <a:ext cx="2965704" cy="274320"/>
          </a:xfrm>
          <a:prstGeom prst="rect">
            <a:avLst/>
          </a:prstGeom>
          <a:noFill/>
        </p:spPr>
        <p:txBody>
          <a:bodyPr wrap="square" lIns="0" rIns="0" tIns="0" bIns="0" anchor="t">
            <a:spAutoFit/>
          </a:bodyPr>
          <a:lstStyle/>
          <a:p>
            <a:pPr algn="l"/>
            <a:r>
              <a:rPr sz="1100" b="1" i="0">
                <a:solidFill>
                  <a:srgbClr val="1F2937"/>
                </a:solidFill>
                <a:latin typeface="Calibri"/>
              </a:rPr>
              <a:t>{{LAYER_3_PRICE_ZONE}}</a:t>
            </a:r>
          </a:p>
        </p:txBody>
      </p:sp>
      <p:sp>
        <p:nvSpPr>
          <p:cNvPr id="38" name="TextBox 37"/>
          <p:cNvSpPr txBox="1"/>
          <p:nvPr/>
        </p:nvSpPr>
        <p:spPr>
          <a:xfrm>
            <a:off x="5571744" y="3108960"/>
            <a:ext cx="2965704" cy="182880"/>
          </a:xfrm>
          <a:prstGeom prst="rect">
            <a:avLst/>
          </a:prstGeom>
          <a:noFill/>
        </p:spPr>
        <p:txBody>
          <a:bodyPr wrap="square" lIns="0" rIns="0" tIns="0" bIns="0" anchor="t">
            <a:spAutoFit/>
          </a:bodyPr>
          <a:lstStyle/>
          <a:p>
            <a:pPr algn="l"/>
            <a:r>
              <a:rPr sz="800" b="0" i="0">
                <a:solidFill>
                  <a:srgbClr val="9CA3AF"/>
                </a:solidFill>
                <a:latin typeface="Calibri"/>
              </a:rPr>
              <a:t>Phân bổ</a:t>
            </a:r>
          </a:p>
        </p:txBody>
      </p:sp>
      <p:sp>
        <p:nvSpPr>
          <p:cNvPr id="39" name="TextBox 38"/>
          <p:cNvSpPr txBox="1"/>
          <p:nvPr/>
        </p:nvSpPr>
        <p:spPr>
          <a:xfrm>
            <a:off x="5571744" y="3291840"/>
            <a:ext cx="2965704" cy="274320"/>
          </a:xfrm>
          <a:prstGeom prst="rect">
            <a:avLst/>
          </a:prstGeom>
          <a:noFill/>
        </p:spPr>
        <p:txBody>
          <a:bodyPr wrap="square" lIns="0" rIns="0" tIns="0" bIns="0" anchor="t">
            <a:spAutoFit/>
          </a:bodyPr>
          <a:lstStyle/>
          <a:p>
            <a:pPr algn="l"/>
            <a:r>
              <a:rPr sz="1100" b="1" i="0">
                <a:solidFill>
                  <a:srgbClr val="7C3AED"/>
                </a:solidFill>
                <a:latin typeface="Calibri"/>
              </a:rPr>
              <a:t>{{LAYER_3_ALLOCATION}}</a:t>
            </a:r>
          </a:p>
        </p:txBody>
      </p:sp>
      <p:sp>
        <p:nvSpPr>
          <p:cNvPr id="40" name="TextBox 39"/>
          <p:cNvSpPr txBox="1"/>
          <p:nvPr/>
        </p:nvSpPr>
        <p:spPr>
          <a:xfrm>
            <a:off x="8628888" y="3108960"/>
            <a:ext cx="2965704" cy="182880"/>
          </a:xfrm>
          <a:prstGeom prst="rect">
            <a:avLst/>
          </a:prstGeom>
          <a:noFill/>
        </p:spPr>
        <p:txBody>
          <a:bodyPr wrap="square" lIns="0" rIns="0" tIns="0" bIns="0" anchor="t">
            <a:spAutoFit/>
          </a:bodyPr>
          <a:lstStyle/>
          <a:p>
            <a:pPr algn="l"/>
            <a:r>
              <a:rPr sz="800" b="0" i="0">
                <a:solidFill>
                  <a:srgbClr val="9CA3AF"/>
                </a:solidFill>
                <a:latin typeface="Calibri"/>
              </a:rPr>
              <a:t>Trigger</a:t>
            </a:r>
          </a:p>
        </p:txBody>
      </p:sp>
      <p:sp>
        <p:nvSpPr>
          <p:cNvPr id="41" name="TextBox 40"/>
          <p:cNvSpPr txBox="1"/>
          <p:nvPr/>
        </p:nvSpPr>
        <p:spPr>
          <a:xfrm>
            <a:off x="8628888" y="3291840"/>
            <a:ext cx="2965704" cy="320040"/>
          </a:xfrm>
          <a:prstGeom prst="rect">
            <a:avLst/>
          </a:prstGeom>
          <a:noFill/>
        </p:spPr>
        <p:txBody>
          <a:bodyPr wrap="square" lIns="0" rIns="0" tIns="0" bIns="0" anchor="t">
            <a:spAutoFit/>
          </a:bodyPr>
          <a:lstStyle/>
          <a:p>
            <a:pPr algn="l"/>
            <a:r>
              <a:rPr sz="1000" b="0" i="1">
                <a:solidFill>
                  <a:srgbClr val="6B7280"/>
                </a:solidFill>
                <a:latin typeface="Calibri"/>
              </a:rPr>
              <a:t>{{LAYER_3_TRIGGER}}</a:t>
            </a:r>
          </a:p>
        </p:txBody>
      </p:sp>
      <p:sp>
        <p:nvSpPr>
          <p:cNvPr id="42" name="Rounded Rectangle 41"/>
          <p:cNvSpPr/>
          <p:nvPr/>
        </p:nvSpPr>
        <p:spPr>
          <a:xfrm>
            <a:off x="1097280" y="3703320"/>
            <a:ext cx="10543032" cy="5943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97280" y="3703320"/>
            <a:ext cx="1463040" cy="59436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3749039"/>
            <a:ext cx="1280160" cy="228600"/>
          </a:xfrm>
          <a:prstGeom prst="rect">
            <a:avLst/>
          </a:prstGeom>
          <a:noFill/>
        </p:spPr>
        <p:txBody>
          <a:bodyPr wrap="square" lIns="0" rIns="0" tIns="0" bIns="0" anchor="t">
            <a:spAutoFit/>
          </a:bodyPr>
          <a:lstStyle/>
          <a:p>
            <a:pPr algn="l"/>
            <a:r>
              <a:rPr sz="1000" b="1" i="0">
                <a:solidFill>
                  <a:srgbClr val="FFFFFF"/>
                </a:solidFill>
                <a:latin typeface="Calibri"/>
              </a:rPr>
              <a:t>{{LAYER_4_LABEL}}</a:t>
            </a:r>
          </a:p>
        </p:txBody>
      </p:sp>
      <p:sp>
        <p:nvSpPr>
          <p:cNvPr id="45" name="TextBox 44"/>
          <p:cNvSpPr txBox="1"/>
          <p:nvPr/>
        </p:nvSpPr>
        <p:spPr>
          <a:xfrm>
            <a:off x="1188720" y="3977639"/>
            <a:ext cx="1280160" cy="274320"/>
          </a:xfrm>
          <a:prstGeom prst="rect">
            <a:avLst/>
          </a:prstGeom>
          <a:noFill/>
        </p:spPr>
        <p:txBody>
          <a:bodyPr wrap="square" lIns="0" rIns="0" tIns="0" bIns="0" anchor="t">
            <a:spAutoFit/>
          </a:bodyPr>
          <a:lstStyle/>
          <a:p>
            <a:pPr algn="l"/>
            <a:r>
              <a:rPr sz="1000" b="1" i="0">
                <a:solidFill>
                  <a:srgbClr val="FFFFFF"/>
                </a:solidFill>
                <a:latin typeface="Calibri"/>
              </a:rPr>
              <a:t>{{LAYER_4_ACTION}}</a:t>
            </a:r>
          </a:p>
        </p:txBody>
      </p:sp>
      <p:sp>
        <p:nvSpPr>
          <p:cNvPr id="46" name="TextBox 45"/>
          <p:cNvSpPr txBox="1"/>
          <p:nvPr/>
        </p:nvSpPr>
        <p:spPr>
          <a:xfrm>
            <a:off x="2697480" y="3749039"/>
            <a:ext cx="2904744" cy="182880"/>
          </a:xfrm>
          <a:prstGeom prst="rect">
            <a:avLst/>
          </a:prstGeom>
          <a:noFill/>
        </p:spPr>
        <p:txBody>
          <a:bodyPr wrap="square" lIns="0" rIns="0" tIns="0" bIns="0" anchor="t">
            <a:spAutoFit/>
          </a:bodyPr>
          <a:lstStyle/>
          <a:p>
            <a:pPr algn="l"/>
            <a:r>
              <a:rPr sz="800" b="0" i="0">
                <a:solidFill>
                  <a:srgbClr val="9CA3AF"/>
                </a:solidFill>
                <a:latin typeface="Calibri"/>
              </a:rPr>
              <a:t>Vùng giá</a:t>
            </a:r>
          </a:p>
        </p:txBody>
      </p:sp>
      <p:sp>
        <p:nvSpPr>
          <p:cNvPr id="47" name="TextBox 46"/>
          <p:cNvSpPr txBox="1"/>
          <p:nvPr/>
        </p:nvSpPr>
        <p:spPr>
          <a:xfrm>
            <a:off x="2697480" y="3931920"/>
            <a:ext cx="2904744" cy="274320"/>
          </a:xfrm>
          <a:prstGeom prst="rect">
            <a:avLst/>
          </a:prstGeom>
          <a:noFill/>
        </p:spPr>
        <p:txBody>
          <a:bodyPr wrap="square" lIns="0" rIns="0" tIns="0" bIns="0" anchor="t">
            <a:spAutoFit/>
          </a:bodyPr>
          <a:lstStyle/>
          <a:p>
            <a:pPr algn="l"/>
            <a:r>
              <a:rPr sz="1100" b="1" i="0">
                <a:solidFill>
                  <a:srgbClr val="1F2937"/>
                </a:solidFill>
                <a:latin typeface="Calibri"/>
              </a:rPr>
              <a:t>{{LAYER_4_PRICE_ZONE}}</a:t>
            </a:r>
          </a:p>
        </p:txBody>
      </p:sp>
      <p:sp>
        <p:nvSpPr>
          <p:cNvPr id="48" name="TextBox 47"/>
          <p:cNvSpPr txBox="1"/>
          <p:nvPr/>
        </p:nvSpPr>
        <p:spPr>
          <a:xfrm>
            <a:off x="5693664" y="3749039"/>
            <a:ext cx="2904744" cy="182880"/>
          </a:xfrm>
          <a:prstGeom prst="rect">
            <a:avLst/>
          </a:prstGeom>
          <a:noFill/>
        </p:spPr>
        <p:txBody>
          <a:bodyPr wrap="square" lIns="0" rIns="0" tIns="0" bIns="0" anchor="t">
            <a:spAutoFit/>
          </a:bodyPr>
          <a:lstStyle/>
          <a:p>
            <a:pPr algn="l"/>
            <a:r>
              <a:rPr sz="800" b="0" i="0">
                <a:solidFill>
                  <a:srgbClr val="9CA3AF"/>
                </a:solidFill>
                <a:latin typeface="Calibri"/>
              </a:rPr>
              <a:t>Phân bổ</a:t>
            </a:r>
          </a:p>
        </p:txBody>
      </p:sp>
      <p:sp>
        <p:nvSpPr>
          <p:cNvPr id="49" name="TextBox 48"/>
          <p:cNvSpPr txBox="1"/>
          <p:nvPr/>
        </p:nvSpPr>
        <p:spPr>
          <a:xfrm>
            <a:off x="5693664" y="3931920"/>
            <a:ext cx="2904744" cy="274320"/>
          </a:xfrm>
          <a:prstGeom prst="rect">
            <a:avLst/>
          </a:prstGeom>
          <a:noFill/>
        </p:spPr>
        <p:txBody>
          <a:bodyPr wrap="square" lIns="0" rIns="0" tIns="0" bIns="0" anchor="t">
            <a:spAutoFit/>
          </a:bodyPr>
          <a:lstStyle/>
          <a:p>
            <a:pPr algn="l"/>
            <a:r>
              <a:rPr sz="1100" b="1" i="0">
                <a:solidFill>
                  <a:srgbClr val="7C3AED"/>
                </a:solidFill>
                <a:latin typeface="Calibri"/>
              </a:rPr>
              <a:t>{{LAYER_4_ALLOCATION}}</a:t>
            </a:r>
          </a:p>
        </p:txBody>
      </p:sp>
      <p:sp>
        <p:nvSpPr>
          <p:cNvPr id="50" name="TextBox 49"/>
          <p:cNvSpPr txBox="1"/>
          <p:nvPr/>
        </p:nvSpPr>
        <p:spPr>
          <a:xfrm>
            <a:off x="8689848" y="3749039"/>
            <a:ext cx="2904744" cy="182880"/>
          </a:xfrm>
          <a:prstGeom prst="rect">
            <a:avLst/>
          </a:prstGeom>
          <a:noFill/>
        </p:spPr>
        <p:txBody>
          <a:bodyPr wrap="square" lIns="0" rIns="0" tIns="0" bIns="0" anchor="t">
            <a:spAutoFit/>
          </a:bodyPr>
          <a:lstStyle/>
          <a:p>
            <a:pPr algn="l"/>
            <a:r>
              <a:rPr sz="800" b="0" i="0">
                <a:solidFill>
                  <a:srgbClr val="9CA3AF"/>
                </a:solidFill>
                <a:latin typeface="Calibri"/>
              </a:rPr>
              <a:t>Trigger</a:t>
            </a:r>
          </a:p>
        </p:txBody>
      </p:sp>
      <p:sp>
        <p:nvSpPr>
          <p:cNvPr id="51" name="TextBox 50"/>
          <p:cNvSpPr txBox="1"/>
          <p:nvPr/>
        </p:nvSpPr>
        <p:spPr>
          <a:xfrm>
            <a:off x="8689848" y="3931920"/>
            <a:ext cx="2904744" cy="320040"/>
          </a:xfrm>
          <a:prstGeom prst="rect">
            <a:avLst/>
          </a:prstGeom>
          <a:noFill/>
        </p:spPr>
        <p:txBody>
          <a:bodyPr wrap="square" lIns="0" rIns="0" tIns="0" bIns="0" anchor="t">
            <a:spAutoFit/>
          </a:bodyPr>
          <a:lstStyle/>
          <a:p>
            <a:pPr algn="l"/>
            <a:r>
              <a:rPr sz="1000" b="0" i="1">
                <a:solidFill>
                  <a:srgbClr val="6B7280"/>
                </a:solidFill>
                <a:latin typeface="Calibri"/>
              </a:rPr>
              <a:t>{{LAYER_4_TRIGGER}}</a:t>
            </a:r>
          </a:p>
        </p:txBody>
      </p:sp>
      <p:sp>
        <p:nvSpPr>
          <p:cNvPr id="52" name="Rounded Rectangle 51"/>
          <p:cNvSpPr/>
          <p:nvPr/>
        </p:nvSpPr>
        <p:spPr>
          <a:xfrm>
            <a:off x="1280160" y="4343400"/>
            <a:ext cx="10360152" cy="5943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280160" y="4343400"/>
            <a:ext cx="1463040" cy="59436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371600" y="4389120"/>
            <a:ext cx="1280160" cy="228600"/>
          </a:xfrm>
          <a:prstGeom prst="rect">
            <a:avLst/>
          </a:prstGeom>
          <a:noFill/>
        </p:spPr>
        <p:txBody>
          <a:bodyPr wrap="square" lIns="0" rIns="0" tIns="0" bIns="0" anchor="t">
            <a:spAutoFit/>
          </a:bodyPr>
          <a:lstStyle/>
          <a:p>
            <a:pPr algn="l"/>
            <a:r>
              <a:rPr sz="1000" b="1" i="0">
                <a:solidFill>
                  <a:srgbClr val="FFFFFF"/>
                </a:solidFill>
                <a:latin typeface="Calibri"/>
              </a:rPr>
              <a:t>{{LAYER_5_LABEL}}</a:t>
            </a:r>
          </a:p>
        </p:txBody>
      </p:sp>
      <p:sp>
        <p:nvSpPr>
          <p:cNvPr id="55" name="TextBox 54"/>
          <p:cNvSpPr txBox="1"/>
          <p:nvPr/>
        </p:nvSpPr>
        <p:spPr>
          <a:xfrm>
            <a:off x="1371600" y="4617720"/>
            <a:ext cx="1280160" cy="274320"/>
          </a:xfrm>
          <a:prstGeom prst="rect">
            <a:avLst/>
          </a:prstGeom>
          <a:noFill/>
        </p:spPr>
        <p:txBody>
          <a:bodyPr wrap="square" lIns="0" rIns="0" tIns="0" bIns="0" anchor="t">
            <a:spAutoFit/>
          </a:bodyPr>
          <a:lstStyle/>
          <a:p>
            <a:pPr algn="l"/>
            <a:r>
              <a:rPr sz="1000" b="1" i="0">
                <a:solidFill>
                  <a:srgbClr val="FFFFFF"/>
                </a:solidFill>
                <a:latin typeface="Calibri"/>
              </a:rPr>
              <a:t>{{LAYER_5_ACTION}}</a:t>
            </a:r>
          </a:p>
        </p:txBody>
      </p:sp>
      <p:sp>
        <p:nvSpPr>
          <p:cNvPr id="56" name="TextBox 55"/>
          <p:cNvSpPr txBox="1"/>
          <p:nvPr/>
        </p:nvSpPr>
        <p:spPr>
          <a:xfrm>
            <a:off x="2880359" y="4389120"/>
            <a:ext cx="2843784" cy="182880"/>
          </a:xfrm>
          <a:prstGeom prst="rect">
            <a:avLst/>
          </a:prstGeom>
          <a:noFill/>
        </p:spPr>
        <p:txBody>
          <a:bodyPr wrap="square" lIns="0" rIns="0" tIns="0" bIns="0" anchor="t">
            <a:spAutoFit/>
          </a:bodyPr>
          <a:lstStyle/>
          <a:p>
            <a:pPr algn="l"/>
            <a:r>
              <a:rPr sz="800" b="0" i="0">
                <a:solidFill>
                  <a:srgbClr val="9CA3AF"/>
                </a:solidFill>
                <a:latin typeface="Calibri"/>
              </a:rPr>
              <a:t>Vùng giá</a:t>
            </a:r>
          </a:p>
        </p:txBody>
      </p:sp>
      <p:sp>
        <p:nvSpPr>
          <p:cNvPr id="57" name="TextBox 56"/>
          <p:cNvSpPr txBox="1"/>
          <p:nvPr/>
        </p:nvSpPr>
        <p:spPr>
          <a:xfrm>
            <a:off x="2880359" y="4572000"/>
            <a:ext cx="2843784" cy="274320"/>
          </a:xfrm>
          <a:prstGeom prst="rect">
            <a:avLst/>
          </a:prstGeom>
          <a:noFill/>
        </p:spPr>
        <p:txBody>
          <a:bodyPr wrap="square" lIns="0" rIns="0" tIns="0" bIns="0" anchor="t">
            <a:spAutoFit/>
          </a:bodyPr>
          <a:lstStyle/>
          <a:p>
            <a:pPr algn="l"/>
            <a:r>
              <a:rPr sz="1100" b="1" i="0">
                <a:solidFill>
                  <a:srgbClr val="1F2937"/>
                </a:solidFill>
                <a:latin typeface="Calibri"/>
              </a:rPr>
              <a:t>{{LAYER_5_PRICE_ZONE}}</a:t>
            </a:r>
          </a:p>
        </p:txBody>
      </p:sp>
      <p:sp>
        <p:nvSpPr>
          <p:cNvPr id="58" name="TextBox 57"/>
          <p:cNvSpPr txBox="1"/>
          <p:nvPr/>
        </p:nvSpPr>
        <p:spPr>
          <a:xfrm>
            <a:off x="5815584" y="4389120"/>
            <a:ext cx="2843784" cy="182880"/>
          </a:xfrm>
          <a:prstGeom prst="rect">
            <a:avLst/>
          </a:prstGeom>
          <a:noFill/>
        </p:spPr>
        <p:txBody>
          <a:bodyPr wrap="square" lIns="0" rIns="0" tIns="0" bIns="0" anchor="t">
            <a:spAutoFit/>
          </a:bodyPr>
          <a:lstStyle/>
          <a:p>
            <a:pPr algn="l"/>
            <a:r>
              <a:rPr sz="800" b="0" i="0">
                <a:solidFill>
                  <a:srgbClr val="9CA3AF"/>
                </a:solidFill>
                <a:latin typeface="Calibri"/>
              </a:rPr>
              <a:t>Phân bổ</a:t>
            </a:r>
          </a:p>
        </p:txBody>
      </p:sp>
      <p:sp>
        <p:nvSpPr>
          <p:cNvPr id="59" name="TextBox 58"/>
          <p:cNvSpPr txBox="1"/>
          <p:nvPr/>
        </p:nvSpPr>
        <p:spPr>
          <a:xfrm>
            <a:off x="5815584" y="4572000"/>
            <a:ext cx="2843784" cy="274320"/>
          </a:xfrm>
          <a:prstGeom prst="rect">
            <a:avLst/>
          </a:prstGeom>
          <a:noFill/>
        </p:spPr>
        <p:txBody>
          <a:bodyPr wrap="square" lIns="0" rIns="0" tIns="0" bIns="0" anchor="t">
            <a:spAutoFit/>
          </a:bodyPr>
          <a:lstStyle/>
          <a:p>
            <a:pPr algn="l"/>
            <a:r>
              <a:rPr sz="1100" b="1" i="0">
                <a:solidFill>
                  <a:srgbClr val="7C3AED"/>
                </a:solidFill>
                <a:latin typeface="Calibri"/>
              </a:rPr>
              <a:t>{{LAYER_5_ALLOCATION}}</a:t>
            </a:r>
          </a:p>
        </p:txBody>
      </p:sp>
      <p:sp>
        <p:nvSpPr>
          <p:cNvPr id="60" name="TextBox 59"/>
          <p:cNvSpPr txBox="1"/>
          <p:nvPr/>
        </p:nvSpPr>
        <p:spPr>
          <a:xfrm>
            <a:off x="8750808" y="4389120"/>
            <a:ext cx="2843784" cy="182880"/>
          </a:xfrm>
          <a:prstGeom prst="rect">
            <a:avLst/>
          </a:prstGeom>
          <a:noFill/>
        </p:spPr>
        <p:txBody>
          <a:bodyPr wrap="square" lIns="0" rIns="0" tIns="0" bIns="0" anchor="t">
            <a:spAutoFit/>
          </a:bodyPr>
          <a:lstStyle/>
          <a:p>
            <a:pPr algn="l"/>
            <a:r>
              <a:rPr sz="800" b="0" i="0">
                <a:solidFill>
                  <a:srgbClr val="9CA3AF"/>
                </a:solidFill>
                <a:latin typeface="Calibri"/>
              </a:rPr>
              <a:t>Trigger</a:t>
            </a:r>
          </a:p>
        </p:txBody>
      </p:sp>
      <p:sp>
        <p:nvSpPr>
          <p:cNvPr id="61" name="TextBox 60"/>
          <p:cNvSpPr txBox="1"/>
          <p:nvPr/>
        </p:nvSpPr>
        <p:spPr>
          <a:xfrm>
            <a:off x="8750808" y="4572000"/>
            <a:ext cx="2843784" cy="320040"/>
          </a:xfrm>
          <a:prstGeom prst="rect">
            <a:avLst/>
          </a:prstGeom>
          <a:noFill/>
        </p:spPr>
        <p:txBody>
          <a:bodyPr wrap="square" lIns="0" rIns="0" tIns="0" bIns="0" anchor="t">
            <a:spAutoFit/>
          </a:bodyPr>
          <a:lstStyle/>
          <a:p>
            <a:pPr algn="l"/>
            <a:r>
              <a:rPr sz="1000" b="0" i="1">
                <a:solidFill>
                  <a:srgbClr val="6B7280"/>
                </a:solidFill>
                <a:latin typeface="Calibri"/>
              </a:rPr>
              <a:t>{{LAYER_5_TRIGGER}}</a:t>
            </a:r>
          </a:p>
        </p:txBody>
      </p:sp>
      <p:sp>
        <p:nvSpPr>
          <p:cNvPr id="62" name="Rounded Rectangle 61"/>
          <p:cNvSpPr/>
          <p:nvPr/>
        </p:nvSpPr>
        <p:spPr>
          <a:xfrm>
            <a:off x="548640" y="5029200"/>
            <a:ext cx="3605784" cy="12801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48640" y="5029200"/>
            <a:ext cx="54864" cy="1280160"/>
          </a:xfrm>
          <a:prstGeom prst="rect">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31520" y="5120640"/>
            <a:ext cx="3331464" cy="228600"/>
          </a:xfrm>
          <a:prstGeom prst="rect">
            <a:avLst/>
          </a:prstGeom>
          <a:noFill/>
        </p:spPr>
        <p:txBody>
          <a:bodyPr wrap="square" lIns="0" rIns="0" tIns="0" bIns="0" anchor="t">
            <a:spAutoFit/>
          </a:bodyPr>
          <a:lstStyle/>
          <a:p>
            <a:pPr algn="l"/>
            <a:r>
              <a:rPr sz="1100" b="1" i="0">
                <a:solidFill>
                  <a:srgbClr val="6B7280"/>
                </a:solidFill>
                <a:latin typeface="Calibri"/>
              </a:rPr>
              <a:t>Cắt lỗ cứng</a:t>
            </a:r>
          </a:p>
        </p:txBody>
      </p:sp>
      <p:sp>
        <p:nvSpPr>
          <p:cNvPr id="65" name="TextBox 64"/>
          <p:cNvSpPr txBox="1"/>
          <p:nvPr/>
        </p:nvSpPr>
        <p:spPr>
          <a:xfrm>
            <a:off x="731520" y="5394960"/>
            <a:ext cx="3331464" cy="457200"/>
          </a:xfrm>
          <a:prstGeom prst="rect">
            <a:avLst/>
          </a:prstGeom>
          <a:noFill/>
        </p:spPr>
        <p:txBody>
          <a:bodyPr wrap="square" lIns="0" rIns="0" tIns="0" bIns="0" anchor="t">
            <a:spAutoFit/>
          </a:bodyPr>
          <a:lstStyle/>
          <a:p>
            <a:pPr algn="l"/>
            <a:r>
              <a:rPr sz="1800" b="1" i="0">
                <a:solidFill>
                  <a:srgbClr val="E14040"/>
                </a:solidFill>
                <a:latin typeface="Calibri"/>
              </a:rPr>
              <a:t>{{STOP_HARD_PRICE}}</a:t>
            </a:r>
          </a:p>
        </p:txBody>
      </p:sp>
      <p:sp>
        <p:nvSpPr>
          <p:cNvPr id="66" name="TextBox 65"/>
          <p:cNvSpPr txBox="1"/>
          <p:nvPr/>
        </p:nvSpPr>
        <p:spPr>
          <a:xfrm>
            <a:off x="731520" y="5897880"/>
            <a:ext cx="3331464" cy="365760"/>
          </a:xfrm>
          <a:prstGeom prst="rect">
            <a:avLst/>
          </a:prstGeom>
          <a:noFill/>
        </p:spPr>
        <p:txBody>
          <a:bodyPr wrap="square" lIns="0" rIns="0" tIns="0" bIns="0" anchor="t">
            <a:spAutoFit/>
          </a:bodyPr>
          <a:lstStyle/>
          <a:p>
            <a:pPr algn="l"/>
            <a:r>
              <a:rPr sz="1000" b="0" i="1">
                <a:solidFill>
                  <a:srgbClr val="9CA3AF"/>
                </a:solidFill>
                <a:latin typeface="Calibri"/>
              </a:rPr>
              <a:t>{{STOP_HARD_NOTE}}</a:t>
            </a:r>
          </a:p>
        </p:txBody>
      </p:sp>
      <p:sp>
        <p:nvSpPr>
          <p:cNvPr id="67" name="Rounded Rectangle 66"/>
          <p:cNvSpPr/>
          <p:nvPr/>
        </p:nvSpPr>
        <p:spPr>
          <a:xfrm>
            <a:off x="4291584" y="5029200"/>
            <a:ext cx="3605784" cy="12801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291584" y="5029200"/>
            <a:ext cx="54864" cy="1280160"/>
          </a:xfrm>
          <a:prstGeom prst="rect">
            <a:avLst/>
          </a:prstGeom>
          <a:solidFill>
            <a:srgbClr val="FFC7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474464" y="5120640"/>
            <a:ext cx="3331464" cy="228600"/>
          </a:xfrm>
          <a:prstGeom prst="rect">
            <a:avLst/>
          </a:prstGeom>
          <a:noFill/>
        </p:spPr>
        <p:txBody>
          <a:bodyPr wrap="square" lIns="0" rIns="0" tIns="0" bIns="0" anchor="t">
            <a:spAutoFit/>
          </a:bodyPr>
          <a:lstStyle/>
          <a:p>
            <a:pPr algn="l"/>
            <a:r>
              <a:rPr sz="1100" b="1" i="0">
                <a:solidFill>
                  <a:srgbClr val="6B7280"/>
                </a:solidFill>
                <a:latin typeface="Calibri"/>
              </a:rPr>
              <a:t>Cắt lỗ mềm</a:t>
            </a:r>
          </a:p>
        </p:txBody>
      </p:sp>
      <p:sp>
        <p:nvSpPr>
          <p:cNvPr id="70" name="TextBox 69"/>
          <p:cNvSpPr txBox="1"/>
          <p:nvPr/>
        </p:nvSpPr>
        <p:spPr>
          <a:xfrm>
            <a:off x="4474464" y="5394960"/>
            <a:ext cx="3331464" cy="457200"/>
          </a:xfrm>
          <a:prstGeom prst="rect">
            <a:avLst/>
          </a:prstGeom>
          <a:noFill/>
        </p:spPr>
        <p:txBody>
          <a:bodyPr wrap="square" lIns="0" rIns="0" tIns="0" bIns="0" anchor="t">
            <a:spAutoFit/>
          </a:bodyPr>
          <a:lstStyle/>
          <a:p>
            <a:pPr algn="l"/>
            <a:r>
              <a:rPr sz="1800" b="1" i="0">
                <a:solidFill>
                  <a:srgbClr val="FFC752"/>
                </a:solidFill>
                <a:latin typeface="Calibri"/>
              </a:rPr>
              <a:t>{{STOP_SOFT_PRICE}}</a:t>
            </a:r>
          </a:p>
        </p:txBody>
      </p:sp>
      <p:sp>
        <p:nvSpPr>
          <p:cNvPr id="71" name="TextBox 70"/>
          <p:cNvSpPr txBox="1"/>
          <p:nvPr/>
        </p:nvSpPr>
        <p:spPr>
          <a:xfrm>
            <a:off x="4474464" y="5897880"/>
            <a:ext cx="3331464" cy="365760"/>
          </a:xfrm>
          <a:prstGeom prst="rect">
            <a:avLst/>
          </a:prstGeom>
          <a:noFill/>
        </p:spPr>
        <p:txBody>
          <a:bodyPr wrap="square" lIns="0" rIns="0" tIns="0" bIns="0" anchor="t">
            <a:spAutoFit/>
          </a:bodyPr>
          <a:lstStyle/>
          <a:p>
            <a:pPr algn="l"/>
            <a:r>
              <a:rPr sz="1000" b="0" i="1">
                <a:solidFill>
                  <a:srgbClr val="9CA3AF"/>
                </a:solidFill>
                <a:latin typeface="Calibri"/>
              </a:rPr>
              <a:t>{{STOP_SOFT_NOTE}}</a:t>
            </a:r>
          </a:p>
        </p:txBody>
      </p:sp>
      <p:sp>
        <p:nvSpPr>
          <p:cNvPr id="72" name="Rounded Rectangle 71"/>
          <p:cNvSpPr/>
          <p:nvPr/>
        </p:nvSpPr>
        <p:spPr>
          <a:xfrm>
            <a:off x="8034528" y="5029200"/>
            <a:ext cx="3605784" cy="128016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034528" y="5029200"/>
            <a:ext cx="54864" cy="12801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217408" y="5120640"/>
            <a:ext cx="3331464" cy="228600"/>
          </a:xfrm>
          <a:prstGeom prst="rect">
            <a:avLst/>
          </a:prstGeom>
          <a:noFill/>
        </p:spPr>
        <p:txBody>
          <a:bodyPr wrap="square" lIns="0" rIns="0" tIns="0" bIns="0" anchor="t">
            <a:spAutoFit/>
          </a:bodyPr>
          <a:lstStyle/>
          <a:p>
            <a:pPr algn="l"/>
            <a:r>
              <a:rPr sz="1100" b="1" i="0">
                <a:solidFill>
                  <a:srgbClr val="6B7280"/>
                </a:solidFill>
                <a:latin typeface="Calibri"/>
              </a:rPr>
              <a:t>Thời gian nắm giữ</a:t>
            </a:r>
          </a:p>
        </p:txBody>
      </p:sp>
      <p:sp>
        <p:nvSpPr>
          <p:cNvPr id="75" name="TextBox 74"/>
          <p:cNvSpPr txBox="1"/>
          <p:nvPr/>
        </p:nvSpPr>
        <p:spPr>
          <a:xfrm>
            <a:off x="8217408" y="5394960"/>
            <a:ext cx="3331464" cy="457200"/>
          </a:xfrm>
          <a:prstGeom prst="rect">
            <a:avLst/>
          </a:prstGeom>
          <a:noFill/>
        </p:spPr>
        <p:txBody>
          <a:bodyPr wrap="square" lIns="0" rIns="0" tIns="0" bIns="0" anchor="t">
            <a:spAutoFit/>
          </a:bodyPr>
          <a:lstStyle/>
          <a:p>
            <a:pPr algn="l"/>
            <a:r>
              <a:rPr sz="1800" b="1" i="0">
                <a:solidFill>
                  <a:srgbClr val="8B5CF6"/>
                </a:solidFill>
                <a:latin typeface="Calibri"/>
              </a:rPr>
              <a:t>{{HOLD_PERIOD}}</a:t>
            </a:r>
          </a:p>
        </p:txBody>
      </p:sp>
      <p:sp>
        <p:nvSpPr>
          <p:cNvPr id="76" name="TextBox 75"/>
          <p:cNvSpPr txBox="1"/>
          <p:nvPr/>
        </p:nvSpPr>
        <p:spPr>
          <a:xfrm>
            <a:off x="8217408" y="5897880"/>
            <a:ext cx="3331464" cy="365760"/>
          </a:xfrm>
          <a:prstGeom prst="rect">
            <a:avLst/>
          </a:prstGeom>
          <a:noFill/>
        </p:spPr>
        <p:txBody>
          <a:bodyPr wrap="square" lIns="0" rIns="0" tIns="0" bIns="0" anchor="t">
            <a:spAutoFit/>
          </a:bodyPr>
          <a:lstStyle/>
          <a:p>
            <a:pPr algn="l"/>
            <a:r>
              <a:rPr sz="1000" b="0" i="1">
                <a:solidFill>
                  <a:srgbClr val="9CA3AF"/>
                </a:solidFill>
                <a:latin typeface="Calibri"/>
              </a:rPr>
              <a:t>{{HOLD_NOTE}}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name="TAKE_PROFIT_TARGETS">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2743200" cy="4983480"/>
          </a:xfrm>
          <a:prstGeom prst="roundRect">
            <a:avLst>
              <a:gd name="adj" fmla="val 15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08760"/>
            <a:ext cx="2468880" cy="274320"/>
          </a:xfrm>
          <a:prstGeom prst="rect">
            <a:avLst/>
          </a:prstGeom>
          <a:noFill/>
        </p:spPr>
        <p:txBody>
          <a:bodyPr wrap="square" lIns="0" rIns="0" tIns="0" bIns="0" anchor="t">
            <a:spAutoFit/>
          </a:bodyPr>
          <a:lstStyle/>
          <a:p>
            <a:pPr algn="l"/>
            <a:r>
              <a:rPr sz="1100" b="1" i="0">
                <a:solidFill>
                  <a:srgbClr val="7C3AED"/>
                </a:solidFill>
                <a:latin typeface="Calibri"/>
              </a:rPr>
              <a:t>TỔNG QUAN R/R</a:t>
            </a:r>
          </a:p>
        </p:txBody>
      </p:sp>
      <p:sp>
        <p:nvSpPr>
          <p:cNvPr id="11" name="TextBox 10"/>
          <p:cNvSpPr txBox="1"/>
          <p:nvPr/>
        </p:nvSpPr>
        <p:spPr>
          <a:xfrm>
            <a:off x="731520" y="1874519"/>
            <a:ext cx="2468880" cy="274320"/>
          </a:xfrm>
          <a:prstGeom prst="rect">
            <a:avLst/>
          </a:prstGeom>
          <a:noFill/>
        </p:spPr>
        <p:txBody>
          <a:bodyPr wrap="square" lIns="0" rIns="0" tIns="0" bIns="0" anchor="t">
            <a:spAutoFit/>
          </a:bodyPr>
          <a:lstStyle/>
          <a:p>
            <a:pPr algn="l"/>
            <a:r>
              <a:rPr sz="1000" b="0" i="0">
                <a:solidFill>
                  <a:srgbClr val="6B7280"/>
                </a:solidFill>
                <a:latin typeface="Calibri"/>
              </a:rPr>
              <a:t>Tỷ lệ R/R</a:t>
            </a:r>
          </a:p>
        </p:txBody>
      </p:sp>
      <p:sp>
        <p:nvSpPr>
          <p:cNvPr id="12" name="TextBox 11"/>
          <p:cNvSpPr txBox="1"/>
          <p:nvPr/>
        </p:nvSpPr>
        <p:spPr>
          <a:xfrm>
            <a:off x="731520" y="2194560"/>
            <a:ext cx="2468880" cy="777240"/>
          </a:xfrm>
          <a:prstGeom prst="rect">
            <a:avLst/>
          </a:prstGeom>
          <a:noFill/>
        </p:spPr>
        <p:txBody>
          <a:bodyPr wrap="square" lIns="0" rIns="0" tIns="0" bIns="0" anchor="t">
            <a:spAutoFit/>
          </a:bodyPr>
          <a:lstStyle/>
          <a:p>
            <a:pPr algn="l"/>
            <a:r>
              <a:rPr sz="4400" b="1" i="0">
                <a:solidFill>
                  <a:srgbClr val="7C3AED"/>
                </a:solidFill>
                <a:latin typeface="Calibri"/>
              </a:rPr>
              <a:t>{{RR_RATIO}}</a:t>
            </a:r>
          </a:p>
        </p:txBody>
      </p:sp>
      <p:sp>
        <p:nvSpPr>
          <p:cNvPr id="13" name="TextBox 12"/>
          <p:cNvSpPr txBox="1"/>
          <p:nvPr/>
        </p:nvSpPr>
        <p:spPr>
          <a:xfrm>
            <a:off x="731520" y="3108960"/>
            <a:ext cx="2468880" cy="274320"/>
          </a:xfrm>
          <a:prstGeom prst="rect">
            <a:avLst/>
          </a:prstGeom>
          <a:noFill/>
        </p:spPr>
        <p:txBody>
          <a:bodyPr wrap="square" lIns="0" rIns="0" tIns="0" bIns="0" anchor="t">
            <a:spAutoFit/>
          </a:bodyPr>
          <a:lstStyle/>
          <a:p>
            <a:pPr algn="l"/>
            <a:r>
              <a:rPr sz="1000" b="0" i="0">
                <a:solidFill>
                  <a:srgbClr val="6B7280"/>
                </a:solidFill>
                <a:latin typeface="Calibri"/>
              </a:rPr>
              <a:t>Lợi nhuận TB</a:t>
            </a:r>
          </a:p>
        </p:txBody>
      </p:sp>
      <p:sp>
        <p:nvSpPr>
          <p:cNvPr id="14" name="TextBox 13"/>
          <p:cNvSpPr txBox="1"/>
          <p:nvPr/>
        </p:nvSpPr>
        <p:spPr>
          <a:xfrm>
            <a:off x="731520" y="3383280"/>
            <a:ext cx="2468880" cy="457200"/>
          </a:xfrm>
          <a:prstGeom prst="rect">
            <a:avLst/>
          </a:prstGeom>
          <a:noFill/>
        </p:spPr>
        <p:txBody>
          <a:bodyPr wrap="square" lIns="0" rIns="0" tIns="0" bIns="0" anchor="t">
            <a:spAutoFit/>
          </a:bodyPr>
          <a:lstStyle/>
          <a:p>
            <a:pPr algn="l"/>
            <a:r>
              <a:rPr sz="2200" b="1" i="0">
                <a:solidFill>
                  <a:srgbClr val="25B770"/>
                </a:solidFill>
                <a:latin typeface="Calibri"/>
              </a:rPr>
              <a:t>{{AVG_PROFIT}}</a:t>
            </a:r>
          </a:p>
        </p:txBody>
      </p:sp>
      <p:sp>
        <p:nvSpPr>
          <p:cNvPr id="15" name="TextBox 14"/>
          <p:cNvSpPr txBox="1"/>
          <p:nvPr/>
        </p:nvSpPr>
        <p:spPr>
          <a:xfrm>
            <a:off x="731520" y="4023360"/>
            <a:ext cx="2468880" cy="274320"/>
          </a:xfrm>
          <a:prstGeom prst="rect">
            <a:avLst/>
          </a:prstGeom>
          <a:noFill/>
        </p:spPr>
        <p:txBody>
          <a:bodyPr wrap="square" lIns="0" rIns="0" tIns="0" bIns="0" anchor="t">
            <a:spAutoFit/>
          </a:bodyPr>
          <a:lstStyle/>
          <a:p>
            <a:pPr algn="l"/>
            <a:r>
              <a:rPr sz="1000" b="0" i="0">
                <a:solidFill>
                  <a:srgbClr val="6B7280"/>
                </a:solidFill>
                <a:latin typeface="Calibri"/>
              </a:rPr>
              <a:t>Rủi ro tối đa</a:t>
            </a:r>
          </a:p>
        </p:txBody>
      </p:sp>
      <p:sp>
        <p:nvSpPr>
          <p:cNvPr id="16" name="TextBox 15"/>
          <p:cNvSpPr txBox="1"/>
          <p:nvPr/>
        </p:nvSpPr>
        <p:spPr>
          <a:xfrm>
            <a:off x="731520" y="4297680"/>
            <a:ext cx="2468880" cy="457200"/>
          </a:xfrm>
          <a:prstGeom prst="rect">
            <a:avLst/>
          </a:prstGeom>
          <a:noFill/>
        </p:spPr>
        <p:txBody>
          <a:bodyPr wrap="square" lIns="0" rIns="0" tIns="0" bIns="0" anchor="t">
            <a:spAutoFit/>
          </a:bodyPr>
          <a:lstStyle/>
          <a:p>
            <a:pPr algn="l"/>
            <a:r>
              <a:rPr sz="2200" b="1" i="0">
                <a:solidFill>
                  <a:srgbClr val="E14040"/>
                </a:solidFill>
                <a:latin typeface="Calibri"/>
              </a:rPr>
              <a:t>{{MAX_RISK}}</a:t>
            </a:r>
          </a:p>
        </p:txBody>
      </p:sp>
      <p:sp>
        <p:nvSpPr>
          <p:cNvPr id="17" name="TextBox 16"/>
          <p:cNvSpPr txBox="1"/>
          <p:nvPr/>
        </p:nvSpPr>
        <p:spPr>
          <a:xfrm>
            <a:off x="731520" y="4937760"/>
            <a:ext cx="2468880" cy="274320"/>
          </a:xfrm>
          <a:prstGeom prst="rect">
            <a:avLst/>
          </a:prstGeom>
          <a:noFill/>
        </p:spPr>
        <p:txBody>
          <a:bodyPr wrap="square" lIns="0" rIns="0" tIns="0" bIns="0" anchor="t">
            <a:spAutoFit/>
          </a:bodyPr>
          <a:lstStyle/>
          <a:p>
            <a:pPr algn="l"/>
            <a:r>
              <a:rPr sz="1000" b="0" i="0">
                <a:solidFill>
                  <a:srgbClr val="6B7280"/>
                </a:solidFill>
                <a:latin typeface="Calibri"/>
              </a:rPr>
              <a:t>Mục tiêu cao nhất</a:t>
            </a:r>
          </a:p>
        </p:txBody>
      </p:sp>
      <p:sp>
        <p:nvSpPr>
          <p:cNvPr id="18" name="TextBox 17"/>
          <p:cNvSpPr txBox="1"/>
          <p:nvPr/>
        </p:nvSpPr>
        <p:spPr>
          <a:xfrm>
            <a:off x="731520" y="5212080"/>
            <a:ext cx="2468880" cy="457200"/>
          </a:xfrm>
          <a:prstGeom prst="rect">
            <a:avLst/>
          </a:prstGeom>
          <a:noFill/>
        </p:spPr>
        <p:txBody>
          <a:bodyPr wrap="square" lIns="0" rIns="0" tIns="0" bIns="0" anchor="t">
            <a:spAutoFit/>
          </a:bodyPr>
          <a:lstStyle/>
          <a:p>
            <a:pPr algn="l"/>
            <a:r>
              <a:rPr sz="2200" b="1" i="0">
                <a:solidFill>
                  <a:srgbClr val="7C3AED"/>
                </a:solidFill>
                <a:latin typeface="Calibri"/>
              </a:rPr>
              <a:t>{{MAX_TARGET}}</a:t>
            </a:r>
          </a:p>
        </p:txBody>
      </p:sp>
      <p:sp>
        <p:nvSpPr>
          <p:cNvPr id="19" name="Rounded Rectangle 18"/>
          <p:cNvSpPr/>
          <p:nvPr/>
        </p:nvSpPr>
        <p:spPr>
          <a:xfrm>
            <a:off x="3566160" y="4023360"/>
            <a:ext cx="1949958" cy="228600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66160" y="4023360"/>
            <a:ext cx="1949958" cy="36576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60" y="4023360"/>
            <a:ext cx="1949958" cy="365760"/>
          </a:xfrm>
          <a:prstGeom prst="rect">
            <a:avLst/>
          </a:prstGeom>
          <a:noFill/>
        </p:spPr>
        <p:txBody>
          <a:bodyPr wrap="square" lIns="0" rIns="0" tIns="0" bIns="0" anchor="ctr">
            <a:spAutoFit/>
          </a:bodyPr>
          <a:lstStyle/>
          <a:p>
            <a:pPr algn="ctr"/>
            <a:r>
              <a:rPr sz="1100" b="1" i="0">
                <a:solidFill>
                  <a:srgbClr val="FFFFFF"/>
                </a:solidFill>
                <a:latin typeface="Calibri"/>
              </a:rPr>
              <a:t>M1: {{M1_NUM}}</a:t>
            </a:r>
          </a:p>
        </p:txBody>
      </p:sp>
      <p:sp>
        <p:nvSpPr>
          <p:cNvPr id="22" name="TextBox 21"/>
          <p:cNvSpPr txBox="1"/>
          <p:nvPr/>
        </p:nvSpPr>
        <p:spPr>
          <a:xfrm>
            <a:off x="3657600" y="4526280"/>
            <a:ext cx="1767078" cy="640080"/>
          </a:xfrm>
          <a:prstGeom prst="rect">
            <a:avLst/>
          </a:prstGeom>
          <a:noFill/>
        </p:spPr>
        <p:txBody>
          <a:bodyPr wrap="square" lIns="0" rIns="0" tIns="0" bIns="0" anchor="t">
            <a:spAutoFit/>
          </a:bodyPr>
          <a:lstStyle/>
          <a:p>
            <a:pPr algn="ctr"/>
            <a:r>
              <a:rPr sz="2000" b="1" i="0">
                <a:solidFill>
                  <a:srgbClr val="7C3AED"/>
                </a:solidFill>
                <a:latin typeface="Calibri"/>
              </a:rPr>
              <a:t>{{M1_PRICE}}</a:t>
            </a:r>
          </a:p>
        </p:txBody>
      </p:sp>
      <p:sp>
        <p:nvSpPr>
          <p:cNvPr id="23" name="TextBox 22"/>
          <p:cNvSpPr txBox="1"/>
          <p:nvPr/>
        </p:nvSpPr>
        <p:spPr>
          <a:xfrm>
            <a:off x="3657600" y="5212080"/>
            <a:ext cx="1767078" cy="365760"/>
          </a:xfrm>
          <a:prstGeom prst="rect">
            <a:avLst/>
          </a:prstGeom>
          <a:noFill/>
        </p:spPr>
        <p:txBody>
          <a:bodyPr wrap="square" lIns="0" rIns="0" tIns="0" bIns="0" anchor="t">
            <a:spAutoFit/>
          </a:bodyPr>
          <a:lstStyle/>
          <a:p>
            <a:pPr algn="ctr"/>
            <a:r>
              <a:rPr sz="1800" b="1" i="0">
                <a:solidFill>
                  <a:srgbClr val="25B770"/>
                </a:solidFill>
                <a:latin typeface="Calibri"/>
              </a:rPr>
              <a:t>{{M1_PROFIT_PCT}}</a:t>
            </a:r>
          </a:p>
        </p:txBody>
      </p:sp>
      <p:sp>
        <p:nvSpPr>
          <p:cNvPr id="24" name="TextBox 23"/>
          <p:cNvSpPr txBox="1"/>
          <p:nvPr/>
        </p:nvSpPr>
        <p:spPr>
          <a:xfrm>
            <a:off x="3657600" y="5623560"/>
            <a:ext cx="1767078" cy="274320"/>
          </a:xfrm>
          <a:prstGeom prst="rect">
            <a:avLst/>
          </a:prstGeom>
          <a:noFill/>
        </p:spPr>
        <p:txBody>
          <a:bodyPr wrap="square" lIns="0" rIns="0" tIns="0" bIns="0" anchor="t">
            <a:spAutoFit/>
          </a:bodyPr>
          <a:lstStyle/>
          <a:p>
            <a:pPr algn="ctr"/>
            <a:r>
              <a:rPr sz="1100" b="0" i="1">
                <a:solidFill>
                  <a:srgbClr val="6B7280"/>
                </a:solidFill>
                <a:latin typeface="Calibri"/>
              </a:rPr>
              <a:t>{{M1_RATIO}}</a:t>
            </a:r>
          </a:p>
        </p:txBody>
      </p:sp>
      <p:sp>
        <p:nvSpPr>
          <p:cNvPr id="25" name="TextBox 24"/>
          <p:cNvSpPr txBox="1"/>
          <p:nvPr/>
        </p:nvSpPr>
        <p:spPr>
          <a:xfrm>
            <a:off x="3657600" y="5943600"/>
            <a:ext cx="1767078" cy="274319"/>
          </a:xfrm>
          <a:prstGeom prst="rect">
            <a:avLst/>
          </a:prstGeom>
          <a:noFill/>
        </p:spPr>
        <p:txBody>
          <a:bodyPr wrap="square" lIns="0" rIns="0" tIns="0" bIns="0" anchor="t">
            <a:spAutoFit/>
          </a:bodyPr>
          <a:lstStyle/>
          <a:p>
            <a:pPr algn="ctr"/>
            <a:r>
              <a:rPr sz="900" b="0" i="1">
                <a:solidFill>
                  <a:srgbClr val="1F2937"/>
                </a:solidFill>
                <a:latin typeface="Calibri"/>
              </a:rPr>
              <a:t>{{M1_BASIS}}</a:t>
            </a:r>
          </a:p>
        </p:txBody>
      </p:sp>
      <p:sp>
        <p:nvSpPr>
          <p:cNvPr id="26" name="Rounded Rectangle 25"/>
          <p:cNvSpPr/>
          <p:nvPr/>
        </p:nvSpPr>
        <p:spPr>
          <a:xfrm>
            <a:off x="5607558" y="3383280"/>
            <a:ext cx="1949958" cy="292608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607558" y="3383280"/>
            <a:ext cx="1949958" cy="36576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07558" y="3383280"/>
            <a:ext cx="1949958" cy="365760"/>
          </a:xfrm>
          <a:prstGeom prst="rect">
            <a:avLst/>
          </a:prstGeom>
          <a:noFill/>
        </p:spPr>
        <p:txBody>
          <a:bodyPr wrap="square" lIns="0" rIns="0" tIns="0" bIns="0" anchor="ctr">
            <a:spAutoFit/>
          </a:bodyPr>
          <a:lstStyle/>
          <a:p>
            <a:pPr algn="ctr"/>
            <a:r>
              <a:rPr sz="1100" b="1" i="0">
                <a:solidFill>
                  <a:srgbClr val="FFFFFF"/>
                </a:solidFill>
                <a:latin typeface="Calibri"/>
              </a:rPr>
              <a:t>M2: {{M2_NUM}}</a:t>
            </a:r>
          </a:p>
        </p:txBody>
      </p:sp>
      <p:sp>
        <p:nvSpPr>
          <p:cNvPr id="29" name="TextBox 28"/>
          <p:cNvSpPr txBox="1"/>
          <p:nvPr/>
        </p:nvSpPr>
        <p:spPr>
          <a:xfrm>
            <a:off x="5698998" y="3886200"/>
            <a:ext cx="1767078" cy="640080"/>
          </a:xfrm>
          <a:prstGeom prst="rect">
            <a:avLst/>
          </a:prstGeom>
          <a:noFill/>
        </p:spPr>
        <p:txBody>
          <a:bodyPr wrap="square" lIns="0" rIns="0" tIns="0" bIns="0" anchor="t">
            <a:spAutoFit/>
          </a:bodyPr>
          <a:lstStyle/>
          <a:p>
            <a:pPr algn="ctr"/>
            <a:r>
              <a:rPr sz="2000" b="1" i="0">
                <a:solidFill>
                  <a:srgbClr val="7C3AED"/>
                </a:solidFill>
                <a:latin typeface="Calibri"/>
              </a:rPr>
              <a:t>{{M2_PRICE}}</a:t>
            </a:r>
          </a:p>
        </p:txBody>
      </p:sp>
      <p:sp>
        <p:nvSpPr>
          <p:cNvPr id="30" name="TextBox 29"/>
          <p:cNvSpPr txBox="1"/>
          <p:nvPr/>
        </p:nvSpPr>
        <p:spPr>
          <a:xfrm>
            <a:off x="5698998" y="4572000"/>
            <a:ext cx="1767078" cy="365760"/>
          </a:xfrm>
          <a:prstGeom prst="rect">
            <a:avLst/>
          </a:prstGeom>
          <a:noFill/>
        </p:spPr>
        <p:txBody>
          <a:bodyPr wrap="square" lIns="0" rIns="0" tIns="0" bIns="0" anchor="t">
            <a:spAutoFit/>
          </a:bodyPr>
          <a:lstStyle/>
          <a:p>
            <a:pPr algn="ctr"/>
            <a:r>
              <a:rPr sz="1800" b="1" i="0">
                <a:solidFill>
                  <a:srgbClr val="25B770"/>
                </a:solidFill>
                <a:latin typeface="Calibri"/>
              </a:rPr>
              <a:t>{{M2_PROFIT_PCT}}</a:t>
            </a:r>
          </a:p>
        </p:txBody>
      </p:sp>
      <p:sp>
        <p:nvSpPr>
          <p:cNvPr id="31" name="TextBox 30"/>
          <p:cNvSpPr txBox="1"/>
          <p:nvPr/>
        </p:nvSpPr>
        <p:spPr>
          <a:xfrm>
            <a:off x="5698998" y="4983480"/>
            <a:ext cx="1767078" cy="274320"/>
          </a:xfrm>
          <a:prstGeom prst="rect">
            <a:avLst/>
          </a:prstGeom>
          <a:noFill/>
        </p:spPr>
        <p:txBody>
          <a:bodyPr wrap="square" lIns="0" rIns="0" tIns="0" bIns="0" anchor="t">
            <a:spAutoFit/>
          </a:bodyPr>
          <a:lstStyle/>
          <a:p>
            <a:pPr algn="ctr"/>
            <a:r>
              <a:rPr sz="1100" b="0" i="1">
                <a:solidFill>
                  <a:srgbClr val="6B7280"/>
                </a:solidFill>
                <a:latin typeface="Calibri"/>
              </a:rPr>
              <a:t>{{M2_RATIO}}</a:t>
            </a:r>
          </a:p>
        </p:txBody>
      </p:sp>
      <p:sp>
        <p:nvSpPr>
          <p:cNvPr id="32" name="TextBox 31"/>
          <p:cNvSpPr txBox="1"/>
          <p:nvPr/>
        </p:nvSpPr>
        <p:spPr>
          <a:xfrm>
            <a:off x="5698998" y="5303520"/>
            <a:ext cx="1767078" cy="914400"/>
          </a:xfrm>
          <a:prstGeom prst="rect">
            <a:avLst/>
          </a:prstGeom>
          <a:noFill/>
        </p:spPr>
        <p:txBody>
          <a:bodyPr wrap="square" lIns="0" rIns="0" tIns="0" bIns="0" anchor="t">
            <a:spAutoFit/>
          </a:bodyPr>
          <a:lstStyle/>
          <a:p>
            <a:pPr algn="ctr"/>
            <a:r>
              <a:rPr sz="900" b="0" i="1">
                <a:solidFill>
                  <a:srgbClr val="1F2937"/>
                </a:solidFill>
                <a:latin typeface="Calibri"/>
              </a:rPr>
              <a:t>{{M2_BASIS}}</a:t>
            </a:r>
          </a:p>
        </p:txBody>
      </p:sp>
      <p:sp>
        <p:nvSpPr>
          <p:cNvPr id="33" name="Rounded Rectangle 32"/>
          <p:cNvSpPr/>
          <p:nvPr/>
        </p:nvSpPr>
        <p:spPr>
          <a:xfrm>
            <a:off x="7648956" y="2743200"/>
            <a:ext cx="1949958" cy="356616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648956" y="2743200"/>
            <a:ext cx="1949958" cy="36576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48956" y="2743200"/>
            <a:ext cx="1949958" cy="365760"/>
          </a:xfrm>
          <a:prstGeom prst="rect">
            <a:avLst/>
          </a:prstGeom>
          <a:noFill/>
        </p:spPr>
        <p:txBody>
          <a:bodyPr wrap="square" lIns="0" rIns="0" tIns="0" bIns="0" anchor="ctr">
            <a:spAutoFit/>
          </a:bodyPr>
          <a:lstStyle/>
          <a:p>
            <a:pPr algn="ctr"/>
            <a:r>
              <a:rPr sz="1100" b="1" i="0">
                <a:solidFill>
                  <a:srgbClr val="FFFFFF"/>
                </a:solidFill>
                <a:latin typeface="Calibri"/>
              </a:rPr>
              <a:t>M3: {{M3_NUM}}</a:t>
            </a:r>
          </a:p>
        </p:txBody>
      </p:sp>
      <p:sp>
        <p:nvSpPr>
          <p:cNvPr id="36" name="TextBox 35"/>
          <p:cNvSpPr txBox="1"/>
          <p:nvPr/>
        </p:nvSpPr>
        <p:spPr>
          <a:xfrm>
            <a:off x="7740396" y="3246120"/>
            <a:ext cx="1767078" cy="640080"/>
          </a:xfrm>
          <a:prstGeom prst="rect">
            <a:avLst/>
          </a:prstGeom>
          <a:noFill/>
        </p:spPr>
        <p:txBody>
          <a:bodyPr wrap="square" lIns="0" rIns="0" tIns="0" bIns="0" anchor="t">
            <a:spAutoFit/>
          </a:bodyPr>
          <a:lstStyle/>
          <a:p>
            <a:pPr algn="ctr"/>
            <a:r>
              <a:rPr sz="2000" b="1" i="0">
                <a:solidFill>
                  <a:srgbClr val="7C3AED"/>
                </a:solidFill>
                <a:latin typeface="Calibri"/>
              </a:rPr>
              <a:t>{{M3_PRICE}}</a:t>
            </a:r>
          </a:p>
        </p:txBody>
      </p:sp>
      <p:sp>
        <p:nvSpPr>
          <p:cNvPr id="37" name="TextBox 36"/>
          <p:cNvSpPr txBox="1"/>
          <p:nvPr/>
        </p:nvSpPr>
        <p:spPr>
          <a:xfrm>
            <a:off x="7740396" y="3931920"/>
            <a:ext cx="1767078" cy="365760"/>
          </a:xfrm>
          <a:prstGeom prst="rect">
            <a:avLst/>
          </a:prstGeom>
          <a:noFill/>
        </p:spPr>
        <p:txBody>
          <a:bodyPr wrap="square" lIns="0" rIns="0" tIns="0" bIns="0" anchor="t">
            <a:spAutoFit/>
          </a:bodyPr>
          <a:lstStyle/>
          <a:p>
            <a:pPr algn="ctr"/>
            <a:r>
              <a:rPr sz="1800" b="1" i="0">
                <a:solidFill>
                  <a:srgbClr val="25B770"/>
                </a:solidFill>
                <a:latin typeface="Calibri"/>
              </a:rPr>
              <a:t>{{M3_PROFIT_PCT}}</a:t>
            </a:r>
          </a:p>
        </p:txBody>
      </p:sp>
      <p:sp>
        <p:nvSpPr>
          <p:cNvPr id="38" name="TextBox 37"/>
          <p:cNvSpPr txBox="1"/>
          <p:nvPr/>
        </p:nvSpPr>
        <p:spPr>
          <a:xfrm>
            <a:off x="7740396" y="4343400"/>
            <a:ext cx="1767078" cy="274320"/>
          </a:xfrm>
          <a:prstGeom prst="rect">
            <a:avLst/>
          </a:prstGeom>
          <a:noFill/>
        </p:spPr>
        <p:txBody>
          <a:bodyPr wrap="square" lIns="0" rIns="0" tIns="0" bIns="0" anchor="t">
            <a:spAutoFit/>
          </a:bodyPr>
          <a:lstStyle/>
          <a:p>
            <a:pPr algn="ctr"/>
            <a:r>
              <a:rPr sz="1100" b="0" i="1">
                <a:solidFill>
                  <a:srgbClr val="6B7280"/>
                </a:solidFill>
                <a:latin typeface="Calibri"/>
              </a:rPr>
              <a:t>{{M3_RATIO}}</a:t>
            </a:r>
          </a:p>
        </p:txBody>
      </p:sp>
      <p:sp>
        <p:nvSpPr>
          <p:cNvPr id="39" name="TextBox 38"/>
          <p:cNvSpPr txBox="1"/>
          <p:nvPr/>
        </p:nvSpPr>
        <p:spPr>
          <a:xfrm>
            <a:off x="7740396" y="4663440"/>
            <a:ext cx="1767078" cy="1554479"/>
          </a:xfrm>
          <a:prstGeom prst="rect">
            <a:avLst/>
          </a:prstGeom>
          <a:noFill/>
        </p:spPr>
        <p:txBody>
          <a:bodyPr wrap="square" lIns="0" rIns="0" tIns="0" bIns="0" anchor="t">
            <a:spAutoFit/>
          </a:bodyPr>
          <a:lstStyle/>
          <a:p>
            <a:pPr algn="ctr"/>
            <a:r>
              <a:rPr sz="900" b="0" i="1">
                <a:solidFill>
                  <a:srgbClr val="1F2937"/>
                </a:solidFill>
                <a:latin typeface="Calibri"/>
              </a:rPr>
              <a:t>{{M3_BASIS}}</a:t>
            </a:r>
          </a:p>
        </p:txBody>
      </p:sp>
      <p:sp>
        <p:nvSpPr>
          <p:cNvPr id="40" name="Rounded Rectangle 39"/>
          <p:cNvSpPr/>
          <p:nvPr/>
        </p:nvSpPr>
        <p:spPr>
          <a:xfrm>
            <a:off x="9690354" y="2103120"/>
            <a:ext cx="1949958" cy="420624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90354" y="2103120"/>
            <a:ext cx="1949958" cy="36576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90354" y="2103120"/>
            <a:ext cx="1949958" cy="365760"/>
          </a:xfrm>
          <a:prstGeom prst="rect">
            <a:avLst/>
          </a:prstGeom>
          <a:noFill/>
        </p:spPr>
        <p:txBody>
          <a:bodyPr wrap="square" lIns="0" rIns="0" tIns="0" bIns="0" anchor="ctr">
            <a:spAutoFit/>
          </a:bodyPr>
          <a:lstStyle/>
          <a:p>
            <a:pPr algn="ctr"/>
            <a:r>
              <a:rPr sz="1100" b="1" i="0">
                <a:solidFill>
                  <a:srgbClr val="FFFFFF"/>
                </a:solidFill>
                <a:latin typeface="Calibri"/>
              </a:rPr>
              <a:t>M4: {{M4_NUM}}</a:t>
            </a:r>
          </a:p>
        </p:txBody>
      </p:sp>
      <p:sp>
        <p:nvSpPr>
          <p:cNvPr id="43" name="TextBox 42"/>
          <p:cNvSpPr txBox="1"/>
          <p:nvPr/>
        </p:nvSpPr>
        <p:spPr>
          <a:xfrm>
            <a:off x="9781794" y="2606040"/>
            <a:ext cx="1767078" cy="640080"/>
          </a:xfrm>
          <a:prstGeom prst="rect">
            <a:avLst/>
          </a:prstGeom>
          <a:noFill/>
        </p:spPr>
        <p:txBody>
          <a:bodyPr wrap="square" lIns="0" rIns="0" tIns="0" bIns="0" anchor="t">
            <a:spAutoFit/>
          </a:bodyPr>
          <a:lstStyle/>
          <a:p>
            <a:pPr algn="ctr"/>
            <a:r>
              <a:rPr sz="2000" b="1" i="0">
                <a:solidFill>
                  <a:srgbClr val="7C3AED"/>
                </a:solidFill>
                <a:latin typeface="Calibri"/>
              </a:rPr>
              <a:t>{{M4_PRICE}}</a:t>
            </a:r>
          </a:p>
        </p:txBody>
      </p:sp>
      <p:sp>
        <p:nvSpPr>
          <p:cNvPr id="44" name="TextBox 43"/>
          <p:cNvSpPr txBox="1"/>
          <p:nvPr/>
        </p:nvSpPr>
        <p:spPr>
          <a:xfrm>
            <a:off x="9781794" y="3291840"/>
            <a:ext cx="1767078" cy="365760"/>
          </a:xfrm>
          <a:prstGeom prst="rect">
            <a:avLst/>
          </a:prstGeom>
          <a:noFill/>
        </p:spPr>
        <p:txBody>
          <a:bodyPr wrap="square" lIns="0" rIns="0" tIns="0" bIns="0" anchor="t">
            <a:spAutoFit/>
          </a:bodyPr>
          <a:lstStyle/>
          <a:p>
            <a:pPr algn="ctr"/>
            <a:r>
              <a:rPr sz="1800" b="1" i="0">
                <a:solidFill>
                  <a:srgbClr val="25B770"/>
                </a:solidFill>
                <a:latin typeface="Calibri"/>
              </a:rPr>
              <a:t>{{M4_PROFIT_PCT}}</a:t>
            </a:r>
          </a:p>
        </p:txBody>
      </p:sp>
      <p:sp>
        <p:nvSpPr>
          <p:cNvPr id="45" name="TextBox 44"/>
          <p:cNvSpPr txBox="1"/>
          <p:nvPr/>
        </p:nvSpPr>
        <p:spPr>
          <a:xfrm>
            <a:off x="9781794" y="3703320"/>
            <a:ext cx="1767078" cy="274320"/>
          </a:xfrm>
          <a:prstGeom prst="rect">
            <a:avLst/>
          </a:prstGeom>
          <a:noFill/>
        </p:spPr>
        <p:txBody>
          <a:bodyPr wrap="square" lIns="0" rIns="0" tIns="0" bIns="0" anchor="t">
            <a:spAutoFit/>
          </a:bodyPr>
          <a:lstStyle/>
          <a:p>
            <a:pPr algn="ctr"/>
            <a:r>
              <a:rPr sz="1100" b="0" i="1">
                <a:solidFill>
                  <a:srgbClr val="6B7280"/>
                </a:solidFill>
                <a:latin typeface="Calibri"/>
              </a:rPr>
              <a:t>{{M4_RATIO}}</a:t>
            </a:r>
          </a:p>
        </p:txBody>
      </p:sp>
      <p:sp>
        <p:nvSpPr>
          <p:cNvPr id="46" name="TextBox 45"/>
          <p:cNvSpPr txBox="1"/>
          <p:nvPr/>
        </p:nvSpPr>
        <p:spPr>
          <a:xfrm>
            <a:off x="9781794" y="4023360"/>
            <a:ext cx="1767078" cy="2194559"/>
          </a:xfrm>
          <a:prstGeom prst="rect">
            <a:avLst/>
          </a:prstGeom>
          <a:noFill/>
        </p:spPr>
        <p:txBody>
          <a:bodyPr wrap="square" lIns="0" rIns="0" tIns="0" bIns="0" anchor="t">
            <a:spAutoFit/>
          </a:bodyPr>
          <a:lstStyle/>
          <a:p>
            <a:pPr algn="ctr"/>
            <a:r>
              <a:rPr sz="900" b="0" i="1">
                <a:solidFill>
                  <a:srgbClr val="1F2937"/>
                </a:solidFill>
                <a:latin typeface="Calibri"/>
              </a:rPr>
              <a:t>{{M4_BASIS}}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name="THESIS_B_PANEL_RIGHT">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{{LUANDIEM_TITLE}}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{{LUANDIEM_SUB}}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7863840" y="1325880"/>
            <a:ext cx="3776472" cy="4983480"/>
          </a:xfrm>
          <a:prstGeom prst="roundRect">
            <a:avLst>
              <a:gd name="adj" fmla="val 15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600200"/>
            <a:ext cx="3319272" cy="274320"/>
          </a:xfrm>
          <a:prstGeom prst="rect">
            <a:avLst/>
          </a:prstGeom>
          <a:noFill/>
        </p:spPr>
        <p:txBody>
          <a:bodyPr wrap="square" lIns="0" rIns="0" tIns="0" bIns="0" anchor="t">
            <a:spAutoFit/>
          </a:bodyPr>
          <a:lstStyle/>
          <a:p>
            <a:pPr algn="l"/>
            <a:r>
              <a:rPr sz="1200" b="1" i="1">
                <a:solidFill>
                  <a:srgbClr val="FFFFFF"/>
                </a:solidFill>
                <a:latin typeface="Calibri"/>
              </a:rPr>
              <a:t>{{KPI_LABEL}}</a:t>
            </a:r>
          </a:p>
        </p:txBody>
      </p:sp>
      <p:sp>
        <p:nvSpPr>
          <p:cNvPr id="11" name="TextBox 10"/>
          <p:cNvSpPr txBox="1"/>
          <p:nvPr/>
        </p:nvSpPr>
        <p:spPr>
          <a:xfrm>
            <a:off x="8138160" y="2057400"/>
            <a:ext cx="3319272" cy="1188720"/>
          </a:xfrm>
          <a:prstGeom prst="rect">
            <a:avLst/>
          </a:prstGeom>
          <a:noFill/>
        </p:spPr>
        <p:txBody>
          <a:bodyPr wrap="square" lIns="0" rIns="0" tIns="0" bIns="0" anchor="ctr">
            <a:spAutoFit/>
          </a:bodyPr>
          <a:lstStyle/>
          <a:p>
            <a:pPr algn="l"/>
            <a:r>
              <a:rPr sz="6400" b="1" i="0">
                <a:solidFill>
                  <a:srgbClr val="FFFFFF"/>
                </a:solidFill>
                <a:latin typeface="Calibri"/>
              </a:rPr>
              <a:t>{{KPI_VALUE}}</a:t>
            </a:r>
          </a:p>
        </p:txBody>
      </p:sp>
      <p:sp>
        <p:nvSpPr>
          <p:cNvPr id="12" name="TextBox 11"/>
          <p:cNvSpPr txBox="1"/>
          <p:nvPr/>
        </p:nvSpPr>
        <p:spPr>
          <a:xfrm>
            <a:off x="8138160" y="3429000"/>
            <a:ext cx="3319272" cy="457200"/>
          </a:xfrm>
          <a:prstGeom prst="rect">
            <a:avLst/>
          </a:prstGeom>
          <a:noFill/>
        </p:spPr>
        <p:txBody>
          <a:bodyPr wrap="square" lIns="0" rIns="0" tIns="0" bIns="0" anchor="t">
            <a:spAutoFit/>
          </a:bodyPr>
          <a:lstStyle/>
          <a:p>
            <a:pPr algn="l"/>
            <a:r>
              <a:rPr sz="1400" b="0" i="1">
                <a:solidFill>
                  <a:srgbClr val="FFFFFF"/>
                </a:solidFill>
                <a:latin typeface="Calibri"/>
              </a:rPr>
              <a:t>{{KPI_NOTE}}</a:t>
            </a:r>
          </a:p>
        </p:txBody>
      </p:sp>
      <p:sp>
        <p:nvSpPr>
          <p:cNvPr id="13" name="TextBox 12"/>
          <p:cNvSpPr txBox="1"/>
          <p:nvPr/>
        </p:nvSpPr>
        <p:spPr>
          <a:xfrm>
            <a:off x="8138160" y="4023360"/>
            <a:ext cx="3319272" cy="2057400"/>
          </a:xfrm>
          <a:prstGeom prst="rect">
            <a:avLst/>
          </a:prstGeom>
          <a:noFill/>
        </p:spPr>
        <p:txBody>
          <a:bodyPr wrap="square" lIns="0" rIns="0" tIns="0" bIns="0" anchor="t">
            <a:spAutoFit/>
          </a:bodyPr>
          <a:lstStyle/>
          <a:p>
            <a:pPr algn="l"/>
            <a:r>
              <a:rPr sz="1100" b="0" i="0">
                <a:solidFill>
                  <a:srgbClr val="FFFFFF"/>
                </a:solidFill>
                <a:latin typeface="Calibri"/>
              </a:rPr>
              <a:t>{{KPI_LONG_BODY}}</a:t>
            </a:r>
          </a:p>
        </p:txBody>
      </p:sp>
      <p:sp>
        <p:nvSpPr>
          <p:cNvPr id="14" name="Rounded Rectangle 13"/>
          <p:cNvSpPr/>
          <p:nvPr/>
        </p:nvSpPr>
        <p:spPr>
          <a:xfrm>
            <a:off x="548640" y="1325880"/>
            <a:ext cx="7132320" cy="109728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1325880"/>
            <a:ext cx="54864" cy="10972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1668780"/>
            <a:ext cx="411480" cy="41148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01</a:t>
            </a:r>
          </a:p>
        </p:txBody>
      </p:sp>
      <p:sp>
        <p:nvSpPr>
          <p:cNvPr id="17" name="TextBox 16"/>
          <p:cNvSpPr txBox="1"/>
          <p:nvPr/>
        </p:nvSpPr>
        <p:spPr>
          <a:xfrm>
            <a:off x="1325880" y="1417320"/>
            <a:ext cx="6263640" cy="320040"/>
          </a:xfrm>
          <a:prstGeom prst="rect">
            <a:avLst/>
          </a:prstGeom>
          <a:noFill/>
        </p:spPr>
        <p:txBody>
          <a:bodyPr wrap="square" lIns="0" rIns="0" tIns="0" bIns="0" anchor="t">
            <a:spAutoFit/>
          </a:bodyPr>
          <a:lstStyle/>
          <a:p>
            <a:pPr algn="l"/>
            <a:r>
              <a:rPr sz="1300" b="1" i="0">
                <a:solidFill>
                  <a:srgbClr val="1F2937"/>
                </a:solidFill>
                <a:latin typeface="Calibri"/>
              </a:rPr>
              <a:t>{{SUBPOINT_1_TITLE}}</a:t>
            </a:r>
          </a:p>
        </p:txBody>
      </p:sp>
      <p:sp>
        <p:nvSpPr>
          <p:cNvPr id="18" name="TextBox 17"/>
          <p:cNvSpPr txBox="1"/>
          <p:nvPr/>
        </p:nvSpPr>
        <p:spPr>
          <a:xfrm>
            <a:off x="1325880" y="1783080"/>
            <a:ext cx="6263640" cy="594359"/>
          </a:xfrm>
          <a:prstGeom prst="rect">
            <a:avLst/>
          </a:prstGeom>
          <a:noFill/>
        </p:spPr>
        <p:txBody>
          <a:bodyPr wrap="square" lIns="0" rIns="0" tIns="0" bIns="0" anchor="t">
            <a:spAutoFit/>
          </a:bodyPr>
          <a:lstStyle/>
          <a:p>
            <a:pPr algn="l"/>
            <a:r>
              <a:rPr sz="1100" b="0" i="1">
                <a:solidFill>
                  <a:srgbClr val="6B7280"/>
                </a:solidFill>
                <a:latin typeface="Calibri"/>
              </a:rPr>
              <a:t>{{SUBPOINT_1_BODY}}</a:t>
            </a:r>
          </a:p>
        </p:txBody>
      </p:sp>
      <p:sp>
        <p:nvSpPr>
          <p:cNvPr id="19" name="Rounded Rectangle 18"/>
          <p:cNvSpPr/>
          <p:nvPr/>
        </p:nvSpPr>
        <p:spPr>
          <a:xfrm>
            <a:off x="1005840" y="2560320"/>
            <a:ext cx="6675120" cy="109728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05840" y="2560320"/>
            <a:ext cx="54864" cy="10972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88720" y="2903220"/>
            <a:ext cx="411480" cy="41148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02</a:t>
            </a:r>
          </a:p>
        </p:txBody>
      </p:sp>
      <p:sp>
        <p:nvSpPr>
          <p:cNvPr id="22" name="TextBox 21"/>
          <p:cNvSpPr txBox="1"/>
          <p:nvPr/>
        </p:nvSpPr>
        <p:spPr>
          <a:xfrm>
            <a:off x="1783080" y="2651760"/>
            <a:ext cx="5806440" cy="320040"/>
          </a:xfrm>
          <a:prstGeom prst="rect">
            <a:avLst/>
          </a:prstGeom>
          <a:noFill/>
        </p:spPr>
        <p:txBody>
          <a:bodyPr wrap="square" lIns="0" rIns="0" tIns="0" bIns="0" anchor="t">
            <a:spAutoFit/>
          </a:bodyPr>
          <a:lstStyle/>
          <a:p>
            <a:pPr algn="l"/>
            <a:r>
              <a:rPr sz="1300" b="1" i="0">
                <a:solidFill>
                  <a:srgbClr val="1F2937"/>
                </a:solidFill>
                <a:latin typeface="Calibri"/>
              </a:rPr>
              <a:t>{{SUBPOINT_2_TITLE}}</a:t>
            </a:r>
          </a:p>
        </p:txBody>
      </p:sp>
      <p:sp>
        <p:nvSpPr>
          <p:cNvPr id="23" name="TextBox 22"/>
          <p:cNvSpPr txBox="1"/>
          <p:nvPr/>
        </p:nvSpPr>
        <p:spPr>
          <a:xfrm>
            <a:off x="1783080" y="3017520"/>
            <a:ext cx="5806440" cy="594359"/>
          </a:xfrm>
          <a:prstGeom prst="rect">
            <a:avLst/>
          </a:prstGeom>
          <a:noFill/>
        </p:spPr>
        <p:txBody>
          <a:bodyPr wrap="square" lIns="0" rIns="0" tIns="0" bIns="0" anchor="t">
            <a:spAutoFit/>
          </a:bodyPr>
          <a:lstStyle/>
          <a:p>
            <a:pPr algn="l"/>
            <a:r>
              <a:rPr sz="1100" b="0" i="1">
                <a:solidFill>
                  <a:srgbClr val="6B7280"/>
                </a:solidFill>
                <a:latin typeface="Calibri"/>
              </a:rPr>
              <a:t>{{SUBPOINT_2_BODY}}</a:t>
            </a:r>
          </a:p>
        </p:txBody>
      </p:sp>
      <p:sp>
        <p:nvSpPr>
          <p:cNvPr id="24" name="Rounded Rectangle 23"/>
          <p:cNvSpPr/>
          <p:nvPr/>
        </p:nvSpPr>
        <p:spPr>
          <a:xfrm>
            <a:off x="548640" y="3794759"/>
            <a:ext cx="7132320" cy="109728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794759"/>
            <a:ext cx="54864" cy="10972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31520" y="4137659"/>
            <a:ext cx="411480" cy="41148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03</a:t>
            </a:r>
          </a:p>
        </p:txBody>
      </p:sp>
      <p:sp>
        <p:nvSpPr>
          <p:cNvPr id="27" name="TextBox 26"/>
          <p:cNvSpPr txBox="1"/>
          <p:nvPr/>
        </p:nvSpPr>
        <p:spPr>
          <a:xfrm>
            <a:off x="1325880" y="3886199"/>
            <a:ext cx="6263640" cy="320040"/>
          </a:xfrm>
          <a:prstGeom prst="rect">
            <a:avLst/>
          </a:prstGeom>
          <a:noFill/>
        </p:spPr>
        <p:txBody>
          <a:bodyPr wrap="square" lIns="0" rIns="0" tIns="0" bIns="0" anchor="t">
            <a:spAutoFit/>
          </a:bodyPr>
          <a:lstStyle/>
          <a:p>
            <a:pPr algn="l"/>
            <a:r>
              <a:rPr sz="1300" b="1" i="0">
                <a:solidFill>
                  <a:srgbClr val="1F2937"/>
                </a:solidFill>
                <a:latin typeface="Calibri"/>
              </a:rPr>
              <a:t>{{SUBPOINT_3_TITLE}}</a:t>
            </a:r>
          </a:p>
        </p:txBody>
      </p:sp>
      <p:sp>
        <p:nvSpPr>
          <p:cNvPr id="28" name="TextBox 27"/>
          <p:cNvSpPr txBox="1"/>
          <p:nvPr/>
        </p:nvSpPr>
        <p:spPr>
          <a:xfrm>
            <a:off x="1325880" y="4251959"/>
            <a:ext cx="6263640" cy="594359"/>
          </a:xfrm>
          <a:prstGeom prst="rect">
            <a:avLst/>
          </a:prstGeom>
          <a:noFill/>
        </p:spPr>
        <p:txBody>
          <a:bodyPr wrap="square" lIns="0" rIns="0" tIns="0" bIns="0" anchor="t">
            <a:spAutoFit/>
          </a:bodyPr>
          <a:lstStyle/>
          <a:p>
            <a:pPr algn="l"/>
            <a:r>
              <a:rPr sz="1100" b="0" i="1">
                <a:solidFill>
                  <a:srgbClr val="6B7280"/>
                </a:solidFill>
                <a:latin typeface="Calibri"/>
              </a:rPr>
              <a:t>{{SUBPOINT_3_BODY}}</a:t>
            </a:r>
          </a:p>
        </p:txBody>
      </p:sp>
      <p:sp>
        <p:nvSpPr>
          <p:cNvPr id="29" name="Rounded Rectangle 28"/>
          <p:cNvSpPr/>
          <p:nvPr/>
        </p:nvSpPr>
        <p:spPr>
          <a:xfrm>
            <a:off x="1005840" y="5029200"/>
            <a:ext cx="6675120" cy="109728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05840" y="5029200"/>
            <a:ext cx="54864" cy="10972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88720" y="5372100"/>
            <a:ext cx="411480" cy="41148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04</a:t>
            </a:r>
          </a:p>
        </p:txBody>
      </p:sp>
      <p:sp>
        <p:nvSpPr>
          <p:cNvPr id="32" name="TextBox 31"/>
          <p:cNvSpPr txBox="1"/>
          <p:nvPr/>
        </p:nvSpPr>
        <p:spPr>
          <a:xfrm>
            <a:off x="1783080" y="5120640"/>
            <a:ext cx="5806440" cy="320040"/>
          </a:xfrm>
          <a:prstGeom prst="rect">
            <a:avLst/>
          </a:prstGeom>
          <a:noFill/>
        </p:spPr>
        <p:txBody>
          <a:bodyPr wrap="square" lIns="0" rIns="0" tIns="0" bIns="0" anchor="t">
            <a:spAutoFit/>
          </a:bodyPr>
          <a:lstStyle/>
          <a:p>
            <a:pPr algn="l"/>
            <a:r>
              <a:rPr sz="1300" b="1" i="0">
                <a:solidFill>
                  <a:srgbClr val="1F2937"/>
                </a:solidFill>
                <a:latin typeface="Calibri"/>
              </a:rPr>
              <a:t>{{SUBPOINT_4_TITLE}}</a:t>
            </a:r>
          </a:p>
        </p:txBody>
      </p:sp>
      <p:sp>
        <p:nvSpPr>
          <p:cNvPr id="33" name="TextBox 32"/>
          <p:cNvSpPr txBox="1"/>
          <p:nvPr/>
        </p:nvSpPr>
        <p:spPr>
          <a:xfrm>
            <a:off x="1783080" y="5486400"/>
            <a:ext cx="5806440" cy="594359"/>
          </a:xfrm>
          <a:prstGeom prst="rect">
            <a:avLst/>
          </a:prstGeom>
          <a:noFill/>
        </p:spPr>
        <p:txBody>
          <a:bodyPr wrap="square" lIns="0" rIns="0" tIns="0" bIns="0" anchor="t">
            <a:spAutoFit/>
          </a:bodyPr>
          <a:lstStyle/>
          <a:p>
            <a:pPr algn="l"/>
            <a:r>
              <a:rPr sz="1100" b="0" i="1">
                <a:solidFill>
                  <a:srgbClr val="6B7280"/>
                </a:solidFill>
                <a:latin typeface="Calibri"/>
              </a:rPr>
              <a:t>{{SUBPOINT_4_BODY}}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name="HEATMAP_INDUSTRY">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6153912" y="1325880"/>
            <a:ext cx="1051560" cy="32004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53912" y="1325880"/>
            <a:ext cx="1051560" cy="320040"/>
          </a:xfrm>
          <a:prstGeom prst="rect">
            <a:avLst/>
          </a:prstGeom>
          <a:noFill/>
        </p:spPr>
        <p:txBody>
          <a:bodyPr wrap="square" lIns="0" rIns="0" tIns="0" bIns="0" anchor="ctr">
            <a:spAutoFit/>
          </a:bodyPr>
          <a:lstStyle/>
          <a:p>
            <a:pPr algn="ctr"/>
            <a:r>
              <a:rPr sz="800" b="1" i="0">
                <a:solidFill>
                  <a:srgbClr val="FFFFFF"/>
                </a:solidFill>
                <a:latin typeface="Calibri"/>
              </a:rPr>
              <a:t>&gt;+3%</a:t>
            </a:r>
          </a:p>
        </p:txBody>
      </p:sp>
      <p:sp>
        <p:nvSpPr>
          <p:cNvPr id="11" name="Rounded Rectangle 10"/>
          <p:cNvSpPr/>
          <p:nvPr/>
        </p:nvSpPr>
        <p:spPr>
          <a:xfrm>
            <a:off x="7251192" y="1325880"/>
            <a:ext cx="1051560" cy="320040"/>
          </a:xfrm>
          <a:prstGeom prst="roundRect">
            <a:avLst>
              <a:gd name="adj" fmla="val 8000"/>
            </a:avLst>
          </a:prstGeom>
          <a:solidFill>
            <a:srgbClr val="25B7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51192" y="1325880"/>
            <a:ext cx="1051560" cy="320040"/>
          </a:xfrm>
          <a:prstGeom prst="rect">
            <a:avLst/>
          </a:prstGeom>
          <a:noFill/>
        </p:spPr>
        <p:txBody>
          <a:bodyPr wrap="square" lIns="0" rIns="0" tIns="0" bIns="0" anchor="ctr">
            <a:spAutoFit/>
          </a:bodyPr>
          <a:lstStyle/>
          <a:p>
            <a:pPr algn="ctr"/>
            <a:r>
              <a:rPr sz="800" b="1" i="0">
                <a:solidFill>
                  <a:srgbClr val="FFFFFF"/>
                </a:solidFill>
                <a:latin typeface="Calibri"/>
              </a:rPr>
              <a:t>+1% đến +3%</a:t>
            </a:r>
          </a:p>
        </p:txBody>
      </p:sp>
      <p:sp>
        <p:nvSpPr>
          <p:cNvPr id="13" name="Rounded Rectangle 12"/>
          <p:cNvSpPr/>
          <p:nvPr/>
        </p:nvSpPr>
        <p:spPr>
          <a:xfrm>
            <a:off x="8348472" y="1325880"/>
            <a:ext cx="1051560" cy="32004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8472" y="1325880"/>
            <a:ext cx="1051560" cy="320040"/>
          </a:xfrm>
          <a:prstGeom prst="rect">
            <a:avLst/>
          </a:prstGeom>
          <a:noFill/>
        </p:spPr>
        <p:txBody>
          <a:bodyPr wrap="square" lIns="0" rIns="0" tIns="0" bIns="0" anchor="ctr">
            <a:spAutoFit/>
          </a:bodyPr>
          <a:lstStyle/>
          <a:p>
            <a:pPr algn="ctr"/>
            <a:r>
              <a:rPr sz="800" b="1" i="0">
                <a:solidFill>
                  <a:srgbClr val="1F2937"/>
                </a:solidFill>
                <a:latin typeface="Calibri"/>
              </a:rPr>
              <a:t>-1% đến +1%</a:t>
            </a:r>
          </a:p>
        </p:txBody>
      </p:sp>
      <p:sp>
        <p:nvSpPr>
          <p:cNvPr id="15" name="Rounded Rectangle 14"/>
          <p:cNvSpPr/>
          <p:nvPr/>
        </p:nvSpPr>
        <p:spPr>
          <a:xfrm>
            <a:off x="9445752" y="1325880"/>
            <a:ext cx="1051560" cy="320040"/>
          </a:xfrm>
          <a:prstGeom prst="roundRect">
            <a:avLst>
              <a:gd name="adj" fmla="val 8000"/>
            </a:avLst>
          </a:prstGeom>
          <a:solidFill>
            <a:srgbClr val="FD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45752" y="1325880"/>
            <a:ext cx="1051560" cy="320040"/>
          </a:xfrm>
          <a:prstGeom prst="rect">
            <a:avLst/>
          </a:prstGeom>
          <a:noFill/>
        </p:spPr>
        <p:txBody>
          <a:bodyPr wrap="square" lIns="0" rIns="0" tIns="0" bIns="0" anchor="ctr">
            <a:spAutoFit/>
          </a:bodyPr>
          <a:lstStyle/>
          <a:p>
            <a:pPr algn="ctr"/>
            <a:r>
              <a:rPr sz="800" b="1" i="0">
                <a:solidFill>
                  <a:srgbClr val="1F2937"/>
                </a:solidFill>
                <a:latin typeface="Calibri"/>
              </a:rPr>
              <a:t>-3% đến -1%</a:t>
            </a:r>
          </a:p>
        </p:txBody>
      </p:sp>
      <p:sp>
        <p:nvSpPr>
          <p:cNvPr id="17" name="Rounded Rectangle 16"/>
          <p:cNvSpPr/>
          <p:nvPr/>
        </p:nvSpPr>
        <p:spPr>
          <a:xfrm>
            <a:off x="10543032" y="1325880"/>
            <a:ext cx="1051560" cy="320040"/>
          </a:xfrm>
          <a:prstGeom prst="roundRect">
            <a:avLst>
              <a:gd name="adj" fmla="val 8000"/>
            </a:avLst>
          </a:prstGeom>
          <a:solidFill>
            <a:srgbClr val="E1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43032" y="1325880"/>
            <a:ext cx="1051560" cy="320040"/>
          </a:xfrm>
          <a:prstGeom prst="rect">
            <a:avLst/>
          </a:prstGeom>
          <a:noFill/>
        </p:spPr>
        <p:txBody>
          <a:bodyPr wrap="square" lIns="0" rIns="0" tIns="0" bIns="0" anchor="ctr">
            <a:spAutoFit/>
          </a:bodyPr>
          <a:lstStyle/>
          <a:p>
            <a:pPr algn="ctr"/>
            <a:r>
              <a:rPr sz="800" b="1" i="0">
                <a:solidFill>
                  <a:srgbClr val="FFFFFF"/>
                </a:solidFill>
                <a:latin typeface="Calibri"/>
              </a:rPr>
              <a:t>&lt;-3%</a:t>
            </a:r>
          </a:p>
        </p:txBody>
      </p:sp>
      <p:sp>
        <p:nvSpPr>
          <p:cNvPr id="19" name="TextBox 18"/>
          <p:cNvSpPr txBox="1"/>
          <p:nvPr/>
        </p:nvSpPr>
        <p:spPr>
          <a:xfrm>
            <a:off x="548640" y="1325880"/>
            <a:ext cx="5513832" cy="320040"/>
          </a:xfrm>
          <a:prstGeom prst="rect">
            <a:avLst/>
          </a:prstGeom>
          <a:noFill/>
        </p:spPr>
        <p:txBody>
          <a:bodyPr wrap="square" lIns="0" rIns="0" tIns="0" bIns="0" anchor="ctr">
            <a:spAutoFit/>
          </a:bodyPr>
          <a:lstStyle/>
          <a:p>
            <a:pPr algn="l"/>
            <a:r>
              <a:rPr sz="1000" b="0" i="1">
                <a:solidFill>
                  <a:srgbClr val="6B7280"/>
                </a:solidFill>
                <a:latin typeface="Calibri"/>
              </a:rPr>
              <a:t>Biến động % theo magnitude</a:t>
            </a:r>
          </a:p>
        </p:txBody>
      </p:sp>
      <p:sp>
        <p:nvSpPr>
          <p:cNvPr id="20" name="Rounded Rectangle 19"/>
          <p:cNvSpPr/>
          <p:nvPr/>
        </p:nvSpPr>
        <p:spPr>
          <a:xfrm>
            <a:off x="548640" y="182880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190195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{{IND_1_NAME}}</a:t>
            </a:r>
          </a:p>
        </p:txBody>
      </p:sp>
      <p:sp>
        <p:nvSpPr>
          <p:cNvPr id="22" name="TextBox 21"/>
          <p:cNvSpPr txBox="1"/>
          <p:nvPr/>
        </p:nvSpPr>
        <p:spPr>
          <a:xfrm>
            <a:off x="640080" y="219456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{{IND_1_PCT}}</a:t>
            </a:r>
          </a:p>
        </p:txBody>
      </p:sp>
      <p:sp>
        <p:nvSpPr>
          <p:cNvPr id="23" name="TextBox 22"/>
          <p:cNvSpPr txBox="1"/>
          <p:nvPr/>
        </p:nvSpPr>
        <p:spPr>
          <a:xfrm>
            <a:off x="640080" y="2606040"/>
            <a:ext cx="1589532" cy="171450"/>
          </a:xfrm>
          <a:prstGeom prst="rect">
            <a:avLst/>
          </a:prstGeom>
          <a:noFill/>
        </p:spPr>
        <p:txBody>
          <a:bodyPr wrap="square" lIns="0" rIns="0" tIns="0" bIns="0" anchor="t">
            <a:spAutoFit/>
          </a:bodyPr>
          <a:lstStyle/>
          <a:p>
            <a:pPr algn="l"/>
            <a:r>
              <a:rPr sz="800" b="0" i="1">
                <a:solidFill>
                  <a:srgbClr val="9CA3AF"/>
                </a:solidFill>
                <a:latin typeface="Calibri"/>
              </a:rPr>
              <a:t>{{IND_1_NOTE}}</a:t>
            </a:r>
          </a:p>
        </p:txBody>
      </p:sp>
      <p:sp>
        <p:nvSpPr>
          <p:cNvPr id="24" name="Rounded Rectangle 23"/>
          <p:cNvSpPr/>
          <p:nvPr/>
        </p:nvSpPr>
        <p:spPr>
          <a:xfrm>
            <a:off x="2412492" y="182880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03932" y="190195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{{IND_2_NAME}}</a:t>
            </a:r>
          </a:p>
        </p:txBody>
      </p:sp>
      <p:sp>
        <p:nvSpPr>
          <p:cNvPr id="26" name="TextBox 25"/>
          <p:cNvSpPr txBox="1"/>
          <p:nvPr/>
        </p:nvSpPr>
        <p:spPr>
          <a:xfrm>
            <a:off x="2503932" y="219456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{{IND_2_PCT}}</a:t>
            </a:r>
          </a:p>
        </p:txBody>
      </p:sp>
      <p:sp>
        <p:nvSpPr>
          <p:cNvPr id="27" name="TextBox 26"/>
          <p:cNvSpPr txBox="1"/>
          <p:nvPr/>
        </p:nvSpPr>
        <p:spPr>
          <a:xfrm>
            <a:off x="2503932" y="2606040"/>
            <a:ext cx="1589532" cy="171450"/>
          </a:xfrm>
          <a:prstGeom prst="rect">
            <a:avLst/>
          </a:prstGeom>
          <a:noFill/>
        </p:spPr>
        <p:txBody>
          <a:bodyPr wrap="square" lIns="0" rIns="0" tIns="0" bIns="0" anchor="t">
            <a:spAutoFit/>
          </a:bodyPr>
          <a:lstStyle/>
          <a:p>
            <a:pPr algn="l"/>
            <a:r>
              <a:rPr sz="800" b="0" i="1">
                <a:solidFill>
                  <a:srgbClr val="9CA3AF"/>
                </a:solidFill>
                <a:latin typeface="Calibri"/>
              </a:rPr>
              <a:t>{{IND_2_NOTE}}</a:t>
            </a:r>
          </a:p>
        </p:txBody>
      </p:sp>
      <p:sp>
        <p:nvSpPr>
          <p:cNvPr id="28" name="Rounded Rectangle 27"/>
          <p:cNvSpPr/>
          <p:nvPr/>
        </p:nvSpPr>
        <p:spPr>
          <a:xfrm>
            <a:off x="4276344" y="182880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7784" y="190195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{{IND_3_NAME}}</a:t>
            </a:r>
          </a:p>
        </p:txBody>
      </p:sp>
      <p:sp>
        <p:nvSpPr>
          <p:cNvPr id="30" name="TextBox 29"/>
          <p:cNvSpPr txBox="1"/>
          <p:nvPr/>
        </p:nvSpPr>
        <p:spPr>
          <a:xfrm>
            <a:off x="4367784" y="219456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{{IND_3_PCT}}</a:t>
            </a:r>
          </a:p>
        </p:txBody>
      </p:sp>
      <p:sp>
        <p:nvSpPr>
          <p:cNvPr id="31" name="TextBox 30"/>
          <p:cNvSpPr txBox="1"/>
          <p:nvPr/>
        </p:nvSpPr>
        <p:spPr>
          <a:xfrm>
            <a:off x="4367784" y="2606040"/>
            <a:ext cx="1589532" cy="171450"/>
          </a:xfrm>
          <a:prstGeom prst="rect">
            <a:avLst/>
          </a:prstGeom>
          <a:noFill/>
        </p:spPr>
        <p:txBody>
          <a:bodyPr wrap="square" lIns="0" rIns="0" tIns="0" bIns="0" anchor="t">
            <a:spAutoFit/>
          </a:bodyPr>
          <a:lstStyle/>
          <a:p>
            <a:pPr algn="l"/>
            <a:r>
              <a:rPr sz="800" b="0" i="1">
                <a:solidFill>
                  <a:srgbClr val="9CA3AF"/>
                </a:solidFill>
                <a:latin typeface="Calibri"/>
              </a:rPr>
              <a:t>{{IND_3_NOTE}}</a:t>
            </a:r>
          </a:p>
        </p:txBody>
      </p:sp>
      <p:sp>
        <p:nvSpPr>
          <p:cNvPr id="32" name="Rounded Rectangle 31"/>
          <p:cNvSpPr/>
          <p:nvPr/>
        </p:nvSpPr>
        <p:spPr>
          <a:xfrm>
            <a:off x="6140196" y="182880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1636" y="190195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{{IND_4_NAME}}</a:t>
            </a:r>
          </a:p>
        </p:txBody>
      </p:sp>
      <p:sp>
        <p:nvSpPr>
          <p:cNvPr id="34" name="TextBox 33"/>
          <p:cNvSpPr txBox="1"/>
          <p:nvPr/>
        </p:nvSpPr>
        <p:spPr>
          <a:xfrm>
            <a:off x="6231636" y="219456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{{IND_4_PCT}}</a:t>
            </a:r>
          </a:p>
        </p:txBody>
      </p:sp>
      <p:sp>
        <p:nvSpPr>
          <p:cNvPr id="35" name="TextBox 34"/>
          <p:cNvSpPr txBox="1"/>
          <p:nvPr/>
        </p:nvSpPr>
        <p:spPr>
          <a:xfrm>
            <a:off x="6231636" y="2606040"/>
            <a:ext cx="1589532" cy="171450"/>
          </a:xfrm>
          <a:prstGeom prst="rect">
            <a:avLst/>
          </a:prstGeom>
          <a:noFill/>
        </p:spPr>
        <p:txBody>
          <a:bodyPr wrap="square" lIns="0" rIns="0" tIns="0" bIns="0" anchor="t">
            <a:spAutoFit/>
          </a:bodyPr>
          <a:lstStyle/>
          <a:p>
            <a:pPr algn="l"/>
            <a:r>
              <a:rPr sz="800" b="0" i="1">
                <a:solidFill>
                  <a:srgbClr val="9CA3AF"/>
                </a:solidFill>
                <a:latin typeface="Calibri"/>
              </a:rPr>
              <a:t>{{IND_4_NOTE}}</a:t>
            </a:r>
          </a:p>
        </p:txBody>
      </p:sp>
      <p:sp>
        <p:nvSpPr>
          <p:cNvPr id="36" name="Rounded Rectangle 35"/>
          <p:cNvSpPr/>
          <p:nvPr/>
        </p:nvSpPr>
        <p:spPr>
          <a:xfrm>
            <a:off x="8004048" y="182880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95488" y="190195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{{IND_5_NAME}}</a:t>
            </a:r>
          </a:p>
        </p:txBody>
      </p:sp>
      <p:sp>
        <p:nvSpPr>
          <p:cNvPr id="38" name="TextBox 37"/>
          <p:cNvSpPr txBox="1"/>
          <p:nvPr/>
        </p:nvSpPr>
        <p:spPr>
          <a:xfrm>
            <a:off x="8095488" y="219456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{{IND_5_PCT}}</a:t>
            </a:r>
          </a:p>
        </p:txBody>
      </p:sp>
      <p:sp>
        <p:nvSpPr>
          <p:cNvPr id="39" name="TextBox 38"/>
          <p:cNvSpPr txBox="1"/>
          <p:nvPr/>
        </p:nvSpPr>
        <p:spPr>
          <a:xfrm>
            <a:off x="8095488" y="2606040"/>
            <a:ext cx="1589532" cy="171450"/>
          </a:xfrm>
          <a:prstGeom prst="rect">
            <a:avLst/>
          </a:prstGeom>
          <a:noFill/>
        </p:spPr>
        <p:txBody>
          <a:bodyPr wrap="square" lIns="0" rIns="0" tIns="0" bIns="0" anchor="t">
            <a:spAutoFit/>
          </a:bodyPr>
          <a:lstStyle/>
          <a:p>
            <a:pPr algn="l"/>
            <a:r>
              <a:rPr sz="800" b="0" i="1">
                <a:solidFill>
                  <a:srgbClr val="9CA3AF"/>
                </a:solidFill>
                <a:latin typeface="Calibri"/>
              </a:rPr>
              <a:t>{{IND_5_NOTE}}</a:t>
            </a:r>
          </a:p>
        </p:txBody>
      </p:sp>
      <p:sp>
        <p:nvSpPr>
          <p:cNvPr id="40" name="Rounded Rectangle 39"/>
          <p:cNvSpPr/>
          <p:nvPr/>
        </p:nvSpPr>
        <p:spPr>
          <a:xfrm>
            <a:off x="9867900" y="182880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59340" y="190195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{{IND_6_NAME}}</a:t>
            </a:r>
          </a:p>
        </p:txBody>
      </p:sp>
      <p:sp>
        <p:nvSpPr>
          <p:cNvPr id="42" name="TextBox 41"/>
          <p:cNvSpPr txBox="1"/>
          <p:nvPr/>
        </p:nvSpPr>
        <p:spPr>
          <a:xfrm>
            <a:off x="9959340" y="219456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{{IND_6_PCT}}</a:t>
            </a:r>
          </a:p>
        </p:txBody>
      </p:sp>
      <p:sp>
        <p:nvSpPr>
          <p:cNvPr id="43" name="TextBox 42"/>
          <p:cNvSpPr txBox="1"/>
          <p:nvPr/>
        </p:nvSpPr>
        <p:spPr>
          <a:xfrm>
            <a:off x="9959340" y="2606040"/>
            <a:ext cx="1589532" cy="171450"/>
          </a:xfrm>
          <a:prstGeom prst="rect">
            <a:avLst/>
          </a:prstGeom>
          <a:noFill/>
        </p:spPr>
        <p:txBody>
          <a:bodyPr wrap="square" lIns="0" rIns="0" tIns="0" bIns="0" anchor="t">
            <a:spAutoFit/>
          </a:bodyPr>
          <a:lstStyle/>
          <a:p>
            <a:pPr algn="l"/>
            <a:r>
              <a:rPr sz="800" b="0" i="1">
                <a:solidFill>
                  <a:srgbClr val="9CA3AF"/>
                </a:solidFill>
                <a:latin typeface="Calibri"/>
              </a:rPr>
              <a:t>{{IND_6_NOTE}}</a:t>
            </a:r>
          </a:p>
        </p:txBody>
      </p:sp>
      <p:sp>
        <p:nvSpPr>
          <p:cNvPr id="44" name="Rounded Rectangle 43"/>
          <p:cNvSpPr/>
          <p:nvPr/>
        </p:nvSpPr>
        <p:spPr>
          <a:xfrm>
            <a:off x="548640" y="296037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03352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{{IND_7_NAME}}</a:t>
            </a:r>
          </a:p>
        </p:txBody>
      </p:sp>
      <p:sp>
        <p:nvSpPr>
          <p:cNvPr id="46" name="TextBox 45"/>
          <p:cNvSpPr txBox="1"/>
          <p:nvPr/>
        </p:nvSpPr>
        <p:spPr>
          <a:xfrm>
            <a:off x="640080" y="3326129"/>
            <a:ext cx="1589532" cy="411480"/>
          </a:xfrm>
          <a:prstGeom prst="rect">
            <a:avLst/>
          </a:prstGeom>
          <a:noFill/>
        </p:spPr>
        <p:txBody>
          <a:bodyPr wrap="square" lIns="0" rIns="0" tIns="0" bIns="0" anchor="t">
            <a:spAutoFit/>
          </a:bodyPr>
          <a:lstStyle/>
          <a:p>
            <a:pPr algn="l"/>
            <a:r>
              <a:rPr sz="1800" b="1" i="0">
                <a:solidFill>
                  <a:srgbClr val="7C3AED"/>
                </a:solidFill>
                <a:latin typeface="Calibri"/>
              </a:rPr>
              <a:t>{{IND_7_PCT}}</a:t>
            </a:r>
          </a:p>
        </p:txBody>
      </p:sp>
      <p:sp>
        <p:nvSpPr>
          <p:cNvPr id="47" name="TextBox 46"/>
          <p:cNvSpPr txBox="1"/>
          <p:nvPr/>
        </p:nvSpPr>
        <p:spPr>
          <a:xfrm>
            <a:off x="640080" y="3737609"/>
            <a:ext cx="1589532" cy="171450"/>
          </a:xfrm>
          <a:prstGeom prst="rect">
            <a:avLst/>
          </a:prstGeom>
          <a:noFill/>
        </p:spPr>
        <p:txBody>
          <a:bodyPr wrap="square" lIns="0" rIns="0" tIns="0" bIns="0" anchor="t">
            <a:spAutoFit/>
          </a:bodyPr>
          <a:lstStyle/>
          <a:p>
            <a:pPr algn="l"/>
            <a:r>
              <a:rPr sz="800" b="0" i="1">
                <a:solidFill>
                  <a:srgbClr val="9CA3AF"/>
                </a:solidFill>
                <a:latin typeface="Calibri"/>
              </a:rPr>
              <a:t>{{IND_7_NOTE}}</a:t>
            </a:r>
          </a:p>
        </p:txBody>
      </p:sp>
      <p:sp>
        <p:nvSpPr>
          <p:cNvPr id="48" name="Rounded Rectangle 47"/>
          <p:cNvSpPr/>
          <p:nvPr/>
        </p:nvSpPr>
        <p:spPr>
          <a:xfrm>
            <a:off x="2412492" y="296037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503932" y="303352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{{IND_8_NAME}}</a:t>
            </a:r>
          </a:p>
        </p:txBody>
      </p:sp>
      <p:sp>
        <p:nvSpPr>
          <p:cNvPr id="50" name="TextBox 49"/>
          <p:cNvSpPr txBox="1"/>
          <p:nvPr/>
        </p:nvSpPr>
        <p:spPr>
          <a:xfrm>
            <a:off x="2503932" y="3326129"/>
            <a:ext cx="1589532" cy="411480"/>
          </a:xfrm>
          <a:prstGeom prst="rect">
            <a:avLst/>
          </a:prstGeom>
          <a:noFill/>
        </p:spPr>
        <p:txBody>
          <a:bodyPr wrap="square" lIns="0" rIns="0" tIns="0" bIns="0" anchor="t">
            <a:spAutoFit/>
          </a:bodyPr>
          <a:lstStyle/>
          <a:p>
            <a:pPr algn="l"/>
            <a:r>
              <a:rPr sz="1800" b="1" i="0">
                <a:solidFill>
                  <a:srgbClr val="7C3AED"/>
                </a:solidFill>
                <a:latin typeface="Calibri"/>
              </a:rPr>
              <a:t>{{IND_8_PCT}}</a:t>
            </a:r>
          </a:p>
        </p:txBody>
      </p:sp>
      <p:sp>
        <p:nvSpPr>
          <p:cNvPr id="51" name="TextBox 50"/>
          <p:cNvSpPr txBox="1"/>
          <p:nvPr/>
        </p:nvSpPr>
        <p:spPr>
          <a:xfrm>
            <a:off x="2503932" y="3737609"/>
            <a:ext cx="1589532" cy="171450"/>
          </a:xfrm>
          <a:prstGeom prst="rect">
            <a:avLst/>
          </a:prstGeom>
          <a:noFill/>
        </p:spPr>
        <p:txBody>
          <a:bodyPr wrap="square" lIns="0" rIns="0" tIns="0" bIns="0" anchor="t">
            <a:spAutoFit/>
          </a:bodyPr>
          <a:lstStyle/>
          <a:p>
            <a:pPr algn="l"/>
            <a:r>
              <a:rPr sz="800" b="0" i="1">
                <a:solidFill>
                  <a:srgbClr val="9CA3AF"/>
                </a:solidFill>
                <a:latin typeface="Calibri"/>
              </a:rPr>
              <a:t>{{IND_8_NOTE}}</a:t>
            </a:r>
          </a:p>
        </p:txBody>
      </p:sp>
      <p:sp>
        <p:nvSpPr>
          <p:cNvPr id="52" name="Rounded Rectangle 51"/>
          <p:cNvSpPr/>
          <p:nvPr/>
        </p:nvSpPr>
        <p:spPr>
          <a:xfrm>
            <a:off x="4276344" y="296037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67784" y="303352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{{IND_9_NAME}}</a:t>
            </a:r>
          </a:p>
        </p:txBody>
      </p:sp>
      <p:sp>
        <p:nvSpPr>
          <p:cNvPr id="54" name="TextBox 53"/>
          <p:cNvSpPr txBox="1"/>
          <p:nvPr/>
        </p:nvSpPr>
        <p:spPr>
          <a:xfrm>
            <a:off x="4367784" y="3326129"/>
            <a:ext cx="1589532" cy="411480"/>
          </a:xfrm>
          <a:prstGeom prst="rect">
            <a:avLst/>
          </a:prstGeom>
          <a:noFill/>
        </p:spPr>
        <p:txBody>
          <a:bodyPr wrap="square" lIns="0" rIns="0" tIns="0" bIns="0" anchor="t">
            <a:spAutoFit/>
          </a:bodyPr>
          <a:lstStyle/>
          <a:p>
            <a:pPr algn="l"/>
            <a:r>
              <a:rPr sz="1800" b="1" i="0">
                <a:solidFill>
                  <a:srgbClr val="7C3AED"/>
                </a:solidFill>
                <a:latin typeface="Calibri"/>
              </a:rPr>
              <a:t>{{IND_9_PCT}}</a:t>
            </a:r>
          </a:p>
        </p:txBody>
      </p:sp>
      <p:sp>
        <p:nvSpPr>
          <p:cNvPr id="55" name="TextBox 54"/>
          <p:cNvSpPr txBox="1"/>
          <p:nvPr/>
        </p:nvSpPr>
        <p:spPr>
          <a:xfrm>
            <a:off x="4367784" y="3737609"/>
            <a:ext cx="1589532" cy="171450"/>
          </a:xfrm>
          <a:prstGeom prst="rect">
            <a:avLst/>
          </a:prstGeom>
          <a:noFill/>
        </p:spPr>
        <p:txBody>
          <a:bodyPr wrap="square" lIns="0" rIns="0" tIns="0" bIns="0" anchor="t">
            <a:spAutoFit/>
          </a:bodyPr>
          <a:lstStyle/>
          <a:p>
            <a:pPr algn="l"/>
            <a:r>
              <a:rPr sz="800" b="0" i="1">
                <a:solidFill>
                  <a:srgbClr val="9CA3AF"/>
                </a:solidFill>
                <a:latin typeface="Calibri"/>
              </a:rPr>
              <a:t>{{IND_9_NOTE}}</a:t>
            </a:r>
          </a:p>
        </p:txBody>
      </p:sp>
      <p:sp>
        <p:nvSpPr>
          <p:cNvPr id="56" name="Rounded Rectangle 55"/>
          <p:cNvSpPr/>
          <p:nvPr/>
        </p:nvSpPr>
        <p:spPr>
          <a:xfrm>
            <a:off x="6140196" y="296037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1636" y="303352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{{IND_10_NAME}}</a:t>
            </a:r>
          </a:p>
        </p:txBody>
      </p:sp>
      <p:sp>
        <p:nvSpPr>
          <p:cNvPr id="58" name="TextBox 57"/>
          <p:cNvSpPr txBox="1"/>
          <p:nvPr/>
        </p:nvSpPr>
        <p:spPr>
          <a:xfrm>
            <a:off x="6231636" y="3326129"/>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{{IND_10_PCT}}</a:t>
            </a:r>
          </a:p>
        </p:txBody>
      </p:sp>
      <p:sp>
        <p:nvSpPr>
          <p:cNvPr id="59" name="TextBox 58"/>
          <p:cNvSpPr txBox="1"/>
          <p:nvPr/>
        </p:nvSpPr>
        <p:spPr>
          <a:xfrm>
            <a:off x="6231636" y="373760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{{IND_10_NOTE}}</a:t>
            </a:r>
          </a:p>
        </p:txBody>
      </p:sp>
      <p:sp>
        <p:nvSpPr>
          <p:cNvPr id="60" name="Rounded Rectangle 59"/>
          <p:cNvSpPr/>
          <p:nvPr/>
        </p:nvSpPr>
        <p:spPr>
          <a:xfrm>
            <a:off x="8004048" y="296037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95488" y="303352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{{IND_11_NAME}}</a:t>
            </a:r>
          </a:p>
        </p:txBody>
      </p:sp>
      <p:sp>
        <p:nvSpPr>
          <p:cNvPr id="62" name="TextBox 61"/>
          <p:cNvSpPr txBox="1"/>
          <p:nvPr/>
        </p:nvSpPr>
        <p:spPr>
          <a:xfrm>
            <a:off x="8095488" y="3326129"/>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{{IND_11_PCT}}</a:t>
            </a:r>
          </a:p>
        </p:txBody>
      </p:sp>
      <p:sp>
        <p:nvSpPr>
          <p:cNvPr id="63" name="TextBox 62"/>
          <p:cNvSpPr txBox="1"/>
          <p:nvPr/>
        </p:nvSpPr>
        <p:spPr>
          <a:xfrm>
            <a:off x="8095488" y="373760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{{IND_11_NOTE}}</a:t>
            </a:r>
          </a:p>
        </p:txBody>
      </p:sp>
      <p:sp>
        <p:nvSpPr>
          <p:cNvPr id="64" name="Rounded Rectangle 63"/>
          <p:cNvSpPr/>
          <p:nvPr/>
        </p:nvSpPr>
        <p:spPr>
          <a:xfrm>
            <a:off x="9867900" y="296037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959340" y="303352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{{IND_12_NAME}}</a:t>
            </a:r>
          </a:p>
        </p:txBody>
      </p:sp>
      <p:sp>
        <p:nvSpPr>
          <p:cNvPr id="66" name="TextBox 65"/>
          <p:cNvSpPr txBox="1"/>
          <p:nvPr/>
        </p:nvSpPr>
        <p:spPr>
          <a:xfrm>
            <a:off x="9959340" y="3326129"/>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{{IND_12_PCT}}</a:t>
            </a:r>
          </a:p>
        </p:txBody>
      </p:sp>
      <p:sp>
        <p:nvSpPr>
          <p:cNvPr id="67" name="TextBox 66"/>
          <p:cNvSpPr txBox="1"/>
          <p:nvPr/>
        </p:nvSpPr>
        <p:spPr>
          <a:xfrm>
            <a:off x="9959340" y="373760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{{IND_12_NOTE}}</a:t>
            </a:r>
          </a:p>
        </p:txBody>
      </p:sp>
      <p:sp>
        <p:nvSpPr>
          <p:cNvPr id="68" name="Rounded Rectangle 67"/>
          <p:cNvSpPr/>
          <p:nvPr/>
        </p:nvSpPr>
        <p:spPr>
          <a:xfrm>
            <a:off x="548640" y="4091939"/>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0080" y="4165091"/>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{{IND_13_NAME}}</a:t>
            </a:r>
          </a:p>
        </p:txBody>
      </p:sp>
      <p:sp>
        <p:nvSpPr>
          <p:cNvPr id="70" name="TextBox 69"/>
          <p:cNvSpPr txBox="1"/>
          <p:nvPr/>
        </p:nvSpPr>
        <p:spPr>
          <a:xfrm>
            <a:off x="640080" y="445770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{{IND_13_PCT}}</a:t>
            </a:r>
          </a:p>
        </p:txBody>
      </p:sp>
      <p:sp>
        <p:nvSpPr>
          <p:cNvPr id="71" name="TextBox 70"/>
          <p:cNvSpPr txBox="1"/>
          <p:nvPr/>
        </p:nvSpPr>
        <p:spPr>
          <a:xfrm>
            <a:off x="640080" y="486917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{{IND_13_NOTE}}</a:t>
            </a:r>
          </a:p>
        </p:txBody>
      </p:sp>
      <p:sp>
        <p:nvSpPr>
          <p:cNvPr id="72" name="Rounded Rectangle 71"/>
          <p:cNvSpPr/>
          <p:nvPr/>
        </p:nvSpPr>
        <p:spPr>
          <a:xfrm>
            <a:off x="2412492" y="4091939"/>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03932" y="4165091"/>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{{IND_14_NAME}}</a:t>
            </a:r>
          </a:p>
        </p:txBody>
      </p:sp>
      <p:sp>
        <p:nvSpPr>
          <p:cNvPr id="74" name="TextBox 73"/>
          <p:cNvSpPr txBox="1"/>
          <p:nvPr/>
        </p:nvSpPr>
        <p:spPr>
          <a:xfrm>
            <a:off x="2503932" y="445770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{{IND_14_PCT}}</a:t>
            </a:r>
          </a:p>
        </p:txBody>
      </p:sp>
      <p:sp>
        <p:nvSpPr>
          <p:cNvPr id="75" name="TextBox 74"/>
          <p:cNvSpPr txBox="1"/>
          <p:nvPr/>
        </p:nvSpPr>
        <p:spPr>
          <a:xfrm>
            <a:off x="2503932" y="486917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{{IND_14_NOTE}}</a:t>
            </a:r>
          </a:p>
        </p:txBody>
      </p:sp>
      <p:sp>
        <p:nvSpPr>
          <p:cNvPr id="76" name="Rounded Rectangle 75"/>
          <p:cNvSpPr/>
          <p:nvPr/>
        </p:nvSpPr>
        <p:spPr>
          <a:xfrm>
            <a:off x="4276344" y="4091939"/>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367784" y="4165091"/>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{{IND_15_NAME}}</a:t>
            </a:r>
          </a:p>
        </p:txBody>
      </p:sp>
      <p:sp>
        <p:nvSpPr>
          <p:cNvPr id="78" name="TextBox 77"/>
          <p:cNvSpPr txBox="1"/>
          <p:nvPr/>
        </p:nvSpPr>
        <p:spPr>
          <a:xfrm>
            <a:off x="4367784" y="445770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{{IND_15_PCT}}</a:t>
            </a:r>
          </a:p>
        </p:txBody>
      </p:sp>
      <p:sp>
        <p:nvSpPr>
          <p:cNvPr id="79" name="TextBox 78"/>
          <p:cNvSpPr txBox="1"/>
          <p:nvPr/>
        </p:nvSpPr>
        <p:spPr>
          <a:xfrm>
            <a:off x="4367784" y="486917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{{IND_15_NOTE}}</a:t>
            </a:r>
          </a:p>
        </p:txBody>
      </p:sp>
      <p:sp>
        <p:nvSpPr>
          <p:cNvPr id="80" name="Rounded Rectangle 79"/>
          <p:cNvSpPr/>
          <p:nvPr/>
        </p:nvSpPr>
        <p:spPr>
          <a:xfrm>
            <a:off x="6140196" y="4091939"/>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31636" y="4165091"/>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{{IND_16_NAME}}</a:t>
            </a:r>
          </a:p>
        </p:txBody>
      </p:sp>
      <p:sp>
        <p:nvSpPr>
          <p:cNvPr id="82" name="TextBox 81"/>
          <p:cNvSpPr txBox="1"/>
          <p:nvPr/>
        </p:nvSpPr>
        <p:spPr>
          <a:xfrm>
            <a:off x="6231636" y="445770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{{IND_16_PCT}}</a:t>
            </a:r>
          </a:p>
        </p:txBody>
      </p:sp>
      <p:sp>
        <p:nvSpPr>
          <p:cNvPr id="83" name="TextBox 82"/>
          <p:cNvSpPr txBox="1"/>
          <p:nvPr/>
        </p:nvSpPr>
        <p:spPr>
          <a:xfrm>
            <a:off x="6231636" y="486917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{{IND_16_NOTE}}</a:t>
            </a:r>
          </a:p>
        </p:txBody>
      </p:sp>
      <p:sp>
        <p:nvSpPr>
          <p:cNvPr id="84" name="Rounded Rectangle 83"/>
          <p:cNvSpPr/>
          <p:nvPr/>
        </p:nvSpPr>
        <p:spPr>
          <a:xfrm>
            <a:off x="8004048" y="4091939"/>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95488" y="4165091"/>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{{IND_17_NAME}}</a:t>
            </a:r>
          </a:p>
        </p:txBody>
      </p:sp>
      <p:sp>
        <p:nvSpPr>
          <p:cNvPr id="86" name="TextBox 85"/>
          <p:cNvSpPr txBox="1"/>
          <p:nvPr/>
        </p:nvSpPr>
        <p:spPr>
          <a:xfrm>
            <a:off x="8095488" y="445770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{{IND_17_PCT}}</a:t>
            </a:r>
          </a:p>
        </p:txBody>
      </p:sp>
      <p:sp>
        <p:nvSpPr>
          <p:cNvPr id="87" name="TextBox 86"/>
          <p:cNvSpPr txBox="1"/>
          <p:nvPr/>
        </p:nvSpPr>
        <p:spPr>
          <a:xfrm>
            <a:off x="8095488" y="486917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{{IND_17_NOTE}}</a:t>
            </a:r>
          </a:p>
        </p:txBody>
      </p:sp>
      <p:sp>
        <p:nvSpPr>
          <p:cNvPr id="88" name="Rounded Rectangle 87"/>
          <p:cNvSpPr/>
          <p:nvPr/>
        </p:nvSpPr>
        <p:spPr>
          <a:xfrm>
            <a:off x="9867900" y="4091939"/>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959340" y="4165091"/>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{{IND_18_NAME}}</a:t>
            </a:r>
          </a:p>
        </p:txBody>
      </p:sp>
      <p:sp>
        <p:nvSpPr>
          <p:cNvPr id="90" name="TextBox 89"/>
          <p:cNvSpPr txBox="1"/>
          <p:nvPr/>
        </p:nvSpPr>
        <p:spPr>
          <a:xfrm>
            <a:off x="9959340" y="445770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{{IND_18_PCT}}</a:t>
            </a:r>
          </a:p>
        </p:txBody>
      </p:sp>
      <p:sp>
        <p:nvSpPr>
          <p:cNvPr id="91" name="TextBox 90"/>
          <p:cNvSpPr txBox="1"/>
          <p:nvPr/>
        </p:nvSpPr>
        <p:spPr>
          <a:xfrm>
            <a:off x="9959340" y="4869179"/>
            <a:ext cx="1589532" cy="171450"/>
          </a:xfrm>
          <a:prstGeom prst="rect">
            <a:avLst/>
          </a:prstGeom>
          <a:noFill/>
        </p:spPr>
        <p:txBody>
          <a:bodyPr wrap="square" lIns="0" rIns="0" tIns="0" bIns="0" anchor="t">
            <a:spAutoFit/>
          </a:bodyPr>
          <a:lstStyle/>
          <a:p>
            <a:pPr algn="l"/>
            <a:r>
              <a:rPr sz="800" b="0" i="1">
                <a:solidFill>
                  <a:srgbClr val="9CA3AF"/>
                </a:solidFill>
                <a:latin typeface="Calibri"/>
              </a:rPr>
              <a:t>{{IND_18_NOTE}}</a:t>
            </a:r>
          </a:p>
        </p:txBody>
      </p:sp>
      <p:sp>
        <p:nvSpPr>
          <p:cNvPr id="92" name="Rounded Rectangle 91"/>
          <p:cNvSpPr/>
          <p:nvPr/>
        </p:nvSpPr>
        <p:spPr>
          <a:xfrm>
            <a:off x="548640" y="522351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40080" y="529666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{{IND_19_NAME}}</a:t>
            </a:r>
          </a:p>
        </p:txBody>
      </p:sp>
      <p:sp>
        <p:nvSpPr>
          <p:cNvPr id="94" name="TextBox 93"/>
          <p:cNvSpPr txBox="1"/>
          <p:nvPr/>
        </p:nvSpPr>
        <p:spPr>
          <a:xfrm>
            <a:off x="640080" y="558927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{{IND_19_PCT}}</a:t>
            </a:r>
          </a:p>
        </p:txBody>
      </p:sp>
      <p:sp>
        <p:nvSpPr>
          <p:cNvPr id="95" name="TextBox 94"/>
          <p:cNvSpPr txBox="1"/>
          <p:nvPr/>
        </p:nvSpPr>
        <p:spPr>
          <a:xfrm>
            <a:off x="640080" y="6000750"/>
            <a:ext cx="1589532" cy="171450"/>
          </a:xfrm>
          <a:prstGeom prst="rect">
            <a:avLst/>
          </a:prstGeom>
          <a:noFill/>
        </p:spPr>
        <p:txBody>
          <a:bodyPr wrap="square" lIns="0" rIns="0" tIns="0" bIns="0" anchor="t">
            <a:spAutoFit/>
          </a:bodyPr>
          <a:lstStyle/>
          <a:p>
            <a:pPr algn="l"/>
            <a:r>
              <a:rPr sz="800" b="0" i="1">
                <a:solidFill>
                  <a:srgbClr val="9CA3AF"/>
                </a:solidFill>
                <a:latin typeface="Calibri"/>
              </a:rPr>
              <a:t>{{IND_19_NOTE}}</a:t>
            </a:r>
          </a:p>
        </p:txBody>
      </p:sp>
      <p:sp>
        <p:nvSpPr>
          <p:cNvPr id="96" name="Rounded Rectangle 95"/>
          <p:cNvSpPr/>
          <p:nvPr/>
        </p:nvSpPr>
        <p:spPr>
          <a:xfrm>
            <a:off x="2412492" y="522351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503932" y="529666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{{IND_20_NAME}}</a:t>
            </a:r>
          </a:p>
        </p:txBody>
      </p:sp>
      <p:sp>
        <p:nvSpPr>
          <p:cNvPr id="98" name="TextBox 97"/>
          <p:cNvSpPr txBox="1"/>
          <p:nvPr/>
        </p:nvSpPr>
        <p:spPr>
          <a:xfrm>
            <a:off x="2503932" y="558927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{{IND_20_PCT}}</a:t>
            </a:r>
          </a:p>
        </p:txBody>
      </p:sp>
      <p:sp>
        <p:nvSpPr>
          <p:cNvPr id="99" name="TextBox 98"/>
          <p:cNvSpPr txBox="1"/>
          <p:nvPr/>
        </p:nvSpPr>
        <p:spPr>
          <a:xfrm>
            <a:off x="2503932" y="6000750"/>
            <a:ext cx="1589532" cy="171450"/>
          </a:xfrm>
          <a:prstGeom prst="rect">
            <a:avLst/>
          </a:prstGeom>
          <a:noFill/>
        </p:spPr>
        <p:txBody>
          <a:bodyPr wrap="square" lIns="0" rIns="0" tIns="0" bIns="0" anchor="t">
            <a:spAutoFit/>
          </a:bodyPr>
          <a:lstStyle/>
          <a:p>
            <a:pPr algn="l"/>
            <a:r>
              <a:rPr sz="800" b="0" i="1">
                <a:solidFill>
                  <a:srgbClr val="9CA3AF"/>
                </a:solidFill>
                <a:latin typeface="Calibri"/>
              </a:rPr>
              <a:t>{{IND_20_NOTE}}</a:t>
            </a:r>
          </a:p>
        </p:txBody>
      </p:sp>
      <p:sp>
        <p:nvSpPr>
          <p:cNvPr id="100" name="Rounded Rectangle 99"/>
          <p:cNvSpPr/>
          <p:nvPr/>
        </p:nvSpPr>
        <p:spPr>
          <a:xfrm>
            <a:off x="4276344" y="522351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367784" y="529666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{{IND_21_NAME}}</a:t>
            </a:r>
          </a:p>
        </p:txBody>
      </p:sp>
      <p:sp>
        <p:nvSpPr>
          <p:cNvPr id="102" name="TextBox 101"/>
          <p:cNvSpPr txBox="1"/>
          <p:nvPr/>
        </p:nvSpPr>
        <p:spPr>
          <a:xfrm>
            <a:off x="4367784" y="558927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{{IND_21_PCT}}</a:t>
            </a:r>
          </a:p>
        </p:txBody>
      </p:sp>
      <p:sp>
        <p:nvSpPr>
          <p:cNvPr id="103" name="TextBox 102"/>
          <p:cNvSpPr txBox="1"/>
          <p:nvPr/>
        </p:nvSpPr>
        <p:spPr>
          <a:xfrm>
            <a:off x="4367784" y="6000750"/>
            <a:ext cx="1589532" cy="171450"/>
          </a:xfrm>
          <a:prstGeom prst="rect">
            <a:avLst/>
          </a:prstGeom>
          <a:noFill/>
        </p:spPr>
        <p:txBody>
          <a:bodyPr wrap="square" lIns="0" rIns="0" tIns="0" bIns="0" anchor="t">
            <a:spAutoFit/>
          </a:bodyPr>
          <a:lstStyle/>
          <a:p>
            <a:pPr algn="l"/>
            <a:r>
              <a:rPr sz="800" b="0" i="1">
                <a:solidFill>
                  <a:srgbClr val="9CA3AF"/>
                </a:solidFill>
                <a:latin typeface="Calibri"/>
              </a:rPr>
              <a:t>{{IND_21_NOTE}}</a:t>
            </a:r>
          </a:p>
        </p:txBody>
      </p:sp>
      <p:sp>
        <p:nvSpPr>
          <p:cNvPr id="104" name="Rounded Rectangle 103"/>
          <p:cNvSpPr/>
          <p:nvPr/>
        </p:nvSpPr>
        <p:spPr>
          <a:xfrm>
            <a:off x="6140196" y="522351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231636" y="529666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{{IND_22_NAME}}</a:t>
            </a:r>
          </a:p>
        </p:txBody>
      </p:sp>
      <p:sp>
        <p:nvSpPr>
          <p:cNvPr id="106" name="TextBox 105"/>
          <p:cNvSpPr txBox="1"/>
          <p:nvPr/>
        </p:nvSpPr>
        <p:spPr>
          <a:xfrm>
            <a:off x="6231636" y="558927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{{IND_22_PCT}}</a:t>
            </a:r>
          </a:p>
        </p:txBody>
      </p:sp>
      <p:sp>
        <p:nvSpPr>
          <p:cNvPr id="107" name="TextBox 106"/>
          <p:cNvSpPr txBox="1"/>
          <p:nvPr/>
        </p:nvSpPr>
        <p:spPr>
          <a:xfrm>
            <a:off x="6231636" y="6000750"/>
            <a:ext cx="1589532" cy="171450"/>
          </a:xfrm>
          <a:prstGeom prst="rect">
            <a:avLst/>
          </a:prstGeom>
          <a:noFill/>
        </p:spPr>
        <p:txBody>
          <a:bodyPr wrap="square" lIns="0" rIns="0" tIns="0" bIns="0" anchor="t">
            <a:spAutoFit/>
          </a:bodyPr>
          <a:lstStyle/>
          <a:p>
            <a:pPr algn="l"/>
            <a:r>
              <a:rPr sz="800" b="0" i="1">
                <a:solidFill>
                  <a:srgbClr val="9CA3AF"/>
                </a:solidFill>
                <a:latin typeface="Calibri"/>
              </a:rPr>
              <a:t>{{IND_22_NOTE}}</a:t>
            </a:r>
          </a:p>
        </p:txBody>
      </p:sp>
      <p:sp>
        <p:nvSpPr>
          <p:cNvPr id="108" name="Rounded Rectangle 107"/>
          <p:cNvSpPr/>
          <p:nvPr/>
        </p:nvSpPr>
        <p:spPr>
          <a:xfrm>
            <a:off x="8004048" y="522351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095488" y="529666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{{IND_23_NAME}}</a:t>
            </a:r>
          </a:p>
        </p:txBody>
      </p:sp>
      <p:sp>
        <p:nvSpPr>
          <p:cNvPr id="110" name="TextBox 109"/>
          <p:cNvSpPr txBox="1"/>
          <p:nvPr/>
        </p:nvSpPr>
        <p:spPr>
          <a:xfrm>
            <a:off x="8095488" y="558927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{{IND_23_PCT}}</a:t>
            </a:r>
          </a:p>
        </p:txBody>
      </p:sp>
      <p:sp>
        <p:nvSpPr>
          <p:cNvPr id="111" name="TextBox 110"/>
          <p:cNvSpPr txBox="1"/>
          <p:nvPr/>
        </p:nvSpPr>
        <p:spPr>
          <a:xfrm>
            <a:off x="8095488" y="6000750"/>
            <a:ext cx="1589532" cy="171450"/>
          </a:xfrm>
          <a:prstGeom prst="rect">
            <a:avLst/>
          </a:prstGeom>
          <a:noFill/>
        </p:spPr>
        <p:txBody>
          <a:bodyPr wrap="square" lIns="0" rIns="0" tIns="0" bIns="0" anchor="t">
            <a:spAutoFit/>
          </a:bodyPr>
          <a:lstStyle/>
          <a:p>
            <a:pPr algn="l"/>
            <a:r>
              <a:rPr sz="800" b="0" i="1">
                <a:solidFill>
                  <a:srgbClr val="9CA3AF"/>
                </a:solidFill>
                <a:latin typeface="Calibri"/>
              </a:rPr>
              <a:t>{{IND_23_NOTE}}</a:t>
            </a:r>
          </a:p>
        </p:txBody>
      </p:sp>
      <p:sp>
        <p:nvSpPr>
          <p:cNvPr id="112" name="Rounded Rectangle 111"/>
          <p:cNvSpPr/>
          <p:nvPr/>
        </p:nvSpPr>
        <p:spPr>
          <a:xfrm>
            <a:off x="9867900" y="5223510"/>
            <a:ext cx="1772412" cy="104013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959340" y="5296662"/>
            <a:ext cx="1589532" cy="292608"/>
          </a:xfrm>
          <a:prstGeom prst="rect">
            <a:avLst/>
          </a:prstGeom>
          <a:noFill/>
        </p:spPr>
        <p:txBody>
          <a:bodyPr wrap="square" lIns="0" rIns="0" tIns="0" bIns="0" anchor="t">
            <a:spAutoFit/>
          </a:bodyPr>
          <a:lstStyle/>
          <a:p>
            <a:pPr algn="l"/>
            <a:r>
              <a:rPr sz="1000" b="1" i="0">
                <a:solidFill>
                  <a:srgbClr val="1F2937"/>
                </a:solidFill>
                <a:latin typeface="Calibri"/>
              </a:rPr>
              <a:t>{{IND_24_NAME}}</a:t>
            </a:r>
          </a:p>
        </p:txBody>
      </p:sp>
      <p:sp>
        <p:nvSpPr>
          <p:cNvPr id="114" name="TextBox 113"/>
          <p:cNvSpPr txBox="1"/>
          <p:nvPr/>
        </p:nvSpPr>
        <p:spPr>
          <a:xfrm>
            <a:off x="9959340" y="5589270"/>
            <a:ext cx="1589532" cy="411480"/>
          </a:xfrm>
          <a:prstGeom prst="rect">
            <a:avLst/>
          </a:prstGeom>
          <a:noFill/>
        </p:spPr>
        <p:txBody>
          <a:bodyPr wrap="square" lIns="0" rIns="0" tIns="0" bIns="0" anchor="t">
            <a:spAutoFit/>
          </a:bodyPr>
          <a:lstStyle/>
          <a:p>
            <a:pPr algn="l"/>
            <a:r>
              <a:rPr sz="1800" b="1" i="0">
                <a:solidFill>
                  <a:srgbClr val="7C3AED"/>
                </a:solidFill>
                <a:latin typeface="Calibri"/>
              </a:rPr>
              <a:t>{{IND_24_PCT}}</a:t>
            </a:r>
          </a:p>
        </p:txBody>
      </p:sp>
      <p:sp>
        <p:nvSpPr>
          <p:cNvPr id="115" name="TextBox 114"/>
          <p:cNvSpPr txBox="1"/>
          <p:nvPr/>
        </p:nvSpPr>
        <p:spPr>
          <a:xfrm>
            <a:off x="9959340" y="6000750"/>
            <a:ext cx="1589532" cy="171450"/>
          </a:xfrm>
          <a:prstGeom prst="rect">
            <a:avLst/>
          </a:prstGeom>
          <a:noFill/>
        </p:spPr>
        <p:txBody>
          <a:bodyPr wrap="square" lIns="0" rIns="0" tIns="0" bIns="0" anchor="t">
            <a:spAutoFit/>
          </a:bodyPr>
          <a:lstStyle/>
          <a:p>
            <a:pPr algn="l"/>
            <a:r>
              <a:rPr sz="800" b="0" i="1">
                <a:solidFill>
                  <a:srgbClr val="9CA3AF"/>
                </a:solidFill>
                <a:latin typeface="Calibri"/>
              </a:rPr>
              <a:t>{{IND_24_NOTE}}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name="PEER_COMPARE_TABLE">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11091672" cy="1417320"/>
          </a:xfrm>
          <a:prstGeom prst="roundRect">
            <a:avLst>
              <a:gd name="adj" fmla="val 15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25880"/>
            <a:ext cx="91440" cy="14173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63039"/>
            <a:ext cx="2286000" cy="502920"/>
          </a:xfrm>
          <a:prstGeom prst="rect">
            <a:avLst/>
          </a:prstGeom>
          <a:noFill/>
        </p:spPr>
        <p:txBody>
          <a:bodyPr wrap="square" lIns="0" rIns="0" tIns="0" bIns="0" anchor="t">
            <a:spAutoFit/>
          </a:bodyPr>
          <a:lstStyle/>
          <a:p>
            <a:pPr algn="l"/>
            <a:r>
              <a:rPr sz="3600" b="1" i="0">
                <a:solidFill>
                  <a:srgbClr val="7C3AED"/>
                </a:solidFill>
                <a:latin typeface="Calibri"/>
              </a:rPr>
              <a:t>{{P1_TICKER}}</a:t>
            </a:r>
          </a:p>
        </p:txBody>
      </p:sp>
      <p:sp>
        <p:nvSpPr>
          <p:cNvPr id="12" name="TextBox 11"/>
          <p:cNvSpPr txBox="1"/>
          <p:nvPr/>
        </p:nvSpPr>
        <p:spPr>
          <a:xfrm>
            <a:off x="777240" y="2011680"/>
            <a:ext cx="2286000" cy="274320"/>
          </a:xfrm>
          <a:prstGeom prst="rect">
            <a:avLst/>
          </a:prstGeom>
          <a:noFill/>
        </p:spPr>
        <p:txBody>
          <a:bodyPr wrap="square" lIns="0" rIns="0" tIns="0" bIns="0" anchor="t">
            <a:spAutoFit/>
          </a:bodyPr>
          <a:lstStyle/>
          <a:p>
            <a:pPr algn="l"/>
            <a:r>
              <a:rPr sz="1000" b="0" i="1">
                <a:solidFill>
                  <a:srgbClr val="7C3AED"/>
                </a:solidFill>
                <a:latin typeface="Calibri"/>
              </a:rPr>
              <a:t>Mã đang phân tích</a:t>
            </a:r>
          </a:p>
        </p:txBody>
      </p:sp>
      <p:sp>
        <p:nvSpPr>
          <p:cNvPr id="13" name="TextBox 12"/>
          <p:cNvSpPr txBox="1"/>
          <p:nvPr/>
        </p:nvSpPr>
        <p:spPr>
          <a:xfrm>
            <a:off x="3200400" y="1463039"/>
            <a:ext cx="1386840" cy="228600"/>
          </a:xfrm>
          <a:prstGeom prst="rect">
            <a:avLst/>
          </a:prstGeom>
          <a:noFill/>
        </p:spPr>
        <p:txBody>
          <a:bodyPr wrap="square" lIns="0" rIns="0" tIns="0" bIns="0" anchor="t">
            <a:spAutoFit/>
          </a:bodyPr>
          <a:lstStyle/>
          <a:p>
            <a:pPr algn="l"/>
            <a:r>
              <a:rPr sz="900" b="0" i="0">
                <a:solidFill>
                  <a:srgbClr val="6B7280"/>
                </a:solidFill>
                <a:latin typeface="Calibri"/>
              </a:rPr>
              <a:t>Vốn hoá</a:t>
            </a:r>
          </a:p>
        </p:txBody>
      </p:sp>
      <p:sp>
        <p:nvSpPr>
          <p:cNvPr id="14" name="TextBox 13"/>
          <p:cNvSpPr txBox="1"/>
          <p:nvPr/>
        </p:nvSpPr>
        <p:spPr>
          <a:xfrm>
            <a:off x="3200400" y="1691640"/>
            <a:ext cx="1386840" cy="411480"/>
          </a:xfrm>
          <a:prstGeom prst="rect">
            <a:avLst/>
          </a:prstGeom>
          <a:noFill/>
        </p:spPr>
        <p:txBody>
          <a:bodyPr wrap="square" lIns="0" rIns="0" tIns="0" bIns="0" anchor="t">
            <a:spAutoFit/>
          </a:bodyPr>
          <a:lstStyle/>
          <a:p>
            <a:pPr algn="l"/>
            <a:r>
              <a:rPr sz="1600" b="1" i="0">
                <a:solidFill>
                  <a:srgbClr val="7C3AED"/>
                </a:solidFill>
                <a:latin typeface="Calibri"/>
              </a:rPr>
              <a:t>{{P1_MARKETCAP}}</a:t>
            </a:r>
          </a:p>
        </p:txBody>
      </p:sp>
      <p:sp>
        <p:nvSpPr>
          <p:cNvPr id="15" name="TextBox 14"/>
          <p:cNvSpPr txBox="1"/>
          <p:nvPr/>
        </p:nvSpPr>
        <p:spPr>
          <a:xfrm>
            <a:off x="4587240" y="1463039"/>
            <a:ext cx="1386840" cy="228600"/>
          </a:xfrm>
          <a:prstGeom prst="rect">
            <a:avLst/>
          </a:prstGeom>
          <a:noFill/>
        </p:spPr>
        <p:txBody>
          <a:bodyPr wrap="square" lIns="0" rIns="0" tIns="0" bIns="0" anchor="t">
            <a:spAutoFit/>
          </a:bodyPr>
          <a:lstStyle/>
          <a:p>
            <a:pPr algn="l"/>
            <a:r>
              <a:rPr sz="900" b="0" i="0">
                <a:solidFill>
                  <a:srgbClr val="6B7280"/>
                </a:solidFill>
                <a:latin typeface="Calibri"/>
              </a:rPr>
              <a:t>P/E</a:t>
            </a:r>
          </a:p>
        </p:txBody>
      </p:sp>
      <p:sp>
        <p:nvSpPr>
          <p:cNvPr id="16" name="TextBox 15"/>
          <p:cNvSpPr txBox="1"/>
          <p:nvPr/>
        </p:nvSpPr>
        <p:spPr>
          <a:xfrm>
            <a:off x="4587240" y="1691640"/>
            <a:ext cx="1386840" cy="411480"/>
          </a:xfrm>
          <a:prstGeom prst="rect">
            <a:avLst/>
          </a:prstGeom>
          <a:noFill/>
        </p:spPr>
        <p:txBody>
          <a:bodyPr wrap="square" lIns="0" rIns="0" tIns="0" bIns="0" anchor="t">
            <a:spAutoFit/>
          </a:bodyPr>
          <a:lstStyle/>
          <a:p>
            <a:pPr algn="l"/>
            <a:r>
              <a:rPr sz="1600" b="1" i="0">
                <a:solidFill>
                  <a:srgbClr val="7C3AED"/>
                </a:solidFill>
                <a:latin typeface="Calibri"/>
              </a:rPr>
              <a:t>{{P1_PE}}</a:t>
            </a:r>
          </a:p>
        </p:txBody>
      </p:sp>
      <p:sp>
        <p:nvSpPr>
          <p:cNvPr id="17" name="TextBox 16"/>
          <p:cNvSpPr txBox="1"/>
          <p:nvPr/>
        </p:nvSpPr>
        <p:spPr>
          <a:xfrm>
            <a:off x="5974080" y="1463039"/>
            <a:ext cx="1386840" cy="228600"/>
          </a:xfrm>
          <a:prstGeom prst="rect">
            <a:avLst/>
          </a:prstGeom>
          <a:noFill/>
        </p:spPr>
        <p:txBody>
          <a:bodyPr wrap="square" lIns="0" rIns="0" tIns="0" bIns="0" anchor="t">
            <a:spAutoFit/>
          </a:bodyPr>
          <a:lstStyle/>
          <a:p>
            <a:pPr algn="l"/>
            <a:r>
              <a:rPr sz="900" b="0" i="0">
                <a:solidFill>
                  <a:srgbClr val="6B7280"/>
                </a:solidFill>
                <a:latin typeface="Calibri"/>
              </a:rPr>
              <a:t>P/B</a:t>
            </a:r>
          </a:p>
        </p:txBody>
      </p:sp>
      <p:sp>
        <p:nvSpPr>
          <p:cNvPr id="18" name="TextBox 17"/>
          <p:cNvSpPr txBox="1"/>
          <p:nvPr/>
        </p:nvSpPr>
        <p:spPr>
          <a:xfrm>
            <a:off x="5974080" y="1691640"/>
            <a:ext cx="1386840" cy="411480"/>
          </a:xfrm>
          <a:prstGeom prst="rect">
            <a:avLst/>
          </a:prstGeom>
          <a:noFill/>
        </p:spPr>
        <p:txBody>
          <a:bodyPr wrap="square" lIns="0" rIns="0" tIns="0" bIns="0" anchor="t">
            <a:spAutoFit/>
          </a:bodyPr>
          <a:lstStyle/>
          <a:p>
            <a:pPr algn="l"/>
            <a:r>
              <a:rPr sz="1600" b="1" i="0">
                <a:solidFill>
                  <a:srgbClr val="7C3AED"/>
                </a:solidFill>
                <a:latin typeface="Calibri"/>
              </a:rPr>
              <a:t>{{P1_PB}}</a:t>
            </a:r>
          </a:p>
        </p:txBody>
      </p:sp>
      <p:sp>
        <p:nvSpPr>
          <p:cNvPr id="19" name="TextBox 18"/>
          <p:cNvSpPr txBox="1"/>
          <p:nvPr/>
        </p:nvSpPr>
        <p:spPr>
          <a:xfrm>
            <a:off x="7360920" y="1463039"/>
            <a:ext cx="1386840" cy="228600"/>
          </a:xfrm>
          <a:prstGeom prst="rect">
            <a:avLst/>
          </a:prstGeom>
          <a:noFill/>
        </p:spPr>
        <p:txBody>
          <a:bodyPr wrap="square" lIns="0" rIns="0" tIns="0" bIns="0" anchor="t">
            <a:spAutoFit/>
          </a:bodyPr>
          <a:lstStyle/>
          <a:p>
            <a:pPr algn="l"/>
            <a:r>
              <a:rPr sz="900" b="0" i="0">
                <a:solidFill>
                  <a:srgbClr val="6B7280"/>
                </a:solidFill>
                <a:latin typeface="Calibri"/>
              </a:rPr>
              <a:t>ROE</a:t>
            </a:r>
          </a:p>
        </p:txBody>
      </p:sp>
      <p:sp>
        <p:nvSpPr>
          <p:cNvPr id="20" name="TextBox 19"/>
          <p:cNvSpPr txBox="1"/>
          <p:nvPr/>
        </p:nvSpPr>
        <p:spPr>
          <a:xfrm>
            <a:off x="7360920" y="1691640"/>
            <a:ext cx="1386840" cy="411480"/>
          </a:xfrm>
          <a:prstGeom prst="rect">
            <a:avLst/>
          </a:prstGeom>
          <a:noFill/>
        </p:spPr>
        <p:txBody>
          <a:bodyPr wrap="square" lIns="0" rIns="0" tIns="0" bIns="0" anchor="t">
            <a:spAutoFit/>
          </a:bodyPr>
          <a:lstStyle/>
          <a:p>
            <a:pPr algn="l"/>
            <a:r>
              <a:rPr sz="1600" b="1" i="0">
                <a:solidFill>
                  <a:srgbClr val="7C3AED"/>
                </a:solidFill>
                <a:latin typeface="Calibri"/>
              </a:rPr>
              <a:t>{{P1_ROE}}</a:t>
            </a:r>
          </a:p>
        </p:txBody>
      </p:sp>
      <p:sp>
        <p:nvSpPr>
          <p:cNvPr id="21" name="TextBox 20"/>
          <p:cNvSpPr txBox="1"/>
          <p:nvPr/>
        </p:nvSpPr>
        <p:spPr>
          <a:xfrm>
            <a:off x="8747760" y="1463039"/>
            <a:ext cx="1386840" cy="228600"/>
          </a:xfrm>
          <a:prstGeom prst="rect">
            <a:avLst/>
          </a:prstGeom>
          <a:noFill/>
        </p:spPr>
        <p:txBody>
          <a:bodyPr wrap="square" lIns="0" rIns="0" tIns="0" bIns="0" anchor="t">
            <a:spAutoFit/>
          </a:bodyPr>
          <a:lstStyle/>
          <a:p>
            <a:pPr algn="l"/>
            <a:r>
              <a:rPr sz="900" b="0" i="0">
                <a:solidFill>
                  <a:srgbClr val="6B7280"/>
                </a:solidFill>
                <a:latin typeface="Calibri"/>
              </a:rPr>
              <a:t>ROA</a:t>
            </a:r>
          </a:p>
        </p:txBody>
      </p:sp>
      <p:sp>
        <p:nvSpPr>
          <p:cNvPr id="22" name="TextBox 21"/>
          <p:cNvSpPr txBox="1"/>
          <p:nvPr/>
        </p:nvSpPr>
        <p:spPr>
          <a:xfrm>
            <a:off x="8747760" y="1691640"/>
            <a:ext cx="1386840" cy="411480"/>
          </a:xfrm>
          <a:prstGeom prst="rect">
            <a:avLst/>
          </a:prstGeom>
          <a:noFill/>
        </p:spPr>
        <p:txBody>
          <a:bodyPr wrap="square" lIns="0" rIns="0" tIns="0" bIns="0" anchor="t">
            <a:spAutoFit/>
          </a:bodyPr>
          <a:lstStyle/>
          <a:p>
            <a:pPr algn="l"/>
            <a:r>
              <a:rPr sz="1600" b="1" i="0">
                <a:solidFill>
                  <a:srgbClr val="7C3AED"/>
                </a:solidFill>
                <a:latin typeface="Calibri"/>
              </a:rPr>
              <a:t>{{P1_ROA}}</a:t>
            </a:r>
          </a:p>
        </p:txBody>
      </p:sp>
      <p:sp>
        <p:nvSpPr>
          <p:cNvPr id="23" name="TextBox 22"/>
          <p:cNvSpPr txBox="1"/>
          <p:nvPr/>
        </p:nvSpPr>
        <p:spPr>
          <a:xfrm>
            <a:off x="10134599" y="1463039"/>
            <a:ext cx="1386840" cy="228600"/>
          </a:xfrm>
          <a:prstGeom prst="rect">
            <a:avLst/>
          </a:prstGeom>
          <a:noFill/>
        </p:spPr>
        <p:txBody>
          <a:bodyPr wrap="square" lIns="0" rIns="0" tIns="0" bIns="0" anchor="t">
            <a:spAutoFit/>
          </a:bodyPr>
          <a:lstStyle/>
          <a:p>
            <a:pPr algn="l"/>
            <a:r>
              <a:rPr sz="900" b="0" i="0">
                <a:solidFill>
                  <a:srgbClr val="6B7280"/>
                </a:solidFill>
                <a:latin typeface="Calibri"/>
              </a:rPr>
              <a:t>Tăng DT</a:t>
            </a:r>
          </a:p>
        </p:txBody>
      </p:sp>
      <p:sp>
        <p:nvSpPr>
          <p:cNvPr id="24" name="TextBox 23"/>
          <p:cNvSpPr txBox="1"/>
          <p:nvPr/>
        </p:nvSpPr>
        <p:spPr>
          <a:xfrm>
            <a:off x="10134599" y="1691640"/>
            <a:ext cx="1386840" cy="411480"/>
          </a:xfrm>
          <a:prstGeom prst="rect">
            <a:avLst/>
          </a:prstGeom>
          <a:noFill/>
        </p:spPr>
        <p:txBody>
          <a:bodyPr wrap="square" lIns="0" rIns="0" tIns="0" bIns="0" anchor="t">
            <a:spAutoFit/>
          </a:bodyPr>
          <a:lstStyle/>
          <a:p>
            <a:pPr algn="l"/>
            <a:r>
              <a:rPr sz="1600" b="1" i="0">
                <a:solidFill>
                  <a:srgbClr val="7C3AED"/>
                </a:solidFill>
                <a:latin typeface="Calibri"/>
              </a:rPr>
              <a:t>{{P1_REVGROWTH}}</a:t>
            </a:r>
          </a:p>
        </p:txBody>
      </p:sp>
      <p:sp>
        <p:nvSpPr>
          <p:cNvPr id="25" name="TextBox 24"/>
          <p:cNvSpPr txBox="1"/>
          <p:nvPr/>
        </p:nvSpPr>
        <p:spPr>
          <a:xfrm>
            <a:off x="3200400" y="2240280"/>
            <a:ext cx="8321040" cy="457200"/>
          </a:xfrm>
          <a:prstGeom prst="rect">
            <a:avLst/>
          </a:prstGeom>
          <a:noFill/>
        </p:spPr>
        <p:txBody>
          <a:bodyPr wrap="square" lIns="0" rIns="0" tIns="0" bIns="0" anchor="t">
            <a:spAutoFit/>
          </a:bodyPr>
          <a:lstStyle/>
          <a:p>
            <a:pPr algn="l"/>
            <a:r>
              <a:rPr sz="1000" b="0" i="1">
                <a:solidFill>
                  <a:srgbClr val="1F2937"/>
                </a:solidFill>
                <a:latin typeface="Calibri"/>
              </a:rPr>
              <a:t>{{P1_NOTE}}</a:t>
            </a:r>
          </a:p>
        </p:txBody>
      </p:sp>
      <p:sp>
        <p:nvSpPr>
          <p:cNvPr id="26" name="Rounded Rectangle 25"/>
          <p:cNvSpPr/>
          <p:nvPr/>
        </p:nvSpPr>
        <p:spPr>
          <a:xfrm>
            <a:off x="548640" y="2880360"/>
            <a:ext cx="2704338" cy="13716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2971800"/>
            <a:ext cx="2475738" cy="320040"/>
          </a:xfrm>
          <a:prstGeom prst="rect">
            <a:avLst/>
          </a:prstGeom>
          <a:noFill/>
        </p:spPr>
        <p:txBody>
          <a:bodyPr wrap="square" lIns="0" rIns="0" tIns="0" bIns="0" anchor="t">
            <a:spAutoFit/>
          </a:bodyPr>
          <a:lstStyle/>
          <a:p>
            <a:pPr algn="l"/>
            <a:r>
              <a:rPr sz="1600" b="1" i="0">
                <a:solidFill>
                  <a:srgbClr val="1F2937"/>
                </a:solidFill>
                <a:latin typeface="Calibri"/>
              </a:rPr>
              <a:t>{{P2_TICKER}}</a:t>
            </a:r>
          </a:p>
        </p:txBody>
      </p:sp>
      <p:sp>
        <p:nvSpPr>
          <p:cNvPr id="28" name="TextBox 27"/>
          <p:cNvSpPr txBox="1"/>
          <p:nvPr/>
        </p:nvSpPr>
        <p:spPr>
          <a:xfrm>
            <a:off x="685800"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Vốn hoá</a:t>
            </a:r>
          </a:p>
        </p:txBody>
      </p:sp>
      <p:sp>
        <p:nvSpPr>
          <p:cNvPr id="29" name="TextBox 28"/>
          <p:cNvSpPr txBox="1"/>
          <p:nvPr/>
        </p:nvSpPr>
        <p:spPr>
          <a:xfrm>
            <a:off x="1354054"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{{P2_MARKETCAP}}</a:t>
            </a:r>
          </a:p>
        </p:txBody>
      </p:sp>
      <p:sp>
        <p:nvSpPr>
          <p:cNvPr id="30" name="TextBox 29"/>
          <p:cNvSpPr txBox="1"/>
          <p:nvPr/>
        </p:nvSpPr>
        <p:spPr>
          <a:xfrm>
            <a:off x="1900809"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P/E</a:t>
            </a:r>
          </a:p>
        </p:txBody>
      </p:sp>
      <p:sp>
        <p:nvSpPr>
          <p:cNvPr id="31" name="TextBox 30"/>
          <p:cNvSpPr txBox="1"/>
          <p:nvPr/>
        </p:nvSpPr>
        <p:spPr>
          <a:xfrm>
            <a:off x="2569063"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{{P2_PE}}</a:t>
            </a:r>
          </a:p>
        </p:txBody>
      </p:sp>
      <p:sp>
        <p:nvSpPr>
          <p:cNvPr id="32" name="TextBox 31"/>
          <p:cNvSpPr txBox="1"/>
          <p:nvPr/>
        </p:nvSpPr>
        <p:spPr>
          <a:xfrm>
            <a:off x="685800"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P/B</a:t>
            </a:r>
          </a:p>
        </p:txBody>
      </p:sp>
      <p:sp>
        <p:nvSpPr>
          <p:cNvPr id="33" name="TextBox 32"/>
          <p:cNvSpPr txBox="1"/>
          <p:nvPr/>
        </p:nvSpPr>
        <p:spPr>
          <a:xfrm>
            <a:off x="1354054"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{{P2_PB}}</a:t>
            </a:r>
          </a:p>
        </p:txBody>
      </p:sp>
      <p:sp>
        <p:nvSpPr>
          <p:cNvPr id="34" name="TextBox 33"/>
          <p:cNvSpPr txBox="1"/>
          <p:nvPr/>
        </p:nvSpPr>
        <p:spPr>
          <a:xfrm>
            <a:off x="1900809"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ROE</a:t>
            </a:r>
          </a:p>
        </p:txBody>
      </p:sp>
      <p:sp>
        <p:nvSpPr>
          <p:cNvPr id="35" name="TextBox 34"/>
          <p:cNvSpPr txBox="1"/>
          <p:nvPr/>
        </p:nvSpPr>
        <p:spPr>
          <a:xfrm>
            <a:off x="2569063"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{{P2_ROE}}</a:t>
            </a:r>
          </a:p>
        </p:txBody>
      </p:sp>
      <p:sp>
        <p:nvSpPr>
          <p:cNvPr id="36" name="TextBox 35"/>
          <p:cNvSpPr txBox="1"/>
          <p:nvPr/>
        </p:nvSpPr>
        <p:spPr>
          <a:xfrm>
            <a:off x="685800"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ROA</a:t>
            </a:r>
          </a:p>
        </p:txBody>
      </p:sp>
      <p:sp>
        <p:nvSpPr>
          <p:cNvPr id="37" name="TextBox 36"/>
          <p:cNvSpPr txBox="1"/>
          <p:nvPr/>
        </p:nvSpPr>
        <p:spPr>
          <a:xfrm>
            <a:off x="1354054"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{{P2_ROA}}</a:t>
            </a:r>
          </a:p>
        </p:txBody>
      </p:sp>
      <p:sp>
        <p:nvSpPr>
          <p:cNvPr id="38" name="TextBox 37"/>
          <p:cNvSpPr txBox="1"/>
          <p:nvPr/>
        </p:nvSpPr>
        <p:spPr>
          <a:xfrm>
            <a:off x="1900809"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Tăng DT</a:t>
            </a:r>
          </a:p>
        </p:txBody>
      </p:sp>
      <p:sp>
        <p:nvSpPr>
          <p:cNvPr id="39" name="TextBox 38"/>
          <p:cNvSpPr txBox="1"/>
          <p:nvPr/>
        </p:nvSpPr>
        <p:spPr>
          <a:xfrm>
            <a:off x="2569063"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{{P2_REVGROWTH}}</a:t>
            </a:r>
          </a:p>
        </p:txBody>
      </p:sp>
      <p:sp>
        <p:nvSpPr>
          <p:cNvPr id="40" name="TextBox 39"/>
          <p:cNvSpPr txBox="1"/>
          <p:nvPr/>
        </p:nvSpPr>
        <p:spPr>
          <a:xfrm>
            <a:off x="685800" y="4023360"/>
            <a:ext cx="2475738" cy="228600"/>
          </a:xfrm>
          <a:prstGeom prst="rect">
            <a:avLst/>
          </a:prstGeom>
          <a:noFill/>
        </p:spPr>
        <p:txBody>
          <a:bodyPr wrap="square" lIns="0" rIns="0" tIns="0" bIns="0" anchor="t">
            <a:spAutoFit/>
          </a:bodyPr>
          <a:lstStyle/>
          <a:p>
            <a:pPr algn="l"/>
            <a:r>
              <a:rPr sz="800" b="0" i="1">
                <a:solidFill>
                  <a:srgbClr val="6B7280"/>
                </a:solidFill>
                <a:latin typeface="Calibri"/>
              </a:rPr>
              <a:t>{{P2_NOTE}}</a:t>
            </a:r>
          </a:p>
        </p:txBody>
      </p:sp>
      <p:sp>
        <p:nvSpPr>
          <p:cNvPr id="41" name="Rounded Rectangle 40"/>
          <p:cNvSpPr/>
          <p:nvPr/>
        </p:nvSpPr>
        <p:spPr>
          <a:xfrm>
            <a:off x="3344418" y="2880360"/>
            <a:ext cx="2704338" cy="13716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81578" y="2971800"/>
            <a:ext cx="2475738" cy="320040"/>
          </a:xfrm>
          <a:prstGeom prst="rect">
            <a:avLst/>
          </a:prstGeom>
          <a:noFill/>
        </p:spPr>
        <p:txBody>
          <a:bodyPr wrap="square" lIns="0" rIns="0" tIns="0" bIns="0" anchor="t">
            <a:spAutoFit/>
          </a:bodyPr>
          <a:lstStyle/>
          <a:p>
            <a:pPr algn="l"/>
            <a:r>
              <a:rPr sz="1600" b="1" i="0">
                <a:solidFill>
                  <a:srgbClr val="1F2937"/>
                </a:solidFill>
                <a:latin typeface="Calibri"/>
              </a:rPr>
              <a:t>{{P3_TICKER}}</a:t>
            </a:r>
          </a:p>
        </p:txBody>
      </p:sp>
      <p:sp>
        <p:nvSpPr>
          <p:cNvPr id="43" name="TextBox 42"/>
          <p:cNvSpPr txBox="1"/>
          <p:nvPr/>
        </p:nvSpPr>
        <p:spPr>
          <a:xfrm>
            <a:off x="3481578"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Vốn hoá</a:t>
            </a:r>
          </a:p>
        </p:txBody>
      </p:sp>
      <p:sp>
        <p:nvSpPr>
          <p:cNvPr id="44" name="TextBox 43"/>
          <p:cNvSpPr txBox="1"/>
          <p:nvPr/>
        </p:nvSpPr>
        <p:spPr>
          <a:xfrm>
            <a:off x="4149832"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{{P3_MARKETCAP}}</a:t>
            </a:r>
          </a:p>
        </p:txBody>
      </p:sp>
      <p:sp>
        <p:nvSpPr>
          <p:cNvPr id="45" name="TextBox 44"/>
          <p:cNvSpPr txBox="1"/>
          <p:nvPr/>
        </p:nvSpPr>
        <p:spPr>
          <a:xfrm>
            <a:off x="4696587"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P/E</a:t>
            </a:r>
          </a:p>
        </p:txBody>
      </p:sp>
      <p:sp>
        <p:nvSpPr>
          <p:cNvPr id="46" name="TextBox 45"/>
          <p:cNvSpPr txBox="1"/>
          <p:nvPr/>
        </p:nvSpPr>
        <p:spPr>
          <a:xfrm>
            <a:off x="5364841"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{{P3_PE}}</a:t>
            </a:r>
          </a:p>
        </p:txBody>
      </p:sp>
      <p:sp>
        <p:nvSpPr>
          <p:cNvPr id="47" name="TextBox 46"/>
          <p:cNvSpPr txBox="1"/>
          <p:nvPr/>
        </p:nvSpPr>
        <p:spPr>
          <a:xfrm>
            <a:off x="3481578"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P/B</a:t>
            </a:r>
          </a:p>
        </p:txBody>
      </p:sp>
      <p:sp>
        <p:nvSpPr>
          <p:cNvPr id="48" name="TextBox 47"/>
          <p:cNvSpPr txBox="1"/>
          <p:nvPr/>
        </p:nvSpPr>
        <p:spPr>
          <a:xfrm>
            <a:off x="4149832"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{{P3_PB}}</a:t>
            </a:r>
          </a:p>
        </p:txBody>
      </p:sp>
      <p:sp>
        <p:nvSpPr>
          <p:cNvPr id="49" name="TextBox 48"/>
          <p:cNvSpPr txBox="1"/>
          <p:nvPr/>
        </p:nvSpPr>
        <p:spPr>
          <a:xfrm>
            <a:off x="4696587"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ROE</a:t>
            </a:r>
          </a:p>
        </p:txBody>
      </p:sp>
      <p:sp>
        <p:nvSpPr>
          <p:cNvPr id="50" name="TextBox 49"/>
          <p:cNvSpPr txBox="1"/>
          <p:nvPr/>
        </p:nvSpPr>
        <p:spPr>
          <a:xfrm>
            <a:off x="5364841"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{{P3_ROE}}</a:t>
            </a:r>
          </a:p>
        </p:txBody>
      </p:sp>
      <p:sp>
        <p:nvSpPr>
          <p:cNvPr id="51" name="TextBox 50"/>
          <p:cNvSpPr txBox="1"/>
          <p:nvPr/>
        </p:nvSpPr>
        <p:spPr>
          <a:xfrm>
            <a:off x="3481578"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ROA</a:t>
            </a:r>
          </a:p>
        </p:txBody>
      </p:sp>
      <p:sp>
        <p:nvSpPr>
          <p:cNvPr id="52" name="TextBox 51"/>
          <p:cNvSpPr txBox="1"/>
          <p:nvPr/>
        </p:nvSpPr>
        <p:spPr>
          <a:xfrm>
            <a:off x="4149832"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{{P3_ROA}}</a:t>
            </a:r>
          </a:p>
        </p:txBody>
      </p:sp>
      <p:sp>
        <p:nvSpPr>
          <p:cNvPr id="53" name="TextBox 52"/>
          <p:cNvSpPr txBox="1"/>
          <p:nvPr/>
        </p:nvSpPr>
        <p:spPr>
          <a:xfrm>
            <a:off x="4696587"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Tăng DT</a:t>
            </a:r>
          </a:p>
        </p:txBody>
      </p:sp>
      <p:sp>
        <p:nvSpPr>
          <p:cNvPr id="54" name="TextBox 53"/>
          <p:cNvSpPr txBox="1"/>
          <p:nvPr/>
        </p:nvSpPr>
        <p:spPr>
          <a:xfrm>
            <a:off x="5364841"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{{P3_REVGROWTH}}</a:t>
            </a:r>
          </a:p>
        </p:txBody>
      </p:sp>
      <p:sp>
        <p:nvSpPr>
          <p:cNvPr id="55" name="TextBox 54"/>
          <p:cNvSpPr txBox="1"/>
          <p:nvPr/>
        </p:nvSpPr>
        <p:spPr>
          <a:xfrm>
            <a:off x="3481578" y="4023360"/>
            <a:ext cx="2475738" cy="228600"/>
          </a:xfrm>
          <a:prstGeom prst="rect">
            <a:avLst/>
          </a:prstGeom>
          <a:noFill/>
        </p:spPr>
        <p:txBody>
          <a:bodyPr wrap="square" lIns="0" rIns="0" tIns="0" bIns="0" anchor="t">
            <a:spAutoFit/>
          </a:bodyPr>
          <a:lstStyle/>
          <a:p>
            <a:pPr algn="l"/>
            <a:r>
              <a:rPr sz="800" b="0" i="1">
                <a:solidFill>
                  <a:srgbClr val="6B7280"/>
                </a:solidFill>
                <a:latin typeface="Calibri"/>
              </a:rPr>
              <a:t>{{P3_NOTE}}</a:t>
            </a:r>
          </a:p>
        </p:txBody>
      </p:sp>
      <p:sp>
        <p:nvSpPr>
          <p:cNvPr id="56" name="Rounded Rectangle 55"/>
          <p:cNvSpPr/>
          <p:nvPr/>
        </p:nvSpPr>
        <p:spPr>
          <a:xfrm>
            <a:off x="6140196" y="2880360"/>
            <a:ext cx="2704338" cy="13716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7356" y="2971800"/>
            <a:ext cx="2475738" cy="320040"/>
          </a:xfrm>
          <a:prstGeom prst="rect">
            <a:avLst/>
          </a:prstGeom>
          <a:noFill/>
        </p:spPr>
        <p:txBody>
          <a:bodyPr wrap="square" lIns="0" rIns="0" tIns="0" bIns="0" anchor="t">
            <a:spAutoFit/>
          </a:bodyPr>
          <a:lstStyle/>
          <a:p>
            <a:pPr algn="l"/>
            <a:r>
              <a:rPr sz="1600" b="1" i="0">
                <a:solidFill>
                  <a:srgbClr val="1F2937"/>
                </a:solidFill>
                <a:latin typeface="Calibri"/>
              </a:rPr>
              <a:t>{{P4_TICKER}}</a:t>
            </a:r>
          </a:p>
        </p:txBody>
      </p:sp>
      <p:sp>
        <p:nvSpPr>
          <p:cNvPr id="58" name="TextBox 57"/>
          <p:cNvSpPr txBox="1"/>
          <p:nvPr/>
        </p:nvSpPr>
        <p:spPr>
          <a:xfrm>
            <a:off x="6277356"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Vốn hoá</a:t>
            </a:r>
          </a:p>
        </p:txBody>
      </p:sp>
      <p:sp>
        <p:nvSpPr>
          <p:cNvPr id="59" name="TextBox 58"/>
          <p:cNvSpPr txBox="1"/>
          <p:nvPr/>
        </p:nvSpPr>
        <p:spPr>
          <a:xfrm>
            <a:off x="6945610"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{{P4_MARKETCAP}}</a:t>
            </a:r>
          </a:p>
        </p:txBody>
      </p:sp>
      <p:sp>
        <p:nvSpPr>
          <p:cNvPr id="60" name="TextBox 59"/>
          <p:cNvSpPr txBox="1"/>
          <p:nvPr/>
        </p:nvSpPr>
        <p:spPr>
          <a:xfrm>
            <a:off x="7492365"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P/E</a:t>
            </a:r>
          </a:p>
        </p:txBody>
      </p:sp>
      <p:sp>
        <p:nvSpPr>
          <p:cNvPr id="61" name="TextBox 60"/>
          <p:cNvSpPr txBox="1"/>
          <p:nvPr/>
        </p:nvSpPr>
        <p:spPr>
          <a:xfrm>
            <a:off x="8160619"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{{P4_PE}}</a:t>
            </a:r>
          </a:p>
        </p:txBody>
      </p:sp>
      <p:sp>
        <p:nvSpPr>
          <p:cNvPr id="62" name="TextBox 61"/>
          <p:cNvSpPr txBox="1"/>
          <p:nvPr/>
        </p:nvSpPr>
        <p:spPr>
          <a:xfrm>
            <a:off x="6277356"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P/B</a:t>
            </a:r>
          </a:p>
        </p:txBody>
      </p:sp>
      <p:sp>
        <p:nvSpPr>
          <p:cNvPr id="63" name="TextBox 62"/>
          <p:cNvSpPr txBox="1"/>
          <p:nvPr/>
        </p:nvSpPr>
        <p:spPr>
          <a:xfrm>
            <a:off x="6945610"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{{P4_PB}}</a:t>
            </a:r>
          </a:p>
        </p:txBody>
      </p:sp>
      <p:sp>
        <p:nvSpPr>
          <p:cNvPr id="64" name="TextBox 63"/>
          <p:cNvSpPr txBox="1"/>
          <p:nvPr/>
        </p:nvSpPr>
        <p:spPr>
          <a:xfrm>
            <a:off x="7492365"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ROE</a:t>
            </a:r>
          </a:p>
        </p:txBody>
      </p:sp>
      <p:sp>
        <p:nvSpPr>
          <p:cNvPr id="65" name="TextBox 64"/>
          <p:cNvSpPr txBox="1"/>
          <p:nvPr/>
        </p:nvSpPr>
        <p:spPr>
          <a:xfrm>
            <a:off x="8160619"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{{P4_ROE}}</a:t>
            </a:r>
          </a:p>
        </p:txBody>
      </p:sp>
      <p:sp>
        <p:nvSpPr>
          <p:cNvPr id="66" name="TextBox 65"/>
          <p:cNvSpPr txBox="1"/>
          <p:nvPr/>
        </p:nvSpPr>
        <p:spPr>
          <a:xfrm>
            <a:off x="6277356"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ROA</a:t>
            </a:r>
          </a:p>
        </p:txBody>
      </p:sp>
      <p:sp>
        <p:nvSpPr>
          <p:cNvPr id="67" name="TextBox 66"/>
          <p:cNvSpPr txBox="1"/>
          <p:nvPr/>
        </p:nvSpPr>
        <p:spPr>
          <a:xfrm>
            <a:off x="6945610"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{{P4_ROA}}</a:t>
            </a:r>
          </a:p>
        </p:txBody>
      </p:sp>
      <p:sp>
        <p:nvSpPr>
          <p:cNvPr id="68" name="TextBox 67"/>
          <p:cNvSpPr txBox="1"/>
          <p:nvPr/>
        </p:nvSpPr>
        <p:spPr>
          <a:xfrm>
            <a:off x="7492365"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Tăng DT</a:t>
            </a:r>
          </a:p>
        </p:txBody>
      </p:sp>
      <p:sp>
        <p:nvSpPr>
          <p:cNvPr id="69" name="TextBox 68"/>
          <p:cNvSpPr txBox="1"/>
          <p:nvPr/>
        </p:nvSpPr>
        <p:spPr>
          <a:xfrm>
            <a:off x="8160619"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{{P4_REVGROWTH}}</a:t>
            </a:r>
          </a:p>
        </p:txBody>
      </p:sp>
      <p:sp>
        <p:nvSpPr>
          <p:cNvPr id="70" name="TextBox 69"/>
          <p:cNvSpPr txBox="1"/>
          <p:nvPr/>
        </p:nvSpPr>
        <p:spPr>
          <a:xfrm>
            <a:off x="6277356" y="4023360"/>
            <a:ext cx="2475738" cy="228600"/>
          </a:xfrm>
          <a:prstGeom prst="rect">
            <a:avLst/>
          </a:prstGeom>
          <a:noFill/>
        </p:spPr>
        <p:txBody>
          <a:bodyPr wrap="square" lIns="0" rIns="0" tIns="0" bIns="0" anchor="t">
            <a:spAutoFit/>
          </a:bodyPr>
          <a:lstStyle/>
          <a:p>
            <a:pPr algn="l"/>
            <a:r>
              <a:rPr sz="800" b="0" i="1">
                <a:solidFill>
                  <a:srgbClr val="6B7280"/>
                </a:solidFill>
                <a:latin typeface="Calibri"/>
              </a:rPr>
              <a:t>{{P4_NOTE}}</a:t>
            </a:r>
          </a:p>
        </p:txBody>
      </p:sp>
      <p:sp>
        <p:nvSpPr>
          <p:cNvPr id="71" name="Rounded Rectangle 70"/>
          <p:cNvSpPr/>
          <p:nvPr/>
        </p:nvSpPr>
        <p:spPr>
          <a:xfrm>
            <a:off x="8935974" y="2880360"/>
            <a:ext cx="2704338" cy="13716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073134" y="2971800"/>
            <a:ext cx="2475738" cy="320040"/>
          </a:xfrm>
          <a:prstGeom prst="rect">
            <a:avLst/>
          </a:prstGeom>
          <a:noFill/>
        </p:spPr>
        <p:txBody>
          <a:bodyPr wrap="square" lIns="0" rIns="0" tIns="0" bIns="0" anchor="t">
            <a:spAutoFit/>
          </a:bodyPr>
          <a:lstStyle/>
          <a:p>
            <a:pPr algn="l"/>
            <a:r>
              <a:rPr sz="1600" b="1" i="0">
                <a:solidFill>
                  <a:srgbClr val="1F2937"/>
                </a:solidFill>
                <a:latin typeface="Calibri"/>
              </a:rPr>
              <a:t>{{P5_TICKER}}</a:t>
            </a:r>
          </a:p>
        </p:txBody>
      </p:sp>
      <p:sp>
        <p:nvSpPr>
          <p:cNvPr id="73" name="TextBox 72"/>
          <p:cNvSpPr txBox="1"/>
          <p:nvPr/>
        </p:nvSpPr>
        <p:spPr>
          <a:xfrm>
            <a:off x="9073134"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Vốn hoá</a:t>
            </a:r>
          </a:p>
        </p:txBody>
      </p:sp>
      <p:sp>
        <p:nvSpPr>
          <p:cNvPr id="74" name="TextBox 73"/>
          <p:cNvSpPr txBox="1"/>
          <p:nvPr/>
        </p:nvSpPr>
        <p:spPr>
          <a:xfrm>
            <a:off x="9741388"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{{P5_MARKETCAP}}</a:t>
            </a:r>
          </a:p>
        </p:txBody>
      </p:sp>
      <p:sp>
        <p:nvSpPr>
          <p:cNvPr id="75" name="TextBox 74"/>
          <p:cNvSpPr txBox="1"/>
          <p:nvPr/>
        </p:nvSpPr>
        <p:spPr>
          <a:xfrm>
            <a:off x="10288142" y="3337560"/>
            <a:ext cx="668254" cy="182880"/>
          </a:xfrm>
          <a:prstGeom prst="rect">
            <a:avLst/>
          </a:prstGeom>
          <a:noFill/>
        </p:spPr>
        <p:txBody>
          <a:bodyPr wrap="square" lIns="0" rIns="0" tIns="0" bIns="0" anchor="t">
            <a:spAutoFit/>
          </a:bodyPr>
          <a:lstStyle/>
          <a:p>
            <a:pPr algn="l"/>
            <a:r>
              <a:rPr sz="800" b="0" i="0">
                <a:solidFill>
                  <a:srgbClr val="9CA3AF"/>
                </a:solidFill>
                <a:latin typeface="Calibri"/>
              </a:rPr>
              <a:t>P/E</a:t>
            </a:r>
          </a:p>
        </p:txBody>
      </p:sp>
      <p:sp>
        <p:nvSpPr>
          <p:cNvPr id="76" name="TextBox 75"/>
          <p:cNvSpPr txBox="1"/>
          <p:nvPr/>
        </p:nvSpPr>
        <p:spPr>
          <a:xfrm>
            <a:off x="10956397" y="3337560"/>
            <a:ext cx="546754" cy="182880"/>
          </a:xfrm>
          <a:prstGeom prst="rect">
            <a:avLst/>
          </a:prstGeom>
          <a:noFill/>
        </p:spPr>
        <p:txBody>
          <a:bodyPr wrap="square" lIns="0" rIns="0" tIns="0" bIns="0" anchor="t">
            <a:spAutoFit/>
          </a:bodyPr>
          <a:lstStyle/>
          <a:p>
            <a:pPr algn="l"/>
            <a:r>
              <a:rPr sz="900" b="1" i="0">
                <a:solidFill>
                  <a:srgbClr val="7C3AED"/>
                </a:solidFill>
                <a:latin typeface="Calibri"/>
              </a:rPr>
              <a:t>{{P5_PE}}</a:t>
            </a:r>
          </a:p>
        </p:txBody>
      </p:sp>
      <p:sp>
        <p:nvSpPr>
          <p:cNvPr id="77" name="TextBox 76"/>
          <p:cNvSpPr txBox="1"/>
          <p:nvPr/>
        </p:nvSpPr>
        <p:spPr>
          <a:xfrm>
            <a:off x="9073134"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P/B</a:t>
            </a:r>
          </a:p>
        </p:txBody>
      </p:sp>
      <p:sp>
        <p:nvSpPr>
          <p:cNvPr id="78" name="TextBox 77"/>
          <p:cNvSpPr txBox="1"/>
          <p:nvPr/>
        </p:nvSpPr>
        <p:spPr>
          <a:xfrm>
            <a:off x="9741388"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{{P5_PB}}</a:t>
            </a:r>
          </a:p>
        </p:txBody>
      </p:sp>
      <p:sp>
        <p:nvSpPr>
          <p:cNvPr id="79" name="TextBox 78"/>
          <p:cNvSpPr txBox="1"/>
          <p:nvPr/>
        </p:nvSpPr>
        <p:spPr>
          <a:xfrm>
            <a:off x="10288142" y="3611879"/>
            <a:ext cx="668254" cy="182880"/>
          </a:xfrm>
          <a:prstGeom prst="rect">
            <a:avLst/>
          </a:prstGeom>
          <a:noFill/>
        </p:spPr>
        <p:txBody>
          <a:bodyPr wrap="square" lIns="0" rIns="0" tIns="0" bIns="0" anchor="t">
            <a:spAutoFit/>
          </a:bodyPr>
          <a:lstStyle/>
          <a:p>
            <a:pPr algn="l"/>
            <a:r>
              <a:rPr sz="800" b="0" i="0">
                <a:solidFill>
                  <a:srgbClr val="9CA3AF"/>
                </a:solidFill>
                <a:latin typeface="Calibri"/>
              </a:rPr>
              <a:t>ROE</a:t>
            </a:r>
          </a:p>
        </p:txBody>
      </p:sp>
      <p:sp>
        <p:nvSpPr>
          <p:cNvPr id="80" name="TextBox 79"/>
          <p:cNvSpPr txBox="1"/>
          <p:nvPr/>
        </p:nvSpPr>
        <p:spPr>
          <a:xfrm>
            <a:off x="10956397" y="3611879"/>
            <a:ext cx="546754" cy="182880"/>
          </a:xfrm>
          <a:prstGeom prst="rect">
            <a:avLst/>
          </a:prstGeom>
          <a:noFill/>
        </p:spPr>
        <p:txBody>
          <a:bodyPr wrap="square" lIns="0" rIns="0" tIns="0" bIns="0" anchor="t">
            <a:spAutoFit/>
          </a:bodyPr>
          <a:lstStyle/>
          <a:p>
            <a:pPr algn="l"/>
            <a:r>
              <a:rPr sz="900" b="1" i="0">
                <a:solidFill>
                  <a:srgbClr val="7C3AED"/>
                </a:solidFill>
                <a:latin typeface="Calibri"/>
              </a:rPr>
              <a:t>{{P5_ROE}}</a:t>
            </a:r>
          </a:p>
        </p:txBody>
      </p:sp>
      <p:sp>
        <p:nvSpPr>
          <p:cNvPr id="81" name="TextBox 80"/>
          <p:cNvSpPr txBox="1"/>
          <p:nvPr/>
        </p:nvSpPr>
        <p:spPr>
          <a:xfrm>
            <a:off x="9073134"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ROA</a:t>
            </a:r>
          </a:p>
        </p:txBody>
      </p:sp>
      <p:sp>
        <p:nvSpPr>
          <p:cNvPr id="82" name="TextBox 81"/>
          <p:cNvSpPr txBox="1"/>
          <p:nvPr/>
        </p:nvSpPr>
        <p:spPr>
          <a:xfrm>
            <a:off x="9741388"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{{P5_ROA}}</a:t>
            </a:r>
          </a:p>
        </p:txBody>
      </p:sp>
      <p:sp>
        <p:nvSpPr>
          <p:cNvPr id="83" name="TextBox 82"/>
          <p:cNvSpPr txBox="1"/>
          <p:nvPr/>
        </p:nvSpPr>
        <p:spPr>
          <a:xfrm>
            <a:off x="10288142" y="3886200"/>
            <a:ext cx="668254" cy="182880"/>
          </a:xfrm>
          <a:prstGeom prst="rect">
            <a:avLst/>
          </a:prstGeom>
          <a:noFill/>
        </p:spPr>
        <p:txBody>
          <a:bodyPr wrap="square" lIns="0" rIns="0" tIns="0" bIns="0" anchor="t">
            <a:spAutoFit/>
          </a:bodyPr>
          <a:lstStyle/>
          <a:p>
            <a:pPr algn="l"/>
            <a:r>
              <a:rPr sz="800" b="0" i="0">
                <a:solidFill>
                  <a:srgbClr val="9CA3AF"/>
                </a:solidFill>
                <a:latin typeface="Calibri"/>
              </a:rPr>
              <a:t>Tăng DT</a:t>
            </a:r>
          </a:p>
        </p:txBody>
      </p:sp>
      <p:sp>
        <p:nvSpPr>
          <p:cNvPr id="84" name="TextBox 83"/>
          <p:cNvSpPr txBox="1"/>
          <p:nvPr/>
        </p:nvSpPr>
        <p:spPr>
          <a:xfrm>
            <a:off x="10956397" y="3886200"/>
            <a:ext cx="546754" cy="182880"/>
          </a:xfrm>
          <a:prstGeom prst="rect">
            <a:avLst/>
          </a:prstGeom>
          <a:noFill/>
        </p:spPr>
        <p:txBody>
          <a:bodyPr wrap="square" lIns="0" rIns="0" tIns="0" bIns="0" anchor="t">
            <a:spAutoFit/>
          </a:bodyPr>
          <a:lstStyle/>
          <a:p>
            <a:pPr algn="l"/>
            <a:r>
              <a:rPr sz="900" b="1" i="0">
                <a:solidFill>
                  <a:srgbClr val="7C3AED"/>
                </a:solidFill>
                <a:latin typeface="Calibri"/>
              </a:rPr>
              <a:t>{{P5_REVGROWTH}}</a:t>
            </a:r>
          </a:p>
        </p:txBody>
      </p:sp>
      <p:sp>
        <p:nvSpPr>
          <p:cNvPr id="85" name="TextBox 84"/>
          <p:cNvSpPr txBox="1"/>
          <p:nvPr/>
        </p:nvSpPr>
        <p:spPr>
          <a:xfrm>
            <a:off x="9073134" y="4023360"/>
            <a:ext cx="2475738" cy="228600"/>
          </a:xfrm>
          <a:prstGeom prst="rect">
            <a:avLst/>
          </a:prstGeom>
          <a:noFill/>
        </p:spPr>
        <p:txBody>
          <a:bodyPr wrap="square" lIns="0" rIns="0" tIns="0" bIns="0" anchor="t">
            <a:spAutoFit/>
          </a:bodyPr>
          <a:lstStyle/>
          <a:p>
            <a:pPr algn="l"/>
            <a:r>
              <a:rPr sz="800" b="0" i="1">
                <a:solidFill>
                  <a:srgbClr val="6B7280"/>
                </a:solidFill>
                <a:latin typeface="Calibri"/>
              </a:rPr>
              <a:t>{{P5_NOTE}}</a:t>
            </a:r>
          </a:p>
        </p:txBody>
      </p:sp>
      <p:sp>
        <p:nvSpPr>
          <p:cNvPr id="86" name="Rounded Rectangle 85"/>
          <p:cNvSpPr/>
          <p:nvPr/>
        </p:nvSpPr>
        <p:spPr>
          <a:xfrm>
            <a:off x="548640" y="4343400"/>
            <a:ext cx="2704338" cy="13716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85800" y="4434840"/>
            <a:ext cx="2475738" cy="320040"/>
          </a:xfrm>
          <a:prstGeom prst="rect">
            <a:avLst/>
          </a:prstGeom>
          <a:noFill/>
        </p:spPr>
        <p:txBody>
          <a:bodyPr wrap="square" lIns="0" rIns="0" tIns="0" bIns="0" anchor="t">
            <a:spAutoFit/>
          </a:bodyPr>
          <a:lstStyle/>
          <a:p>
            <a:pPr algn="l"/>
            <a:r>
              <a:rPr sz="1600" b="1" i="0">
                <a:solidFill>
                  <a:srgbClr val="1F2937"/>
                </a:solidFill>
                <a:latin typeface="Calibri"/>
              </a:rPr>
              <a:t>{{P6_TICKER}}</a:t>
            </a:r>
          </a:p>
        </p:txBody>
      </p:sp>
      <p:sp>
        <p:nvSpPr>
          <p:cNvPr id="88" name="TextBox 87"/>
          <p:cNvSpPr txBox="1"/>
          <p:nvPr/>
        </p:nvSpPr>
        <p:spPr>
          <a:xfrm>
            <a:off x="685800" y="4800600"/>
            <a:ext cx="668254" cy="182880"/>
          </a:xfrm>
          <a:prstGeom prst="rect">
            <a:avLst/>
          </a:prstGeom>
          <a:noFill/>
        </p:spPr>
        <p:txBody>
          <a:bodyPr wrap="square" lIns="0" rIns="0" tIns="0" bIns="0" anchor="t">
            <a:spAutoFit/>
          </a:bodyPr>
          <a:lstStyle/>
          <a:p>
            <a:pPr algn="l"/>
            <a:r>
              <a:rPr sz="800" b="0" i="0">
                <a:solidFill>
                  <a:srgbClr val="9CA3AF"/>
                </a:solidFill>
                <a:latin typeface="Calibri"/>
              </a:rPr>
              <a:t>Vốn hoá</a:t>
            </a:r>
          </a:p>
        </p:txBody>
      </p:sp>
      <p:sp>
        <p:nvSpPr>
          <p:cNvPr id="89" name="TextBox 88"/>
          <p:cNvSpPr txBox="1"/>
          <p:nvPr/>
        </p:nvSpPr>
        <p:spPr>
          <a:xfrm>
            <a:off x="1354054" y="4800600"/>
            <a:ext cx="546754" cy="182880"/>
          </a:xfrm>
          <a:prstGeom prst="rect">
            <a:avLst/>
          </a:prstGeom>
          <a:noFill/>
        </p:spPr>
        <p:txBody>
          <a:bodyPr wrap="square" lIns="0" rIns="0" tIns="0" bIns="0" anchor="t">
            <a:spAutoFit/>
          </a:bodyPr>
          <a:lstStyle/>
          <a:p>
            <a:pPr algn="l"/>
            <a:r>
              <a:rPr sz="900" b="1" i="0">
                <a:solidFill>
                  <a:srgbClr val="7C3AED"/>
                </a:solidFill>
                <a:latin typeface="Calibri"/>
              </a:rPr>
              <a:t>{{P6_MARKETCAP}}</a:t>
            </a:r>
          </a:p>
        </p:txBody>
      </p:sp>
      <p:sp>
        <p:nvSpPr>
          <p:cNvPr id="90" name="TextBox 89"/>
          <p:cNvSpPr txBox="1"/>
          <p:nvPr/>
        </p:nvSpPr>
        <p:spPr>
          <a:xfrm>
            <a:off x="1900809" y="4800600"/>
            <a:ext cx="668254" cy="182880"/>
          </a:xfrm>
          <a:prstGeom prst="rect">
            <a:avLst/>
          </a:prstGeom>
          <a:noFill/>
        </p:spPr>
        <p:txBody>
          <a:bodyPr wrap="square" lIns="0" rIns="0" tIns="0" bIns="0" anchor="t">
            <a:spAutoFit/>
          </a:bodyPr>
          <a:lstStyle/>
          <a:p>
            <a:pPr algn="l"/>
            <a:r>
              <a:rPr sz="800" b="0" i="0">
                <a:solidFill>
                  <a:srgbClr val="9CA3AF"/>
                </a:solidFill>
                <a:latin typeface="Calibri"/>
              </a:rPr>
              <a:t>P/E</a:t>
            </a:r>
          </a:p>
        </p:txBody>
      </p:sp>
      <p:sp>
        <p:nvSpPr>
          <p:cNvPr id="91" name="TextBox 90"/>
          <p:cNvSpPr txBox="1"/>
          <p:nvPr/>
        </p:nvSpPr>
        <p:spPr>
          <a:xfrm>
            <a:off x="2569063" y="4800600"/>
            <a:ext cx="546754" cy="182880"/>
          </a:xfrm>
          <a:prstGeom prst="rect">
            <a:avLst/>
          </a:prstGeom>
          <a:noFill/>
        </p:spPr>
        <p:txBody>
          <a:bodyPr wrap="square" lIns="0" rIns="0" tIns="0" bIns="0" anchor="t">
            <a:spAutoFit/>
          </a:bodyPr>
          <a:lstStyle/>
          <a:p>
            <a:pPr algn="l"/>
            <a:r>
              <a:rPr sz="900" b="1" i="0">
                <a:solidFill>
                  <a:srgbClr val="7C3AED"/>
                </a:solidFill>
                <a:latin typeface="Calibri"/>
              </a:rPr>
              <a:t>{{P6_PE}}</a:t>
            </a:r>
          </a:p>
        </p:txBody>
      </p:sp>
      <p:sp>
        <p:nvSpPr>
          <p:cNvPr id="92" name="TextBox 91"/>
          <p:cNvSpPr txBox="1"/>
          <p:nvPr/>
        </p:nvSpPr>
        <p:spPr>
          <a:xfrm>
            <a:off x="685800" y="5074920"/>
            <a:ext cx="668254" cy="182880"/>
          </a:xfrm>
          <a:prstGeom prst="rect">
            <a:avLst/>
          </a:prstGeom>
          <a:noFill/>
        </p:spPr>
        <p:txBody>
          <a:bodyPr wrap="square" lIns="0" rIns="0" tIns="0" bIns="0" anchor="t">
            <a:spAutoFit/>
          </a:bodyPr>
          <a:lstStyle/>
          <a:p>
            <a:pPr algn="l"/>
            <a:r>
              <a:rPr sz="800" b="0" i="0">
                <a:solidFill>
                  <a:srgbClr val="9CA3AF"/>
                </a:solidFill>
                <a:latin typeface="Calibri"/>
              </a:rPr>
              <a:t>P/B</a:t>
            </a:r>
          </a:p>
        </p:txBody>
      </p:sp>
      <p:sp>
        <p:nvSpPr>
          <p:cNvPr id="93" name="TextBox 92"/>
          <p:cNvSpPr txBox="1"/>
          <p:nvPr/>
        </p:nvSpPr>
        <p:spPr>
          <a:xfrm>
            <a:off x="1354054" y="5074920"/>
            <a:ext cx="546754" cy="182880"/>
          </a:xfrm>
          <a:prstGeom prst="rect">
            <a:avLst/>
          </a:prstGeom>
          <a:noFill/>
        </p:spPr>
        <p:txBody>
          <a:bodyPr wrap="square" lIns="0" rIns="0" tIns="0" bIns="0" anchor="t">
            <a:spAutoFit/>
          </a:bodyPr>
          <a:lstStyle/>
          <a:p>
            <a:pPr algn="l"/>
            <a:r>
              <a:rPr sz="900" b="1" i="0">
                <a:solidFill>
                  <a:srgbClr val="7C3AED"/>
                </a:solidFill>
                <a:latin typeface="Calibri"/>
              </a:rPr>
              <a:t>{{P6_PB}}</a:t>
            </a:r>
          </a:p>
        </p:txBody>
      </p:sp>
      <p:sp>
        <p:nvSpPr>
          <p:cNvPr id="94" name="TextBox 93"/>
          <p:cNvSpPr txBox="1"/>
          <p:nvPr/>
        </p:nvSpPr>
        <p:spPr>
          <a:xfrm>
            <a:off x="1900809" y="5074920"/>
            <a:ext cx="668254" cy="182880"/>
          </a:xfrm>
          <a:prstGeom prst="rect">
            <a:avLst/>
          </a:prstGeom>
          <a:noFill/>
        </p:spPr>
        <p:txBody>
          <a:bodyPr wrap="square" lIns="0" rIns="0" tIns="0" bIns="0" anchor="t">
            <a:spAutoFit/>
          </a:bodyPr>
          <a:lstStyle/>
          <a:p>
            <a:pPr algn="l"/>
            <a:r>
              <a:rPr sz="800" b="0" i="0">
                <a:solidFill>
                  <a:srgbClr val="9CA3AF"/>
                </a:solidFill>
                <a:latin typeface="Calibri"/>
              </a:rPr>
              <a:t>ROE</a:t>
            </a:r>
          </a:p>
        </p:txBody>
      </p:sp>
      <p:sp>
        <p:nvSpPr>
          <p:cNvPr id="95" name="TextBox 94"/>
          <p:cNvSpPr txBox="1"/>
          <p:nvPr/>
        </p:nvSpPr>
        <p:spPr>
          <a:xfrm>
            <a:off x="2569063" y="5074920"/>
            <a:ext cx="546754" cy="182880"/>
          </a:xfrm>
          <a:prstGeom prst="rect">
            <a:avLst/>
          </a:prstGeom>
          <a:noFill/>
        </p:spPr>
        <p:txBody>
          <a:bodyPr wrap="square" lIns="0" rIns="0" tIns="0" bIns="0" anchor="t">
            <a:spAutoFit/>
          </a:bodyPr>
          <a:lstStyle/>
          <a:p>
            <a:pPr algn="l"/>
            <a:r>
              <a:rPr sz="900" b="1" i="0">
                <a:solidFill>
                  <a:srgbClr val="7C3AED"/>
                </a:solidFill>
                <a:latin typeface="Calibri"/>
              </a:rPr>
              <a:t>{{P6_ROE}}</a:t>
            </a:r>
          </a:p>
        </p:txBody>
      </p:sp>
      <p:sp>
        <p:nvSpPr>
          <p:cNvPr id="96" name="TextBox 95"/>
          <p:cNvSpPr txBox="1"/>
          <p:nvPr/>
        </p:nvSpPr>
        <p:spPr>
          <a:xfrm>
            <a:off x="685800" y="5349240"/>
            <a:ext cx="668254" cy="182880"/>
          </a:xfrm>
          <a:prstGeom prst="rect">
            <a:avLst/>
          </a:prstGeom>
          <a:noFill/>
        </p:spPr>
        <p:txBody>
          <a:bodyPr wrap="square" lIns="0" rIns="0" tIns="0" bIns="0" anchor="t">
            <a:spAutoFit/>
          </a:bodyPr>
          <a:lstStyle/>
          <a:p>
            <a:pPr algn="l"/>
            <a:r>
              <a:rPr sz="800" b="0" i="0">
                <a:solidFill>
                  <a:srgbClr val="9CA3AF"/>
                </a:solidFill>
                <a:latin typeface="Calibri"/>
              </a:rPr>
              <a:t>ROA</a:t>
            </a:r>
          </a:p>
        </p:txBody>
      </p:sp>
      <p:sp>
        <p:nvSpPr>
          <p:cNvPr id="97" name="TextBox 96"/>
          <p:cNvSpPr txBox="1"/>
          <p:nvPr/>
        </p:nvSpPr>
        <p:spPr>
          <a:xfrm>
            <a:off x="1354054" y="5349240"/>
            <a:ext cx="546754" cy="182880"/>
          </a:xfrm>
          <a:prstGeom prst="rect">
            <a:avLst/>
          </a:prstGeom>
          <a:noFill/>
        </p:spPr>
        <p:txBody>
          <a:bodyPr wrap="square" lIns="0" rIns="0" tIns="0" bIns="0" anchor="t">
            <a:spAutoFit/>
          </a:bodyPr>
          <a:lstStyle/>
          <a:p>
            <a:pPr algn="l"/>
            <a:r>
              <a:rPr sz="900" b="1" i="0">
                <a:solidFill>
                  <a:srgbClr val="7C3AED"/>
                </a:solidFill>
                <a:latin typeface="Calibri"/>
              </a:rPr>
              <a:t>{{P6_ROA}}</a:t>
            </a:r>
          </a:p>
        </p:txBody>
      </p:sp>
      <p:sp>
        <p:nvSpPr>
          <p:cNvPr id="98" name="TextBox 97"/>
          <p:cNvSpPr txBox="1"/>
          <p:nvPr/>
        </p:nvSpPr>
        <p:spPr>
          <a:xfrm>
            <a:off x="1900809" y="5349240"/>
            <a:ext cx="668254" cy="182880"/>
          </a:xfrm>
          <a:prstGeom prst="rect">
            <a:avLst/>
          </a:prstGeom>
          <a:noFill/>
        </p:spPr>
        <p:txBody>
          <a:bodyPr wrap="square" lIns="0" rIns="0" tIns="0" bIns="0" anchor="t">
            <a:spAutoFit/>
          </a:bodyPr>
          <a:lstStyle/>
          <a:p>
            <a:pPr algn="l"/>
            <a:r>
              <a:rPr sz="800" b="0" i="0">
                <a:solidFill>
                  <a:srgbClr val="9CA3AF"/>
                </a:solidFill>
                <a:latin typeface="Calibri"/>
              </a:rPr>
              <a:t>Tăng DT</a:t>
            </a:r>
          </a:p>
        </p:txBody>
      </p:sp>
      <p:sp>
        <p:nvSpPr>
          <p:cNvPr id="99" name="TextBox 98"/>
          <p:cNvSpPr txBox="1"/>
          <p:nvPr/>
        </p:nvSpPr>
        <p:spPr>
          <a:xfrm>
            <a:off x="2569063" y="5349240"/>
            <a:ext cx="546754" cy="182880"/>
          </a:xfrm>
          <a:prstGeom prst="rect">
            <a:avLst/>
          </a:prstGeom>
          <a:noFill/>
        </p:spPr>
        <p:txBody>
          <a:bodyPr wrap="square" lIns="0" rIns="0" tIns="0" bIns="0" anchor="t">
            <a:spAutoFit/>
          </a:bodyPr>
          <a:lstStyle/>
          <a:p>
            <a:pPr algn="l"/>
            <a:r>
              <a:rPr sz="900" b="1" i="0">
                <a:solidFill>
                  <a:srgbClr val="7C3AED"/>
                </a:solidFill>
                <a:latin typeface="Calibri"/>
              </a:rPr>
              <a:t>{{P6_REVGROWTH}}</a:t>
            </a:r>
          </a:p>
        </p:txBody>
      </p:sp>
      <p:sp>
        <p:nvSpPr>
          <p:cNvPr id="100" name="TextBox 99"/>
          <p:cNvSpPr txBox="1"/>
          <p:nvPr/>
        </p:nvSpPr>
        <p:spPr>
          <a:xfrm>
            <a:off x="685800" y="5486400"/>
            <a:ext cx="2475738" cy="228600"/>
          </a:xfrm>
          <a:prstGeom prst="rect">
            <a:avLst/>
          </a:prstGeom>
          <a:noFill/>
        </p:spPr>
        <p:txBody>
          <a:bodyPr wrap="square" lIns="0" rIns="0" tIns="0" bIns="0" anchor="t">
            <a:spAutoFit/>
          </a:bodyPr>
          <a:lstStyle/>
          <a:p>
            <a:pPr algn="l"/>
            <a:r>
              <a:rPr sz="800" b="0" i="1">
                <a:solidFill>
                  <a:srgbClr val="6B7280"/>
                </a:solidFill>
                <a:latin typeface="Calibri"/>
              </a:rPr>
              <a:t>{{P6_NOTE}}</a:t>
            </a:r>
          </a:p>
        </p:txBody>
      </p:sp>
      <p:sp>
        <p:nvSpPr>
          <p:cNvPr id="101" name="Rounded Rectangle 100"/>
          <p:cNvSpPr/>
          <p:nvPr/>
        </p:nvSpPr>
        <p:spPr>
          <a:xfrm>
            <a:off x="3344418" y="4343400"/>
            <a:ext cx="2704338" cy="13716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481578" y="4434840"/>
            <a:ext cx="2475738" cy="320040"/>
          </a:xfrm>
          <a:prstGeom prst="rect">
            <a:avLst/>
          </a:prstGeom>
          <a:noFill/>
        </p:spPr>
        <p:txBody>
          <a:bodyPr wrap="square" lIns="0" rIns="0" tIns="0" bIns="0" anchor="t">
            <a:spAutoFit/>
          </a:bodyPr>
          <a:lstStyle/>
          <a:p>
            <a:pPr algn="l"/>
            <a:r>
              <a:rPr sz="1600" b="1" i="0">
                <a:solidFill>
                  <a:srgbClr val="1F2937"/>
                </a:solidFill>
                <a:latin typeface="Calibri"/>
              </a:rPr>
              <a:t>{{P7_TICKER}}</a:t>
            </a:r>
          </a:p>
        </p:txBody>
      </p:sp>
      <p:sp>
        <p:nvSpPr>
          <p:cNvPr id="103" name="TextBox 102"/>
          <p:cNvSpPr txBox="1"/>
          <p:nvPr/>
        </p:nvSpPr>
        <p:spPr>
          <a:xfrm>
            <a:off x="3481578" y="4800600"/>
            <a:ext cx="668254" cy="182880"/>
          </a:xfrm>
          <a:prstGeom prst="rect">
            <a:avLst/>
          </a:prstGeom>
          <a:noFill/>
        </p:spPr>
        <p:txBody>
          <a:bodyPr wrap="square" lIns="0" rIns="0" tIns="0" bIns="0" anchor="t">
            <a:spAutoFit/>
          </a:bodyPr>
          <a:lstStyle/>
          <a:p>
            <a:pPr algn="l"/>
            <a:r>
              <a:rPr sz="800" b="0" i="0">
                <a:solidFill>
                  <a:srgbClr val="9CA3AF"/>
                </a:solidFill>
                <a:latin typeface="Calibri"/>
              </a:rPr>
              <a:t>Vốn hoá</a:t>
            </a:r>
          </a:p>
        </p:txBody>
      </p:sp>
      <p:sp>
        <p:nvSpPr>
          <p:cNvPr id="104" name="TextBox 103"/>
          <p:cNvSpPr txBox="1"/>
          <p:nvPr/>
        </p:nvSpPr>
        <p:spPr>
          <a:xfrm>
            <a:off x="4149832" y="4800600"/>
            <a:ext cx="546754" cy="182880"/>
          </a:xfrm>
          <a:prstGeom prst="rect">
            <a:avLst/>
          </a:prstGeom>
          <a:noFill/>
        </p:spPr>
        <p:txBody>
          <a:bodyPr wrap="square" lIns="0" rIns="0" tIns="0" bIns="0" anchor="t">
            <a:spAutoFit/>
          </a:bodyPr>
          <a:lstStyle/>
          <a:p>
            <a:pPr algn="l"/>
            <a:r>
              <a:rPr sz="900" b="1" i="0">
                <a:solidFill>
                  <a:srgbClr val="7C3AED"/>
                </a:solidFill>
                <a:latin typeface="Calibri"/>
              </a:rPr>
              <a:t>{{P7_MARKETCAP}}</a:t>
            </a:r>
          </a:p>
        </p:txBody>
      </p:sp>
      <p:sp>
        <p:nvSpPr>
          <p:cNvPr id="105" name="TextBox 104"/>
          <p:cNvSpPr txBox="1"/>
          <p:nvPr/>
        </p:nvSpPr>
        <p:spPr>
          <a:xfrm>
            <a:off x="4696587" y="4800600"/>
            <a:ext cx="668254" cy="182880"/>
          </a:xfrm>
          <a:prstGeom prst="rect">
            <a:avLst/>
          </a:prstGeom>
          <a:noFill/>
        </p:spPr>
        <p:txBody>
          <a:bodyPr wrap="square" lIns="0" rIns="0" tIns="0" bIns="0" anchor="t">
            <a:spAutoFit/>
          </a:bodyPr>
          <a:lstStyle/>
          <a:p>
            <a:pPr algn="l"/>
            <a:r>
              <a:rPr sz="800" b="0" i="0">
                <a:solidFill>
                  <a:srgbClr val="9CA3AF"/>
                </a:solidFill>
                <a:latin typeface="Calibri"/>
              </a:rPr>
              <a:t>P/E</a:t>
            </a:r>
          </a:p>
        </p:txBody>
      </p:sp>
      <p:sp>
        <p:nvSpPr>
          <p:cNvPr id="106" name="TextBox 105"/>
          <p:cNvSpPr txBox="1"/>
          <p:nvPr/>
        </p:nvSpPr>
        <p:spPr>
          <a:xfrm>
            <a:off x="5364841" y="4800600"/>
            <a:ext cx="546754" cy="182880"/>
          </a:xfrm>
          <a:prstGeom prst="rect">
            <a:avLst/>
          </a:prstGeom>
          <a:noFill/>
        </p:spPr>
        <p:txBody>
          <a:bodyPr wrap="square" lIns="0" rIns="0" tIns="0" bIns="0" anchor="t">
            <a:spAutoFit/>
          </a:bodyPr>
          <a:lstStyle/>
          <a:p>
            <a:pPr algn="l"/>
            <a:r>
              <a:rPr sz="900" b="1" i="0">
                <a:solidFill>
                  <a:srgbClr val="7C3AED"/>
                </a:solidFill>
                <a:latin typeface="Calibri"/>
              </a:rPr>
              <a:t>{{P7_PE}}</a:t>
            </a:r>
          </a:p>
        </p:txBody>
      </p:sp>
      <p:sp>
        <p:nvSpPr>
          <p:cNvPr id="107" name="TextBox 106"/>
          <p:cNvSpPr txBox="1"/>
          <p:nvPr/>
        </p:nvSpPr>
        <p:spPr>
          <a:xfrm>
            <a:off x="3481578" y="5074920"/>
            <a:ext cx="668254" cy="182880"/>
          </a:xfrm>
          <a:prstGeom prst="rect">
            <a:avLst/>
          </a:prstGeom>
          <a:noFill/>
        </p:spPr>
        <p:txBody>
          <a:bodyPr wrap="square" lIns="0" rIns="0" tIns="0" bIns="0" anchor="t">
            <a:spAutoFit/>
          </a:bodyPr>
          <a:lstStyle/>
          <a:p>
            <a:pPr algn="l"/>
            <a:r>
              <a:rPr sz="800" b="0" i="0">
                <a:solidFill>
                  <a:srgbClr val="9CA3AF"/>
                </a:solidFill>
                <a:latin typeface="Calibri"/>
              </a:rPr>
              <a:t>P/B</a:t>
            </a:r>
          </a:p>
        </p:txBody>
      </p:sp>
      <p:sp>
        <p:nvSpPr>
          <p:cNvPr id="108" name="TextBox 107"/>
          <p:cNvSpPr txBox="1"/>
          <p:nvPr/>
        </p:nvSpPr>
        <p:spPr>
          <a:xfrm>
            <a:off x="4149832" y="5074920"/>
            <a:ext cx="546754" cy="182880"/>
          </a:xfrm>
          <a:prstGeom prst="rect">
            <a:avLst/>
          </a:prstGeom>
          <a:noFill/>
        </p:spPr>
        <p:txBody>
          <a:bodyPr wrap="square" lIns="0" rIns="0" tIns="0" bIns="0" anchor="t">
            <a:spAutoFit/>
          </a:bodyPr>
          <a:lstStyle/>
          <a:p>
            <a:pPr algn="l"/>
            <a:r>
              <a:rPr sz="900" b="1" i="0">
                <a:solidFill>
                  <a:srgbClr val="7C3AED"/>
                </a:solidFill>
                <a:latin typeface="Calibri"/>
              </a:rPr>
              <a:t>{{P7_PB}}</a:t>
            </a:r>
          </a:p>
        </p:txBody>
      </p:sp>
      <p:sp>
        <p:nvSpPr>
          <p:cNvPr id="109" name="TextBox 108"/>
          <p:cNvSpPr txBox="1"/>
          <p:nvPr/>
        </p:nvSpPr>
        <p:spPr>
          <a:xfrm>
            <a:off x="4696587" y="5074920"/>
            <a:ext cx="668254" cy="182880"/>
          </a:xfrm>
          <a:prstGeom prst="rect">
            <a:avLst/>
          </a:prstGeom>
          <a:noFill/>
        </p:spPr>
        <p:txBody>
          <a:bodyPr wrap="square" lIns="0" rIns="0" tIns="0" bIns="0" anchor="t">
            <a:spAutoFit/>
          </a:bodyPr>
          <a:lstStyle/>
          <a:p>
            <a:pPr algn="l"/>
            <a:r>
              <a:rPr sz="800" b="0" i="0">
                <a:solidFill>
                  <a:srgbClr val="9CA3AF"/>
                </a:solidFill>
                <a:latin typeface="Calibri"/>
              </a:rPr>
              <a:t>ROE</a:t>
            </a:r>
          </a:p>
        </p:txBody>
      </p:sp>
      <p:sp>
        <p:nvSpPr>
          <p:cNvPr id="110" name="TextBox 109"/>
          <p:cNvSpPr txBox="1"/>
          <p:nvPr/>
        </p:nvSpPr>
        <p:spPr>
          <a:xfrm>
            <a:off x="5364841" y="5074920"/>
            <a:ext cx="546754" cy="182880"/>
          </a:xfrm>
          <a:prstGeom prst="rect">
            <a:avLst/>
          </a:prstGeom>
          <a:noFill/>
        </p:spPr>
        <p:txBody>
          <a:bodyPr wrap="square" lIns="0" rIns="0" tIns="0" bIns="0" anchor="t">
            <a:spAutoFit/>
          </a:bodyPr>
          <a:lstStyle/>
          <a:p>
            <a:pPr algn="l"/>
            <a:r>
              <a:rPr sz="900" b="1" i="0">
                <a:solidFill>
                  <a:srgbClr val="7C3AED"/>
                </a:solidFill>
                <a:latin typeface="Calibri"/>
              </a:rPr>
              <a:t>{{P7_ROE}}</a:t>
            </a:r>
          </a:p>
        </p:txBody>
      </p:sp>
      <p:sp>
        <p:nvSpPr>
          <p:cNvPr id="111" name="TextBox 110"/>
          <p:cNvSpPr txBox="1"/>
          <p:nvPr/>
        </p:nvSpPr>
        <p:spPr>
          <a:xfrm>
            <a:off x="3481578" y="5349240"/>
            <a:ext cx="668254" cy="182880"/>
          </a:xfrm>
          <a:prstGeom prst="rect">
            <a:avLst/>
          </a:prstGeom>
          <a:noFill/>
        </p:spPr>
        <p:txBody>
          <a:bodyPr wrap="square" lIns="0" rIns="0" tIns="0" bIns="0" anchor="t">
            <a:spAutoFit/>
          </a:bodyPr>
          <a:lstStyle/>
          <a:p>
            <a:pPr algn="l"/>
            <a:r>
              <a:rPr sz="800" b="0" i="0">
                <a:solidFill>
                  <a:srgbClr val="9CA3AF"/>
                </a:solidFill>
                <a:latin typeface="Calibri"/>
              </a:rPr>
              <a:t>ROA</a:t>
            </a:r>
          </a:p>
        </p:txBody>
      </p:sp>
      <p:sp>
        <p:nvSpPr>
          <p:cNvPr id="112" name="TextBox 111"/>
          <p:cNvSpPr txBox="1"/>
          <p:nvPr/>
        </p:nvSpPr>
        <p:spPr>
          <a:xfrm>
            <a:off x="4149832" y="5349240"/>
            <a:ext cx="546754" cy="182880"/>
          </a:xfrm>
          <a:prstGeom prst="rect">
            <a:avLst/>
          </a:prstGeom>
          <a:noFill/>
        </p:spPr>
        <p:txBody>
          <a:bodyPr wrap="square" lIns="0" rIns="0" tIns="0" bIns="0" anchor="t">
            <a:spAutoFit/>
          </a:bodyPr>
          <a:lstStyle/>
          <a:p>
            <a:pPr algn="l"/>
            <a:r>
              <a:rPr sz="900" b="1" i="0">
                <a:solidFill>
                  <a:srgbClr val="7C3AED"/>
                </a:solidFill>
                <a:latin typeface="Calibri"/>
              </a:rPr>
              <a:t>{{P7_ROA}}</a:t>
            </a:r>
          </a:p>
        </p:txBody>
      </p:sp>
      <p:sp>
        <p:nvSpPr>
          <p:cNvPr id="113" name="TextBox 112"/>
          <p:cNvSpPr txBox="1"/>
          <p:nvPr/>
        </p:nvSpPr>
        <p:spPr>
          <a:xfrm>
            <a:off x="4696587" y="5349240"/>
            <a:ext cx="668254" cy="182880"/>
          </a:xfrm>
          <a:prstGeom prst="rect">
            <a:avLst/>
          </a:prstGeom>
          <a:noFill/>
        </p:spPr>
        <p:txBody>
          <a:bodyPr wrap="square" lIns="0" rIns="0" tIns="0" bIns="0" anchor="t">
            <a:spAutoFit/>
          </a:bodyPr>
          <a:lstStyle/>
          <a:p>
            <a:pPr algn="l"/>
            <a:r>
              <a:rPr sz="800" b="0" i="0">
                <a:solidFill>
                  <a:srgbClr val="9CA3AF"/>
                </a:solidFill>
                <a:latin typeface="Calibri"/>
              </a:rPr>
              <a:t>Tăng DT</a:t>
            </a:r>
          </a:p>
        </p:txBody>
      </p:sp>
      <p:sp>
        <p:nvSpPr>
          <p:cNvPr id="114" name="TextBox 113"/>
          <p:cNvSpPr txBox="1"/>
          <p:nvPr/>
        </p:nvSpPr>
        <p:spPr>
          <a:xfrm>
            <a:off x="5364841" y="5349240"/>
            <a:ext cx="546754" cy="182880"/>
          </a:xfrm>
          <a:prstGeom prst="rect">
            <a:avLst/>
          </a:prstGeom>
          <a:noFill/>
        </p:spPr>
        <p:txBody>
          <a:bodyPr wrap="square" lIns="0" rIns="0" tIns="0" bIns="0" anchor="t">
            <a:spAutoFit/>
          </a:bodyPr>
          <a:lstStyle/>
          <a:p>
            <a:pPr algn="l"/>
            <a:r>
              <a:rPr sz="900" b="1" i="0">
                <a:solidFill>
                  <a:srgbClr val="7C3AED"/>
                </a:solidFill>
                <a:latin typeface="Calibri"/>
              </a:rPr>
              <a:t>{{P7_REVGROWTH}}</a:t>
            </a:r>
          </a:p>
        </p:txBody>
      </p:sp>
      <p:sp>
        <p:nvSpPr>
          <p:cNvPr id="115" name="TextBox 114"/>
          <p:cNvSpPr txBox="1"/>
          <p:nvPr/>
        </p:nvSpPr>
        <p:spPr>
          <a:xfrm>
            <a:off x="3481578" y="5486400"/>
            <a:ext cx="2475738" cy="228600"/>
          </a:xfrm>
          <a:prstGeom prst="rect">
            <a:avLst/>
          </a:prstGeom>
          <a:noFill/>
        </p:spPr>
        <p:txBody>
          <a:bodyPr wrap="square" lIns="0" rIns="0" tIns="0" bIns="0" anchor="t">
            <a:spAutoFit/>
          </a:bodyPr>
          <a:lstStyle/>
          <a:p>
            <a:pPr algn="l"/>
            <a:r>
              <a:rPr sz="800" b="0" i="1">
                <a:solidFill>
                  <a:srgbClr val="6B7280"/>
                </a:solidFill>
                <a:latin typeface="Calibri"/>
              </a:rPr>
              <a:t>{{P7_NOTE}}</a:t>
            </a:r>
          </a:p>
        </p:txBody>
      </p:sp>
      <p:sp>
        <p:nvSpPr>
          <p:cNvPr id="116" name="Rounded Rectangle 115"/>
          <p:cNvSpPr/>
          <p:nvPr/>
        </p:nvSpPr>
        <p:spPr>
          <a:xfrm>
            <a:off x="6140196" y="4343400"/>
            <a:ext cx="2704338" cy="13716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77356" y="4434840"/>
            <a:ext cx="2475738" cy="320040"/>
          </a:xfrm>
          <a:prstGeom prst="rect">
            <a:avLst/>
          </a:prstGeom>
          <a:noFill/>
        </p:spPr>
        <p:txBody>
          <a:bodyPr wrap="square" lIns="0" rIns="0" tIns="0" bIns="0" anchor="t">
            <a:spAutoFit/>
          </a:bodyPr>
          <a:lstStyle/>
          <a:p>
            <a:pPr algn="l"/>
            <a:r>
              <a:rPr sz="1600" b="1" i="0">
                <a:solidFill>
                  <a:srgbClr val="1F2937"/>
                </a:solidFill>
                <a:latin typeface="Calibri"/>
              </a:rPr>
              <a:t>{{P8_TICKER}}</a:t>
            </a:r>
          </a:p>
        </p:txBody>
      </p:sp>
      <p:sp>
        <p:nvSpPr>
          <p:cNvPr id="118" name="TextBox 117"/>
          <p:cNvSpPr txBox="1"/>
          <p:nvPr/>
        </p:nvSpPr>
        <p:spPr>
          <a:xfrm>
            <a:off x="6277356" y="4800600"/>
            <a:ext cx="668254" cy="182880"/>
          </a:xfrm>
          <a:prstGeom prst="rect">
            <a:avLst/>
          </a:prstGeom>
          <a:noFill/>
        </p:spPr>
        <p:txBody>
          <a:bodyPr wrap="square" lIns="0" rIns="0" tIns="0" bIns="0" anchor="t">
            <a:spAutoFit/>
          </a:bodyPr>
          <a:lstStyle/>
          <a:p>
            <a:pPr algn="l"/>
            <a:r>
              <a:rPr sz="800" b="0" i="0">
                <a:solidFill>
                  <a:srgbClr val="9CA3AF"/>
                </a:solidFill>
                <a:latin typeface="Calibri"/>
              </a:rPr>
              <a:t>Vốn hoá</a:t>
            </a:r>
          </a:p>
        </p:txBody>
      </p:sp>
      <p:sp>
        <p:nvSpPr>
          <p:cNvPr id="119" name="TextBox 118"/>
          <p:cNvSpPr txBox="1"/>
          <p:nvPr/>
        </p:nvSpPr>
        <p:spPr>
          <a:xfrm>
            <a:off x="6945610" y="4800600"/>
            <a:ext cx="546754" cy="182880"/>
          </a:xfrm>
          <a:prstGeom prst="rect">
            <a:avLst/>
          </a:prstGeom>
          <a:noFill/>
        </p:spPr>
        <p:txBody>
          <a:bodyPr wrap="square" lIns="0" rIns="0" tIns="0" bIns="0" anchor="t">
            <a:spAutoFit/>
          </a:bodyPr>
          <a:lstStyle/>
          <a:p>
            <a:pPr algn="l"/>
            <a:r>
              <a:rPr sz="900" b="1" i="0">
                <a:solidFill>
                  <a:srgbClr val="7C3AED"/>
                </a:solidFill>
                <a:latin typeface="Calibri"/>
              </a:rPr>
              <a:t>{{P8_MARKETCAP}}</a:t>
            </a:r>
          </a:p>
        </p:txBody>
      </p:sp>
      <p:sp>
        <p:nvSpPr>
          <p:cNvPr id="120" name="TextBox 119"/>
          <p:cNvSpPr txBox="1"/>
          <p:nvPr/>
        </p:nvSpPr>
        <p:spPr>
          <a:xfrm>
            <a:off x="7492365" y="4800600"/>
            <a:ext cx="668254" cy="182880"/>
          </a:xfrm>
          <a:prstGeom prst="rect">
            <a:avLst/>
          </a:prstGeom>
          <a:noFill/>
        </p:spPr>
        <p:txBody>
          <a:bodyPr wrap="square" lIns="0" rIns="0" tIns="0" bIns="0" anchor="t">
            <a:spAutoFit/>
          </a:bodyPr>
          <a:lstStyle/>
          <a:p>
            <a:pPr algn="l"/>
            <a:r>
              <a:rPr sz="800" b="0" i="0">
                <a:solidFill>
                  <a:srgbClr val="9CA3AF"/>
                </a:solidFill>
                <a:latin typeface="Calibri"/>
              </a:rPr>
              <a:t>P/E</a:t>
            </a:r>
          </a:p>
        </p:txBody>
      </p:sp>
      <p:sp>
        <p:nvSpPr>
          <p:cNvPr id="121" name="TextBox 120"/>
          <p:cNvSpPr txBox="1"/>
          <p:nvPr/>
        </p:nvSpPr>
        <p:spPr>
          <a:xfrm>
            <a:off x="8160619" y="4800600"/>
            <a:ext cx="546754" cy="182880"/>
          </a:xfrm>
          <a:prstGeom prst="rect">
            <a:avLst/>
          </a:prstGeom>
          <a:noFill/>
        </p:spPr>
        <p:txBody>
          <a:bodyPr wrap="square" lIns="0" rIns="0" tIns="0" bIns="0" anchor="t">
            <a:spAutoFit/>
          </a:bodyPr>
          <a:lstStyle/>
          <a:p>
            <a:pPr algn="l"/>
            <a:r>
              <a:rPr sz="900" b="1" i="0">
                <a:solidFill>
                  <a:srgbClr val="7C3AED"/>
                </a:solidFill>
                <a:latin typeface="Calibri"/>
              </a:rPr>
              <a:t>{{P8_PE}}</a:t>
            </a:r>
          </a:p>
        </p:txBody>
      </p:sp>
      <p:sp>
        <p:nvSpPr>
          <p:cNvPr id="122" name="TextBox 121"/>
          <p:cNvSpPr txBox="1"/>
          <p:nvPr/>
        </p:nvSpPr>
        <p:spPr>
          <a:xfrm>
            <a:off x="6277356" y="5074920"/>
            <a:ext cx="668254" cy="182880"/>
          </a:xfrm>
          <a:prstGeom prst="rect">
            <a:avLst/>
          </a:prstGeom>
          <a:noFill/>
        </p:spPr>
        <p:txBody>
          <a:bodyPr wrap="square" lIns="0" rIns="0" tIns="0" bIns="0" anchor="t">
            <a:spAutoFit/>
          </a:bodyPr>
          <a:lstStyle/>
          <a:p>
            <a:pPr algn="l"/>
            <a:r>
              <a:rPr sz="800" b="0" i="0">
                <a:solidFill>
                  <a:srgbClr val="9CA3AF"/>
                </a:solidFill>
                <a:latin typeface="Calibri"/>
              </a:rPr>
              <a:t>P/B</a:t>
            </a:r>
          </a:p>
        </p:txBody>
      </p:sp>
      <p:sp>
        <p:nvSpPr>
          <p:cNvPr id="123" name="TextBox 122"/>
          <p:cNvSpPr txBox="1"/>
          <p:nvPr/>
        </p:nvSpPr>
        <p:spPr>
          <a:xfrm>
            <a:off x="6945610" y="5074920"/>
            <a:ext cx="546754" cy="182880"/>
          </a:xfrm>
          <a:prstGeom prst="rect">
            <a:avLst/>
          </a:prstGeom>
          <a:noFill/>
        </p:spPr>
        <p:txBody>
          <a:bodyPr wrap="square" lIns="0" rIns="0" tIns="0" bIns="0" anchor="t">
            <a:spAutoFit/>
          </a:bodyPr>
          <a:lstStyle/>
          <a:p>
            <a:pPr algn="l"/>
            <a:r>
              <a:rPr sz="900" b="1" i="0">
                <a:solidFill>
                  <a:srgbClr val="7C3AED"/>
                </a:solidFill>
                <a:latin typeface="Calibri"/>
              </a:rPr>
              <a:t>{{P8_PB}}</a:t>
            </a:r>
          </a:p>
        </p:txBody>
      </p:sp>
      <p:sp>
        <p:nvSpPr>
          <p:cNvPr id="124" name="TextBox 123"/>
          <p:cNvSpPr txBox="1"/>
          <p:nvPr/>
        </p:nvSpPr>
        <p:spPr>
          <a:xfrm>
            <a:off x="7492365" y="5074920"/>
            <a:ext cx="668254" cy="182880"/>
          </a:xfrm>
          <a:prstGeom prst="rect">
            <a:avLst/>
          </a:prstGeom>
          <a:noFill/>
        </p:spPr>
        <p:txBody>
          <a:bodyPr wrap="square" lIns="0" rIns="0" tIns="0" bIns="0" anchor="t">
            <a:spAutoFit/>
          </a:bodyPr>
          <a:lstStyle/>
          <a:p>
            <a:pPr algn="l"/>
            <a:r>
              <a:rPr sz="800" b="0" i="0">
                <a:solidFill>
                  <a:srgbClr val="9CA3AF"/>
                </a:solidFill>
                <a:latin typeface="Calibri"/>
              </a:rPr>
              <a:t>ROE</a:t>
            </a:r>
          </a:p>
        </p:txBody>
      </p:sp>
      <p:sp>
        <p:nvSpPr>
          <p:cNvPr id="125" name="TextBox 124"/>
          <p:cNvSpPr txBox="1"/>
          <p:nvPr/>
        </p:nvSpPr>
        <p:spPr>
          <a:xfrm>
            <a:off x="8160619" y="5074920"/>
            <a:ext cx="546754" cy="182880"/>
          </a:xfrm>
          <a:prstGeom prst="rect">
            <a:avLst/>
          </a:prstGeom>
          <a:noFill/>
        </p:spPr>
        <p:txBody>
          <a:bodyPr wrap="square" lIns="0" rIns="0" tIns="0" bIns="0" anchor="t">
            <a:spAutoFit/>
          </a:bodyPr>
          <a:lstStyle/>
          <a:p>
            <a:pPr algn="l"/>
            <a:r>
              <a:rPr sz="900" b="1" i="0">
                <a:solidFill>
                  <a:srgbClr val="7C3AED"/>
                </a:solidFill>
                <a:latin typeface="Calibri"/>
              </a:rPr>
              <a:t>{{P8_ROE}}</a:t>
            </a:r>
          </a:p>
        </p:txBody>
      </p:sp>
      <p:sp>
        <p:nvSpPr>
          <p:cNvPr id="126" name="TextBox 125"/>
          <p:cNvSpPr txBox="1"/>
          <p:nvPr/>
        </p:nvSpPr>
        <p:spPr>
          <a:xfrm>
            <a:off x="6277356" y="5349240"/>
            <a:ext cx="668254" cy="182880"/>
          </a:xfrm>
          <a:prstGeom prst="rect">
            <a:avLst/>
          </a:prstGeom>
          <a:noFill/>
        </p:spPr>
        <p:txBody>
          <a:bodyPr wrap="square" lIns="0" rIns="0" tIns="0" bIns="0" anchor="t">
            <a:spAutoFit/>
          </a:bodyPr>
          <a:lstStyle/>
          <a:p>
            <a:pPr algn="l"/>
            <a:r>
              <a:rPr sz="800" b="0" i="0">
                <a:solidFill>
                  <a:srgbClr val="9CA3AF"/>
                </a:solidFill>
                <a:latin typeface="Calibri"/>
              </a:rPr>
              <a:t>ROA</a:t>
            </a:r>
          </a:p>
        </p:txBody>
      </p:sp>
      <p:sp>
        <p:nvSpPr>
          <p:cNvPr id="127" name="TextBox 126"/>
          <p:cNvSpPr txBox="1"/>
          <p:nvPr/>
        </p:nvSpPr>
        <p:spPr>
          <a:xfrm>
            <a:off x="6945610" y="5349240"/>
            <a:ext cx="546754" cy="182880"/>
          </a:xfrm>
          <a:prstGeom prst="rect">
            <a:avLst/>
          </a:prstGeom>
          <a:noFill/>
        </p:spPr>
        <p:txBody>
          <a:bodyPr wrap="square" lIns="0" rIns="0" tIns="0" bIns="0" anchor="t">
            <a:spAutoFit/>
          </a:bodyPr>
          <a:lstStyle/>
          <a:p>
            <a:pPr algn="l"/>
            <a:r>
              <a:rPr sz="900" b="1" i="0">
                <a:solidFill>
                  <a:srgbClr val="7C3AED"/>
                </a:solidFill>
                <a:latin typeface="Calibri"/>
              </a:rPr>
              <a:t>{{P8_ROA}}</a:t>
            </a:r>
          </a:p>
        </p:txBody>
      </p:sp>
      <p:sp>
        <p:nvSpPr>
          <p:cNvPr id="128" name="TextBox 127"/>
          <p:cNvSpPr txBox="1"/>
          <p:nvPr/>
        </p:nvSpPr>
        <p:spPr>
          <a:xfrm>
            <a:off x="7492365" y="5349240"/>
            <a:ext cx="668254" cy="182880"/>
          </a:xfrm>
          <a:prstGeom prst="rect">
            <a:avLst/>
          </a:prstGeom>
          <a:noFill/>
        </p:spPr>
        <p:txBody>
          <a:bodyPr wrap="square" lIns="0" rIns="0" tIns="0" bIns="0" anchor="t">
            <a:spAutoFit/>
          </a:bodyPr>
          <a:lstStyle/>
          <a:p>
            <a:pPr algn="l"/>
            <a:r>
              <a:rPr sz="800" b="0" i="0">
                <a:solidFill>
                  <a:srgbClr val="9CA3AF"/>
                </a:solidFill>
                <a:latin typeface="Calibri"/>
              </a:rPr>
              <a:t>Tăng DT</a:t>
            </a:r>
          </a:p>
        </p:txBody>
      </p:sp>
      <p:sp>
        <p:nvSpPr>
          <p:cNvPr id="129" name="TextBox 128"/>
          <p:cNvSpPr txBox="1"/>
          <p:nvPr/>
        </p:nvSpPr>
        <p:spPr>
          <a:xfrm>
            <a:off x="8160619" y="5349240"/>
            <a:ext cx="546754" cy="182880"/>
          </a:xfrm>
          <a:prstGeom prst="rect">
            <a:avLst/>
          </a:prstGeom>
          <a:noFill/>
        </p:spPr>
        <p:txBody>
          <a:bodyPr wrap="square" lIns="0" rIns="0" tIns="0" bIns="0" anchor="t">
            <a:spAutoFit/>
          </a:bodyPr>
          <a:lstStyle/>
          <a:p>
            <a:pPr algn="l"/>
            <a:r>
              <a:rPr sz="900" b="1" i="0">
                <a:solidFill>
                  <a:srgbClr val="7C3AED"/>
                </a:solidFill>
                <a:latin typeface="Calibri"/>
              </a:rPr>
              <a:t>{{P8_REVGROWTH}}</a:t>
            </a:r>
          </a:p>
        </p:txBody>
      </p:sp>
      <p:sp>
        <p:nvSpPr>
          <p:cNvPr id="130" name="TextBox 129"/>
          <p:cNvSpPr txBox="1"/>
          <p:nvPr/>
        </p:nvSpPr>
        <p:spPr>
          <a:xfrm>
            <a:off x="6277356" y="5486400"/>
            <a:ext cx="2475738" cy="228600"/>
          </a:xfrm>
          <a:prstGeom prst="rect">
            <a:avLst/>
          </a:prstGeom>
          <a:noFill/>
        </p:spPr>
        <p:txBody>
          <a:bodyPr wrap="square" lIns="0" rIns="0" tIns="0" bIns="0" anchor="t">
            <a:spAutoFit/>
          </a:bodyPr>
          <a:lstStyle/>
          <a:p>
            <a:pPr algn="l"/>
            <a:r>
              <a:rPr sz="800" b="0" i="1">
                <a:solidFill>
                  <a:srgbClr val="6B7280"/>
                </a:solidFill>
                <a:latin typeface="Calibri"/>
              </a:rPr>
              <a:t>{{P8_NOTE}}</a:t>
            </a:r>
          </a:p>
        </p:txBody>
      </p:sp>
      <p:sp>
        <p:nvSpPr>
          <p:cNvPr id="131" name="Rounded Rectangle 130"/>
          <p:cNvSpPr/>
          <p:nvPr/>
        </p:nvSpPr>
        <p:spPr>
          <a:xfrm>
            <a:off x="548640" y="5852160"/>
            <a:ext cx="11091672" cy="50292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548640" y="5852160"/>
            <a:ext cx="11091672" cy="502920"/>
          </a:xfrm>
          <a:prstGeom prst="rect">
            <a:avLst/>
          </a:prstGeom>
          <a:noFill/>
        </p:spPr>
        <p:txBody>
          <a:bodyPr wrap="square" lIns="0" rIns="0" tIns="0" bIns="0" anchor="ctr">
            <a:spAutoFit/>
          </a:bodyPr>
          <a:lstStyle/>
          <a:p>
            <a:pPr algn="ctr"/>
            <a:r>
              <a:rPr sz="1200" b="1" i="1">
                <a:solidFill>
                  <a:srgbClr val="FFFFFF"/>
                </a:solidFill>
                <a:latin typeface="Calibri"/>
              </a:rPr>
              <a:t>{{PEER_VERDICT}}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name="MINI_CHARTS_2X2">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7315200" cy="498348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325880"/>
            <a:ext cx="7315200" cy="41148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25880"/>
            <a:ext cx="5943600" cy="411480"/>
          </a:xfrm>
          <a:prstGeom prst="rect">
            <a:avLst/>
          </a:prstGeom>
          <a:noFill/>
        </p:spPr>
        <p:txBody>
          <a:bodyPr wrap="square" lIns="0" rIns="0" tIns="0" bIns="0" anchor="ctr">
            <a:spAutoFit/>
          </a:bodyPr>
          <a:lstStyle/>
          <a:p>
            <a:pPr algn="l"/>
            <a:r>
              <a:rPr sz="1200" b="1" i="0">
                <a:solidFill>
                  <a:srgbClr val="FFFFFF"/>
                </a:solidFill>
                <a:latin typeface="Calibri"/>
              </a:rPr>
              <a:t>{{CHART_1_TITLE}}</a:t>
            </a:r>
          </a:p>
        </p:txBody>
      </p:sp>
      <p:sp>
        <p:nvSpPr>
          <p:cNvPr id="12" name="TextBox 11"/>
          <p:cNvSpPr txBox="1"/>
          <p:nvPr/>
        </p:nvSpPr>
        <p:spPr>
          <a:xfrm>
            <a:off x="6675120" y="1325880"/>
            <a:ext cx="1005840" cy="411480"/>
          </a:xfrm>
          <a:prstGeom prst="rect">
            <a:avLst/>
          </a:prstGeom>
          <a:noFill/>
        </p:spPr>
        <p:txBody>
          <a:bodyPr wrap="square" lIns="0" rIns="0" tIns="0" bIns="0" anchor="ctr">
            <a:spAutoFit/>
          </a:bodyPr>
          <a:lstStyle/>
          <a:p>
            <a:pPr algn="r"/>
            <a:r>
              <a:rPr sz="1000" b="0" i="1">
                <a:solidFill>
                  <a:srgbClr val="FFFFFF"/>
                </a:solidFill>
                <a:latin typeface="Calibri"/>
              </a:rPr>
              <a:t>{{CHART_1_UNIT}}</a:t>
            </a:r>
          </a:p>
        </p:txBody>
      </p:sp>
      <p:sp>
        <p:nvSpPr>
          <p:cNvPr id="13" name="Rounded Rectangle 12"/>
          <p:cNvSpPr/>
          <p:nvPr/>
        </p:nvSpPr>
        <p:spPr>
          <a:xfrm>
            <a:off x="731520" y="1828800"/>
            <a:ext cx="6949440" cy="3886200"/>
          </a:xfrm>
          <a:prstGeom prst="roundRect">
            <a:avLst>
              <a:gd name="adj" fmla="val 8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828800"/>
            <a:ext cx="6949440" cy="3886200"/>
          </a:xfrm>
          <a:prstGeom prst="rect">
            <a:avLst/>
          </a:prstGeom>
          <a:noFill/>
        </p:spPr>
        <p:txBody>
          <a:bodyPr wrap="square" lIns="0" rIns="0" tIns="0" bIns="0" anchor="ctr">
            <a:spAutoFit/>
          </a:bodyPr>
          <a:lstStyle/>
          <a:p>
            <a:pPr algn="ctr"/>
            <a:r>
              <a:rPr sz="1100" b="0" i="1">
                <a:solidFill>
                  <a:srgbClr val="9CA3AF"/>
                </a:solidFill>
                <a:latin typeface="Calibri"/>
              </a:rPr>
              <a:t>{{CHART_1_PLACEHOLDER}}</a:t>
            </a:r>
          </a:p>
        </p:txBody>
      </p:sp>
      <p:sp>
        <p:nvSpPr>
          <p:cNvPr id="15" name="TextBox 14"/>
          <p:cNvSpPr txBox="1"/>
          <p:nvPr/>
        </p:nvSpPr>
        <p:spPr>
          <a:xfrm>
            <a:off x="731520" y="5852160"/>
            <a:ext cx="3657600" cy="365760"/>
          </a:xfrm>
          <a:prstGeom prst="rect">
            <a:avLst/>
          </a:prstGeom>
          <a:noFill/>
        </p:spPr>
        <p:txBody>
          <a:bodyPr wrap="square" lIns="0" rIns="0" tIns="0" bIns="0" anchor="ctr">
            <a:spAutoFit/>
          </a:bodyPr>
          <a:lstStyle/>
          <a:p>
            <a:pPr algn="l"/>
            <a:r>
              <a:rPr sz="1800" b="1" i="0">
                <a:solidFill>
                  <a:srgbClr val="7C3AED"/>
                </a:solidFill>
                <a:latin typeface="Calibri"/>
              </a:rPr>
              <a:t>{{CHART_1_LATEST}}</a:t>
            </a:r>
          </a:p>
        </p:txBody>
      </p:sp>
      <p:sp>
        <p:nvSpPr>
          <p:cNvPr id="16" name="TextBox 15"/>
          <p:cNvSpPr txBox="1"/>
          <p:nvPr/>
        </p:nvSpPr>
        <p:spPr>
          <a:xfrm>
            <a:off x="4480559" y="5852160"/>
            <a:ext cx="3200400" cy="365760"/>
          </a:xfrm>
          <a:prstGeom prst="rect">
            <a:avLst/>
          </a:prstGeom>
          <a:noFill/>
        </p:spPr>
        <p:txBody>
          <a:bodyPr wrap="square" lIns="0" rIns="0" tIns="0" bIns="0" anchor="ctr">
            <a:spAutoFit/>
          </a:bodyPr>
          <a:lstStyle/>
          <a:p>
            <a:pPr algn="l"/>
            <a:r>
              <a:rPr sz="1400" b="0" i="0">
                <a:solidFill>
                  <a:srgbClr val="25B770"/>
                </a:solidFill>
                <a:latin typeface="Calibri"/>
              </a:rPr>
              <a:t>{{CHART_1_CHANGE}}</a:t>
            </a:r>
          </a:p>
        </p:txBody>
      </p:sp>
      <p:sp>
        <p:nvSpPr>
          <p:cNvPr id="17" name="Rounded Rectangle 16"/>
          <p:cNvSpPr/>
          <p:nvPr/>
        </p:nvSpPr>
        <p:spPr>
          <a:xfrm>
            <a:off x="8001000" y="1325880"/>
            <a:ext cx="3639312" cy="1600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01000" y="1325880"/>
            <a:ext cx="3639312" cy="27432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1325880"/>
            <a:ext cx="3364992" cy="274320"/>
          </a:xfrm>
          <a:prstGeom prst="rect">
            <a:avLst/>
          </a:prstGeom>
          <a:noFill/>
        </p:spPr>
        <p:txBody>
          <a:bodyPr wrap="square" lIns="0" rIns="0" tIns="0" bIns="0" anchor="ctr">
            <a:spAutoFit/>
          </a:bodyPr>
          <a:lstStyle/>
          <a:p>
            <a:pPr algn="l"/>
            <a:r>
              <a:rPr sz="1000" b="1" i="0">
                <a:solidFill>
                  <a:srgbClr val="FFFFFF"/>
                </a:solidFill>
                <a:latin typeface="Calibri"/>
              </a:rPr>
              <a:t>{{CHART_2_TITLE}}</a:t>
            </a:r>
          </a:p>
        </p:txBody>
      </p:sp>
      <p:sp>
        <p:nvSpPr>
          <p:cNvPr id="20" name="Rounded Rectangle 19"/>
          <p:cNvSpPr/>
          <p:nvPr/>
        </p:nvSpPr>
        <p:spPr>
          <a:xfrm>
            <a:off x="8138160" y="1645919"/>
            <a:ext cx="3364992" cy="731520"/>
          </a:xfrm>
          <a:prstGeom prst="roundRect">
            <a:avLst>
              <a:gd name="adj" fmla="val 6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1645919"/>
            <a:ext cx="3364992" cy="731520"/>
          </a:xfrm>
          <a:prstGeom prst="rect">
            <a:avLst/>
          </a:prstGeom>
          <a:noFill/>
        </p:spPr>
        <p:txBody>
          <a:bodyPr wrap="square" lIns="0" rIns="0" tIns="0" bIns="0" anchor="ctr">
            <a:spAutoFit/>
          </a:bodyPr>
          <a:lstStyle/>
          <a:p>
            <a:pPr algn="ctr"/>
            <a:r>
              <a:rPr sz="900" b="0" i="1">
                <a:solidFill>
                  <a:srgbClr val="9CA3AF"/>
                </a:solidFill>
                <a:latin typeface="Calibri"/>
              </a:rPr>
              <a:t>{{CHART_2_PLACEHOLDER}}</a:t>
            </a:r>
          </a:p>
        </p:txBody>
      </p:sp>
      <p:sp>
        <p:nvSpPr>
          <p:cNvPr id="22" name="TextBox 21"/>
          <p:cNvSpPr txBox="1"/>
          <p:nvPr/>
        </p:nvSpPr>
        <p:spPr>
          <a:xfrm>
            <a:off x="8138160" y="2514600"/>
            <a:ext cx="1091793" cy="182880"/>
          </a:xfrm>
          <a:prstGeom prst="rect">
            <a:avLst/>
          </a:prstGeom>
          <a:noFill/>
        </p:spPr>
        <p:txBody>
          <a:bodyPr wrap="square" lIns="0" rIns="0" tIns="0" bIns="0" anchor="t">
            <a:spAutoFit/>
          </a:bodyPr>
          <a:lstStyle/>
          <a:p>
            <a:pPr algn="l"/>
            <a:r>
              <a:rPr sz="800" b="0" i="1">
                <a:solidFill>
                  <a:srgbClr val="9CA3AF"/>
                </a:solidFill>
                <a:latin typeface="Calibri"/>
              </a:rPr>
              <a:t>{{CHART_2_UNIT}}</a:t>
            </a:r>
          </a:p>
        </p:txBody>
      </p:sp>
      <p:sp>
        <p:nvSpPr>
          <p:cNvPr id="23" name="TextBox 22"/>
          <p:cNvSpPr txBox="1"/>
          <p:nvPr/>
        </p:nvSpPr>
        <p:spPr>
          <a:xfrm>
            <a:off x="8138160" y="2679192"/>
            <a:ext cx="2001621" cy="228600"/>
          </a:xfrm>
          <a:prstGeom prst="rect">
            <a:avLst/>
          </a:prstGeom>
          <a:noFill/>
        </p:spPr>
        <p:txBody>
          <a:bodyPr wrap="square" lIns="0" rIns="0" tIns="0" bIns="0" anchor="t">
            <a:spAutoFit/>
          </a:bodyPr>
          <a:lstStyle/>
          <a:p>
            <a:pPr algn="l"/>
            <a:r>
              <a:rPr sz="1200" b="1" i="0">
                <a:solidFill>
                  <a:srgbClr val="7C3AED"/>
                </a:solidFill>
                <a:latin typeface="Calibri"/>
              </a:rPr>
              <a:t>{{CHART_2_LATEST}}</a:t>
            </a:r>
          </a:p>
        </p:txBody>
      </p:sp>
      <p:sp>
        <p:nvSpPr>
          <p:cNvPr id="24" name="TextBox 23"/>
          <p:cNvSpPr txBox="1"/>
          <p:nvPr/>
        </p:nvSpPr>
        <p:spPr>
          <a:xfrm>
            <a:off x="10139781" y="2679192"/>
            <a:ext cx="1455724" cy="228600"/>
          </a:xfrm>
          <a:prstGeom prst="rect">
            <a:avLst/>
          </a:prstGeom>
          <a:noFill/>
        </p:spPr>
        <p:txBody>
          <a:bodyPr wrap="square" lIns="0" rIns="0" tIns="0" bIns="0" anchor="t">
            <a:spAutoFit/>
          </a:bodyPr>
          <a:lstStyle/>
          <a:p>
            <a:pPr algn="l"/>
            <a:r>
              <a:rPr sz="1000" b="0" i="0">
                <a:solidFill>
                  <a:srgbClr val="25B770"/>
                </a:solidFill>
                <a:latin typeface="Calibri"/>
              </a:rPr>
              <a:t>{{CHART_2_CHANGE}}</a:t>
            </a:r>
          </a:p>
        </p:txBody>
      </p:sp>
      <p:sp>
        <p:nvSpPr>
          <p:cNvPr id="25" name="Rounded Rectangle 24"/>
          <p:cNvSpPr/>
          <p:nvPr/>
        </p:nvSpPr>
        <p:spPr>
          <a:xfrm>
            <a:off x="8001000" y="3017520"/>
            <a:ext cx="3639312" cy="1600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01000" y="3017520"/>
            <a:ext cx="3639312" cy="27432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38160" y="3017520"/>
            <a:ext cx="3364992" cy="274320"/>
          </a:xfrm>
          <a:prstGeom prst="rect">
            <a:avLst/>
          </a:prstGeom>
          <a:noFill/>
        </p:spPr>
        <p:txBody>
          <a:bodyPr wrap="square" lIns="0" rIns="0" tIns="0" bIns="0" anchor="ctr">
            <a:spAutoFit/>
          </a:bodyPr>
          <a:lstStyle/>
          <a:p>
            <a:pPr algn="l"/>
            <a:r>
              <a:rPr sz="1000" b="1" i="0">
                <a:solidFill>
                  <a:srgbClr val="FFFFFF"/>
                </a:solidFill>
                <a:latin typeface="Calibri"/>
              </a:rPr>
              <a:t>{{CHART_3_TITLE}}</a:t>
            </a:r>
          </a:p>
        </p:txBody>
      </p:sp>
      <p:sp>
        <p:nvSpPr>
          <p:cNvPr id="28" name="Rounded Rectangle 27"/>
          <p:cNvSpPr/>
          <p:nvPr/>
        </p:nvSpPr>
        <p:spPr>
          <a:xfrm>
            <a:off x="8138160" y="3337560"/>
            <a:ext cx="3364992" cy="731520"/>
          </a:xfrm>
          <a:prstGeom prst="roundRect">
            <a:avLst>
              <a:gd name="adj" fmla="val 6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38160" y="3337560"/>
            <a:ext cx="3364992" cy="731520"/>
          </a:xfrm>
          <a:prstGeom prst="rect">
            <a:avLst/>
          </a:prstGeom>
          <a:noFill/>
        </p:spPr>
        <p:txBody>
          <a:bodyPr wrap="square" lIns="0" rIns="0" tIns="0" bIns="0" anchor="ctr">
            <a:spAutoFit/>
          </a:bodyPr>
          <a:lstStyle/>
          <a:p>
            <a:pPr algn="ctr"/>
            <a:r>
              <a:rPr sz="900" b="0" i="1">
                <a:solidFill>
                  <a:srgbClr val="9CA3AF"/>
                </a:solidFill>
                <a:latin typeface="Calibri"/>
              </a:rPr>
              <a:t>{{CHART_3_PLACEHOLDER}}</a:t>
            </a:r>
          </a:p>
        </p:txBody>
      </p:sp>
      <p:sp>
        <p:nvSpPr>
          <p:cNvPr id="30" name="TextBox 29"/>
          <p:cNvSpPr txBox="1"/>
          <p:nvPr/>
        </p:nvSpPr>
        <p:spPr>
          <a:xfrm>
            <a:off x="8138160" y="4206240"/>
            <a:ext cx="1091793" cy="182880"/>
          </a:xfrm>
          <a:prstGeom prst="rect">
            <a:avLst/>
          </a:prstGeom>
          <a:noFill/>
        </p:spPr>
        <p:txBody>
          <a:bodyPr wrap="square" lIns="0" rIns="0" tIns="0" bIns="0" anchor="t">
            <a:spAutoFit/>
          </a:bodyPr>
          <a:lstStyle/>
          <a:p>
            <a:pPr algn="l"/>
            <a:r>
              <a:rPr sz="800" b="0" i="1">
                <a:solidFill>
                  <a:srgbClr val="9CA3AF"/>
                </a:solidFill>
                <a:latin typeface="Calibri"/>
              </a:rPr>
              <a:t>{{CHART_3_UNIT}}</a:t>
            </a:r>
          </a:p>
        </p:txBody>
      </p:sp>
      <p:sp>
        <p:nvSpPr>
          <p:cNvPr id="31" name="TextBox 30"/>
          <p:cNvSpPr txBox="1"/>
          <p:nvPr/>
        </p:nvSpPr>
        <p:spPr>
          <a:xfrm>
            <a:off x="8138160" y="4370831"/>
            <a:ext cx="2001621" cy="228600"/>
          </a:xfrm>
          <a:prstGeom prst="rect">
            <a:avLst/>
          </a:prstGeom>
          <a:noFill/>
        </p:spPr>
        <p:txBody>
          <a:bodyPr wrap="square" lIns="0" rIns="0" tIns="0" bIns="0" anchor="t">
            <a:spAutoFit/>
          </a:bodyPr>
          <a:lstStyle/>
          <a:p>
            <a:pPr algn="l"/>
            <a:r>
              <a:rPr sz="1200" b="1" i="0">
                <a:solidFill>
                  <a:srgbClr val="7C3AED"/>
                </a:solidFill>
                <a:latin typeface="Calibri"/>
              </a:rPr>
              <a:t>{{CHART_3_LATEST}}</a:t>
            </a:r>
          </a:p>
        </p:txBody>
      </p:sp>
      <p:sp>
        <p:nvSpPr>
          <p:cNvPr id="32" name="TextBox 31"/>
          <p:cNvSpPr txBox="1"/>
          <p:nvPr/>
        </p:nvSpPr>
        <p:spPr>
          <a:xfrm>
            <a:off x="10139781" y="4370831"/>
            <a:ext cx="1455724" cy="228600"/>
          </a:xfrm>
          <a:prstGeom prst="rect">
            <a:avLst/>
          </a:prstGeom>
          <a:noFill/>
        </p:spPr>
        <p:txBody>
          <a:bodyPr wrap="square" lIns="0" rIns="0" tIns="0" bIns="0" anchor="t">
            <a:spAutoFit/>
          </a:bodyPr>
          <a:lstStyle/>
          <a:p>
            <a:pPr algn="l"/>
            <a:r>
              <a:rPr sz="1000" b="0" i="0">
                <a:solidFill>
                  <a:srgbClr val="25B770"/>
                </a:solidFill>
                <a:latin typeface="Calibri"/>
              </a:rPr>
              <a:t>{{CHART_3_CHANGE}}</a:t>
            </a:r>
          </a:p>
        </p:txBody>
      </p:sp>
      <p:sp>
        <p:nvSpPr>
          <p:cNvPr id="33" name="Rounded Rectangle 32"/>
          <p:cNvSpPr/>
          <p:nvPr/>
        </p:nvSpPr>
        <p:spPr>
          <a:xfrm>
            <a:off x="8001000" y="4709160"/>
            <a:ext cx="3639312" cy="1600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01000" y="4709160"/>
            <a:ext cx="3639312" cy="274320"/>
          </a:xfrm>
          <a:prstGeom prst="roundRect">
            <a:avLst>
              <a:gd name="adj" fmla="val 1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38160" y="4709160"/>
            <a:ext cx="3364992" cy="274320"/>
          </a:xfrm>
          <a:prstGeom prst="rect">
            <a:avLst/>
          </a:prstGeom>
          <a:noFill/>
        </p:spPr>
        <p:txBody>
          <a:bodyPr wrap="square" lIns="0" rIns="0" tIns="0" bIns="0" anchor="ctr">
            <a:spAutoFit/>
          </a:bodyPr>
          <a:lstStyle/>
          <a:p>
            <a:pPr algn="l"/>
            <a:r>
              <a:rPr sz="1000" b="1" i="0">
                <a:solidFill>
                  <a:srgbClr val="FFFFFF"/>
                </a:solidFill>
                <a:latin typeface="Calibri"/>
              </a:rPr>
              <a:t>{{CHART_4_TITLE}}</a:t>
            </a:r>
          </a:p>
        </p:txBody>
      </p:sp>
      <p:sp>
        <p:nvSpPr>
          <p:cNvPr id="36" name="Rounded Rectangle 35"/>
          <p:cNvSpPr/>
          <p:nvPr/>
        </p:nvSpPr>
        <p:spPr>
          <a:xfrm>
            <a:off x="8138160" y="5029200"/>
            <a:ext cx="3364992" cy="731520"/>
          </a:xfrm>
          <a:prstGeom prst="roundRect">
            <a:avLst>
              <a:gd name="adj" fmla="val 6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38160" y="5029200"/>
            <a:ext cx="3364992" cy="731520"/>
          </a:xfrm>
          <a:prstGeom prst="rect">
            <a:avLst/>
          </a:prstGeom>
          <a:noFill/>
        </p:spPr>
        <p:txBody>
          <a:bodyPr wrap="square" lIns="0" rIns="0" tIns="0" bIns="0" anchor="ctr">
            <a:spAutoFit/>
          </a:bodyPr>
          <a:lstStyle/>
          <a:p>
            <a:pPr algn="ctr"/>
            <a:r>
              <a:rPr sz="900" b="0" i="1">
                <a:solidFill>
                  <a:srgbClr val="9CA3AF"/>
                </a:solidFill>
                <a:latin typeface="Calibri"/>
              </a:rPr>
              <a:t>{{CHART_4_PLACEHOLDER}}</a:t>
            </a:r>
          </a:p>
        </p:txBody>
      </p:sp>
      <p:sp>
        <p:nvSpPr>
          <p:cNvPr id="38" name="TextBox 37"/>
          <p:cNvSpPr txBox="1"/>
          <p:nvPr/>
        </p:nvSpPr>
        <p:spPr>
          <a:xfrm>
            <a:off x="8138160" y="5897880"/>
            <a:ext cx="1091793" cy="182880"/>
          </a:xfrm>
          <a:prstGeom prst="rect">
            <a:avLst/>
          </a:prstGeom>
          <a:noFill/>
        </p:spPr>
        <p:txBody>
          <a:bodyPr wrap="square" lIns="0" rIns="0" tIns="0" bIns="0" anchor="t">
            <a:spAutoFit/>
          </a:bodyPr>
          <a:lstStyle/>
          <a:p>
            <a:pPr algn="l"/>
            <a:r>
              <a:rPr sz="800" b="0" i="1">
                <a:solidFill>
                  <a:srgbClr val="9CA3AF"/>
                </a:solidFill>
                <a:latin typeface="Calibri"/>
              </a:rPr>
              <a:t>{{CHART_4_UNIT}}</a:t>
            </a:r>
          </a:p>
        </p:txBody>
      </p:sp>
      <p:sp>
        <p:nvSpPr>
          <p:cNvPr id="39" name="TextBox 38"/>
          <p:cNvSpPr txBox="1"/>
          <p:nvPr/>
        </p:nvSpPr>
        <p:spPr>
          <a:xfrm>
            <a:off x="8138160" y="6062472"/>
            <a:ext cx="2001621" cy="228600"/>
          </a:xfrm>
          <a:prstGeom prst="rect">
            <a:avLst/>
          </a:prstGeom>
          <a:noFill/>
        </p:spPr>
        <p:txBody>
          <a:bodyPr wrap="square" lIns="0" rIns="0" tIns="0" bIns="0" anchor="t">
            <a:spAutoFit/>
          </a:bodyPr>
          <a:lstStyle/>
          <a:p>
            <a:pPr algn="l"/>
            <a:r>
              <a:rPr sz="1200" b="1" i="0">
                <a:solidFill>
                  <a:srgbClr val="7C3AED"/>
                </a:solidFill>
                <a:latin typeface="Calibri"/>
              </a:rPr>
              <a:t>{{CHART_4_LATEST}}</a:t>
            </a:r>
          </a:p>
        </p:txBody>
      </p:sp>
      <p:sp>
        <p:nvSpPr>
          <p:cNvPr id="40" name="TextBox 39"/>
          <p:cNvSpPr txBox="1"/>
          <p:nvPr/>
        </p:nvSpPr>
        <p:spPr>
          <a:xfrm>
            <a:off x="10139781" y="6062472"/>
            <a:ext cx="1455724" cy="228600"/>
          </a:xfrm>
          <a:prstGeom prst="rect">
            <a:avLst/>
          </a:prstGeom>
          <a:noFill/>
        </p:spPr>
        <p:txBody>
          <a:bodyPr wrap="square" lIns="0" rIns="0" tIns="0" bIns="0" anchor="t">
            <a:spAutoFit/>
          </a:bodyPr>
          <a:lstStyle/>
          <a:p>
            <a:pPr algn="l"/>
            <a:r>
              <a:rPr sz="1000" b="0" i="0">
                <a:solidFill>
                  <a:srgbClr val="25B770"/>
                </a:solidFill>
                <a:latin typeface="Calibri"/>
              </a:rPr>
              <a:t>{{CHART_4_CHANGE}}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name="CALENDAR_WEEK">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11091672" cy="777240"/>
          </a:xfrm>
          <a:prstGeom prst="roundRect">
            <a:avLst>
              <a:gd name="adj" fmla="val 8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1325880"/>
            <a:ext cx="1280160" cy="77724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371600"/>
            <a:ext cx="1280160" cy="320040"/>
          </a:xfrm>
          <a:prstGeom prst="rect">
            <a:avLst/>
          </a:prstGeom>
          <a:noFill/>
        </p:spPr>
        <p:txBody>
          <a:bodyPr wrap="square" lIns="0" rIns="0" tIns="0" bIns="0" anchor="t">
            <a:spAutoFit/>
          </a:bodyPr>
          <a:lstStyle/>
          <a:p>
            <a:pPr algn="ctr"/>
            <a:r>
              <a:rPr sz="1100" b="1" i="0">
                <a:solidFill>
                  <a:srgbClr val="FFFFFF"/>
                </a:solidFill>
                <a:latin typeface="Calibri"/>
              </a:rPr>
              <a:t>Thứ 2</a:t>
            </a:r>
          </a:p>
        </p:txBody>
      </p:sp>
      <p:sp>
        <p:nvSpPr>
          <p:cNvPr id="12" name="TextBox 11"/>
          <p:cNvSpPr txBox="1"/>
          <p:nvPr/>
        </p:nvSpPr>
        <p:spPr>
          <a:xfrm>
            <a:off x="548640" y="1691640"/>
            <a:ext cx="1280160" cy="274320"/>
          </a:xfrm>
          <a:prstGeom prst="rect">
            <a:avLst/>
          </a:prstGeom>
          <a:noFill/>
        </p:spPr>
        <p:txBody>
          <a:bodyPr wrap="square" lIns="0" rIns="0" tIns="0" bIns="0" anchor="t">
            <a:spAutoFit/>
          </a:bodyPr>
          <a:lstStyle/>
          <a:p>
            <a:pPr algn="ctr"/>
            <a:r>
              <a:rPr sz="1000" b="0" i="0">
                <a:solidFill>
                  <a:srgbClr val="FFFFFF"/>
                </a:solidFill>
                <a:latin typeface="Calibri"/>
              </a:rPr>
              <a:t>{{DAY_1_DATE}}</a:t>
            </a:r>
          </a:p>
        </p:txBody>
      </p:sp>
      <p:sp>
        <p:nvSpPr>
          <p:cNvPr id="13" name="TextBox 12"/>
          <p:cNvSpPr txBox="1"/>
          <p:nvPr/>
        </p:nvSpPr>
        <p:spPr>
          <a:xfrm>
            <a:off x="548640" y="1828799"/>
            <a:ext cx="1280160" cy="228600"/>
          </a:xfrm>
          <a:prstGeom prst="rect">
            <a:avLst/>
          </a:prstGeom>
          <a:noFill/>
        </p:spPr>
        <p:txBody>
          <a:bodyPr wrap="square" lIns="0" rIns="0" tIns="0" bIns="0" anchor="t">
            <a:spAutoFit/>
          </a:bodyPr>
          <a:lstStyle/>
          <a:p>
            <a:pPr algn="ctr"/>
            <a:r>
              <a:rPr sz="900" b="0" i="1">
                <a:solidFill>
                  <a:srgbClr val="FFFFFF"/>
                </a:solidFill>
                <a:latin typeface="Calibri"/>
              </a:rPr>
              <a:t>{{DAY_1_COUNT}}</a:t>
            </a:r>
          </a:p>
        </p:txBody>
      </p:sp>
      <p:sp>
        <p:nvSpPr>
          <p:cNvPr id="14" name="Rectangle 13"/>
          <p:cNvSpPr/>
          <p:nvPr/>
        </p:nvSpPr>
        <p:spPr>
          <a:xfrm>
            <a:off x="1965960" y="1417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65960" y="1463039"/>
            <a:ext cx="2350008" cy="228600"/>
          </a:xfrm>
          <a:prstGeom prst="rect">
            <a:avLst/>
          </a:prstGeom>
          <a:noFill/>
        </p:spPr>
        <p:txBody>
          <a:bodyPr wrap="square" lIns="0" rIns="0" tIns="0" bIns="0" anchor="t">
            <a:spAutoFit/>
          </a:bodyPr>
          <a:lstStyle/>
          <a:p>
            <a:pPr algn="l"/>
            <a:r>
              <a:rPr sz="800" b="0" i="1">
                <a:solidFill>
                  <a:srgbClr val="7C3AED"/>
                </a:solidFill>
                <a:latin typeface="Calibri"/>
              </a:rPr>
              <a:t>{{DAY_1_EVT_1_TIME}}</a:t>
            </a:r>
          </a:p>
        </p:txBody>
      </p:sp>
      <p:sp>
        <p:nvSpPr>
          <p:cNvPr id="16" name="TextBox 15"/>
          <p:cNvSpPr txBox="1"/>
          <p:nvPr/>
        </p:nvSpPr>
        <p:spPr>
          <a:xfrm>
            <a:off x="1965960" y="1691640"/>
            <a:ext cx="2350008" cy="274319"/>
          </a:xfrm>
          <a:prstGeom prst="rect">
            <a:avLst/>
          </a:prstGeom>
          <a:noFill/>
        </p:spPr>
        <p:txBody>
          <a:bodyPr wrap="square" lIns="0" rIns="0" tIns="0" bIns="0" anchor="t">
            <a:spAutoFit/>
          </a:bodyPr>
          <a:lstStyle/>
          <a:p>
            <a:pPr algn="l"/>
            <a:r>
              <a:rPr sz="900" b="0" i="0">
                <a:solidFill>
                  <a:srgbClr val="1F2937"/>
                </a:solidFill>
                <a:latin typeface="Calibri"/>
              </a:rPr>
              <a:t>{{DAY_1_EVT_1_TITLE}}</a:t>
            </a:r>
          </a:p>
        </p:txBody>
      </p:sp>
      <p:sp>
        <p:nvSpPr>
          <p:cNvPr id="17" name="Rectangle 16"/>
          <p:cNvSpPr/>
          <p:nvPr/>
        </p:nvSpPr>
        <p:spPr>
          <a:xfrm>
            <a:off x="4407408" y="1417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1463039"/>
            <a:ext cx="2350008" cy="228600"/>
          </a:xfrm>
          <a:prstGeom prst="rect">
            <a:avLst/>
          </a:prstGeom>
          <a:noFill/>
        </p:spPr>
        <p:txBody>
          <a:bodyPr wrap="square" lIns="0" rIns="0" tIns="0" bIns="0" anchor="t">
            <a:spAutoFit/>
          </a:bodyPr>
          <a:lstStyle/>
          <a:p>
            <a:pPr algn="l"/>
            <a:r>
              <a:rPr sz="800" b="0" i="1">
                <a:solidFill>
                  <a:srgbClr val="7C3AED"/>
                </a:solidFill>
                <a:latin typeface="Calibri"/>
              </a:rPr>
              <a:t>{{DAY_1_EVT_2_TIME}}</a:t>
            </a:r>
          </a:p>
        </p:txBody>
      </p:sp>
      <p:sp>
        <p:nvSpPr>
          <p:cNvPr id="19" name="TextBox 18"/>
          <p:cNvSpPr txBox="1"/>
          <p:nvPr/>
        </p:nvSpPr>
        <p:spPr>
          <a:xfrm>
            <a:off x="4407408" y="1691640"/>
            <a:ext cx="2350008" cy="274319"/>
          </a:xfrm>
          <a:prstGeom prst="rect">
            <a:avLst/>
          </a:prstGeom>
          <a:noFill/>
        </p:spPr>
        <p:txBody>
          <a:bodyPr wrap="square" lIns="0" rIns="0" tIns="0" bIns="0" anchor="t">
            <a:spAutoFit/>
          </a:bodyPr>
          <a:lstStyle/>
          <a:p>
            <a:pPr algn="l"/>
            <a:r>
              <a:rPr sz="900" b="0" i="0">
                <a:solidFill>
                  <a:srgbClr val="1F2937"/>
                </a:solidFill>
                <a:latin typeface="Calibri"/>
              </a:rPr>
              <a:t>{{DAY_1_EVT_2_TITLE}}</a:t>
            </a:r>
          </a:p>
        </p:txBody>
      </p:sp>
      <p:sp>
        <p:nvSpPr>
          <p:cNvPr id="20" name="Rectangle 19"/>
          <p:cNvSpPr/>
          <p:nvPr/>
        </p:nvSpPr>
        <p:spPr>
          <a:xfrm>
            <a:off x="6848856" y="1417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48856" y="1463039"/>
            <a:ext cx="2350008" cy="228600"/>
          </a:xfrm>
          <a:prstGeom prst="rect">
            <a:avLst/>
          </a:prstGeom>
          <a:noFill/>
        </p:spPr>
        <p:txBody>
          <a:bodyPr wrap="square" lIns="0" rIns="0" tIns="0" bIns="0" anchor="t">
            <a:spAutoFit/>
          </a:bodyPr>
          <a:lstStyle/>
          <a:p>
            <a:pPr algn="l"/>
            <a:r>
              <a:rPr sz="800" b="0" i="1">
                <a:solidFill>
                  <a:srgbClr val="7C3AED"/>
                </a:solidFill>
                <a:latin typeface="Calibri"/>
              </a:rPr>
              <a:t>{{DAY_1_EVT_3_TIME}}</a:t>
            </a:r>
          </a:p>
        </p:txBody>
      </p:sp>
      <p:sp>
        <p:nvSpPr>
          <p:cNvPr id="22" name="TextBox 21"/>
          <p:cNvSpPr txBox="1"/>
          <p:nvPr/>
        </p:nvSpPr>
        <p:spPr>
          <a:xfrm>
            <a:off x="6848856" y="1691640"/>
            <a:ext cx="2350008" cy="274319"/>
          </a:xfrm>
          <a:prstGeom prst="rect">
            <a:avLst/>
          </a:prstGeom>
          <a:noFill/>
        </p:spPr>
        <p:txBody>
          <a:bodyPr wrap="square" lIns="0" rIns="0" tIns="0" bIns="0" anchor="t">
            <a:spAutoFit/>
          </a:bodyPr>
          <a:lstStyle/>
          <a:p>
            <a:pPr algn="l"/>
            <a:r>
              <a:rPr sz="900" b="0" i="0">
                <a:solidFill>
                  <a:srgbClr val="1F2937"/>
                </a:solidFill>
                <a:latin typeface="Calibri"/>
              </a:rPr>
              <a:t>{{DAY_1_EVT_3_TITLE}}</a:t>
            </a:r>
          </a:p>
        </p:txBody>
      </p:sp>
      <p:sp>
        <p:nvSpPr>
          <p:cNvPr id="23" name="Rectangle 22"/>
          <p:cNvSpPr/>
          <p:nvPr/>
        </p:nvSpPr>
        <p:spPr>
          <a:xfrm>
            <a:off x="9290304" y="1417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0304" y="1463039"/>
            <a:ext cx="2350008" cy="228600"/>
          </a:xfrm>
          <a:prstGeom prst="rect">
            <a:avLst/>
          </a:prstGeom>
          <a:noFill/>
        </p:spPr>
        <p:txBody>
          <a:bodyPr wrap="square" lIns="0" rIns="0" tIns="0" bIns="0" anchor="t">
            <a:spAutoFit/>
          </a:bodyPr>
          <a:lstStyle/>
          <a:p>
            <a:pPr algn="l"/>
            <a:r>
              <a:rPr sz="800" b="0" i="1">
                <a:solidFill>
                  <a:srgbClr val="7C3AED"/>
                </a:solidFill>
                <a:latin typeface="Calibri"/>
              </a:rPr>
              <a:t>{{DAY_1_EVT_4_TIME}}</a:t>
            </a:r>
          </a:p>
        </p:txBody>
      </p:sp>
      <p:sp>
        <p:nvSpPr>
          <p:cNvPr id="25" name="TextBox 24"/>
          <p:cNvSpPr txBox="1"/>
          <p:nvPr/>
        </p:nvSpPr>
        <p:spPr>
          <a:xfrm>
            <a:off x="9290304" y="1691640"/>
            <a:ext cx="2350008" cy="274319"/>
          </a:xfrm>
          <a:prstGeom prst="rect">
            <a:avLst/>
          </a:prstGeom>
          <a:noFill/>
        </p:spPr>
        <p:txBody>
          <a:bodyPr wrap="square" lIns="0" rIns="0" tIns="0" bIns="0" anchor="t">
            <a:spAutoFit/>
          </a:bodyPr>
          <a:lstStyle/>
          <a:p>
            <a:pPr algn="l"/>
            <a:r>
              <a:rPr sz="900" b="0" i="0">
                <a:solidFill>
                  <a:srgbClr val="1F2937"/>
                </a:solidFill>
                <a:latin typeface="Calibri"/>
              </a:rPr>
              <a:t>{{DAY_1_EVT_4_TITLE}}</a:t>
            </a:r>
          </a:p>
        </p:txBody>
      </p:sp>
      <p:sp>
        <p:nvSpPr>
          <p:cNvPr id="26" name="Rounded Rectangle 25"/>
          <p:cNvSpPr/>
          <p:nvPr/>
        </p:nvSpPr>
        <p:spPr>
          <a:xfrm>
            <a:off x="548640" y="2148840"/>
            <a:ext cx="11091672" cy="777240"/>
          </a:xfrm>
          <a:prstGeom prst="roundRect">
            <a:avLst>
              <a:gd name="adj" fmla="val 8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48640" y="2148840"/>
            <a:ext cx="1280160" cy="77724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194560"/>
            <a:ext cx="1280160" cy="320040"/>
          </a:xfrm>
          <a:prstGeom prst="rect">
            <a:avLst/>
          </a:prstGeom>
          <a:noFill/>
        </p:spPr>
        <p:txBody>
          <a:bodyPr wrap="square" lIns="0" rIns="0" tIns="0" bIns="0" anchor="t">
            <a:spAutoFit/>
          </a:bodyPr>
          <a:lstStyle/>
          <a:p>
            <a:pPr algn="ctr"/>
            <a:r>
              <a:rPr sz="1100" b="1" i="0">
                <a:solidFill>
                  <a:srgbClr val="FFFFFF"/>
                </a:solidFill>
                <a:latin typeface="Calibri"/>
              </a:rPr>
              <a:t>Thứ 3</a:t>
            </a:r>
          </a:p>
        </p:txBody>
      </p:sp>
      <p:sp>
        <p:nvSpPr>
          <p:cNvPr id="29" name="TextBox 28"/>
          <p:cNvSpPr txBox="1"/>
          <p:nvPr/>
        </p:nvSpPr>
        <p:spPr>
          <a:xfrm>
            <a:off x="548640" y="2514600"/>
            <a:ext cx="1280160" cy="274320"/>
          </a:xfrm>
          <a:prstGeom prst="rect">
            <a:avLst/>
          </a:prstGeom>
          <a:noFill/>
        </p:spPr>
        <p:txBody>
          <a:bodyPr wrap="square" lIns="0" rIns="0" tIns="0" bIns="0" anchor="t">
            <a:spAutoFit/>
          </a:bodyPr>
          <a:lstStyle/>
          <a:p>
            <a:pPr algn="ctr"/>
            <a:r>
              <a:rPr sz="1000" b="0" i="0">
                <a:solidFill>
                  <a:srgbClr val="FFFFFF"/>
                </a:solidFill>
                <a:latin typeface="Calibri"/>
              </a:rPr>
              <a:t>{{DAY_2_DATE}}</a:t>
            </a:r>
          </a:p>
        </p:txBody>
      </p:sp>
      <p:sp>
        <p:nvSpPr>
          <p:cNvPr id="30" name="TextBox 29"/>
          <p:cNvSpPr txBox="1"/>
          <p:nvPr/>
        </p:nvSpPr>
        <p:spPr>
          <a:xfrm>
            <a:off x="548640" y="2651760"/>
            <a:ext cx="1280160" cy="228600"/>
          </a:xfrm>
          <a:prstGeom prst="rect">
            <a:avLst/>
          </a:prstGeom>
          <a:noFill/>
        </p:spPr>
        <p:txBody>
          <a:bodyPr wrap="square" lIns="0" rIns="0" tIns="0" bIns="0" anchor="t">
            <a:spAutoFit/>
          </a:bodyPr>
          <a:lstStyle/>
          <a:p>
            <a:pPr algn="ctr"/>
            <a:r>
              <a:rPr sz="900" b="0" i="1">
                <a:solidFill>
                  <a:srgbClr val="FFFFFF"/>
                </a:solidFill>
                <a:latin typeface="Calibri"/>
              </a:rPr>
              <a:t>{{DAY_2_COUNT}}</a:t>
            </a:r>
          </a:p>
        </p:txBody>
      </p:sp>
      <p:sp>
        <p:nvSpPr>
          <p:cNvPr id="31" name="Rectangle 30"/>
          <p:cNvSpPr/>
          <p:nvPr/>
        </p:nvSpPr>
        <p:spPr>
          <a:xfrm>
            <a:off x="1965960" y="224028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65960" y="2286000"/>
            <a:ext cx="2350008" cy="228600"/>
          </a:xfrm>
          <a:prstGeom prst="rect">
            <a:avLst/>
          </a:prstGeom>
          <a:noFill/>
        </p:spPr>
        <p:txBody>
          <a:bodyPr wrap="square" lIns="0" rIns="0" tIns="0" bIns="0" anchor="t">
            <a:spAutoFit/>
          </a:bodyPr>
          <a:lstStyle/>
          <a:p>
            <a:pPr algn="l"/>
            <a:r>
              <a:rPr sz="800" b="0" i="1">
                <a:solidFill>
                  <a:srgbClr val="7C3AED"/>
                </a:solidFill>
                <a:latin typeface="Calibri"/>
              </a:rPr>
              <a:t>{{DAY_2_EVT_1_TIME}}</a:t>
            </a:r>
          </a:p>
        </p:txBody>
      </p:sp>
      <p:sp>
        <p:nvSpPr>
          <p:cNvPr id="33" name="TextBox 32"/>
          <p:cNvSpPr txBox="1"/>
          <p:nvPr/>
        </p:nvSpPr>
        <p:spPr>
          <a:xfrm>
            <a:off x="1965960" y="2514600"/>
            <a:ext cx="2350008" cy="274319"/>
          </a:xfrm>
          <a:prstGeom prst="rect">
            <a:avLst/>
          </a:prstGeom>
          <a:noFill/>
        </p:spPr>
        <p:txBody>
          <a:bodyPr wrap="square" lIns="0" rIns="0" tIns="0" bIns="0" anchor="t">
            <a:spAutoFit/>
          </a:bodyPr>
          <a:lstStyle/>
          <a:p>
            <a:pPr algn="l"/>
            <a:r>
              <a:rPr sz="900" b="0" i="0">
                <a:solidFill>
                  <a:srgbClr val="1F2937"/>
                </a:solidFill>
                <a:latin typeface="Calibri"/>
              </a:rPr>
              <a:t>{{DAY_2_EVT_1_TITLE}}</a:t>
            </a:r>
          </a:p>
        </p:txBody>
      </p:sp>
      <p:sp>
        <p:nvSpPr>
          <p:cNvPr id="34" name="Rectangle 33"/>
          <p:cNvSpPr/>
          <p:nvPr/>
        </p:nvSpPr>
        <p:spPr>
          <a:xfrm>
            <a:off x="4407408" y="224028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2286000"/>
            <a:ext cx="2350008" cy="228600"/>
          </a:xfrm>
          <a:prstGeom prst="rect">
            <a:avLst/>
          </a:prstGeom>
          <a:noFill/>
        </p:spPr>
        <p:txBody>
          <a:bodyPr wrap="square" lIns="0" rIns="0" tIns="0" bIns="0" anchor="t">
            <a:spAutoFit/>
          </a:bodyPr>
          <a:lstStyle/>
          <a:p>
            <a:pPr algn="l"/>
            <a:r>
              <a:rPr sz="800" b="0" i="1">
                <a:solidFill>
                  <a:srgbClr val="7C3AED"/>
                </a:solidFill>
                <a:latin typeface="Calibri"/>
              </a:rPr>
              <a:t>{{DAY_2_EVT_2_TIME}}</a:t>
            </a:r>
          </a:p>
        </p:txBody>
      </p:sp>
      <p:sp>
        <p:nvSpPr>
          <p:cNvPr id="36" name="TextBox 35"/>
          <p:cNvSpPr txBox="1"/>
          <p:nvPr/>
        </p:nvSpPr>
        <p:spPr>
          <a:xfrm>
            <a:off x="4407408" y="2514600"/>
            <a:ext cx="2350008" cy="274319"/>
          </a:xfrm>
          <a:prstGeom prst="rect">
            <a:avLst/>
          </a:prstGeom>
          <a:noFill/>
        </p:spPr>
        <p:txBody>
          <a:bodyPr wrap="square" lIns="0" rIns="0" tIns="0" bIns="0" anchor="t">
            <a:spAutoFit/>
          </a:bodyPr>
          <a:lstStyle/>
          <a:p>
            <a:pPr algn="l"/>
            <a:r>
              <a:rPr sz="900" b="0" i="0">
                <a:solidFill>
                  <a:srgbClr val="1F2937"/>
                </a:solidFill>
                <a:latin typeface="Calibri"/>
              </a:rPr>
              <a:t>{{DAY_2_EVT_2_TITLE}}</a:t>
            </a:r>
          </a:p>
        </p:txBody>
      </p:sp>
      <p:sp>
        <p:nvSpPr>
          <p:cNvPr id="37" name="Rectangle 36"/>
          <p:cNvSpPr/>
          <p:nvPr/>
        </p:nvSpPr>
        <p:spPr>
          <a:xfrm>
            <a:off x="6848856" y="224028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48856" y="2286000"/>
            <a:ext cx="2350008" cy="228600"/>
          </a:xfrm>
          <a:prstGeom prst="rect">
            <a:avLst/>
          </a:prstGeom>
          <a:noFill/>
        </p:spPr>
        <p:txBody>
          <a:bodyPr wrap="square" lIns="0" rIns="0" tIns="0" bIns="0" anchor="t">
            <a:spAutoFit/>
          </a:bodyPr>
          <a:lstStyle/>
          <a:p>
            <a:pPr algn="l"/>
            <a:r>
              <a:rPr sz="800" b="0" i="1">
                <a:solidFill>
                  <a:srgbClr val="7C3AED"/>
                </a:solidFill>
                <a:latin typeface="Calibri"/>
              </a:rPr>
              <a:t>{{DAY_2_EVT_3_TIME}}</a:t>
            </a:r>
          </a:p>
        </p:txBody>
      </p:sp>
      <p:sp>
        <p:nvSpPr>
          <p:cNvPr id="39" name="TextBox 38"/>
          <p:cNvSpPr txBox="1"/>
          <p:nvPr/>
        </p:nvSpPr>
        <p:spPr>
          <a:xfrm>
            <a:off x="6848856" y="2514600"/>
            <a:ext cx="2350008" cy="274319"/>
          </a:xfrm>
          <a:prstGeom prst="rect">
            <a:avLst/>
          </a:prstGeom>
          <a:noFill/>
        </p:spPr>
        <p:txBody>
          <a:bodyPr wrap="square" lIns="0" rIns="0" tIns="0" bIns="0" anchor="t">
            <a:spAutoFit/>
          </a:bodyPr>
          <a:lstStyle/>
          <a:p>
            <a:pPr algn="l"/>
            <a:r>
              <a:rPr sz="900" b="0" i="0">
                <a:solidFill>
                  <a:srgbClr val="1F2937"/>
                </a:solidFill>
                <a:latin typeface="Calibri"/>
              </a:rPr>
              <a:t>{{DAY_2_EVT_3_TITLE}}</a:t>
            </a:r>
          </a:p>
        </p:txBody>
      </p:sp>
      <p:sp>
        <p:nvSpPr>
          <p:cNvPr id="40" name="Rectangle 39"/>
          <p:cNvSpPr/>
          <p:nvPr/>
        </p:nvSpPr>
        <p:spPr>
          <a:xfrm>
            <a:off x="9290304" y="224028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90304" y="2286000"/>
            <a:ext cx="2350008" cy="228600"/>
          </a:xfrm>
          <a:prstGeom prst="rect">
            <a:avLst/>
          </a:prstGeom>
          <a:noFill/>
        </p:spPr>
        <p:txBody>
          <a:bodyPr wrap="square" lIns="0" rIns="0" tIns="0" bIns="0" anchor="t">
            <a:spAutoFit/>
          </a:bodyPr>
          <a:lstStyle/>
          <a:p>
            <a:pPr algn="l"/>
            <a:r>
              <a:rPr sz="800" b="0" i="1">
                <a:solidFill>
                  <a:srgbClr val="7C3AED"/>
                </a:solidFill>
                <a:latin typeface="Calibri"/>
              </a:rPr>
              <a:t>{{DAY_2_EVT_4_TIME}}</a:t>
            </a:r>
          </a:p>
        </p:txBody>
      </p:sp>
      <p:sp>
        <p:nvSpPr>
          <p:cNvPr id="42" name="TextBox 41"/>
          <p:cNvSpPr txBox="1"/>
          <p:nvPr/>
        </p:nvSpPr>
        <p:spPr>
          <a:xfrm>
            <a:off x="9290304" y="2514600"/>
            <a:ext cx="2350008" cy="274319"/>
          </a:xfrm>
          <a:prstGeom prst="rect">
            <a:avLst/>
          </a:prstGeom>
          <a:noFill/>
        </p:spPr>
        <p:txBody>
          <a:bodyPr wrap="square" lIns="0" rIns="0" tIns="0" bIns="0" anchor="t">
            <a:spAutoFit/>
          </a:bodyPr>
          <a:lstStyle/>
          <a:p>
            <a:pPr algn="l"/>
            <a:r>
              <a:rPr sz="900" b="0" i="0">
                <a:solidFill>
                  <a:srgbClr val="1F2937"/>
                </a:solidFill>
                <a:latin typeface="Calibri"/>
              </a:rPr>
              <a:t>{{DAY_2_EVT_4_TITLE}}</a:t>
            </a:r>
          </a:p>
        </p:txBody>
      </p:sp>
      <p:sp>
        <p:nvSpPr>
          <p:cNvPr id="43" name="Rounded Rectangle 42"/>
          <p:cNvSpPr/>
          <p:nvPr/>
        </p:nvSpPr>
        <p:spPr>
          <a:xfrm>
            <a:off x="548640" y="2971800"/>
            <a:ext cx="11091672" cy="777240"/>
          </a:xfrm>
          <a:prstGeom prst="roundRect">
            <a:avLst>
              <a:gd name="adj" fmla="val 8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48640" y="2971800"/>
            <a:ext cx="1280160" cy="77724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017520"/>
            <a:ext cx="1280160" cy="320040"/>
          </a:xfrm>
          <a:prstGeom prst="rect">
            <a:avLst/>
          </a:prstGeom>
          <a:noFill/>
        </p:spPr>
        <p:txBody>
          <a:bodyPr wrap="square" lIns="0" rIns="0" tIns="0" bIns="0" anchor="t">
            <a:spAutoFit/>
          </a:bodyPr>
          <a:lstStyle/>
          <a:p>
            <a:pPr algn="ctr"/>
            <a:r>
              <a:rPr sz="1100" b="1" i="0">
                <a:solidFill>
                  <a:srgbClr val="FFFFFF"/>
                </a:solidFill>
                <a:latin typeface="Calibri"/>
              </a:rPr>
              <a:t>Thứ 4</a:t>
            </a:r>
          </a:p>
        </p:txBody>
      </p:sp>
      <p:sp>
        <p:nvSpPr>
          <p:cNvPr id="46" name="TextBox 45"/>
          <p:cNvSpPr txBox="1"/>
          <p:nvPr/>
        </p:nvSpPr>
        <p:spPr>
          <a:xfrm>
            <a:off x="548640" y="3337560"/>
            <a:ext cx="1280160" cy="274320"/>
          </a:xfrm>
          <a:prstGeom prst="rect">
            <a:avLst/>
          </a:prstGeom>
          <a:noFill/>
        </p:spPr>
        <p:txBody>
          <a:bodyPr wrap="square" lIns="0" rIns="0" tIns="0" bIns="0" anchor="t">
            <a:spAutoFit/>
          </a:bodyPr>
          <a:lstStyle/>
          <a:p>
            <a:pPr algn="ctr"/>
            <a:r>
              <a:rPr sz="1000" b="0" i="0">
                <a:solidFill>
                  <a:srgbClr val="FFFFFF"/>
                </a:solidFill>
                <a:latin typeface="Calibri"/>
              </a:rPr>
              <a:t>{{DAY_3_DATE}}</a:t>
            </a:r>
          </a:p>
        </p:txBody>
      </p:sp>
      <p:sp>
        <p:nvSpPr>
          <p:cNvPr id="47" name="TextBox 46"/>
          <p:cNvSpPr txBox="1"/>
          <p:nvPr/>
        </p:nvSpPr>
        <p:spPr>
          <a:xfrm>
            <a:off x="548640" y="3474720"/>
            <a:ext cx="1280160" cy="228600"/>
          </a:xfrm>
          <a:prstGeom prst="rect">
            <a:avLst/>
          </a:prstGeom>
          <a:noFill/>
        </p:spPr>
        <p:txBody>
          <a:bodyPr wrap="square" lIns="0" rIns="0" tIns="0" bIns="0" anchor="t">
            <a:spAutoFit/>
          </a:bodyPr>
          <a:lstStyle/>
          <a:p>
            <a:pPr algn="ctr"/>
            <a:r>
              <a:rPr sz="900" b="0" i="1">
                <a:solidFill>
                  <a:srgbClr val="FFFFFF"/>
                </a:solidFill>
                <a:latin typeface="Calibri"/>
              </a:rPr>
              <a:t>{{DAY_3_COUNT}}</a:t>
            </a:r>
          </a:p>
        </p:txBody>
      </p:sp>
      <p:sp>
        <p:nvSpPr>
          <p:cNvPr id="48" name="Rectangle 47"/>
          <p:cNvSpPr/>
          <p:nvPr/>
        </p:nvSpPr>
        <p:spPr>
          <a:xfrm>
            <a:off x="1965960" y="306324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965960" y="3108960"/>
            <a:ext cx="2350008" cy="228600"/>
          </a:xfrm>
          <a:prstGeom prst="rect">
            <a:avLst/>
          </a:prstGeom>
          <a:noFill/>
        </p:spPr>
        <p:txBody>
          <a:bodyPr wrap="square" lIns="0" rIns="0" tIns="0" bIns="0" anchor="t">
            <a:spAutoFit/>
          </a:bodyPr>
          <a:lstStyle/>
          <a:p>
            <a:pPr algn="l"/>
            <a:r>
              <a:rPr sz="800" b="0" i="1">
                <a:solidFill>
                  <a:srgbClr val="7C3AED"/>
                </a:solidFill>
                <a:latin typeface="Calibri"/>
              </a:rPr>
              <a:t>{{DAY_3_EVT_1_TIME}}</a:t>
            </a:r>
          </a:p>
        </p:txBody>
      </p:sp>
      <p:sp>
        <p:nvSpPr>
          <p:cNvPr id="50" name="TextBox 49"/>
          <p:cNvSpPr txBox="1"/>
          <p:nvPr/>
        </p:nvSpPr>
        <p:spPr>
          <a:xfrm>
            <a:off x="1965960" y="3337560"/>
            <a:ext cx="2350008" cy="274319"/>
          </a:xfrm>
          <a:prstGeom prst="rect">
            <a:avLst/>
          </a:prstGeom>
          <a:noFill/>
        </p:spPr>
        <p:txBody>
          <a:bodyPr wrap="square" lIns="0" rIns="0" tIns="0" bIns="0" anchor="t">
            <a:spAutoFit/>
          </a:bodyPr>
          <a:lstStyle/>
          <a:p>
            <a:pPr algn="l"/>
            <a:r>
              <a:rPr sz="900" b="0" i="0">
                <a:solidFill>
                  <a:srgbClr val="1F2937"/>
                </a:solidFill>
                <a:latin typeface="Calibri"/>
              </a:rPr>
              <a:t>{{DAY_3_EVT_1_TITLE}}</a:t>
            </a:r>
          </a:p>
        </p:txBody>
      </p:sp>
      <p:sp>
        <p:nvSpPr>
          <p:cNvPr id="51" name="Rectangle 50"/>
          <p:cNvSpPr/>
          <p:nvPr/>
        </p:nvSpPr>
        <p:spPr>
          <a:xfrm>
            <a:off x="4407408" y="306324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07408" y="3108960"/>
            <a:ext cx="2350008" cy="228600"/>
          </a:xfrm>
          <a:prstGeom prst="rect">
            <a:avLst/>
          </a:prstGeom>
          <a:noFill/>
        </p:spPr>
        <p:txBody>
          <a:bodyPr wrap="square" lIns="0" rIns="0" tIns="0" bIns="0" anchor="t">
            <a:spAutoFit/>
          </a:bodyPr>
          <a:lstStyle/>
          <a:p>
            <a:pPr algn="l"/>
            <a:r>
              <a:rPr sz="800" b="0" i="1">
                <a:solidFill>
                  <a:srgbClr val="7C3AED"/>
                </a:solidFill>
                <a:latin typeface="Calibri"/>
              </a:rPr>
              <a:t>{{DAY_3_EVT_2_TIME}}</a:t>
            </a:r>
          </a:p>
        </p:txBody>
      </p:sp>
      <p:sp>
        <p:nvSpPr>
          <p:cNvPr id="53" name="TextBox 52"/>
          <p:cNvSpPr txBox="1"/>
          <p:nvPr/>
        </p:nvSpPr>
        <p:spPr>
          <a:xfrm>
            <a:off x="4407408" y="3337560"/>
            <a:ext cx="2350008" cy="274319"/>
          </a:xfrm>
          <a:prstGeom prst="rect">
            <a:avLst/>
          </a:prstGeom>
          <a:noFill/>
        </p:spPr>
        <p:txBody>
          <a:bodyPr wrap="square" lIns="0" rIns="0" tIns="0" bIns="0" anchor="t">
            <a:spAutoFit/>
          </a:bodyPr>
          <a:lstStyle/>
          <a:p>
            <a:pPr algn="l"/>
            <a:r>
              <a:rPr sz="900" b="0" i="0">
                <a:solidFill>
                  <a:srgbClr val="1F2937"/>
                </a:solidFill>
                <a:latin typeface="Calibri"/>
              </a:rPr>
              <a:t>{{DAY_3_EVT_2_TITLE}}</a:t>
            </a:r>
          </a:p>
        </p:txBody>
      </p:sp>
      <p:sp>
        <p:nvSpPr>
          <p:cNvPr id="54" name="Rectangle 53"/>
          <p:cNvSpPr/>
          <p:nvPr/>
        </p:nvSpPr>
        <p:spPr>
          <a:xfrm>
            <a:off x="6848856" y="306324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48856" y="3108960"/>
            <a:ext cx="2350008" cy="228600"/>
          </a:xfrm>
          <a:prstGeom prst="rect">
            <a:avLst/>
          </a:prstGeom>
          <a:noFill/>
        </p:spPr>
        <p:txBody>
          <a:bodyPr wrap="square" lIns="0" rIns="0" tIns="0" bIns="0" anchor="t">
            <a:spAutoFit/>
          </a:bodyPr>
          <a:lstStyle/>
          <a:p>
            <a:pPr algn="l"/>
            <a:r>
              <a:rPr sz="800" b="0" i="1">
                <a:solidFill>
                  <a:srgbClr val="7C3AED"/>
                </a:solidFill>
                <a:latin typeface="Calibri"/>
              </a:rPr>
              <a:t>{{DAY_3_EVT_3_TIME}}</a:t>
            </a:r>
          </a:p>
        </p:txBody>
      </p:sp>
      <p:sp>
        <p:nvSpPr>
          <p:cNvPr id="56" name="TextBox 55"/>
          <p:cNvSpPr txBox="1"/>
          <p:nvPr/>
        </p:nvSpPr>
        <p:spPr>
          <a:xfrm>
            <a:off x="6848856" y="3337560"/>
            <a:ext cx="2350008" cy="274319"/>
          </a:xfrm>
          <a:prstGeom prst="rect">
            <a:avLst/>
          </a:prstGeom>
          <a:noFill/>
        </p:spPr>
        <p:txBody>
          <a:bodyPr wrap="square" lIns="0" rIns="0" tIns="0" bIns="0" anchor="t">
            <a:spAutoFit/>
          </a:bodyPr>
          <a:lstStyle/>
          <a:p>
            <a:pPr algn="l"/>
            <a:r>
              <a:rPr sz="900" b="0" i="0">
                <a:solidFill>
                  <a:srgbClr val="1F2937"/>
                </a:solidFill>
                <a:latin typeface="Calibri"/>
              </a:rPr>
              <a:t>{{DAY_3_EVT_3_TITLE}}</a:t>
            </a:r>
          </a:p>
        </p:txBody>
      </p:sp>
      <p:sp>
        <p:nvSpPr>
          <p:cNvPr id="57" name="Rectangle 56"/>
          <p:cNvSpPr/>
          <p:nvPr/>
        </p:nvSpPr>
        <p:spPr>
          <a:xfrm>
            <a:off x="9290304" y="306324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0304" y="3108960"/>
            <a:ext cx="2350008" cy="228600"/>
          </a:xfrm>
          <a:prstGeom prst="rect">
            <a:avLst/>
          </a:prstGeom>
          <a:noFill/>
        </p:spPr>
        <p:txBody>
          <a:bodyPr wrap="square" lIns="0" rIns="0" tIns="0" bIns="0" anchor="t">
            <a:spAutoFit/>
          </a:bodyPr>
          <a:lstStyle/>
          <a:p>
            <a:pPr algn="l"/>
            <a:r>
              <a:rPr sz="800" b="0" i="1">
                <a:solidFill>
                  <a:srgbClr val="7C3AED"/>
                </a:solidFill>
                <a:latin typeface="Calibri"/>
              </a:rPr>
              <a:t>{{DAY_3_EVT_4_TIME}}</a:t>
            </a:r>
          </a:p>
        </p:txBody>
      </p:sp>
      <p:sp>
        <p:nvSpPr>
          <p:cNvPr id="59" name="TextBox 58"/>
          <p:cNvSpPr txBox="1"/>
          <p:nvPr/>
        </p:nvSpPr>
        <p:spPr>
          <a:xfrm>
            <a:off x="9290304" y="3337560"/>
            <a:ext cx="2350008" cy="274319"/>
          </a:xfrm>
          <a:prstGeom prst="rect">
            <a:avLst/>
          </a:prstGeom>
          <a:noFill/>
        </p:spPr>
        <p:txBody>
          <a:bodyPr wrap="square" lIns="0" rIns="0" tIns="0" bIns="0" anchor="t">
            <a:spAutoFit/>
          </a:bodyPr>
          <a:lstStyle/>
          <a:p>
            <a:pPr algn="l"/>
            <a:r>
              <a:rPr sz="900" b="0" i="0">
                <a:solidFill>
                  <a:srgbClr val="1F2937"/>
                </a:solidFill>
                <a:latin typeface="Calibri"/>
              </a:rPr>
              <a:t>{{DAY_3_EVT_4_TITLE}}</a:t>
            </a:r>
          </a:p>
        </p:txBody>
      </p:sp>
      <p:sp>
        <p:nvSpPr>
          <p:cNvPr id="60" name="Rounded Rectangle 59"/>
          <p:cNvSpPr/>
          <p:nvPr/>
        </p:nvSpPr>
        <p:spPr>
          <a:xfrm>
            <a:off x="548640" y="3794760"/>
            <a:ext cx="11091672" cy="777240"/>
          </a:xfrm>
          <a:prstGeom prst="roundRect">
            <a:avLst>
              <a:gd name="adj" fmla="val 8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548640" y="3794760"/>
            <a:ext cx="1280160" cy="77724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48640" y="3840480"/>
            <a:ext cx="1280160" cy="320040"/>
          </a:xfrm>
          <a:prstGeom prst="rect">
            <a:avLst/>
          </a:prstGeom>
          <a:noFill/>
        </p:spPr>
        <p:txBody>
          <a:bodyPr wrap="square" lIns="0" rIns="0" tIns="0" bIns="0" anchor="t">
            <a:spAutoFit/>
          </a:bodyPr>
          <a:lstStyle/>
          <a:p>
            <a:pPr algn="ctr"/>
            <a:r>
              <a:rPr sz="1100" b="1" i="0">
                <a:solidFill>
                  <a:srgbClr val="FFFFFF"/>
                </a:solidFill>
                <a:latin typeface="Calibri"/>
              </a:rPr>
              <a:t>Thứ 5</a:t>
            </a:r>
          </a:p>
        </p:txBody>
      </p:sp>
      <p:sp>
        <p:nvSpPr>
          <p:cNvPr id="63" name="TextBox 62"/>
          <p:cNvSpPr txBox="1"/>
          <p:nvPr/>
        </p:nvSpPr>
        <p:spPr>
          <a:xfrm>
            <a:off x="548640" y="4160520"/>
            <a:ext cx="1280160" cy="274320"/>
          </a:xfrm>
          <a:prstGeom prst="rect">
            <a:avLst/>
          </a:prstGeom>
          <a:noFill/>
        </p:spPr>
        <p:txBody>
          <a:bodyPr wrap="square" lIns="0" rIns="0" tIns="0" bIns="0" anchor="t">
            <a:spAutoFit/>
          </a:bodyPr>
          <a:lstStyle/>
          <a:p>
            <a:pPr algn="ctr"/>
            <a:r>
              <a:rPr sz="1000" b="0" i="0">
                <a:solidFill>
                  <a:srgbClr val="FFFFFF"/>
                </a:solidFill>
                <a:latin typeface="Calibri"/>
              </a:rPr>
              <a:t>{{DAY_4_DATE}}</a:t>
            </a:r>
          </a:p>
        </p:txBody>
      </p:sp>
      <p:sp>
        <p:nvSpPr>
          <p:cNvPr id="64" name="TextBox 63"/>
          <p:cNvSpPr txBox="1"/>
          <p:nvPr/>
        </p:nvSpPr>
        <p:spPr>
          <a:xfrm>
            <a:off x="548640" y="4297680"/>
            <a:ext cx="1280160" cy="228600"/>
          </a:xfrm>
          <a:prstGeom prst="rect">
            <a:avLst/>
          </a:prstGeom>
          <a:noFill/>
        </p:spPr>
        <p:txBody>
          <a:bodyPr wrap="square" lIns="0" rIns="0" tIns="0" bIns="0" anchor="t">
            <a:spAutoFit/>
          </a:bodyPr>
          <a:lstStyle/>
          <a:p>
            <a:pPr algn="ctr"/>
            <a:r>
              <a:rPr sz="900" b="0" i="1">
                <a:solidFill>
                  <a:srgbClr val="FFFFFF"/>
                </a:solidFill>
                <a:latin typeface="Calibri"/>
              </a:rPr>
              <a:t>{{DAY_4_COUNT}}</a:t>
            </a:r>
          </a:p>
        </p:txBody>
      </p:sp>
      <p:sp>
        <p:nvSpPr>
          <p:cNvPr id="65" name="Rectangle 64"/>
          <p:cNvSpPr/>
          <p:nvPr/>
        </p:nvSpPr>
        <p:spPr>
          <a:xfrm>
            <a:off x="1965960" y="388620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965960" y="3931920"/>
            <a:ext cx="2350008" cy="228600"/>
          </a:xfrm>
          <a:prstGeom prst="rect">
            <a:avLst/>
          </a:prstGeom>
          <a:noFill/>
        </p:spPr>
        <p:txBody>
          <a:bodyPr wrap="square" lIns="0" rIns="0" tIns="0" bIns="0" anchor="t">
            <a:spAutoFit/>
          </a:bodyPr>
          <a:lstStyle/>
          <a:p>
            <a:pPr algn="l"/>
            <a:r>
              <a:rPr sz="800" b="0" i="1">
                <a:solidFill>
                  <a:srgbClr val="7C3AED"/>
                </a:solidFill>
                <a:latin typeface="Calibri"/>
              </a:rPr>
              <a:t>{{DAY_4_EVT_1_TIME}}</a:t>
            </a:r>
          </a:p>
        </p:txBody>
      </p:sp>
      <p:sp>
        <p:nvSpPr>
          <p:cNvPr id="67" name="TextBox 66"/>
          <p:cNvSpPr txBox="1"/>
          <p:nvPr/>
        </p:nvSpPr>
        <p:spPr>
          <a:xfrm>
            <a:off x="1965960" y="4160520"/>
            <a:ext cx="2350008" cy="274319"/>
          </a:xfrm>
          <a:prstGeom prst="rect">
            <a:avLst/>
          </a:prstGeom>
          <a:noFill/>
        </p:spPr>
        <p:txBody>
          <a:bodyPr wrap="square" lIns="0" rIns="0" tIns="0" bIns="0" anchor="t">
            <a:spAutoFit/>
          </a:bodyPr>
          <a:lstStyle/>
          <a:p>
            <a:pPr algn="l"/>
            <a:r>
              <a:rPr sz="900" b="0" i="0">
                <a:solidFill>
                  <a:srgbClr val="1F2937"/>
                </a:solidFill>
                <a:latin typeface="Calibri"/>
              </a:rPr>
              <a:t>{{DAY_4_EVT_1_TITLE}}</a:t>
            </a:r>
          </a:p>
        </p:txBody>
      </p:sp>
      <p:sp>
        <p:nvSpPr>
          <p:cNvPr id="68" name="Rectangle 67"/>
          <p:cNvSpPr/>
          <p:nvPr/>
        </p:nvSpPr>
        <p:spPr>
          <a:xfrm>
            <a:off x="4407408" y="388620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407408" y="3931920"/>
            <a:ext cx="2350008" cy="228600"/>
          </a:xfrm>
          <a:prstGeom prst="rect">
            <a:avLst/>
          </a:prstGeom>
          <a:noFill/>
        </p:spPr>
        <p:txBody>
          <a:bodyPr wrap="square" lIns="0" rIns="0" tIns="0" bIns="0" anchor="t">
            <a:spAutoFit/>
          </a:bodyPr>
          <a:lstStyle/>
          <a:p>
            <a:pPr algn="l"/>
            <a:r>
              <a:rPr sz="800" b="0" i="1">
                <a:solidFill>
                  <a:srgbClr val="7C3AED"/>
                </a:solidFill>
                <a:latin typeface="Calibri"/>
              </a:rPr>
              <a:t>{{DAY_4_EVT_2_TIME}}</a:t>
            </a:r>
          </a:p>
        </p:txBody>
      </p:sp>
      <p:sp>
        <p:nvSpPr>
          <p:cNvPr id="70" name="TextBox 69"/>
          <p:cNvSpPr txBox="1"/>
          <p:nvPr/>
        </p:nvSpPr>
        <p:spPr>
          <a:xfrm>
            <a:off x="4407408" y="4160520"/>
            <a:ext cx="2350008" cy="274319"/>
          </a:xfrm>
          <a:prstGeom prst="rect">
            <a:avLst/>
          </a:prstGeom>
          <a:noFill/>
        </p:spPr>
        <p:txBody>
          <a:bodyPr wrap="square" lIns="0" rIns="0" tIns="0" bIns="0" anchor="t">
            <a:spAutoFit/>
          </a:bodyPr>
          <a:lstStyle/>
          <a:p>
            <a:pPr algn="l"/>
            <a:r>
              <a:rPr sz="900" b="0" i="0">
                <a:solidFill>
                  <a:srgbClr val="1F2937"/>
                </a:solidFill>
                <a:latin typeface="Calibri"/>
              </a:rPr>
              <a:t>{{DAY_4_EVT_2_TITLE}}</a:t>
            </a:r>
          </a:p>
        </p:txBody>
      </p:sp>
      <p:sp>
        <p:nvSpPr>
          <p:cNvPr id="71" name="Rectangle 70"/>
          <p:cNvSpPr/>
          <p:nvPr/>
        </p:nvSpPr>
        <p:spPr>
          <a:xfrm>
            <a:off x="6848856" y="388620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848856" y="3931920"/>
            <a:ext cx="2350008" cy="228600"/>
          </a:xfrm>
          <a:prstGeom prst="rect">
            <a:avLst/>
          </a:prstGeom>
          <a:noFill/>
        </p:spPr>
        <p:txBody>
          <a:bodyPr wrap="square" lIns="0" rIns="0" tIns="0" bIns="0" anchor="t">
            <a:spAutoFit/>
          </a:bodyPr>
          <a:lstStyle/>
          <a:p>
            <a:pPr algn="l"/>
            <a:r>
              <a:rPr sz="800" b="0" i="1">
                <a:solidFill>
                  <a:srgbClr val="7C3AED"/>
                </a:solidFill>
                <a:latin typeface="Calibri"/>
              </a:rPr>
              <a:t>{{DAY_4_EVT_3_TIME}}</a:t>
            </a:r>
          </a:p>
        </p:txBody>
      </p:sp>
      <p:sp>
        <p:nvSpPr>
          <p:cNvPr id="73" name="TextBox 72"/>
          <p:cNvSpPr txBox="1"/>
          <p:nvPr/>
        </p:nvSpPr>
        <p:spPr>
          <a:xfrm>
            <a:off x="6848856" y="4160520"/>
            <a:ext cx="2350008" cy="274319"/>
          </a:xfrm>
          <a:prstGeom prst="rect">
            <a:avLst/>
          </a:prstGeom>
          <a:noFill/>
        </p:spPr>
        <p:txBody>
          <a:bodyPr wrap="square" lIns="0" rIns="0" tIns="0" bIns="0" anchor="t">
            <a:spAutoFit/>
          </a:bodyPr>
          <a:lstStyle/>
          <a:p>
            <a:pPr algn="l"/>
            <a:r>
              <a:rPr sz="900" b="0" i="0">
                <a:solidFill>
                  <a:srgbClr val="1F2937"/>
                </a:solidFill>
                <a:latin typeface="Calibri"/>
              </a:rPr>
              <a:t>{{DAY_4_EVT_3_TITLE}}</a:t>
            </a:r>
          </a:p>
        </p:txBody>
      </p:sp>
      <p:sp>
        <p:nvSpPr>
          <p:cNvPr id="74" name="Rectangle 73"/>
          <p:cNvSpPr/>
          <p:nvPr/>
        </p:nvSpPr>
        <p:spPr>
          <a:xfrm>
            <a:off x="9290304" y="388620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290304" y="3931920"/>
            <a:ext cx="2350008" cy="228600"/>
          </a:xfrm>
          <a:prstGeom prst="rect">
            <a:avLst/>
          </a:prstGeom>
          <a:noFill/>
        </p:spPr>
        <p:txBody>
          <a:bodyPr wrap="square" lIns="0" rIns="0" tIns="0" bIns="0" anchor="t">
            <a:spAutoFit/>
          </a:bodyPr>
          <a:lstStyle/>
          <a:p>
            <a:pPr algn="l"/>
            <a:r>
              <a:rPr sz="800" b="0" i="1">
                <a:solidFill>
                  <a:srgbClr val="7C3AED"/>
                </a:solidFill>
                <a:latin typeface="Calibri"/>
              </a:rPr>
              <a:t>{{DAY_4_EVT_4_TIME}}</a:t>
            </a:r>
          </a:p>
        </p:txBody>
      </p:sp>
      <p:sp>
        <p:nvSpPr>
          <p:cNvPr id="76" name="TextBox 75"/>
          <p:cNvSpPr txBox="1"/>
          <p:nvPr/>
        </p:nvSpPr>
        <p:spPr>
          <a:xfrm>
            <a:off x="9290304" y="4160520"/>
            <a:ext cx="2350008" cy="274319"/>
          </a:xfrm>
          <a:prstGeom prst="rect">
            <a:avLst/>
          </a:prstGeom>
          <a:noFill/>
        </p:spPr>
        <p:txBody>
          <a:bodyPr wrap="square" lIns="0" rIns="0" tIns="0" bIns="0" anchor="t">
            <a:spAutoFit/>
          </a:bodyPr>
          <a:lstStyle/>
          <a:p>
            <a:pPr algn="l"/>
            <a:r>
              <a:rPr sz="900" b="0" i="0">
                <a:solidFill>
                  <a:srgbClr val="1F2937"/>
                </a:solidFill>
                <a:latin typeface="Calibri"/>
              </a:rPr>
              <a:t>{{DAY_4_EVT_4_TITLE}}</a:t>
            </a:r>
          </a:p>
        </p:txBody>
      </p:sp>
      <p:sp>
        <p:nvSpPr>
          <p:cNvPr id="77" name="Rounded Rectangle 76"/>
          <p:cNvSpPr/>
          <p:nvPr/>
        </p:nvSpPr>
        <p:spPr>
          <a:xfrm>
            <a:off x="548640" y="4617720"/>
            <a:ext cx="11091672" cy="777240"/>
          </a:xfrm>
          <a:prstGeom prst="roundRect">
            <a:avLst>
              <a:gd name="adj" fmla="val 8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548640" y="4617720"/>
            <a:ext cx="1280160" cy="77724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48640" y="4663440"/>
            <a:ext cx="1280160" cy="320040"/>
          </a:xfrm>
          <a:prstGeom prst="rect">
            <a:avLst/>
          </a:prstGeom>
          <a:noFill/>
        </p:spPr>
        <p:txBody>
          <a:bodyPr wrap="square" lIns="0" rIns="0" tIns="0" bIns="0" anchor="t">
            <a:spAutoFit/>
          </a:bodyPr>
          <a:lstStyle/>
          <a:p>
            <a:pPr algn="ctr"/>
            <a:r>
              <a:rPr sz="1100" b="1" i="0">
                <a:solidFill>
                  <a:srgbClr val="FFFFFF"/>
                </a:solidFill>
                <a:latin typeface="Calibri"/>
              </a:rPr>
              <a:t>Thứ 6</a:t>
            </a:r>
          </a:p>
        </p:txBody>
      </p:sp>
      <p:sp>
        <p:nvSpPr>
          <p:cNvPr id="80" name="TextBox 79"/>
          <p:cNvSpPr txBox="1"/>
          <p:nvPr/>
        </p:nvSpPr>
        <p:spPr>
          <a:xfrm>
            <a:off x="548640" y="4983480"/>
            <a:ext cx="1280160" cy="274320"/>
          </a:xfrm>
          <a:prstGeom prst="rect">
            <a:avLst/>
          </a:prstGeom>
          <a:noFill/>
        </p:spPr>
        <p:txBody>
          <a:bodyPr wrap="square" lIns="0" rIns="0" tIns="0" bIns="0" anchor="t">
            <a:spAutoFit/>
          </a:bodyPr>
          <a:lstStyle/>
          <a:p>
            <a:pPr algn="ctr"/>
            <a:r>
              <a:rPr sz="1000" b="0" i="0">
                <a:solidFill>
                  <a:srgbClr val="FFFFFF"/>
                </a:solidFill>
                <a:latin typeface="Calibri"/>
              </a:rPr>
              <a:t>{{DAY_5_DATE}}</a:t>
            </a:r>
          </a:p>
        </p:txBody>
      </p:sp>
      <p:sp>
        <p:nvSpPr>
          <p:cNvPr id="81" name="TextBox 80"/>
          <p:cNvSpPr txBox="1"/>
          <p:nvPr/>
        </p:nvSpPr>
        <p:spPr>
          <a:xfrm>
            <a:off x="548640" y="5120640"/>
            <a:ext cx="1280160" cy="228600"/>
          </a:xfrm>
          <a:prstGeom prst="rect">
            <a:avLst/>
          </a:prstGeom>
          <a:noFill/>
        </p:spPr>
        <p:txBody>
          <a:bodyPr wrap="square" lIns="0" rIns="0" tIns="0" bIns="0" anchor="t">
            <a:spAutoFit/>
          </a:bodyPr>
          <a:lstStyle/>
          <a:p>
            <a:pPr algn="ctr"/>
            <a:r>
              <a:rPr sz="900" b="0" i="1">
                <a:solidFill>
                  <a:srgbClr val="FFFFFF"/>
                </a:solidFill>
                <a:latin typeface="Calibri"/>
              </a:rPr>
              <a:t>{{DAY_5_COUNT}}</a:t>
            </a:r>
          </a:p>
        </p:txBody>
      </p:sp>
      <p:sp>
        <p:nvSpPr>
          <p:cNvPr id="82" name="Rectangle 81"/>
          <p:cNvSpPr/>
          <p:nvPr/>
        </p:nvSpPr>
        <p:spPr>
          <a:xfrm>
            <a:off x="1965960" y="470916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965960" y="4754880"/>
            <a:ext cx="2350008" cy="228600"/>
          </a:xfrm>
          <a:prstGeom prst="rect">
            <a:avLst/>
          </a:prstGeom>
          <a:noFill/>
        </p:spPr>
        <p:txBody>
          <a:bodyPr wrap="square" lIns="0" rIns="0" tIns="0" bIns="0" anchor="t">
            <a:spAutoFit/>
          </a:bodyPr>
          <a:lstStyle/>
          <a:p>
            <a:pPr algn="l"/>
            <a:r>
              <a:rPr sz="800" b="0" i="1">
                <a:solidFill>
                  <a:srgbClr val="7C3AED"/>
                </a:solidFill>
                <a:latin typeface="Calibri"/>
              </a:rPr>
              <a:t>{{DAY_5_EVT_1_TIME}}</a:t>
            </a:r>
          </a:p>
        </p:txBody>
      </p:sp>
      <p:sp>
        <p:nvSpPr>
          <p:cNvPr id="84" name="TextBox 83"/>
          <p:cNvSpPr txBox="1"/>
          <p:nvPr/>
        </p:nvSpPr>
        <p:spPr>
          <a:xfrm>
            <a:off x="1965960" y="4983480"/>
            <a:ext cx="2350008" cy="274319"/>
          </a:xfrm>
          <a:prstGeom prst="rect">
            <a:avLst/>
          </a:prstGeom>
          <a:noFill/>
        </p:spPr>
        <p:txBody>
          <a:bodyPr wrap="square" lIns="0" rIns="0" tIns="0" bIns="0" anchor="t">
            <a:spAutoFit/>
          </a:bodyPr>
          <a:lstStyle/>
          <a:p>
            <a:pPr algn="l"/>
            <a:r>
              <a:rPr sz="900" b="0" i="0">
                <a:solidFill>
                  <a:srgbClr val="1F2937"/>
                </a:solidFill>
                <a:latin typeface="Calibri"/>
              </a:rPr>
              <a:t>{{DAY_5_EVT_1_TITLE}}</a:t>
            </a:r>
          </a:p>
        </p:txBody>
      </p:sp>
      <p:sp>
        <p:nvSpPr>
          <p:cNvPr id="85" name="Rectangle 84"/>
          <p:cNvSpPr/>
          <p:nvPr/>
        </p:nvSpPr>
        <p:spPr>
          <a:xfrm>
            <a:off x="4407408" y="470916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407408" y="4754880"/>
            <a:ext cx="2350008" cy="228600"/>
          </a:xfrm>
          <a:prstGeom prst="rect">
            <a:avLst/>
          </a:prstGeom>
          <a:noFill/>
        </p:spPr>
        <p:txBody>
          <a:bodyPr wrap="square" lIns="0" rIns="0" tIns="0" bIns="0" anchor="t">
            <a:spAutoFit/>
          </a:bodyPr>
          <a:lstStyle/>
          <a:p>
            <a:pPr algn="l"/>
            <a:r>
              <a:rPr sz="800" b="0" i="1">
                <a:solidFill>
                  <a:srgbClr val="7C3AED"/>
                </a:solidFill>
                <a:latin typeface="Calibri"/>
              </a:rPr>
              <a:t>{{DAY_5_EVT_2_TIME}}</a:t>
            </a:r>
          </a:p>
        </p:txBody>
      </p:sp>
      <p:sp>
        <p:nvSpPr>
          <p:cNvPr id="87" name="TextBox 86"/>
          <p:cNvSpPr txBox="1"/>
          <p:nvPr/>
        </p:nvSpPr>
        <p:spPr>
          <a:xfrm>
            <a:off x="4407408" y="4983480"/>
            <a:ext cx="2350008" cy="274319"/>
          </a:xfrm>
          <a:prstGeom prst="rect">
            <a:avLst/>
          </a:prstGeom>
          <a:noFill/>
        </p:spPr>
        <p:txBody>
          <a:bodyPr wrap="square" lIns="0" rIns="0" tIns="0" bIns="0" anchor="t">
            <a:spAutoFit/>
          </a:bodyPr>
          <a:lstStyle/>
          <a:p>
            <a:pPr algn="l"/>
            <a:r>
              <a:rPr sz="900" b="0" i="0">
                <a:solidFill>
                  <a:srgbClr val="1F2937"/>
                </a:solidFill>
                <a:latin typeface="Calibri"/>
              </a:rPr>
              <a:t>{{DAY_5_EVT_2_TITLE}}</a:t>
            </a:r>
          </a:p>
        </p:txBody>
      </p:sp>
      <p:sp>
        <p:nvSpPr>
          <p:cNvPr id="88" name="Rectangle 87"/>
          <p:cNvSpPr/>
          <p:nvPr/>
        </p:nvSpPr>
        <p:spPr>
          <a:xfrm>
            <a:off x="6848856" y="470916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848856" y="4754880"/>
            <a:ext cx="2350008" cy="228600"/>
          </a:xfrm>
          <a:prstGeom prst="rect">
            <a:avLst/>
          </a:prstGeom>
          <a:noFill/>
        </p:spPr>
        <p:txBody>
          <a:bodyPr wrap="square" lIns="0" rIns="0" tIns="0" bIns="0" anchor="t">
            <a:spAutoFit/>
          </a:bodyPr>
          <a:lstStyle/>
          <a:p>
            <a:pPr algn="l"/>
            <a:r>
              <a:rPr sz="800" b="0" i="1">
                <a:solidFill>
                  <a:srgbClr val="7C3AED"/>
                </a:solidFill>
                <a:latin typeface="Calibri"/>
              </a:rPr>
              <a:t>{{DAY_5_EVT_3_TIME}}</a:t>
            </a:r>
          </a:p>
        </p:txBody>
      </p:sp>
      <p:sp>
        <p:nvSpPr>
          <p:cNvPr id="90" name="TextBox 89"/>
          <p:cNvSpPr txBox="1"/>
          <p:nvPr/>
        </p:nvSpPr>
        <p:spPr>
          <a:xfrm>
            <a:off x="6848856" y="4983480"/>
            <a:ext cx="2350008" cy="274319"/>
          </a:xfrm>
          <a:prstGeom prst="rect">
            <a:avLst/>
          </a:prstGeom>
          <a:noFill/>
        </p:spPr>
        <p:txBody>
          <a:bodyPr wrap="square" lIns="0" rIns="0" tIns="0" bIns="0" anchor="t">
            <a:spAutoFit/>
          </a:bodyPr>
          <a:lstStyle/>
          <a:p>
            <a:pPr algn="l"/>
            <a:r>
              <a:rPr sz="900" b="0" i="0">
                <a:solidFill>
                  <a:srgbClr val="1F2937"/>
                </a:solidFill>
                <a:latin typeface="Calibri"/>
              </a:rPr>
              <a:t>{{DAY_5_EVT_3_TITLE}}</a:t>
            </a:r>
          </a:p>
        </p:txBody>
      </p:sp>
      <p:sp>
        <p:nvSpPr>
          <p:cNvPr id="91" name="Rectangle 90"/>
          <p:cNvSpPr/>
          <p:nvPr/>
        </p:nvSpPr>
        <p:spPr>
          <a:xfrm>
            <a:off x="9290304" y="470916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290304" y="4754880"/>
            <a:ext cx="2350008" cy="228600"/>
          </a:xfrm>
          <a:prstGeom prst="rect">
            <a:avLst/>
          </a:prstGeom>
          <a:noFill/>
        </p:spPr>
        <p:txBody>
          <a:bodyPr wrap="square" lIns="0" rIns="0" tIns="0" bIns="0" anchor="t">
            <a:spAutoFit/>
          </a:bodyPr>
          <a:lstStyle/>
          <a:p>
            <a:pPr algn="l"/>
            <a:r>
              <a:rPr sz="800" b="0" i="1">
                <a:solidFill>
                  <a:srgbClr val="7C3AED"/>
                </a:solidFill>
                <a:latin typeface="Calibri"/>
              </a:rPr>
              <a:t>{{DAY_5_EVT_4_TIME}}</a:t>
            </a:r>
          </a:p>
        </p:txBody>
      </p:sp>
      <p:sp>
        <p:nvSpPr>
          <p:cNvPr id="93" name="TextBox 92"/>
          <p:cNvSpPr txBox="1"/>
          <p:nvPr/>
        </p:nvSpPr>
        <p:spPr>
          <a:xfrm>
            <a:off x="9290304" y="4983480"/>
            <a:ext cx="2350008" cy="274319"/>
          </a:xfrm>
          <a:prstGeom prst="rect">
            <a:avLst/>
          </a:prstGeom>
          <a:noFill/>
        </p:spPr>
        <p:txBody>
          <a:bodyPr wrap="square" lIns="0" rIns="0" tIns="0" bIns="0" anchor="t">
            <a:spAutoFit/>
          </a:bodyPr>
          <a:lstStyle/>
          <a:p>
            <a:pPr algn="l"/>
            <a:r>
              <a:rPr sz="900" b="0" i="0">
                <a:solidFill>
                  <a:srgbClr val="1F2937"/>
                </a:solidFill>
                <a:latin typeface="Calibri"/>
              </a:rPr>
              <a:t>{{DAY_5_EVT_4_TITLE}}</a:t>
            </a:r>
          </a:p>
        </p:txBody>
      </p:sp>
      <p:sp>
        <p:nvSpPr>
          <p:cNvPr id="94" name="Rounded Rectangle 93"/>
          <p:cNvSpPr/>
          <p:nvPr/>
        </p:nvSpPr>
        <p:spPr>
          <a:xfrm>
            <a:off x="548640" y="5440680"/>
            <a:ext cx="11091672" cy="411480"/>
          </a:xfrm>
          <a:prstGeom prst="roundRect">
            <a:avLst>
              <a:gd name="adj" fmla="val 8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548640" y="5440680"/>
            <a:ext cx="1280160" cy="411480"/>
          </a:xfrm>
          <a:prstGeom prst="roundRect">
            <a:avLst>
              <a:gd name="adj" fmla="val 8000"/>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5486400"/>
            <a:ext cx="1280160" cy="320040"/>
          </a:xfrm>
          <a:prstGeom prst="rect">
            <a:avLst/>
          </a:prstGeom>
          <a:noFill/>
        </p:spPr>
        <p:txBody>
          <a:bodyPr wrap="square" lIns="0" rIns="0" tIns="0" bIns="0" anchor="t">
            <a:spAutoFit/>
          </a:bodyPr>
          <a:lstStyle/>
          <a:p>
            <a:pPr algn="ctr"/>
            <a:r>
              <a:rPr sz="1100" b="1" i="0">
                <a:solidFill>
                  <a:srgbClr val="FFFFFF"/>
                </a:solidFill>
                <a:latin typeface="Calibri"/>
              </a:rPr>
              <a:t>Thứ 7</a:t>
            </a:r>
          </a:p>
        </p:txBody>
      </p:sp>
      <p:sp>
        <p:nvSpPr>
          <p:cNvPr id="97" name="TextBox 96"/>
          <p:cNvSpPr txBox="1"/>
          <p:nvPr/>
        </p:nvSpPr>
        <p:spPr>
          <a:xfrm>
            <a:off x="548640" y="5806440"/>
            <a:ext cx="1280160" cy="274320"/>
          </a:xfrm>
          <a:prstGeom prst="rect">
            <a:avLst/>
          </a:prstGeom>
          <a:noFill/>
        </p:spPr>
        <p:txBody>
          <a:bodyPr wrap="square" lIns="0" rIns="0" tIns="0" bIns="0" anchor="t">
            <a:spAutoFit/>
          </a:bodyPr>
          <a:lstStyle/>
          <a:p>
            <a:pPr algn="ctr"/>
            <a:r>
              <a:rPr sz="1000" b="0" i="0">
                <a:solidFill>
                  <a:srgbClr val="FFFFFF"/>
                </a:solidFill>
                <a:latin typeface="Calibri"/>
              </a:rPr>
              <a:t>{{DAY_6_DATE}}</a:t>
            </a:r>
          </a:p>
        </p:txBody>
      </p:sp>
      <p:sp>
        <p:nvSpPr>
          <p:cNvPr id="98" name="TextBox 97"/>
          <p:cNvSpPr txBox="1"/>
          <p:nvPr/>
        </p:nvSpPr>
        <p:spPr>
          <a:xfrm>
            <a:off x="548640" y="5577840"/>
            <a:ext cx="1280160" cy="228600"/>
          </a:xfrm>
          <a:prstGeom prst="rect">
            <a:avLst/>
          </a:prstGeom>
          <a:noFill/>
        </p:spPr>
        <p:txBody>
          <a:bodyPr wrap="square" lIns="0" rIns="0" tIns="0" bIns="0" anchor="t">
            <a:spAutoFit/>
          </a:bodyPr>
          <a:lstStyle/>
          <a:p>
            <a:pPr algn="ctr"/>
            <a:r>
              <a:rPr sz="900" b="0" i="1">
                <a:solidFill>
                  <a:srgbClr val="FFFFFF"/>
                </a:solidFill>
                <a:latin typeface="Calibri"/>
              </a:rPr>
              <a:t>{{DAY_6_COUNT}}</a:t>
            </a:r>
          </a:p>
        </p:txBody>
      </p:sp>
      <p:sp>
        <p:nvSpPr>
          <p:cNvPr id="99" name="Rectangle 98"/>
          <p:cNvSpPr/>
          <p:nvPr/>
        </p:nvSpPr>
        <p:spPr>
          <a:xfrm>
            <a:off x="1965960" y="55321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965960" y="55778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{{DAY_6_EVT_1_TIME}}</a:t>
            </a:r>
          </a:p>
        </p:txBody>
      </p:sp>
      <p:sp>
        <p:nvSpPr>
          <p:cNvPr id="101" name="TextBox 100"/>
          <p:cNvSpPr txBox="1"/>
          <p:nvPr/>
        </p:nvSpPr>
        <p:spPr>
          <a:xfrm>
            <a:off x="1965960" y="5806440"/>
            <a:ext cx="2350008" cy="-91439"/>
          </a:xfrm>
          <a:prstGeom prst="rect">
            <a:avLst/>
          </a:prstGeom>
          <a:noFill/>
        </p:spPr>
        <p:txBody>
          <a:bodyPr wrap="square" lIns="0" rIns="0" tIns="0" bIns="0" anchor="t">
            <a:spAutoFit/>
          </a:bodyPr>
          <a:lstStyle/>
          <a:p>
            <a:pPr algn="l"/>
            <a:r>
              <a:rPr sz="800" b="0" i="0">
                <a:solidFill>
                  <a:srgbClr val="6B7280"/>
                </a:solidFill>
                <a:latin typeface="Calibri"/>
              </a:rPr>
              <a:t>{{DAY_6_EVT_1_TITLE}}</a:t>
            </a:r>
          </a:p>
        </p:txBody>
      </p:sp>
      <p:sp>
        <p:nvSpPr>
          <p:cNvPr id="102" name="Rectangle 101"/>
          <p:cNvSpPr/>
          <p:nvPr/>
        </p:nvSpPr>
        <p:spPr>
          <a:xfrm>
            <a:off x="4407408" y="55321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407408" y="55778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{{DAY_6_EVT_2_TIME}}</a:t>
            </a:r>
          </a:p>
        </p:txBody>
      </p:sp>
      <p:sp>
        <p:nvSpPr>
          <p:cNvPr id="104" name="TextBox 103"/>
          <p:cNvSpPr txBox="1"/>
          <p:nvPr/>
        </p:nvSpPr>
        <p:spPr>
          <a:xfrm>
            <a:off x="4407408" y="5806440"/>
            <a:ext cx="2350008" cy="-91439"/>
          </a:xfrm>
          <a:prstGeom prst="rect">
            <a:avLst/>
          </a:prstGeom>
          <a:noFill/>
        </p:spPr>
        <p:txBody>
          <a:bodyPr wrap="square" lIns="0" rIns="0" tIns="0" bIns="0" anchor="t">
            <a:spAutoFit/>
          </a:bodyPr>
          <a:lstStyle/>
          <a:p>
            <a:pPr algn="l"/>
            <a:r>
              <a:rPr sz="800" b="0" i="0">
                <a:solidFill>
                  <a:srgbClr val="6B7280"/>
                </a:solidFill>
                <a:latin typeface="Calibri"/>
              </a:rPr>
              <a:t>{{DAY_6_EVT_2_TITLE}}</a:t>
            </a:r>
          </a:p>
        </p:txBody>
      </p:sp>
      <p:sp>
        <p:nvSpPr>
          <p:cNvPr id="105" name="Rectangle 104"/>
          <p:cNvSpPr/>
          <p:nvPr/>
        </p:nvSpPr>
        <p:spPr>
          <a:xfrm>
            <a:off x="6848856" y="55321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848856" y="55778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{{DAY_6_EVT_3_TIME}}</a:t>
            </a:r>
          </a:p>
        </p:txBody>
      </p:sp>
      <p:sp>
        <p:nvSpPr>
          <p:cNvPr id="107" name="TextBox 106"/>
          <p:cNvSpPr txBox="1"/>
          <p:nvPr/>
        </p:nvSpPr>
        <p:spPr>
          <a:xfrm>
            <a:off x="6848856" y="5806440"/>
            <a:ext cx="2350008" cy="-91439"/>
          </a:xfrm>
          <a:prstGeom prst="rect">
            <a:avLst/>
          </a:prstGeom>
          <a:noFill/>
        </p:spPr>
        <p:txBody>
          <a:bodyPr wrap="square" lIns="0" rIns="0" tIns="0" bIns="0" anchor="t">
            <a:spAutoFit/>
          </a:bodyPr>
          <a:lstStyle/>
          <a:p>
            <a:pPr algn="l"/>
            <a:r>
              <a:rPr sz="800" b="0" i="0">
                <a:solidFill>
                  <a:srgbClr val="6B7280"/>
                </a:solidFill>
                <a:latin typeface="Calibri"/>
              </a:rPr>
              <a:t>{{DAY_6_EVT_3_TITLE}}</a:t>
            </a:r>
          </a:p>
        </p:txBody>
      </p:sp>
      <p:sp>
        <p:nvSpPr>
          <p:cNvPr id="108" name="Rectangle 107"/>
          <p:cNvSpPr/>
          <p:nvPr/>
        </p:nvSpPr>
        <p:spPr>
          <a:xfrm>
            <a:off x="9290304" y="55321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9290304" y="55778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{{DAY_6_EVT_4_TIME}}</a:t>
            </a:r>
          </a:p>
        </p:txBody>
      </p:sp>
      <p:sp>
        <p:nvSpPr>
          <p:cNvPr id="110" name="TextBox 109"/>
          <p:cNvSpPr txBox="1"/>
          <p:nvPr/>
        </p:nvSpPr>
        <p:spPr>
          <a:xfrm>
            <a:off x="9290304" y="5806440"/>
            <a:ext cx="2350008" cy="-91439"/>
          </a:xfrm>
          <a:prstGeom prst="rect">
            <a:avLst/>
          </a:prstGeom>
          <a:noFill/>
        </p:spPr>
        <p:txBody>
          <a:bodyPr wrap="square" lIns="0" rIns="0" tIns="0" bIns="0" anchor="t">
            <a:spAutoFit/>
          </a:bodyPr>
          <a:lstStyle/>
          <a:p>
            <a:pPr algn="l"/>
            <a:r>
              <a:rPr sz="800" b="0" i="0">
                <a:solidFill>
                  <a:srgbClr val="6B7280"/>
                </a:solidFill>
                <a:latin typeface="Calibri"/>
              </a:rPr>
              <a:t>{{DAY_6_EVT_4_TITLE}}</a:t>
            </a:r>
          </a:p>
        </p:txBody>
      </p:sp>
      <p:sp>
        <p:nvSpPr>
          <p:cNvPr id="111" name="Rounded Rectangle 110"/>
          <p:cNvSpPr/>
          <p:nvPr/>
        </p:nvSpPr>
        <p:spPr>
          <a:xfrm>
            <a:off x="548640" y="5897880"/>
            <a:ext cx="11091672" cy="411480"/>
          </a:xfrm>
          <a:prstGeom prst="roundRect">
            <a:avLst>
              <a:gd name="adj" fmla="val 8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548640" y="5897880"/>
            <a:ext cx="1280160" cy="411480"/>
          </a:xfrm>
          <a:prstGeom prst="roundRect">
            <a:avLst>
              <a:gd name="adj" fmla="val 8000"/>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48640" y="5943600"/>
            <a:ext cx="1280160" cy="320040"/>
          </a:xfrm>
          <a:prstGeom prst="rect">
            <a:avLst/>
          </a:prstGeom>
          <a:noFill/>
        </p:spPr>
        <p:txBody>
          <a:bodyPr wrap="square" lIns="0" rIns="0" tIns="0" bIns="0" anchor="t">
            <a:spAutoFit/>
          </a:bodyPr>
          <a:lstStyle/>
          <a:p>
            <a:pPr algn="ctr"/>
            <a:r>
              <a:rPr sz="1100" b="1" i="0">
                <a:solidFill>
                  <a:srgbClr val="FFFFFF"/>
                </a:solidFill>
                <a:latin typeface="Calibri"/>
              </a:rPr>
              <a:t>Chủ nhật</a:t>
            </a:r>
          </a:p>
        </p:txBody>
      </p:sp>
      <p:sp>
        <p:nvSpPr>
          <p:cNvPr id="114" name="TextBox 113"/>
          <p:cNvSpPr txBox="1"/>
          <p:nvPr/>
        </p:nvSpPr>
        <p:spPr>
          <a:xfrm>
            <a:off x="548640" y="6263640"/>
            <a:ext cx="1280160" cy="274320"/>
          </a:xfrm>
          <a:prstGeom prst="rect">
            <a:avLst/>
          </a:prstGeom>
          <a:noFill/>
        </p:spPr>
        <p:txBody>
          <a:bodyPr wrap="square" lIns="0" rIns="0" tIns="0" bIns="0" anchor="t">
            <a:spAutoFit/>
          </a:bodyPr>
          <a:lstStyle/>
          <a:p>
            <a:pPr algn="ctr"/>
            <a:r>
              <a:rPr sz="1000" b="0" i="0">
                <a:solidFill>
                  <a:srgbClr val="FFFFFF"/>
                </a:solidFill>
                <a:latin typeface="Calibri"/>
              </a:rPr>
              <a:t>{{DAY_7_DATE}}</a:t>
            </a:r>
          </a:p>
        </p:txBody>
      </p:sp>
      <p:sp>
        <p:nvSpPr>
          <p:cNvPr id="115" name="TextBox 114"/>
          <p:cNvSpPr txBox="1"/>
          <p:nvPr/>
        </p:nvSpPr>
        <p:spPr>
          <a:xfrm>
            <a:off x="548640" y="6035040"/>
            <a:ext cx="1280160" cy="228600"/>
          </a:xfrm>
          <a:prstGeom prst="rect">
            <a:avLst/>
          </a:prstGeom>
          <a:noFill/>
        </p:spPr>
        <p:txBody>
          <a:bodyPr wrap="square" lIns="0" rIns="0" tIns="0" bIns="0" anchor="t">
            <a:spAutoFit/>
          </a:bodyPr>
          <a:lstStyle/>
          <a:p>
            <a:pPr algn="ctr"/>
            <a:r>
              <a:rPr sz="900" b="0" i="1">
                <a:solidFill>
                  <a:srgbClr val="FFFFFF"/>
                </a:solidFill>
                <a:latin typeface="Calibri"/>
              </a:rPr>
              <a:t>{{DAY_7_COUNT}}</a:t>
            </a:r>
          </a:p>
        </p:txBody>
      </p:sp>
      <p:sp>
        <p:nvSpPr>
          <p:cNvPr id="116" name="Rectangle 115"/>
          <p:cNvSpPr/>
          <p:nvPr/>
        </p:nvSpPr>
        <p:spPr>
          <a:xfrm>
            <a:off x="1965960" y="5989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965960" y="60350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{{DAY_7_EVT_1_TIME}}</a:t>
            </a:r>
          </a:p>
        </p:txBody>
      </p:sp>
      <p:sp>
        <p:nvSpPr>
          <p:cNvPr id="118" name="TextBox 117"/>
          <p:cNvSpPr txBox="1"/>
          <p:nvPr/>
        </p:nvSpPr>
        <p:spPr>
          <a:xfrm>
            <a:off x="1965960" y="6263640"/>
            <a:ext cx="2350008" cy="-91439"/>
          </a:xfrm>
          <a:prstGeom prst="rect">
            <a:avLst/>
          </a:prstGeom>
          <a:noFill/>
        </p:spPr>
        <p:txBody>
          <a:bodyPr wrap="square" lIns="0" rIns="0" tIns="0" bIns="0" anchor="t">
            <a:spAutoFit/>
          </a:bodyPr>
          <a:lstStyle/>
          <a:p>
            <a:pPr algn="l"/>
            <a:r>
              <a:rPr sz="800" b="0" i="0">
                <a:solidFill>
                  <a:srgbClr val="6B7280"/>
                </a:solidFill>
                <a:latin typeface="Calibri"/>
              </a:rPr>
              <a:t>{{DAY_7_EVT_1_TITLE}}</a:t>
            </a:r>
          </a:p>
        </p:txBody>
      </p:sp>
      <p:sp>
        <p:nvSpPr>
          <p:cNvPr id="119" name="Rectangle 118"/>
          <p:cNvSpPr/>
          <p:nvPr/>
        </p:nvSpPr>
        <p:spPr>
          <a:xfrm>
            <a:off x="4407408" y="5989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4407408" y="60350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{{DAY_7_EVT_2_TIME}}</a:t>
            </a:r>
          </a:p>
        </p:txBody>
      </p:sp>
      <p:sp>
        <p:nvSpPr>
          <p:cNvPr id="121" name="TextBox 120"/>
          <p:cNvSpPr txBox="1"/>
          <p:nvPr/>
        </p:nvSpPr>
        <p:spPr>
          <a:xfrm>
            <a:off x="4407408" y="6263640"/>
            <a:ext cx="2350008" cy="-91439"/>
          </a:xfrm>
          <a:prstGeom prst="rect">
            <a:avLst/>
          </a:prstGeom>
          <a:noFill/>
        </p:spPr>
        <p:txBody>
          <a:bodyPr wrap="square" lIns="0" rIns="0" tIns="0" bIns="0" anchor="t">
            <a:spAutoFit/>
          </a:bodyPr>
          <a:lstStyle/>
          <a:p>
            <a:pPr algn="l"/>
            <a:r>
              <a:rPr sz="800" b="0" i="0">
                <a:solidFill>
                  <a:srgbClr val="6B7280"/>
                </a:solidFill>
                <a:latin typeface="Calibri"/>
              </a:rPr>
              <a:t>{{DAY_7_EVT_2_TITLE}}</a:t>
            </a:r>
          </a:p>
        </p:txBody>
      </p:sp>
      <p:sp>
        <p:nvSpPr>
          <p:cNvPr id="122" name="Rectangle 121"/>
          <p:cNvSpPr/>
          <p:nvPr/>
        </p:nvSpPr>
        <p:spPr>
          <a:xfrm>
            <a:off x="6848856" y="5989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6848856" y="60350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{{DAY_7_EVT_3_TIME}}</a:t>
            </a:r>
          </a:p>
        </p:txBody>
      </p:sp>
      <p:sp>
        <p:nvSpPr>
          <p:cNvPr id="124" name="TextBox 123"/>
          <p:cNvSpPr txBox="1"/>
          <p:nvPr/>
        </p:nvSpPr>
        <p:spPr>
          <a:xfrm>
            <a:off x="6848856" y="6263640"/>
            <a:ext cx="2350008" cy="-91439"/>
          </a:xfrm>
          <a:prstGeom prst="rect">
            <a:avLst/>
          </a:prstGeom>
          <a:noFill/>
        </p:spPr>
        <p:txBody>
          <a:bodyPr wrap="square" lIns="0" rIns="0" tIns="0" bIns="0" anchor="t">
            <a:spAutoFit/>
          </a:bodyPr>
          <a:lstStyle/>
          <a:p>
            <a:pPr algn="l"/>
            <a:r>
              <a:rPr sz="800" b="0" i="0">
                <a:solidFill>
                  <a:srgbClr val="6B7280"/>
                </a:solidFill>
                <a:latin typeface="Calibri"/>
              </a:rPr>
              <a:t>{{DAY_7_EVT_3_TITLE}}</a:t>
            </a:r>
          </a:p>
        </p:txBody>
      </p:sp>
      <p:sp>
        <p:nvSpPr>
          <p:cNvPr id="125" name="Rectangle 124"/>
          <p:cNvSpPr/>
          <p:nvPr/>
        </p:nvSpPr>
        <p:spPr>
          <a:xfrm>
            <a:off x="9290304" y="5989320"/>
            <a:ext cx="2350008" cy="18288"/>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290304" y="6035040"/>
            <a:ext cx="2350008" cy="228600"/>
          </a:xfrm>
          <a:prstGeom prst="rect">
            <a:avLst/>
          </a:prstGeom>
          <a:noFill/>
        </p:spPr>
        <p:txBody>
          <a:bodyPr wrap="square" lIns="0" rIns="0" tIns="0" bIns="0" anchor="t">
            <a:spAutoFit/>
          </a:bodyPr>
          <a:lstStyle/>
          <a:p>
            <a:pPr algn="l"/>
            <a:r>
              <a:rPr sz="800" b="0" i="1">
                <a:solidFill>
                  <a:srgbClr val="9CA3AF"/>
                </a:solidFill>
                <a:latin typeface="Calibri"/>
              </a:rPr>
              <a:t>{{DAY_7_EVT_4_TIME}}</a:t>
            </a:r>
          </a:p>
        </p:txBody>
      </p:sp>
      <p:sp>
        <p:nvSpPr>
          <p:cNvPr id="127" name="TextBox 126"/>
          <p:cNvSpPr txBox="1"/>
          <p:nvPr/>
        </p:nvSpPr>
        <p:spPr>
          <a:xfrm>
            <a:off x="9290304" y="6263640"/>
            <a:ext cx="2350008" cy="-91439"/>
          </a:xfrm>
          <a:prstGeom prst="rect">
            <a:avLst/>
          </a:prstGeom>
          <a:noFill/>
        </p:spPr>
        <p:txBody>
          <a:bodyPr wrap="square" lIns="0" rIns="0" tIns="0" bIns="0" anchor="t">
            <a:spAutoFit/>
          </a:bodyPr>
          <a:lstStyle/>
          <a:p>
            <a:pPr algn="l"/>
            <a:r>
              <a:rPr sz="800" b="0" i="0">
                <a:solidFill>
                  <a:srgbClr val="6B7280"/>
                </a:solidFill>
                <a:latin typeface="Calibri"/>
              </a:rPr>
              <a:t>{{DAY_7_EVT_4_TITLE}}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name="LINE_CHART_FULL">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11091672" cy="36576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325880"/>
            <a:ext cx="10634472" cy="365760"/>
          </a:xfrm>
          <a:prstGeom prst="rect">
            <a:avLst/>
          </a:prstGeom>
          <a:noFill/>
        </p:spPr>
        <p:txBody>
          <a:bodyPr wrap="square" lIns="0" rIns="0" tIns="0" bIns="0" anchor="ctr">
            <a:spAutoFit/>
          </a:bodyPr>
          <a:lstStyle/>
          <a:p>
            <a:pPr algn="l"/>
            <a:r>
              <a:rPr sz="1200" b="1" i="0">
                <a:solidFill>
                  <a:srgbClr val="FFFFFF"/>
                </a:solidFill>
                <a:latin typeface="Calibri"/>
              </a:rPr>
              <a:t>{{CHART_TITLE}}</a:t>
            </a:r>
          </a:p>
        </p:txBody>
      </p:sp>
      <p:sp>
        <p:nvSpPr>
          <p:cNvPr id="11" name="Rounded Rectangle 10"/>
          <p:cNvSpPr/>
          <p:nvPr/>
        </p:nvSpPr>
        <p:spPr>
          <a:xfrm>
            <a:off x="548640" y="1783080"/>
            <a:ext cx="11091672" cy="3017520"/>
          </a:xfrm>
          <a:prstGeom prst="roundRect">
            <a:avLst>
              <a:gd name="adj" fmla="val 10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783080"/>
            <a:ext cx="11091672" cy="3017520"/>
          </a:xfrm>
          <a:prstGeom prst="rect">
            <a:avLst/>
          </a:prstGeom>
          <a:noFill/>
        </p:spPr>
        <p:txBody>
          <a:bodyPr wrap="square" lIns="0" rIns="0" tIns="0" bIns="0" anchor="ctr">
            <a:spAutoFit/>
          </a:bodyPr>
          <a:lstStyle/>
          <a:p>
            <a:pPr algn="ctr"/>
            <a:r>
              <a:rPr sz="1200" b="0" i="1">
                <a:solidFill>
                  <a:srgbClr val="9CA3AF"/>
                </a:solidFill>
                <a:latin typeface="Calibri"/>
              </a:rPr>
              <a:t>{{CHART_PLACEHOLDER}}</a:t>
            </a:r>
          </a:p>
        </p:txBody>
      </p:sp>
      <p:sp>
        <p:nvSpPr>
          <p:cNvPr id="13" name="TextBox 12"/>
          <p:cNvSpPr txBox="1"/>
          <p:nvPr/>
        </p:nvSpPr>
        <p:spPr>
          <a:xfrm>
            <a:off x="548640" y="4846320"/>
            <a:ext cx="11091672" cy="228600"/>
          </a:xfrm>
          <a:prstGeom prst="rect">
            <a:avLst/>
          </a:prstGeom>
          <a:noFill/>
        </p:spPr>
        <p:txBody>
          <a:bodyPr wrap="square" lIns="0" rIns="0" tIns="0" bIns="0" anchor="t">
            <a:spAutoFit/>
          </a:bodyPr>
          <a:lstStyle/>
          <a:p>
            <a:pPr algn="r"/>
            <a:r>
              <a:rPr sz="900" b="0" i="1">
                <a:solidFill>
                  <a:srgbClr val="9CA3AF"/>
                </a:solidFill>
                <a:latin typeface="Calibri"/>
              </a:rPr>
              <a:t>{{CHART_SOURCE}}</a:t>
            </a:r>
          </a:p>
        </p:txBody>
      </p:sp>
      <p:sp>
        <p:nvSpPr>
          <p:cNvPr id="14" name="Rounded Rectangle 13"/>
          <p:cNvSpPr/>
          <p:nvPr/>
        </p:nvSpPr>
        <p:spPr>
          <a:xfrm>
            <a:off x="548640" y="5166360"/>
            <a:ext cx="3605784" cy="11887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166360"/>
            <a:ext cx="54864" cy="1188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5276088"/>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17" name="TextBox 16"/>
          <p:cNvSpPr txBox="1"/>
          <p:nvPr/>
        </p:nvSpPr>
        <p:spPr>
          <a:xfrm>
            <a:off x="1234440" y="5303520"/>
            <a:ext cx="2828544" cy="274320"/>
          </a:xfrm>
          <a:prstGeom prst="rect">
            <a:avLst/>
          </a:prstGeom>
          <a:noFill/>
        </p:spPr>
        <p:txBody>
          <a:bodyPr wrap="square" lIns="0" rIns="0" tIns="0" bIns="0" anchor="t">
            <a:spAutoFit/>
          </a:bodyPr>
          <a:lstStyle/>
          <a:p>
            <a:pPr algn="l"/>
            <a:r>
              <a:rPr sz="1200" b="1" i="0">
                <a:solidFill>
                  <a:srgbClr val="1F2937"/>
                </a:solidFill>
                <a:latin typeface="Calibri"/>
              </a:rPr>
              <a:t>{{NOTE_1_TITLE}}</a:t>
            </a:r>
          </a:p>
        </p:txBody>
      </p:sp>
      <p:sp>
        <p:nvSpPr>
          <p:cNvPr id="18" name="TextBox 17"/>
          <p:cNvSpPr txBox="1"/>
          <p:nvPr/>
        </p:nvSpPr>
        <p:spPr>
          <a:xfrm>
            <a:off x="731520" y="5669280"/>
            <a:ext cx="3331464" cy="594360"/>
          </a:xfrm>
          <a:prstGeom prst="rect">
            <a:avLst/>
          </a:prstGeom>
          <a:noFill/>
        </p:spPr>
        <p:txBody>
          <a:bodyPr wrap="square" lIns="0" rIns="0" tIns="0" bIns="0" anchor="t">
            <a:spAutoFit/>
          </a:bodyPr>
          <a:lstStyle/>
          <a:p>
            <a:pPr algn="l"/>
            <a:r>
              <a:rPr sz="1000" b="0" i="1">
                <a:solidFill>
                  <a:srgbClr val="6B7280"/>
                </a:solidFill>
                <a:latin typeface="Calibri"/>
              </a:rPr>
              <a:t>{{NOTE_1_BODY}}</a:t>
            </a:r>
          </a:p>
        </p:txBody>
      </p:sp>
      <p:sp>
        <p:nvSpPr>
          <p:cNvPr id="19" name="Rounded Rectangle 18"/>
          <p:cNvSpPr/>
          <p:nvPr/>
        </p:nvSpPr>
        <p:spPr>
          <a:xfrm>
            <a:off x="4291584" y="5166360"/>
            <a:ext cx="3605784" cy="11887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1584" y="5166360"/>
            <a:ext cx="54864" cy="1188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74464" y="5276088"/>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22" name="TextBox 21"/>
          <p:cNvSpPr txBox="1"/>
          <p:nvPr/>
        </p:nvSpPr>
        <p:spPr>
          <a:xfrm>
            <a:off x="4977384" y="5303520"/>
            <a:ext cx="2828544" cy="274320"/>
          </a:xfrm>
          <a:prstGeom prst="rect">
            <a:avLst/>
          </a:prstGeom>
          <a:noFill/>
        </p:spPr>
        <p:txBody>
          <a:bodyPr wrap="square" lIns="0" rIns="0" tIns="0" bIns="0" anchor="t">
            <a:spAutoFit/>
          </a:bodyPr>
          <a:lstStyle/>
          <a:p>
            <a:pPr algn="l"/>
            <a:r>
              <a:rPr sz="1200" b="1" i="0">
                <a:solidFill>
                  <a:srgbClr val="1F2937"/>
                </a:solidFill>
                <a:latin typeface="Calibri"/>
              </a:rPr>
              <a:t>{{NOTE_2_TITLE}}</a:t>
            </a:r>
          </a:p>
        </p:txBody>
      </p:sp>
      <p:sp>
        <p:nvSpPr>
          <p:cNvPr id="23" name="TextBox 22"/>
          <p:cNvSpPr txBox="1"/>
          <p:nvPr/>
        </p:nvSpPr>
        <p:spPr>
          <a:xfrm>
            <a:off x="4474464" y="5669280"/>
            <a:ext cx="3331464" cy="594360"/>
          </a:xfrm>
          <a:prstGeom prst="rect">
            <a:avLst/>
          </a:prstGeom>
          <a:noFill/>
        </p:spPr>
        <p:txBody>
          <a:bodyPr wrap="square" lIns="0" rIns="0" tIns="0" bIns="0" anchor="t">
            <a:spAutoFit/>
          </a:bodyPr>
          <a:lstStyle/>
          <a:p>
            <a:pPr algn="l"/>
            <a:r>
              <a:rPr sz="1000" b="0" i="1">
                <a:solidFill>
                  <a:srgbClr val="6B7280"/>
                </a:solidFill>
                <a:latin typeface="Calibri"/>
              </a:rPr>
              <a:t>{{NOTE_2_BODY}}</a:t>
            </a:r>
          </a:p>
        </p:txBody>
      </p:sp>
      <p:sp>
        <p:nvSpPr>
          <p:cNvPr id="24" name="Rounded Rectangle 23"/>
          <p:cNvSpPr/>
          <p:nvPr/>
        </p:nvSpPr>
        <p:spPr>
          <a:xfrm>
            <a:off x="8034528" y="5166360"/>
            <a:ext cx="3605784" cy="11887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34528" y="5166360"/>
            <a:ext cx="54864" cy="1188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17408" y="5276088"/>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27" name="TextBox 26"/>
          <p:cNvSpPr txBox="1"/>
          <p:nvPr/>
        </p:nvSpPr>
        <p:spPr>
          <a:xfrm>
            <a:off x="8720328" y="5303520"/>
            <a:ext cx="2828544" cy="274320"/>
          </a:xfrm>
          <a:prstGeom prst="rect">
            <a:avLst/>
          </a:prstGeom>
          <a:noFill/>
        </p:spPr>
        <p:txBody>
          <a:bodyPr wrap="square" lIns="0" rIns="0" tIns="0" bIns="0" anchor="t">
            <a:spAutoFit/>
          </a:bodyPr>
          <a:lstStyle/>
          <a:p>
            <a:pPr algn="l"/>
            <a:r>
              <a:rPr sz="1200" b="1" i="0">
                <a:solidFill>
                  <a:srgbClr val="1F2937"/>
                </a:solidFill>
                <a:latin typeface="Calibri"/>
              </a:rPr>
              <a:t>{{NOTE_3_TITLE}}</a:t>
            </a:r>
          </a:p>
        </p:txBody>
      </p:sp>
      <p:sp>
        <p:nvSpPr>
          <p:cNvPr id="28" name="TextBox 27"/>
          <p:cNvSpPr txBox="1"/>
          <p:nvPr/>
        </p:nvSpPr>
        <p:spPr>
          <a:xfrm>
            <a:off x="8217408" y="5669280"/>
            <a:ext cx="3331464" cy="594360"/>
          </a:xfrm>
          <a:prstGeom prst="rect">
            <a:avLst/>
          </a:prstGeom>
          <a:noFill/>
        </p:spPr>
        <p:txBody>
          <a:bodyPr wrap="square" lIns="0" rIns="0" tIns="0" bIns="0" anchor="t">
            <a:spAutoFit/>
          </a:bodyPr>
          <a:lstStyle/>
          <a:p>
            <a:pPr algn="l"/>
            <a:r>
              <a:rPr sz="1000" b="0" i="1">
                <a:solidFill>
                  <a:srgbClr val="6B7280"/>
                </a:solidFill>
                <a:latin typeface="Calibri"/>
              </a:rPr>
              <a:t>{{NOTE_3_BODY}}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name="SCATTER_PEER">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Rounded Rectangle 8"/>
          <p:cNvSpPr/>
          <p:nvPr/>
        </p:nvSpPr>
        <p:spPr>
          <a:xfrm>
            <a:off x="548640" y="1325880"/>
            <a:ext cx="7772400" cy="365760"/>
          </a:xfrm>
          <a:prstGeom prst="roundRect">
            <a:avLst>
              <a:gd name="adj" fmla="val 12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325880"/>
            <a:ext cx="7406640" cy="365760"/>
          </a:xfrm>
          <a:prstGeom prst="rect">
            <a:avLst/>
          </a:prstGeom>
          <a:noFill/>
        </p:spPr>
        <p:txBody>
          <a:bodyPr wrap="square" lIns="0" rIns="0" tIns="0" bIns="0" anchor="ctr">
            <a:spAutoFit/>
          </a:bodyPr>
          <a:lstStyle/>
          <a:p>
            <a:pPr algn="l"/>
            <a:r>
              <a:rPr sz="1200" b="1" i="0">
                <a:solidFill>
                  <a:srgbClr val="FFFFFF"/>
                </a:solidFill>
                <a:latin typeface="Calibri"/>
              </a:rPr>
              <a:t>{{CHART_TITLE}}</a:t>
            </a:r>
          </a:p>
        </p:txBody>
      </p:sp>
      <p:sp>
        <p:nvSpPr>
          <p:cNvPr id="11" name="TextBox 10"/>
          <p:cNvSpPr txBox="1"/>
          <p:nvPr/>
        </p:nvSpPr>
        <p:spPr>
          <a:xfrm>
            <a:off x="594360" y="1783080"/>
            <a:ext cx="914400" cy="274320"/>
          </a:xfrm>
          <a:prstGeom prst="rect">
            <a:avLst/>
          </a:prstGeom>
          <a:noFill/>
        </p:spPr>
        <p:txBody>
          <a:bodyPr wrap="square" lIns="0" rIns="0" tIns="0" bIns="0" anchor="t">
            <a:spAutoFit/>
          </a:bodyPr>
          <a:lstStyle/>
          <a:p>
            <a:pPr algn="l"/>
            <a:r>
              <a:rPr sz="900" b="0" i="1">
                <a:solidFill>
                  <a:srgbClr val="6B7280"/>
                </a:solidFill>
                <a:latin typeface="Calibri"/>
              </a:rPr>
              <a:t>{{Y_AXIS_LABEL}}</a:t>
            </a:r>
          </a:p>
        </p:txBody>
      </p:sp>
      <p:sp>
        <p:nvSpPr>
          <p:cNvPr id="12" name="Rounded Rectangle 11"/>
          <p:cNvSpPr/>
          <p:nvPr/>
        </p:nvSpPr>
        <p:spPr>
          <a:xfrm>
            <a:off x="731520" y="2103120"/>
            <a:ext cx="7406640" cy="3794760"/>
          </a:xfrm>
          <a:prstGeom prst="roundRect">
            <a:avLst>
              <a:gd name="adj" fmla="val 8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103120"/>
            <a:ext cx="7406640" cy="3794760"/>
          </a:xfrm>
          <a:prstGeom prst="rect">
            <a:avLst/>
          </a:prstGeom>
          <a:noFill/>
        </p:spPr>
        <p:txBody>
          <a:bodyPr wrap="square" lIns="0" rIns="0" tIns="0" bIns="0" anchor="ctr">
            <a:spAutoFit/>
          </a:bodyPr>
          <a:lstStyle/>
          <a:p>
            <a:pPr algn="ctr"/>
            <a:r>
              <a:rPr sz="1100" b="0" i="1">
                <a:solidFill>
                  <a:srgbClr val="9CA3AF"/>
                </a:solidFill>
                <a:latin typeface="Calibri"/>
              </a:rPr>
              <a:t>{{CHART_PLACEHOLDER}}</a:t>
            </a:r>
          </a:p>
        </p:txBody>
      </p:sp>
      <p:sp>
        <p:nvSpPr>
          <p:cNvPr id="14" name="TextBox 13"/>
          <p:cNvSpPr txBox="1"/>
          <p:nvPr/>
        </p:nvSpPr>
        <p:spPr>
          <a:xfrm>
            <a:off x="548640" y="5943600"/>
            <a:ext cx="7772400" cy="228600"/>
          </a:xfrm>
          <a:prstGeom prst="rect">
            <a:avLst/>
          </a:prstGeom>
          <a:noFill/>
        </p:spPr>
        <p:txBody>
          <a:bodyPr wrap="square" lIns="0" rIns="0" tIns="0" bIns="0" anchor="t">
            <a:spAutoFit/>
          </a:bodyPr>
          <a:lstStyle/>
          <a:p>
            <a:pPr algn="ctr"/>
            <a:r>
              <a:rPr sz="900" b="0" i="1">
                <a:solidFill>
                  <a:srgbClr val="6B7280"/>
                </a:solidFill>
                <a:latin typeface="Calibri"/>
              </a:rPr>
              <a:t>{{X_AXIS_LABEL}}</a:t>
            </a:r>
          </a:p>
        </p:txBody>
      </p:sp>
      <p:sp>
        <p:nvSpPr>
          <p:cNvPr id="15" name="TextBox 14"/>
          <p:cNvSpPr txBox="1"/>
          <p:nvPr/>
        </p:nvSpPr>
        <p:spPr>
          <a:xfrm>
            <a:off x="548640" y="6080760"/>
            <a:ext cx="7772400" cy="228600"/>
          </a:xfrm>
          <a:prstGeom prst="rect">
            <a:avLst/>
          </a:prstGeom>
          <a:noFill/>
        </p:spPr>
        <p:txBody>
          <a:bodyPr wrap="square" lIns="0" rIns="0" tIns="0" bIns="0" anchor="t">
            <a:spAutoFit/>
          </a:bodyPr>
          <a:lstStyle/>
          <a:p>
            <a:pPr algn="r"/>
            <a:r>
              <a:rPr sz="800" b="0" i="1">
                <a:solidFill>
                  <a:srgbClr val="9CA3AF"/>
                </a:solidFill>
                <a:latin typeface="Calibri"/>
              </a:rPr>
              <a:t>{{CHART_SOURCE}}</a:t>
            </a:r>
          </a:p>
        </p:txBody>
      </p:sp>
      <p:sp>
        <p:nvSpPr>
          <p:cNvPr id="16" name="Rounded Rectangle 15"/>
          <p:cNvSpPr/>
          <p:nvPr/>
        </p:nvSpPr>
        <p:spPr>
          <a:xfrm>
            <a:off x="8503919" y="1325880"/>
            <a:ext cx="3136392" cy="708660"/>
          </a:xfrm>
          <a:prstGeom prst="roundRect">
            <a:avLst>
              <a:gd name="adj" fmla="val 8000"/>
            </a:avLst>
          </a:prstGeom>
          <a:solidFill>
            <a:srgbClr val="F3E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03919" y="1325880"/>
            <a:ext cx="54864" cy="7086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41080" y="1371600"/>
            <a:ext cx="2907792" cy="274320"/>
          </a:xfrm>
          <a:prstGeom prst="rect">
            <a:avLst/>
          </a:prstGeom>
          <a:noFill/>
        </p:spPr>
        <p:txBody>
          <a:bodyPr wrap="square" lIns="0" rIns="0" tIns="0" bIns="0" anchor="t">
            <a:spAutoFit/>
          </a:bodyPr>
          <a:lstStyle/>
          <a:p>
            <a:pPr algn="l"/>
            <a:r>
              <a:rPr sz="1400" b="1" i="0">
                <a:solidFill>
                  <a:srgbClr val="7C3AED"/>
                </a:solidFill>
                <a:latin typeface="Calibri"/>
              </a:rPr>
              <a:t>{{PEER_1_TICKER}}</a:t>
            </a:r>
          </a:p>
        </p:txBody>
      </p:sp>
      <p:sp>
        <p:nvSpPr>
          <p:cNvPr id="19" name="TextBox 18"/>
          <p:cNvSpPr txBox="1"/>
          <p:nvPr/>
        </p:nvSpPr>
        <p:spPr>
          <a:xfrm>
            <a:off x="8641080" y="1645919"/>
            <a:ext cx="2907792" cy="342900"/>
          </a:xfrm>
          <a:prstGeom prst="rect">
            <a:avLst/>
          </a:prstGeom>
          <a:noFill/>
        </p:spPr>
        <p:txBody>
          <a:bodyPr wrap="square" lIns="0" rIns="0" tIns="0" bIns="0" anchor="t">
            <a:spAutoFit/>
          </a:bodyPr>
          <a:lstStyle/>
          <a:p>
            <a:pPr algn="l"/>
            <a:r>
              <a:rPr sz="800" b="0" i="1">
                <a:solidFill>
                  <a:srgbClr val="6B7280"/>
                </a:solidFill>
                <a:latin typeface="Calibri"/>
              </a:rPr>
              <a:t>{{PEER_1_NOTE}}</a:t>
            </a:r>
          </a:p>
        </p:txBody>
      </p:sp>
      <p:sp>
        <p:nvSpPr>
          <p:cNvPr id="20" name="Rounded Rectangle 19"/>
          <p:cNvSpPr/>
          <p:nvPr/>
        </p:nvSpPr>
        <p:spPr>
          <a:xfrm>
            <a:off x="8503919" y="2080260"/>
            <a:ext cx="3136392" cy="7086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03919" y="2080260"/>
            <a:ext cx="54864" cy="70866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41080" y="2125979"/>
            <a:ext cx="2907792" cy="274320"/>
          </a:xfrm>
          <a:prstGeom prst="rect">
            <a:avLst/>
          </a:prstGeom>
          <a:noFill/>
        </p:spPr>
        <p:txBody>
          <a:bodyPr wrap="square" lIns="0" rIns="0" tIns="0" bIns="0" anchor="t">
            <a:spAutoFit/>
          </a:bodyPr>
          <a:lstStyle/>
          <a:p>
            <a:pPr algn="l"/>
            <a:r>
              <a:rPr sz="1400" b="1" i="0">
                <a:solidFill>
                  <a:srgbClr val="1F2937"/>
                </a:solidFill>
                <a:latin typeface="Calibri"/>
              </a:rPr>
              <a:t>{{PEER_2_TICKER}}</a:t>
            </a:r>
          </a:p>
        </p:txBody>
      </p:sp>
      <p:sp>
        <p:nvSpPr>
          <p:cNvPr id="23" name="TextBox 22"/>
          <p:cNvSpPr txBox="1"/>
          <p:nvPr/>
        </p:nvSpPr>
        <p:spPr>
          <a:xfrm>
            <a:off x="8641080" y="2400300"/>
            <a:ext cx="2907792" cy="342900"/>
          </a:xfrm>
          <a:prstGeom prst="rect">
            <a:avLst/>
          </a:prstGeom>
          <a:noFill/>
        </p:spPr>
        <p:txBody>
          <a:bodyPr wrap="square" lIns="0" rIns="0" tIns="0" bIns="0" anchor="t">
            <a:spAutoFit/>
          </a:bodyPr>
          <a:lstStyle/>
          <a:p>
            <a:pPr algn="l"/>
            <a:r>
              <a:rPr sz="800" b="0" i="1">
                <a:solidFill>
                  <a:srgbClr val="6B7280"/>
                </a:solidFill>
                <a:latin typeface="Calibri"/>
              </a:rPr>
              <a:t>{{PEER_2_NOTE}}</a:t>
            </a:r>
          </a:p>
        </p:txBody>
      </p:sp>
      <p:sp>
        <p:nvSpPr>
          <p:cNvPr id="24" name="Rounded Rectangle 23"/>
          <p:cNvSpPr/>
          <p:nvPr/>
        </p:nvSpPr>
        <p:spPr>
          <a:xfrm>
            <a:off x="8503919" y="2834640"/>
            <a:ext cx="3136392" cy="7086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03919" y="2834640"/>
            <a:ext cx="54864" cy="70866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41080" y="2880360"/>
            <a:ext cx="2907792" cy="274320"/>
          </a:xfrm>
          <a:prstGeom prst="rect">
            <a:avLst/>
          </a:prstGeom>
          <a:noFill/>
        </p:spPr>
        <p:txBody>
          <a:bodyPr wrap="square" lIns="0" rIns="0" tIns="0" bIns="0" anchor="t">
            <a:spAutoFit/>
          </a:bodyPr>
          <a:lstStyle/>
          <a:p>
            <a:pPr algn="l"/>
            <a:r>
              <a:rPr sz="1400" b="1" i="0">
                <a:solidFill>
                  <a:srgbClr val="1F2937"/>
                </a:solidFill>
                <a:latin typeface="Calibri"/>
              </a:rPr>
              <a:t>{{PEER_3_TICKER}}</a:t>
            </a:r>
          </a:p>
        </p:txBody>
      </p:sp>
      <p:sp>
        <p:nvSpPr>
          <p:cNvPr id="27" name="TextBox 26"/>
          <p:cNvSpPr txBox="1"/>
          <p:nvPr/>
        </p:nvSpPr>
        <p:spPr>
          <a:xfrm>
            <a:off x="8641080" y="3154680"/>
            <a:ext cx="2907792" cy="342900"/>
          </a:xfrm>
          <a:prstGeom prst="rect">
            <a:avLst/>
          </a:prstGeom>
          <a:noFill/>
        </p:spPr>
        <p:txBody>
          <a:bodyPr wrap="square" lIns="0" rIns="0" tIns="0" bIns="0" anchor="t">
            <a:spAutoFit/>
          </a:bodyPr>
          <a:lstStyle/>
          <a:p>
            <a:pPr algn="l"/>
            <a:r>
              <a:rPr sz="800" b="0" i="1">
                <a:solidFill>
                  <a:srgbClr val="6B7280"/>
                </a:solidFill>
                <a:latin typeface="Calibri"/>
              </a:rPr>
              <a:t>{{PEER_3_NOTE}}</a:t>
            </a:r>
          </a:p>
        </p:txBody>
      </p:sp>
      <p:sp>
        <p:nvSpPr>
          <p:cNvPr id="28" name="Rounded Rectangle 27"/>
          <p:cNvSpPr/>
          <p:nvPr/>
        </p:nvSpPr>
        <p:spPr>
          <a:xfrm>
            <a:off x="8503919" y="3589020"/>
            <a:ext cx="3136392" cy="7086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503919" y="3589020"/>
            <a:ext cx="54864" cy="70866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41080" y="3634739"/>
            <a:ext cx="2907792" cy="274320"/>
          </a:xfrm>
          <a:prstGeom prst="rect">
            <a:avLst/>
          </a:prstGeom>
          <a:noFill/>
        </p:spPr>
        <p:txBody>
          <a:bodyPr wrap="square" lIns="0" rIns="0" tIns="0" bIns="0" anchor="t">
            <a:spAutoFit/>
          </a:bodyPr>
          <a:lstStyle/>
          <a:p>
            <a:pPr algn="l"/>
            <a:r>
              <a:rPr sz="1400" b="1" i="0">
                <a:solidFill>
                  <a:srgbClr val="1F2937"/>
                </a:solidFill>
                <a:latin typeface="Calibri"/>
              </a:rPr>
              <a:t>{{PEER_4_TICKER}}</a:t>
            </a:r>
          </a:p>
        </p:txBody>
      </p:sp>
      <p:sp>
        <p:nvSpPr>
          <p:cNvPr id="31" name="TextBox 30"/>
          <p:cNvSpPr txBox="1"/>
          <p:nvPr/>
        </p:nvSpPr>
        <p:spPr>
          <a:xfrm>
            <a:off x="8641080" y="3909059"/>
            <a:ext cx="2907792" cy="342900"/>
          </a:xfrm>
          <a:prstGeom prst="rect">
            <a:avLst/>
          </a:prstGeom>
          <a:noFill/>
        </p:spPr>
        <p:txBody>
          <a:bodyPr wrap="square" lIns="0" rIns="0" tIns="0" bIns="0" anchor="t">
            <a:spAutoFit/>
          </a:bodyPr>
          <a:lstStyle/>
          <a:p>
            <a:pPr algn="l"/>
            <a:r>
              <a:rPr sz="800" b="0" i="1">
                <a:solidFill>
                  <a:srgbClr val="6B7280"/>
                </a:solidFill>
                <a:latin typeface="Calibri"/>
              </a:rPr>
              <a:t>{{PEER_4_NOTE}}</a:t>
            </a:r>
          </a:p>
        </p:txBody>
      </p:sp>
      <p:sp>
        <p:nvSpPr>
          <p:cNvPr id="32" name="Rounded Rectangle 31"/>
          <p:cNvSpPr/>
          <p:nvPr/>
        </p:nvSpPr>
        <p:spPr>
          <a:xfrm>
            <a:off x="8503919" y="4343400"/>
            <a:ext cx="3136392" cy="7086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19" y="4343400"/>
            <a:ext cx="54864" cy="70866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41080" y="4389120"/>
            <a:ext cx="2907792" cy="274320"/>
          </a:xfrm>
          <a:prstGeom prst="rect">
            <a:avLst/>
          </a:prstGeom>
          <a:noFill/>
        </p:spPr>
        <p:txBody>
          <a:bodyPr wrap="square" lIns="0" rIns="0" tIns="0" bIns="0" anchor="t">
            <a:spAutoFit/>
          </a:bodyPr>
          <a:lstStyle/>
          <a:p>
            <a:pPr algn="l"/>
            <a:r>
              <a:rPr sz="1400" b="1" i="0">
                <a:solidFill>
                  <a:srgbClr val="1F2937"/>
                </a:solidFill>
                <a:latin typeface="Calibri"/>
              </a:rPr>
              <a:t>{{PEER_5_TICKER}}</a:t>
            </a:r>
          </a:p>
        </p:txBody>
      </p:sp>
      <p:sp>
        <p:nvSpPr>
          <p:cNvPr id="35" name="TextBox 34"/>
          <p:cNvSpPr txBox="1"/>
          <p:nvPr/>
        </p:nvSpPr>
        <p:spPr>
          <a:xfrm>
            <a:off x="8641080" y="4663440"/>
            <a:ext cx="2907792" cy="342900"/>
          </a:xfrm>
          <a:prstGeom prst="rect">
            <a:avLst/>
          </a:prstGeom>
          <a:noFill/>
        </p:spPr>
        <p:txBody>
          <a:bodyPr wrap="square" lIns="0" rIns="0" tIns="0" bIns="0" anchor="t">
            <a:spAutoFit/>
          </a:bodyPr>
          <a:lstStyle/>
          <a:p>
            <a:pPr algn="l"/>
            <a:r>
              <a:rPr sz="800" b="0" i="1">
                <a:solidFill>
                  <a:srgbClr val="6B7280"/>
                </a:solidFill>
                <a:latin typeface="Calibri"/>
              </a:rPr>
              <a:t>{{PEER_5_NOTE}}</a:t>
            </a:r>
          </a:p>
        </p:txBody>
      </p:sp>
      <p:sp>
        <p:nvSpPr>
          <p:cNvPr id="36" name="Rounded Rectangle 35"/>
          <p:cNvSpPr/>
          <p:nvPr/>
        </p:nvSpPr>
        <p:spPr>
          <a:xfrm>
            <a:off x="8503919" y="5097780"/>
            <a:ext cx="3136392" cy="708660"/>
          </a:xfrm>
          <a:prstGeom prst="roundRect">
            <a:avLst>
              <a:gd name="adj" fmla="val 8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503919" y="5097780"/>
            <a:ext cx="54864" cy="70866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5143500"/>
            <a:ext cx="2907792" cy="274320"/>
          </a:xfrm>
          <a:prstGeom prst="rect">
            <a:avLst/>
          </a:prstGeom>
          <a:noFill/>
        </p:spPr>
        <p:txBody>
          <a:bodyPr wrap="square" lIns="0" rIns="0" tIns="0" bIns="0" anchor="t">
            <a:spAutoFit/>
          </a:bodyPr>
          <a:lstStyle/>
          <a:p>
            <a:pPr algn="l"/>
            <a:r>
              <a:rPr sz="1400" b="1" i="0">
                <a:solidFill>
                  <a:srgbClr val="1F2937"/>
                </a:solidFill>
                <a:latin typeface="Calibri"/>
              </a:rPr>
              <a:t>{{PEER_6_TICKER}}</a:t>
            </a:r>
          </a:p>
        </p:txBody>
      </p:sp>
      <p:sp>
        <p:nvSpPr>
          <p:cNvPr id="39" name="TextBox 38"/>
          <p:cNvSpPr txBox="1"/>
          <p:nvPr/>
        </p:nvSpPr>
        <p:spPr>
          <a:xfrm>
            <a:off x="8641080" y="5417820"/>
            <a:ext cx="2907792" cy="342900"/>
          </a:xfrm>
          <a:prstGeom prst="rect">
            <a:avLst/>
          </a:prstGeom>
          <a:noFill/>
        </p:spPr>
        <p:txBody>
          <a:bodyPr wrap="square" lIns="0" rIns="0" tIns="0" bIns="0" anchor="t">
            <a:spAutoFit/>
          </a:bodyPr>
          <a:lstStyle/>
          <a:p>
            <a:pPr algn="l"/>
            <a:r>
              <a:rPr sz="800" b="0" i="1">
                <a:solidFill>
                  <a:srgbClr val="6B7280"/>
                </a:solidFill>
                <a:latin typeface="Calibri"/>
              </a:rPr>
              <a:t>{{PEER_6_NOTE}}</a:t>
            </a:r>
          </a:p>
        </p:txBody>
      </p:sp>
      <p:sp>
        <p:nvSpPr>
          <p:cNvPr id="40" name="Rounded Rectangle 39"/>
          <p:cNvSpPr/>
          <p:nvPr/>
        </p:nvSpPr>
        <p:spPr>
          <a:xfrm>
            <a:off x="8503919" y="5897880"/>
            <a:ext cx="3136392" cy="411480"/>
          </a:xfrm>
          <a:prstGeom prst="roundRect">
            <a:avLst>
              <a:gd name="adj" fmla="val 8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19" y="5897880"/>
            <a:ext cx="3136392" cy="411480"/>
          </a:xfrm>
          <a:prstGeom prst="rect">
            <a:avLst/>
          </a:prstGeom>
          <a:noFill/>
        </p:spPr>
        <p:txBody>
          <a:bodyPr wrap="square" lIns="0" rIns="0" tIns="0" bIns="0" anchor="ctr">
            <a:spAutoFit/>
          </a:bodyPr>
          <a:lstStyle/>
          <a:p>
            <a:pPr algn="ctr"/>
            <a:r>
              <a:rPr sz="1000" b="1" i="1">
                <a:solidFill>
                  <a:srgbClr val="FFFFFF"/>
                </a:solidFill>
                <a:latin typeface="Calibri"/>
              </a:rPr>
              <a:t>{{PEER_VERDICT}}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name="DONUT_COMPOSITION">
    <p:spTree>
      <p:nvGrpSpPr>
        <p:cNvPr id="1" name=""/>
        <p:cNvGrpSpPr/>
        <p:nvPr/>
      </p:nvGrpSpPr>
      <p:grpSpPr/>
      <p:sp>
        <p:nvSpPr>
          <p:cNvPr id="2" name="Rectangle 1"/>
          <p:cNvSpPr/>
          <p:nvPr/>
        </p:nvSpPr>
        <p:spPr>
          <a:xfrm>
            <a:off x="274320" y="274320"/>
            <a:ext cx="73152" cy="3200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74320" y="594359"/>
            <a:ext cx="73152" cy="320040"/>
          </a:xfrm>
          <a:prstGeom prst="rect">
            <a:avLst/>
          </a:prstGeom>
          <a:solidFill>
            <a:srgbClr val="B4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091672" cy="457200"/>
          </a:xfrm>
          <a:prstGeom prst="rect">
            <a:avLst/>
          </a:prstGeom>
          <a:noFill/>
        </p:spPr>
        <p:txBody>
          <a:bodyPr wrap="square" lIns="0" rIns="0" tIns="0" bIns="0" anchor="t">
            <a:spAutoFit/>
          </a:bodyPr>
          <a:lstStyle/>
          <a:p>
            <a:pPr algn="l"/>
            <a:r>
              <a:rPr sz="2400" b="1" i="0">
                <a:solidFill>
                  <a:srgbClr val="1F2937"/>
                </a:solidFill>
                <a:latin typeface="Calibri"/>
              </a:rPr>
              <a:t>{{SECTION_TITLE}}</a:t>
            </a:r>
          </a:p>
        </p:txBody>
      </p:sp>
      <p:sp>
        <p:nvSpPr>
          <p:cNvPr id="5" name="TextBox 4"/>
          <p:cNvSpPr txBox="1"/>
          <p:nvPr/>
        </p:nvSpPr>
        <p:spPr>
          <a:xfrm>
            <a:off x="457200" y="777240"/>
            <a:ext cx="11091672" cy="274320"/>
          </a:xfrm>
          <a:prstGeom prst="rect">
            <a:avLst/>
          </a:prstGeom>
          <a:noFill/>
        </p:spPr>
        <p:txBody>
          <a:bodyPr wrap="square" lIns="0" rIns="0" tIns="0" bIns="0" anchor="t">
            <a:spAutoFit/>
          </a:bodyPr>
          <a:lstStyle/>
          <a:p>
            <a:pPr algn="l"/>
            <a:r>
              <a:rPr sz="1100" b="0" i="1">
                <a:solidFill>
                  <a:srgbClr val="6B7280"/>
                </a:solidFill>
                <a:latin typeface="Calibri"/>
              </a:rPr>
              <a:t>{{SECTION_SUB}}</a:t>
            </a:r>
          </a:p>
        </p:txBody>
      </p:sp>
      <p:sp>
        <p:nvSpPr>
          <p:cNvPr id="6" name="Rectangle 5"/>
          <p:cNvSpPr/>
          <p:nvPr/>
        </p:nvSpPr>
        <p:spPr>
          <a:xfrm>
            <a:off x="457200" y="109728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492240"/>
            <a:ext cx="5486400" cy="228600"/>
          </a:xfrm>
          <a:prstGeom prst="rect">
            <a:avLst/>
          </a:prstGeom>
          <a:noFill/>
        </p:spPr>
        <p:txBody>
          <a:bodyPr wrap="square" lIns="0" rIns="0" tIns="0" bIns="0" anchor="t">
            <a:spAutoFit/>
          </a:bodyPr>
          <a:lstStyle/>
          <a:p>
            <a:pPr algn="l"/>
            <a:r>
              <a:rPr sz="900" b="0" i="1">
                <a:solidFill>
                  <a:srgbClr val="9CA3AF"/>
                </a:solidFill>
                <a:latin typeface="Calibri"/>
              </a:rPr>
              <a:t>{{FOOTER_LEFT}}</a:t>
            </a:r>
          </a:p>
        </p:txBody>
      </p:sp>
      <p:sp>
        <p:nvSpPr>
          <p:cNvPr id="8" name="TextBox 7"/>
          <p:cNvSpPr txBox="1"/>
          <p:nvPr/>
        </p:nvSpPr>
        <p:spPr>
          <a:xfrm>
            <a:off x="6702552" y="6492240"/>
            <a:ext cx="4937760" cy="228600"/>
          </a:xfrm>
          <a:prstGeom prst="rect">
            <a:avLst/>
          </a:prstGeom>
          <a:noFill/>
        </p:spPr>
        <p:txBody>
          <a:bodyPr wrap="square" lIns="0" rIns="0" tIns="0" bIns="0" anchor="t">
            <a:spAutoFit/>
          </a:bodyPr>
          <a:lstStyle/>
          <a:p>
            <a:pPr algn="r"/>
            <a:r>
              <a:rPr sz="900" b="0" i="0">
                <a:solidFill>
                  <a:srgbClr val="9CA3AF"/>
                </a:solidFill>
                <a:latin typeface="Calibri"/>
              </a:rPr>
              <a:t>{{PAGE_NUM}}</a:t>
            </a:r>
          </a:p>
        </p:txBody>
      </p:sp>
      <p:sp>
        <p:nvSpPr>
          <p:cNvPr id="9" name="TextBox 8"/>
          <p:cNvSpPr txBox="1"/>
          <p:nvPr/>
        </p:nvSpPr>
        <p:spPr>
          <a:xfrm>
            <a:off x="548640" y="1325880"/>
            <a:ext cx="5454396" cy="320040"/>
          </a:xfrm>
          <a:prstGeom prst="rect">
            <a:avLst/>
          </a:prstGeom>
          <a:noFill/>
        </p:spPr>
        <p:txBody>
          <a:bodyPr wrap="square" lIns="0" rIns="0" tIns="0" bIns="0" anchor="t">
            <a:spAutoFit/>
          </a:bodyPr>
          <a:lstStyle/>
          <a:p>
            <a:pPr algn="l"/>
            <a:r>
              <a:rPr sz="1400" b="1" i="0">
                <a:solidFill>
                  <a:srgbClr val="7C3AED"/>
                </a:solidFill>
                <a:latin typeface="Calibri"/>
              </a:rPr>
              <a:t>{{DONUT_1_TITLE}}</a:t>
            </a:r>
          </a:p>
        </p:txBody>
      </p:sp>
      <p:sp>
        <p:nvSpPr>
          <p:cNvPr id="10" name="Rectangle 9"/>
          <p:cNvSpPr/>
          <p:nvPr/>
        </p:nvSpPr>
        <p:spPr>
          <a:xfrm>
            <a:off x="548640" y="1691640"/>
            <a:ext cx="1371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132838" y="1828800"/>
            <a:ext cx="2286000" cy="2286000"/>
          </a:xfrm>
          <a:prstGeom prst="roundRect">
            <a:avLst>
              <a:gd name="adj" fmla="val 10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2838" y="1828800"/>
            <a:ext cx="2286000" cy="2286000"/>
          </a:xfrm>
          <a:prstGeom prst="rect">
            <a:avLst/>
          </a:prstGeom>
          <a:noFill/>
        </p:spPr>
        <p:txBody>
          <a:bodyPr wrap="square" lIns="0" rIns="0" tIns="0" bIns="0" anchor="ctr">
            <a:spAutoFit/>
          </a:bodyPr>
          <a:lstStyle/>
          <a:p>
            <a:pPr algn="ctr"/>
            <a:r>
              <a:rPr sz="1000" b="0" i="1">
                <a:solidFill>
                  <a:srgbClr val="9CA3AF"/>
                </a:solidFill>
                <a:latin typeface="Calibri"/>
              </a:rPr>
              <a:t>{{DONUT_1_PLACEHOLDER}}</a:t>
            </a:r>
          </a:p>
        </p:txBody>
      </p:sp>
      <p:sp>
        <p:nvSpPr>
          <p:cNvPr id="13" name="Oval 12"/>
          <p:cNvSpPr/>
          <p:nvPr/>
        </p:nvSpPr>
        <p:spPr>
          <a:xfrm>
            <a:off x="640080" y="4343400"/>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14" name="TextBox 13"/>
          <p:cNvSpPr txBox="1"/>
          <p:nvPr/>
        </p:nvSpPr>
        <p:spPr>
          <a:xfrm>
            <a:off x="914400" y="4251960"/>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{{DONUT_1_SLICE_1_LABEL}}</a:t>
            </a:r>
          </a:p>
        </p:txBody>
      </p:sp>
      <p:sp>
        <p:nvSpPr>
          <p:cNvPr id="15" name="TextBox 14"/>
          <p:cNvSpPr txBox="1"/>
          <p:nvPr/>
        </p:nvSpPr>
        <p:spPr>
          <a:xfrm>
            <a:off x="2730398" y="4251960"/>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{{DONUT_1_SLICE_1_PCT}}</a:t>
            </a:r>
          </a:p>
        </p:txBody>
      </p:sp>
      <p:sp>
        <p:nvSpPr>
          <p:cNvPr id="16" name="TextBox 15"/>
          <p:cNvSpPr txBox="1"/>
          <p:nvPr/>
        </p:nvSpPr>
        <p:spPr>
          <a:xfrm>
            <a:off x="3821277" y="4251960"/>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{{DONUT_1_SLICE_1_NOTE}}</a:t>
            </a:r>
          </a:p>
        </p:txBody>
      </p:sp>
      <p:sp>
        <p:nvSpPr>
          <p:cNvPr id="17" name="Rectangle 16"/>
          <p:cNvSpPr/>
          <p:nvPr/>
        </p:nvSpPr>
        <p:spPr>
          <a:xfrm>
            <a:off x="548640" y="4599432"/>
            <a:ext cx="5454396" cy="347471"/>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4690872"/>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19" name="TextBox 18"/>
          <p:cNvSpPr txBox="1"/>
          <p:nvPr/>
        </p:nvSpPr>
        <p:spPr>
          <a:xfrm>
            <a:off x="914400" y="4599432"/>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{{DONUT_1_SLICE_2_LABEL}}</a:t>
            </a:r>
          </a:p>
        </p:txBody>
      </p:sp>
      <p:sp>
        <p:nvSpPr>
          <p:cNvPr id="20" name="TextBox 19"/>
          <p:cNvSpPr txBox="1"/>
          <p:nvPr/>
        </p:nvSpPr>
        <p:spPr>
          <a:xfrm>
            <a:off x="2730398" y="4599432"/>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{{DONUT_1_SLICE_2_PCT}}</a:t>
            </a:r>
          </a:p>
        </p:txBody>
      </p:sp>
      <p:sp>
        <p:nvSpPr>
          <p:cNvPr id="21" name="TextBox 20"/>
          <p:cNvSpPr txBox="1"/>
          <p:nvPr/>
        </p:nvSpPr>
        <p:spPr>
          <a:xfrm>
            <a:off x="3821277" y="4599432"/>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{{DONUT_1_SLICE_2_NOTE}}</a:t>
            </a:r>
          </a:p>
        </p:txBody>
      </p:sp>
      <p:sp>
        <p:nvSpPr>
          <p:cNvPr id="22" name="Oval 21"/>
          <p:cNvSpPr/>
          <p:nvPr/>
        </p:nvSpPr>
        <p:spPr>
          <a:xfrm>
            <a:off x="640080" y="5038344"/>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23" name="TextBox 22"/>
          <p:cNvSpPr txBox="1"/>
          <p:nvPr/>
        </p:nvSpPr>
        <p:spPr>
          <a:xfrm>
            <a:off x="914400" y="4946904"/>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{{DONUT_1_SLICE_3_LABEL}}</a:t>
            </a:r>
          </a:p>
        </p:txBody>
      </p:sp>
      <p:sp>
        <p:nvSpPr>
          <p:cNvPr id="24" name="TextBox 23"/>
          <p:cNvSpPr txBox="1"/>
          <p:nvPr/>
        </p:nvSpPr>
        <p:spPr>
          <a:xfrm>
            <a:off x="2730398" y="4946904"/>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{{DONUT_1_SLICE_3_PCT}}</a:t>
            </a:r>
          </a:p>
        </p:txBody>
      </p:sp>
      <p:sp>
        <p:nvSpPr>
          <p:cNvPr id="25" name="TextBox 24"/>
          <p:cNvSpPr txBox="1"/>
          <p:nvPr/>
        </p:nvSpPr>
        <p:spPr>
          <a:xfrm>
            <a:off x="3821277" y="4946904"/>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{{DONUT_1_SLICE_3_NOTE}}</a:t>
            </a:r>
          </a:p>
        </p:txBody>
      </p:sp>
      <p:sp>
        <p:nvSpPr>
          <p:cNvPr id="26" name="Rectangle 25"/>
          <p:cNvSpPr/>
          <p:nvPr/>
        </p:nvSpPr>
        <p:spPr>
          <a:xfrm>
            <a:off x="548640" y="5294376"/>
            <a:ext cx="5454396" cy="347471"/>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385816"/>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28" name="TextBox 27"/>
          <p:cNvSpPr txBox="1"/>
          <p:nvPr/>
        </p:nvSpPr>
        <p:spPr>
          <a:xfrm>
            <a:off x="914400" y="5294376"/>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{{DONUT_1_SLICE_4_LABEL}}</a:t>
            </a:r>
          </a:p>
        </p:txBody>
      </p:sp>
      <p:sp>
        <p:nvSpPr>
          <p:cNvPr id="29" name="TextBox 28"/>
          <p:cNvSpPr txBox="1"/>
          <p:nvPr/>
        </p:nvSpPr>
        <p:spPr>
          <a:xfrm>
            <a:off x="2730398" y="5294376"/>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{{DONUT_1_SLICE_4_PCT}}</a:t>
            </a:r>
          </a:p>
        </p:txBody>
      </p:sp>
      <p:sp>
        <p:nvSpPr>
          <p:cNvPr id="30" name="TextBox 29"/>
          <p:cNvSpPr txBox="1"/>
          <p:nvPr/>
        </p:nvSpPr>
        <p:spPr>
          <a:xfrm>
            <a:off x="3821277" y="5294376"/>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{{DONUT_1_SLICE_4_NOTE}}</a:t>
            </a:r>
          </a:p>
        </p:txBody>
      </p:sp>
      <p:sp>
        <p:nvSpPr>
          <p:cNvPr id="31" name="Oval 30"/>
          <p:cNvSpPr/>
          <p:nvPr/>
        </p:nvSpPr>
        <p:spPr>
          <a:xfrm>
            <a:off x="640080" y="5733288"/>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32" name="TextBox 31"/>
          <p:cNvSpPr txBox="1"/>
          <p:nvPr/>
        </p:nvSpPr>
        <p:spPr>
          <a:xfrm>
            <a:off x="914400" y="5641848"/>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{{DONUT_1_SLICE_5_LABEL}}</a:t>
            </a:r>
          </a:p>
        </p:txBody>
      </p:sp>
      <p:sp>
        <p:nvSpPr>
          <p:cNvPr id="33" name="TextBox 32"/>
          <p:cNvSpPr txBox="1"/>
          <p:nvPr/>
        </p:nvSpPr>
        <p:spPr>
          <a:xfrm>
            <a:off x="2730398" y="5641848"/>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{{DONUT_1_SLICE_5_PCT}}</a:t>
            </a:r>
          </a:p>
        </p:txBody>
      </p:sp>
      <p:sp>
        <p:nvSpPr>
          <p:cNvPr id="34" name="TextBox 33"/>
          <p:cNvSpPr txBox="1"/>
          <p:nvPr/>
        </p:nvSpPr>
        <p:spPr>
          <a:xfrm>
            <a:off x="3821277" y="5641848"/>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{{DONUT_1_SLICE_5_NOTE}}</a:t>
            </a:r>
          </a:p>
        </p:txBody>
      </p:sp>
      <p:sp>
        <p:nvSpPr>
          <p:cNvPr id="35" name="TextBox 34"/>
          <p:cNvSpPr txBox="1"/>
          <p:nvPr/>
        </p:nvSpPr>
        <p:spPr>
          <a:xfrm>
            <a:off x="548640" y="6080760"/>
            <a:ext cx="5454396" cy="228600"/>
          </a:xfrm>
          <a:prstGeom prst="rect">
            <a:avLst/>
          </a:prstGeom>
          <a:noFill/>
        </p:spPr>
        <p:txBody>
          <a:bodyPr wrap="square" lIns="0" rIns="0" tIns="0" bIns="0" anchor="t">
            <a:spAutoFit/>
          </a:bodyPr>
          <a:lstStyle/>
          <a:p>
            <a:pPr algn="r"/>
            <a:r>
              <a:rPr sz="800" b="0" i="1">
                <a:solidFill>
                  <a:srgbClr val="9CA3AF"/>
                </a:solidFill>
                <a:latin typeface="Calibri"/>
              </a:rPr>
              <a:t>{{DONUT_1_SOURCE}}</a:t>
            </a:r>
          </a:p>
        </p:txBody>
      </p:sp>
      <p:sp>
        <p:nvSpPr>
          <p:cNvPr id="36" name="TextBox 35"/>
          <p:cNvSpPr txBox="1"/>
          <p:nvPr/>
        </p:nvSpPr>
        <p:spPr>
          <a:xfrm>
            <a:off x="6185916" y="1325880"/>
            <a:ext cx="5454396" cy="320040"/>
          </a:xfrm>
          <a:prstGeom prst="rect">
            <a:avLst/>
          </a:prstGeom>
          <a:noFill/>
        </p:spPr>
        <p:txBody>
          <a:bodyPr wrap="square" lIns="0" rIns="0" tIns="0" bIns="0" anchor="t">
            <a:spAutoFit/>
          </a:bodyPr>
          <a:lstStyle/>
          <a:p>
            <a:pPr algn="l"/>
            <a:r>
              <a:rPr sz="1400" b="1" i="0">
                <a:solidFill>
                  <a:srgbClr val="7C3AED"/>
                </a:solidFill>
                <a:latin typeface="Calibri"/>
              </a:rPr>
              <a:t>{{DONUT_2_TITLE}}</a:t>
            </a:r>
          </a:p>
        </p:txBody>
      </p:sp>
      <p:sp>
        <p:nvSpPr>
          <p:cNvPr id="37" name="Rectangle 36"/>
          <p:cNvSpPr/>
          <p:nvPr/>
        </p:nvSpPr>
        <p:spPr>
          <a:xfrm>
            <a:off x="6185916" y="1691640"/>
            <a:ext cx="1371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770114" y="1828800"/>
            <a:ext cx="2286000" cy="2286000"/>
          </a:xfrm>
          <a:prstGeom prst="roundRect">
            <a:avLst>
              <a:gd name="adj" fmla="val 10000"/>
            </a:avLst>
          </a:prstGeom>
          <a:solidFill>
            <a:srgbClr val="F5F5F5"/>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0114" y="1828800"/>
            <a:ext cx="2286000" cy="2286000"/>
          </a:xfrm>
          <a:prstGeom prst="rect">
            <a:avLst/>
          </a:prstGeom>
          <a:noFill/>
        </p:spPr>
        <p:txBody>
          <a:bodyPr wrap="square" lIns="0" rIns="0" tIns="0" bIns="0" anchor="ctr">
            <a:spAutoFit/>
          </a:bodyPr>
          <a:lstStyle/>
          <a:p>
            <a:pPr algn="ctr"/>
            <a:r>
              <a:rPr sz="1000" b="0" i="1">
                <a:solidFill>
                  <a:srgbClr val="9CA3AF"/>
                </a:solidFill>
                <a:latin typeface="Calibri"/>
              </a:rPr>
              <a:t>{{DONUT_2_PLACEHOLDER}}</a:t>
            </a:r>
          </a:p>
        </p:txBody>
      </p:sp>
      <p:sp>
        <p:nvSpPr>
          <p:cNvPr id="40" name="Oval 39"/>
          <p:cNvSpPr/>
          <p:nvPr/>
        </p:nvSpPr>
        <p:spPr>
          <a:xfrm>
            <a:off x="6277356" y="4343400"/>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41" name="TextBox 40"/>
          <p:cNvSpPr txBox="1"/>
          <p:nvPr/>
        </p:nvSpPr>
        <p:spPr>
          <a:xfrm>
            <a:off x="6551676" y="4251960"/>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{{DONUT_2_SLICE_1_LABEL}}</a:t>
            </a:r>
          </a:p>
        </p:txBody>
      </p:sp>
      <p:sp>
        <p:nvSpPr>
          <p:cNvPr id="42" name="TextBox 41"/>
          <p:cNvSpPr txBox="1"/>
          <p:nvPr/>
        </p:nvSpPr>
        <p:spPr>
          <a:xfrm>
            <a:off x="8367674" y="4251960"/>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{{DONUT_2_SLICE_1_PCT}}</a:t>
            </a:r>
          </a:p>
        </p:txBody>
      </p:sp>
      <p:sp>
        <p:nvSpPr>
          <p:cNvPr id="43" name="TextBox 42"/>
          <p:cNvSpPr txBox="1"/>
          <p:nvPr/>
        </p:nvSpPr>
        <p:spPr>
          <a:xfrm>
            <a:off x="9458553" y="4251960"/>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{{DONUT_2_SLICE_1_NOTE}}</a:t>
            </a:r>
          </a:p>
        </p:txBody>
      </p:sp>
      <p:sp>
        <p:nvSpPr>
          <p:cNvPr id="44" name="Rectangle 43"/>
          <p:cNvSpPr/>
          <p:nvPr/>
        </p:nvSpPr>
        <p:spPr>
          <a:xfrm>
            <a:off x="6185916" y="4599432"/>
            <a:ext cx="5454396" cy="347471"/>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277356" y="4690872"/>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46" name="TextBox 45"/>
          <p:cNvSpPr txBox="1"/>
          <p:nvPr/>
        </p:nvSpPr>
        <p:spPr>
          <a:xfrm>
            <a:off x="6551676" y="4599432"/>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{{DONUT_2_SLICE_2_LABEL}}</a:t>
            </a:r>
          </a:p>
        </p:txBody>
      </p:sp>
      <p:sp>
        <p:nvSpPr>
          <p:cNvPr id="47" name="TextBox 46"/>
          <p:cNvSpPr txBox="1"/>
          <p:nvPr/>
        </p:nvSpPr>
        <p:spPr>
          <a:xfrm>
            <a:off x="8367674" y="4599432"/>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{{DONUT_2_SLICE_2_PCT}}</a:t>
            </a:r>
          </a:p>
        </p:txBody>
      </p:sp>
      <p:sp>
        <p:nvSpPr>
          <p:cNvPr id="48" name="TextBox 47"/>
          <p:cNvSpPr txBox="1"/>
          <p:nvPr/>
        </p:nvSpPr>
        <p:spPr>
          <a:xfrm>
            <a:off x="9458553" y="4599432"/>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{{DONUT_2_SLICE_2_NOTE}}</a:t>
            </a:r>
          </a:p>
        </p:txBody>
      </p:sp>
      <p:sp>
        <p:nvSpPr>
          <p:cNvPr id="49" name="Oval 48"/>
          <p:cNvSpPr/>
          <p:nvPr/>
        </p:nvSpPr>
        <p:spPr>
          <a:xfrm>
            <a:off x="6277356" y="5038344"/>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50" name="TextBox 49"/>
          <p:cNvSpPr txBox="1"/>
          <p:nvPr/>
        </p:nvSpPr>
        <p:spPr>
          <a:xfrm>
            <a:off x="6551676" y="4946904"/>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{{DONUT_2_SLICE_3_LABEL}}</a:t>
            </a:r>
          </a:p>
        </p:txBody>
      </p:sp>
      <p:sp>
        <p:nvSpPr>
          <p:cNvPr id="51" name="TextBox 50"/>
          <p:cNvSpPr txBox="1"/>
          <p:nvPr/>
        </p:nvSpPr>
        <p:spPr>
          <a:xfrm>
            <a:off x="8367674" y="4946904"/>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{{DONUT_2_SLICE_3_PCT}}</a:t>
            </a:r>
          </a:p>
        </p:txBody>
      </p:sp>
      <p:sp>
        <p:nvSpPr>
          <p:cNvPr id="52" name="TextBox 51"/>
          <p:cNvSpPr txBox="1"/>
          <p:nvPr/>
        </p:nvSpPr>
        <p:spPr>
          <a:xfrm>
            <a:off x="9458553" y="4946904"/>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{{DONUT_2_SLICE_3_NOTE}}</a:t>
            </a:r>
          </a:p>
        </p:txBody>
      </p:sp>
      <p:sp>
        <p:nvSpPr>
          <p:cNvPr id="53" name="Rectangle 52"/>
          <p:cNvSpPr/>
          <p:nvPr/>
        </p:nvSpPr>
        <p:spPr>
          <a:xfrm>
            <a:off x="6185916" y="5294376"/>
            <a:ext cx="5454396" cy="347471"/>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277356" y="5385816"/>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55" name="TextBox 54"/>
          <p:cNvSpPr txBox="1"/>
          <p:nvPr/>
        </p:nvSpPr>
        <p:spPr>
          <a:xfrm>
            <a:off x="6551676" y="5294376"/>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{{DONUT_2_SLICE_4_LABEL}}</a:t>
            </a:r>
          </a:p>
        </p:txBody>
      </p:sp>
      <p:sp>
        <p:nvSpPr>
          <p:cNvPr id="56" name="TextBox 55"/>
          <p:cNvSpPr txBox="1"/>
          <p:nvPr/>
        </p:nvSpPr>
        <p:spPr>
          <a:xfrm>
            <a:off x="8367674" y="5294376"/>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{{DONUT_2_SLICE_4_PCT}}</a:t>
            </a:r>
          </a:p>
        </p:txBody>
      </p:sp>
      <p:sp>
        <p:nvSpPr>
          <p:cNvPr id="57" name="TextBox 56"/>
          <p:cNvSpPr txBox="1"/>
          <p:nvPr/>
        </p:nvSpPr>
        <p:spPr>
          <a:xfrm>
            <a:off x="9458553" y="5294376"/>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{{DONUT_2_SLICE_4_NOTE}}</a:t>
            </a:r>
          </a:p>
        </p:txBody>
      </p:sp>
      <p:sp>
        <p:nvSpPr>
          <p:cNvPr id="58" name="Oval 57"/>
          <p:cNvSpPr/>
          <p:nvPr/>
        </p:nvSpPr>
        <p:spPr>
          <a:xfrm>
            <a:off x="6277356" y="5733288"/>
            <a:ext cx="164592" cy="164592"/>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
            </a:r>
          </a:p>
        </p:txBody>
      </p:sp>
      <p:sp>
        <p:nvSpPr>
          <p:cNvPr id="59" name="TextBox 58"/>
          <p:cNvSpPr txBox="1"/>
          <p:nvPr/>
        </p:nvSpPr>
        <p:spPr>
          <a:xfrm>
            <a:off x="6551676" y="5641848"/>
            <a:ext cx="2181758" cy="347471"/>
          </a:xfrm>
          <a:prstGeom prst="rect">
            <a:avLst/>
          </a:prstGeom>
          <a:noFill/>
        </p:spPr>
        <p:txBody>
          <a:bodyPr wrap="square" lIns="0" rIns="0" tIns="0" bIns="0" anchor="ctr">
            <a:spAutoFit/>
          </a:bodyPr>
          <a:lstStyle/>
          <a:p>
            <a:pPr algn="l"/>
            <a:r>
              <a:rPr sz="1000" b="0" i="0">
                <a:solidFill>
                  <a:srgbClr val="1F2937"/>
                </a:solidFill>
                <a:latin typeface="Calibri"/>
              </a:rPr>
              <a:t>{{DONUT_2_SLICE_5_LABEL}}</a:t>
            </a:r>
          </a:p>
        </p:txBody>
      </p:sp>
      <p:sp>
        <p:nvSpPr>
          <p:cNvPr id="60" name="TextBox 59"/>
          <p:cNvSpPr txBox="1"/>
          <p:nvPr/>
        </p:nvSpPr>
        <p:spPr>
          <a:xfrm>
            <a:off x="8367674" y="5641848"/>
            <a:ext cx="1090879" cy="347471"/>
          </a:xfrm>
          <a:prstGeom prst="rect">
            <a:avLst/>
          </a:prstGeom>
          <a:noFill/>
        </p:spPr>
        <p:txBody>
          <a:bodyPr wrap="square" lIns="0" rIns="0" tIns="0" bIns="0" anchor="ctr">
            <a:spAutoFit/>
          </a:bodyPr>
          <a:lstStyle/>
          <a:p>
            <a:pPr algn="l"/>
            <a:r>
              <a:rPr sz="1100" b="1" i="0">
                <a:solidFill>
                  <a:srgbClr val="7C3AED"/>
                </a:solidFill>
                <a:latin typeface="Calibri"/>
              </a:rPr>
              <a:t>{{DONUT_2_SLICE_5_PCT}}</a:t>
            </a:r>
          </a:p>
        </p:txBody>
      </p:sp>
      <p:sp>
        <p:nvSpPr>
          <p:cNvPr id="61" name="TextBox 60"/>
          <p:cNvSpPr txBox="1"/>
          <p:nvPr/>
        </p:nvSpPr>
        <p:spPr>
          <a:xfrm>
            <a:off x="9458553" y="5641848"/>
            <a:ext cx="2181758" cy="347471"/>
          </a:xfrm>
          <a:prstGeom prst="rect">
            <a:avLst/>
          </a:prstGeom>
          <a:noFill/>
        </p:spPr>
        <p:txBody>
          <a:bodyPr wrap="square" lIns="0" rIns="0" tIns="0" bIns="0" anchor="ctr">
            <a:spAutoFit/>
          </a:bodyPr>
          <a:lstStyle/>
          <a:p>
            <a:pPr algn="l"/>
            <a:r>
              <a:rPr sz="900" b="0" i="1">
                <a:solidFill>
                  <a:srgbClr val="9CA3AF"/>
                </a:solidFill>
                <a:latin typeface="Calibri"/>
              </a:rPr>
              <a:t>{{DONUT_2_SLICE_5_NOTE}}</a:t>
            </a:r>
          </a:p>
        </p:txBody>
      </p:sp>
      <p:sp>
        <p:nvSpPr>
          <p:cNvPr id="62" name="TextBox 61"/>
          <p:cNvSpPr txBox="1"/>
          <p:nvPr/>
        </p:nvSpPr>
        <p:spPr>
          <a:xfrm>
            <a:off x="6185916" y="6080760"/>
            <a:ext cx="5454396" cy="228600"/>
          </a:xfrm>
          <a:prstGeom prst="rect">
            <a:avLst/>
          </a:prstGeom>
          <a:noFill/>
        </p:spPr>
        <p:txBody>
          <a:bodyPr wrap="square" lIns="0" rIns="0" tIns="0" bIns="0" anchor="t">
            <a:spAutoFit/>
          </a:bodyPr>
          <a:lstStyle/>
          <a:p>
            <a:pPr algn="r"/>
            <a:r>
              <a:rPr sz="800" b="0" i="1">
                <a:solidFill>
                  <a:srgbClr val="9CA3AF"/>
                </a:solidFill>
                <a:latin typeface="Calibri"/>
              </a:rPr>
              <a:t>{{DONUT_2_SOURCE}}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name="DISCLAIMER">
    <p:spTree>
      <p:nvGrpSpPr>
        <p:cNvPr id="1" name=""/>
        <p:cNvGrpSpPr/>
        <p:nvPr/>
      </p:nvGrpSpPr>
      <p:grpSpPr/>
      <p:sp>
        <p:nvSpPr>
          <p:cNvPr id="2" name="Rectangle 1"/>
          <p:cNvSpPr/>
          <p:nvPr/>
        </p:nvSpPr>
        <p:spPr>
          <a:xfrm>
            <a:off x="0" y="0"/>
            <a:ext cx="914400" cy="6858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hevron 2"/>
          <p:cNvSpPr/>
          <p:nvPr/>
        </p:nvSpPr>
        <p:spPr>
          <a:xfrm>
            <a:off x="182880" y="457200"/>
            <a:ext cx="548640" cy="411480"/>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hevron 3"/>
          <p:cNvSpPr/>
          <p:nvPr/>
        </p:nvSpPr>
        <p:spPr>
          <a:xfrm>
            <a:off x="182880" y="914400"/>
            <a:ext cx="548640" cy="411480"/>
          </a:xfrm>
          <a:prstGeom prst="chevron">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57200"/>
            <a:ext cx="10058400" cy="457200"/>
          </a:xfrm>
          <a:prstGeom prst="rect">
            <a:avLst/>
          </a:prstGeom>
          <a:noFill/>
        </p:spPr>
        <p:txBody>
          <a:bodyPr wrap="square" lIns="0" rIns="0" tIns="0" bIns="0" anchor="ctr">
            <a:spAutoFit/>
          </a:bodyPr>
          <a:lstStyle/>
          <a:p>
            <a:pPr algn="l"/>
            <a:r>
              <a:rPr sz="2200" b="1" i="0">
                <a:solidFill>
                  <a:srgbClr val="7C3AED"/>
                </a:solidFill>
                <a:latin typeface="Calibri"/>
              </a:rPr>
              <a:t>TUYÊN BỐ MIỄN TRỪ TRÁCH NHIỆM</a:t>
            </a:r>
          </a:p>
        </p:txBody>
      </p:sp>
      <p:sp>
        <p:nvSpPr>
          <p:cNvPr id="6" name="Rectangle 5"/>
          <p:cNvSpPr/>
          <p:nvPr/>
        </p:nvSpPr>
        <p:spPr>
          <a:xfrm>
            <a:off x="1280160" y="1005840"/>
            <a:ext cx="3657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1280160"/>
            <a:ext cx="10515600" cy="1188720"/>
          </a:xfrm>
          <a:prstGeom prst="rect">
            <a:avLst/>
          </a:prstGeom>
          <a:noFill/>
        </p:spPr>
        <p:txBody>
          <a:bodyPr wrap="square" lIns="0" rIns="0" tIns="0" bIns="0" anchor="t">
            <a:spAutoFit/>
          </a:bodyPr>
          <a:lstStyle/>
          <a:p>
            <a:pPr algn="l"/>
            <a:r>
              <a:rPr sz="1200" b="0" i="0">
                <a:solidFill>
                  <a:srgbClr val="1F2937"/>
                </a:solidFill>
                <a:latin typeface="Calibri"/>
              </a:rPr>
              <a:t>Báo cáo này được Công ty Cổ phần Chứng khoán Finext soạn thảo trên cơ sở các thông tin, dữ liệu được thu thập từ các nguồn được cho là đáng tin cậy tại thời điểm phát hành. Tuy nhiên, Finext không cam kết hoặc bảo đảm tính chính xác, đầy đủ hay kịp thời của thông tin.</a:t>
            </a:r>
          </a:p>
        </p:txBody>
      </p:sp>
      <p:sp>
        <p:nvSpPr>
          <p:cNvPr id="8" name="TextBox 7"/>
          <p:cNvSpPr txBox="1"/>
          <p:nvPr/>
        </p:nvSpPr>
        <p:spPr>
          <a:xfrm>
            <a:off x="1280160" y="2606040"/>
            <a:ext cx="10515600" cy="1188720"/>
          </a:xfrm>
          <a:prstGeom prst="rect">
            <a:avLst/>
          </a:prstGeom>
          <a:noFill/>
        </p:spPr>
        <p:txBody>
          <a:bodyPr wrap="square" lIns="0" rIns="0" tIns="0" bIns="0" anchor="t">
            <a:spAutoFit/>
          </a:bodyPr>
          <a:lstStyle/>
          <a:p>
            <a:pPr algn="l"/>
            <a:r>
              <a:rPr sz="1200" b="0" i="0">
                <a:solidFill>
                  <a:srgbClr val="1F2937"/>
                </a:solidFill>
                <a:latin typeface="Calibri"/>
              </a:rPr>
              <a:t>Các khuyến nghị trong báo cáo phản ánh quan điểm độc lập của Finext tại thời điểm công bố và có thể thay đổi mà không cần thông báo trước. Nhà đầu tư cần tự đánh giá mức độ phù hợp với tình hình tài chính cá nhân, khả năng chịu rủi ro và mục tiêu đầu tư trước khi ra quyết định.</a:t>
            </a:r>
          </a:p>
        </p:txBody>
      </p:sp>
      <p:sp>
        <p:nvSpPr>
          <p:cNvPr id="9" name="TextBox 8"/>
          <p:cNvSpPr txBox="1"/>
          <p:nvPr/>
        </p:nvSpPr>
        <p:spPr>
          <a:xfrm>
            <a:off x="1280160" y="3931920"/>
            <a:ext cx="10515600" cy="777240"/>
          </a:xfrm>
          <a:prstGeom prst="rect">
            <a:avLst/>
          </a:prstGeom>
          <a:noFill/>
        </p:spPr>
        <p:txBody>
          <a:bodyPr wrap="square" lIns="0" rIns="0" tIns="0" bIns="0" anchor="t">
            <a:spAutoFit/>
          </a:bodyPr>
          <a:lstStyle/>
          <a:p>
            <a:pPr algn="l"/>
            <a:r>
              <a:rPr sz="1200" b="0" i="0">
                <a:solidFill>
                  <a:srgbClr val="1F2937"/>
                </a:solidFill>
                <a:latin typeface="Calibri"/>
              </a:rPr>
              <a:t>Quyết định đầu tư cuối cùng hoàn toàn thuộc về Quý khách hàng. Finext không chịu trách nhiệm về bất kỳ tổn thất nào phát sinh từ việc sử dụng báo cáo này.</a:t>
            </a:r>
          </a:p>
        </p:txBody>
      </p:sp>
      <p:sp>
        <p:nvSpPr>
          <p:cNvPr id="10" name="Rounded Rectangle 9"/>
          <p:cNvSpPr/>
          <p:nvPr/>
        </p:nvSpPr>
        <p:spPr>
          <a:xfrm>
            <a:off x="1280160" y="5029200"/>
            <a:ext cx="10515600" cy="118872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280160" y="5029200"/>
            <a:ext cx="54864" cy="11887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5166360"/>
            <a:ext cx="10149840" cy="274320"/>
          </a:xfrm>
          <a:prstGeom prst="rect">
            <a:avLst/>
          </a:prstGeom>
          <a:noFill/>
        </p:spPr>
        <p:txBody>
          <a:bodyPr wrap="square" lIns="0" rIns="0" tIns="0" bIns="0" anchor="t">
            <a:spAutoFit/>
          </a:bodyPr>
          <a:lstStyle/>
          <a:p>
            <a:pPr algn="l"/>
            <a:r>
              <a:rPr sz="1000" b="1" i="0">
                <a:solidFill>
                  <a:srgbClr val="7C3AED"/>
                </a:solidFill>
                <a:latin typeface="Calibri"/>
              </a:rPr>
              <a:t>LIÊN HỆ</a:t>
            </a:r>
          </a:p>
        </p:txBody>
      </p:sp>
      <p:sp>
        <p:nvSpPr>
          <p:cNvPr id="13" name="TextBox 12"/>
          <p:cNvSpPr txBox="1"/>
          <p:nvPr/>
        </p:nvSpPr>
        <p:spPr>
          <a:xfrm>
            <a:off x="1554480" y="5486400"/>
            <a:ext cx="5029200" cy="274320"/>
          </a:xfrm>
          <a:prstGeom prst="rect">
            <a:avLst/>
          </a:prstGeom>
          <a:noFill/>
        </p:spPr>
        <p:txBody>
          <a:bodyPr wrap="square" lIns="0" rIns="0" tIns="0" bIns="0" anchor="t">
            <a:spAutoFit/>
          </a:bodyPr>
          <a:lstStyle/>
          <a:p>
            <a:pPr algn="l"/>
            <a:r>
              <a:rPr sz="1200" b="0" i="0">
                <a:solidFill>
                  <a:srgbClr val="1F2937"/>
                </a:solidFill>
                <a:latin typeface="Calibri"/>
              </a:rPr>
              <a:t>Website:  www.finext.vn</a:t>
            </a:r>
          </a:p>
        </p:txBody>
      </p:sp>
      <p:sp>
        <p:nvSpPr>
          <p:cNvPr id="14" name="TextBox 13"/>
          <p:cNvSpPr txBox="1"/>
          <p:nvPr/>
        </p:nvSpPr>
        <p:spPr>
          <a:xfrm>
            <a:off x="1554480" y="5806440"/>
            <a:ext cx="5029200" cy="274320"/>
          </a:xfrm>
          <a:prstGeom prst="rect">
            <a:avLst/>
          </a:prstGeom>
          <a:noFill/>
        </p:spPr>
        <p:txBody>
          <a:bodyPr wrap="square" lIns="0" rIns="0" tIns="0" bIns="0" anchor="t">
            <a:spAutoFit/>
          </a:bodyPr>
          <a:lstStyle/>
          <a:p>
            <a:pPr algn="l"/>
            <a:r>
              <a:rPr sz="1200" b="0" i="0">
                <a:solidFill>
                  <a:srgbClr val="1F2937"/>
                </a:solidFill>
                <a:latin typeface="Calibri"/>
              </a:rPr>
              <a:t>Hotline:  1900 0000</a:t>
            </a:r>
          </a:p>
        </p:txBody>
      </p:sp>
      <p:sp>
        <p:nvSpPr>
          <p:cNvPr id="15" name="TextBox 14"/>
          <p:cNvSpPr txBox="1"/>
          <p:nvPr/>
        </p:nvSpPr>
        <p:spPr>
          <a:xfrm>
            <a:off x="6583679" y="5486400"/>
            <a:ext cx="5029200" cy="274320"/>
          </a:xfrm>
          <a:prstGeom prst="rect">
            <a:avLst/>
          </a:prstGeom>
          <a:noFill/>
        </p:spPr>
        <p:txBody>
          <a:bodyPr wrap="square" lIns="0" rIns="0" tIns="0" bIns="0" anchor="t">
            <a:spAutoFit/>
          </a:bodyPr>
          <a:lstStyle/>
          <a:p>
            <a:pPr algn="l"/>
            <a:r>
              <a:rPr sz="1100" b="0" i="1">
                <a:solidFill>
                  <a:srgbClr val="6B7280"/>
                </a:solidFill>
                <a:latin typeface="Calibri"/>
              </a:rPr>
              <a:t>Finext • Phòng Phân tích Đầu tư</a:t>
            </a:r>
          </a:p>
        </p:txBody>
      </p:sp>
      <p:sp>
        <p:nvSpPr>
          <p:cNvPr id="16" name="TextBox 15"/>
          <p:cNvSpPr txBox="1"/>
          <p:nvPr/>
        </p:nvSpPr>
        <p:spPr>
          <a:xfrm>
            <a:off x="6583679" y="5806440"/>
            <a:ext cx="5029200" cy="274320"/>
          </a:xfrm>
          <a:prstGeom prst="rect">
            <a:avLst/>
          </a:prstGeom>
          <a:noFill/>
        </p:spPr>
        <p:txBody>
          <a:bodyPr wrap="square" lIns="0" rIns="0" tIns="0" bIns="0" anchor="t">
            <a:spAutoFit/>
          </a:bodyPr>
          <a:lstStyle/>
          <a:p>
            <a:pPr algn="l"/>
            <a:r>
              <a:rPr sz="1100" b="0" i="0">
                <a:solidFill>
                  <a:srgbClr val="6B7280"/>
                </a:solidFill>
                <a:latin typeface="Calibri"/>
              </a:rPr>
              <a:t>Phát hành: {{PUBLISH_DATE}}</a:t>
            </a:r>
          </a:p>
        </p:txBody>
      </p:sp>
      <p:sp>
        <p:nvSpPr>
          <p:cNvPr id="17" name="Rectangle 16"/>
          <p:cNvSpPr/>
          <p:nvPr/>
        </p:nvSpPr>
        <p:spPr>
          <a:xfrm>
            <a:off x="1280160" y="6492240"/>
            <a:ext cx="10515600" cy="365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