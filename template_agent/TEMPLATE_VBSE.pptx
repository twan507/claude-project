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name="COVER_A_RECOMMENDATION">
    <p:spTree>
      <p:nvGrpSpPr>
        <p:cNvPr id="1" name=""/>
        <p:cNvGrpSpPr/>
        <p:nvPr/>
      </p:nvGrpSpPr>
      <p:grpSpPr/>
      <p:sp>
        <p:nvSpPr>
          <p:cNvPr id="2" name="Rectangle 1"/>
          <p:cNvSpPr/>
          <p:nvPr/>
        </p:nvSpPr>
        <p:spPr>
          <a:xfrm>
            <a:off x="0" y="0"/>
            <a:ext cx="4754880" cy="685800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4114800" y="4663440"/>
            <a:ext cx="640080" cy="1280160"/>
          </a:xfrm>
          <a:custGeom>
            <a:avLst/>
            <a:gdLst/>
            <a:ahLst/>
            <a:cxnLst/>
            <a:rect l="l" t="t" r="r" b="b"/>
            <a:pathLst>
              <a:path w="640080" h="1280160">
                <a:moveTo>
                  <a:pt x="0" y="640080"/>
                </a:moveTo>
                <a:lnTo>
                  <a:pt x="640080" y="0"/>
                </a:lnTo>
                <a:lnTo>
                  <a:pt x="640080" y="1280160"/>
                </a:lnTo>
                <a:close/>
              </a:path>
            </a:pathLst>
          </a:cu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029200"/>
            <a:ext cx="3657600" cy="274320"/>
          </a:xfrm>
          <a:prstGeom prst="rect">
            <a:avLst/>
          </a:prstGeom>
          <a:noFill/>
        </p:spPr>
        <p:txBody>
          <a:bodyPr wrap="square" lIns="0" rIns="0" tIns="0" bIns="0" anchor="t">
            <a:spAutoFit/>
          </a:bodyPr>
          <a:lstStyle/>
          <a:p>
            <a:pPr algn="l"/>
            <a:r>
              <a:rPr sz="1000" b="1" i="0">
                <a:solidFill>
                  <a:srgbClr val="FFFFFF"/>
                </a:solidFill>
                <a:latin typeface="Calibri"/>
              </a:rPr>
              <a:t>PHÒNG MÔI GIỚI VÀ TƯ VẤN ĐẦU TƯ</a:t>
            </a:r>
          </a:p>
        </p:txBody>
      </p:sp>
      <p:sp>
        <p:nvSpPr>
          <p:cNvPr id="5" name="TextBox 4"/>
          <p:cNvSpPr txBox="1"/>
          <p:nvPr/>
        </p:nvSpPr>
        <p:spPr>
          <a:xfrm>
            <a:off x="548640" y="5321808"/>
            <a:ext cx="3657600" cy="274320"/>
          </a:xfrm>
          <a:prstGeom prst="rect">
            <a:avLst/>
          </a:prstGeom>
          <a:noFill/>
        </p:spPr>
        <p:txBody>
          <a:bodyPr wrap="square" lIns="0" rIns="0" tIns="0" bIns="0" anchor="t">
            <a:spAutoFit/>
          </a:bodyPr>
          <a:lstStyle/>
          <a:p>
            <a:pPr algn="l"/>
            <a:r>
              <a:rPr sz="1000" b="0" i="1">
                <a:solidFill>
                  <a:srgbClr val="FFFFFF"/>
                </a:solidFill>
                <a:latin typeface="Calibri"/>
              </a:rPr>
              <a:t>Tổ tầm soát cổ phiếu</a:t>
            </a:r>
          </a:p>
        </p:txBody>
      </p:sp>
      <p:sp>
        <p:nvSpPr>
          <p:cNvPr id="6" name="TextBox 5"/>
          <p:cNvSpPr txBox="1"/>
          <p:nvPr/>
        </p:nvSpPr>
        <p:spPr>
          <a:xfrm>
            <a:off x="548640" y="6217920"/>
            <a:ext cx="3657600" cy="274320"/>
          </a:xfrm>
          <a:prstGeom prst="rect">
            <a:avLst/>
          </a:prstGeom>
          <a:noFill/>
        </p:spPr>
        <p:txBody>
          <a:bodyPr wrap="square" lIns="0" rIns="0" tIns="0" bIns="0" anchor="t">
            <a:spAutoFit/>
          </a:bodyPr>
          <a:lstStyle/>
          <a:p>
            <a:pPr algn="l"/>
            <a:r>
              <a:rPr sz="1000" b="0" i="0">
                <a:solidFill>
                  <a:srgbClr val="FFFFFF"/>
                </a:solidFill>
                <a:latin typeface="Calibri"/>
              </a:rPr>
              <a:t>www.vbse.vn  •  1900 588 866</a:t>
            </a:r>
          </a:p>
        </p:txBody>
      </p:sp>
      <p:sp>
        <p:nvSpPr>
          <p:cNvPr id="7" name="TextBox 6"/>
          <p:cNvSpPr txBox="1"/>
          <p:nvPr/>
        </p:nvSpPr>
        <p:spPr>
          <a:xfrm>
            <a:off x="5303520" y="1097280"/>
            <a:ext cx="6400800" cy="365760"/>
          </a:xfrm>
          <a:prstGeom prst="rect">
            <a:avLst/>
          </a:prstGeom>
          <a:noFill/>
        </p:spPr>
        <p:txBody>
          <a:bodyPr wrap="square" lIns="0" rIns="0" tIns="0" bIns="0" anchor="t">
            <a:spAutoFit/>
          </a:bodyPr>
          <a:lstStyle/>
          <a:p>
            <a:pPr algn="l"/>
            <a:r>
              <a:rPr sz="1400" b="1" i="0">
                <a:solidFill>
                  <a:srgbClr val="D71249"/>
                </a:solidFill>
                <a:latin typeface="Calibri"/>
              </a:rPr>
              <a:t>BÁO CÁO PHÂN TÍCH</a:t>
            </a:r>
          </a:p>
        </p:txBody>
      </p:sp>
      <p:sp>
        <p:nvSpPr>
          <p:cNvPr id="8" name="TextBox 7"/>
          <p:cNvSpPr txBox="1"/>
          <p:nvPr/>
        </p:nvSpPr>
        <p:spPr>
          <a:xfrm>
            <a:off x="5303520" y="1508760"/>
            <a:ext cx="6400800" cy="1417320"/>
          </a:xfrm>
          <a:prstGeom prst="rect">
            <a:avLst/>
          </a:prstGeom>
          <a:noFill/>
        </p:spPr>
        <p:txBody>
          <a:bodyPr wrap="square" lIns="0" rIns="0" tIns="0" bIns="0" anchor="t">
            <a:spAutoFit/>
          </a:bodyPr>
          <a:lstStyle/>
          <a:p>
            <a:pPr algn="l"/>
            <a:r>
              <a:rPr sz="9600" b="1" i="0">
                <a:solidFill>
                  <a:srgbClr val="003D7A"/>
                </a:solidFill>
                <a:latin typeface="Calibri"/>
              </a:rPr>
              <a:t>{{TICKER}}</a:t>
            </a:r>
          </a:p>
        </p:txBody>
      </p:sp>
      <p:sp>
        <p:nvSpPr>
          <p:cNvPr id="9" name="TextBox 8"/>
          <p:cNvSpPr txBox="1"/>
          <p:nvPr/>
        </p:nvSpPr>
        <p:spPr>
          <a:xfrm>
            <a:off x="5303520" y="2926080"/>
            <a:ext cx="6400800" cy="457200"/>
          </a:xfrm>
          <a:prstGeom prst="rect">
            <a:avLst/>
          </a:prstGeom>
          <a:noFill/>
        </p:spPr>
        <p:txBody>
          <a:bodyPr wrap="square" lIns="0" rIns="0" tIns="0" bIns="0" anchor="t">
            <a:spAutoFit/>
          </a:bodyPr>
          <a:lstStyle/>
          <a:p>
            <a:pPr algn="l"/>
            <a:r>
              <a:rPr sz="2200" b="0" i="0">
                <a:solidFill>
                  <a:srgbClr val="1F2937"/>
                </a:solidFill>
                <a:latin typeface="Calibri"/>
              </a:rPr>
              <a:t>{{COMPANY_FULL_NAME}}</a:t>
            </a:r>
          </a:p>
        </p:txBody>
      </p:sp>
      <p:sp>
        <p:nvSpPr>
          <p:cNvPr id="10" name="Rectangle 9"/>
          <p:cNvSpPr/>
          <p:nvPr/>
        </p:nvSpPr>
        <p:spPr>
          <a:xfrm>
            <a:off x="5303520" y="3749039"/>
            <a:ext cx="2194560" cy="4572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800" b="1" i="0">
                <a:solidFill>
                  <a:srgbClr val="FFFFFF"/>
                </a:solidFill>
                <a:latin typeface="Calibri"/>
              </a:rPr>
              <a:t>MUA</a:t>
            </a:r>
          </a:p>
        </p:txBody>
      </p:sp>
      <p:sp>
        <p:nvSpPr>
          <p:cNvPr id="11" name="Rectangle 10"/>
          <p:cNvSpPr/>
          <p:nvPr/>
        </p:nvSpPr>
        <p:spPr>
          <a:xfrm>
            <a:off x="5303520" y="4206240"/>
            <a:ext cx="2194560" cy="36576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0" i="1">
                <a:solidFill>
                  <a:srgbClr val="FFFFFF"/>
                </a:solidFill>
                <a:latin typeface="Calibri"/>
              </a:rPr>
              <a:t>Khuyến nghị</a:t>
            </a:r>
          </a:p>
        </p:txBody>
      </p:sp>
      <p:sp>
        <p:nvSpPr>
          <p:cNvPr id="12" name="Rectangle 11"/>
          <p:cNvSpPr/>
          <p:nvPr/>
        </p:nvSpPr>
        <p:spPr>
          <a:xfrm>
            <a:off x="7680960" y="3749039"/>
            <a:ext cx="2011680" cy="82296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0" y="3822191"/>
            <a:ext cx="1828800" cy="228600"/>
          </a:xfrm>
          <a:prstGeom prst="rect">
            <a:avLst/>
          </a:prstGeom>
          <a:noFill/>
        </p:spPr>
        <p:txBody>
          <a:bodyPr wrap="square" lIns="0" rIns="0" tIns="0" bIns="0" anchor="t">
            <a:spAutoFit/>
          </a:bodyPr>
          <a:lstStyle/>
          <a:p>
            <a:pPr algn="ctr"/>
            <a:r>
              <a:rPr sz="900" b="0" i="0">
                <a:solidFill>
                  <a:srgbClr val="4A5568"/>
                </a:solidFill>
                <a:latin typeface="Calibri"/>
              </a:rPr>
              <a:t>Giá hiện tại</a:t>
            </a:r>
          </a:p>
        </p:txBody>
      </p:sp>
      <p:sp>
        <p:nvSpPr>
          <p:cNvPr id="14" name="TextBox 13"/>
          <p:cNvSpPr txBox="1"/>
          <p:nvPr/>
        </p:nvSpPr>
        <p:spPr>
          <a:xfrm>
            <a:off x="7772400" y="4050791"/>
            <a:ext cx="1828800" cy="457200"/>
          </a:xfrm>
          <a:prstGeom prst="rect">
            <a:avLst/>
          </a:prstGeom>
          <a:noFill/>
        </p:spPr>
        <p:txBody>
          <a:bodyPr wrap="square" lIns="0" rIns="0" tIns="0" bIns="0" anchor="t">
            <a:spAutoFit/>
          </a:bodyPr>
          <a:lstStyle/>
          <a:p>
            <a:pPr algn="ctr"/>
            <a:r>
              <a:rPr sz="2200" b="1" i="0">
                <a:solidFill>
                  <a:srgbClr val="003D7A"/>
                </a:solidFill>
                <a:latin typeface="Calibri"/>
              </a:rPr>
              <a:t>{{PRICE_CURRENT}}</a:t>
            </a:r>
          </a:p>
        </p:txBody>
      </p:sp>
      <p:sp>
        <p:nvSpPr>
          <p:cNvPr id="15" name="Rectangle 14"/>
          <p:cNvSpPr/>
          <p:nvPr/>
        </p:nvSpPr>
        <p:spPr>
          <a:xfrm>
            <a:off x="9875520" y="3749039"/>
            <a:ext cx="2011680" cy="822960"/>
          </a:xfrm>
          <a:prstGeom prst="rect">
            <a:avLst/>
          </a:prstGeom>
          <a:solidFill>
            <a:srgbClr val="F5D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66960" y="3822191"/>
            <a:ext cx="1828800" cy="228600"/>
          </a:xfrm>
          <a:prstGeom prst="rect">
            <a:avLst/>
          </a:prstGeom>
          <a:noFill/>
        </p:spPr>
        <p:txBody>
          <a:bodyPr wrap="square" lIns="0" rIns="0" tIns="0" bIns="0" anchor="t">
            <a:spAutoFit/>
          </a:bodyPr>
          <a:lstStyle/>
          <a:p>
            <a:pPr algn="ctr"/>
            <a:r>
              <a:rPr sz="900" b="0" i="0">
                <a:solidFill>
                  <a:srgbClr val="D71249"/>
                </a:solidFill>
                <a:latin typeface="Calibri"/>
              </a:rPr>
              <a:t>Giá mục tiêu</a:t>
            </a:r>
          </a:p>
        </p:txBody>
      </p:sp>
      <p:sp>
        <p:nvSpPr>
          <p:cNvPr id="17" name="TextBox 16"/>
          <p:cNvSpPr txBox="1"/>
          <p:nvPr/>
        </p:nvSpPr>
        <p:spPr>
          <a:xfrm>
            <a:off x="9966960" y="4050791"/>
            <a:ext cx="1828800" cy="457200"/>
          </a:xfrm>
          <a:prstGeom prst="rect">
            <a:avLst/>
          </a:prstGeom>
          <a:noFill/>
        </p:spPr>
        <p:txBody>
          <a:bodyPr wrap="square" lIns="0" rIns="0" tIns="0" bIns="0" anchor="t">
            <a:spAutoFit/>
          </a:bodyPr>
          <a:lstStyle/>
          <a:p>
            <a:pPr algn="ctr"/>
            <a:r>
              <a:rPr sz="2200" b="1" i="0">
                <a:solidFill>
                  <a:srgbClr val="D71249"/>
                </a:solidFill>
                <a:latin typeface="Calibri"/>
              </a:rPr>
              <a:t>{{PRICE_TARGET}}</a:t>
            </a:r>
          </a:p>
        </p:txBody>
      </p:sp>
      <p:sp>
        <p:nvSpPr>
          <p:cNvPr id="18" name="TextBox 17"/>
          <p:cNvSpPr txBox="1"/>
          <p:nvPr/>
        </p:nvSpPr>
        <p:spPr>
          <a:xfrm>
            <a:off x="5303520" y="4709160"/>
            <a:ext cx="6400800" cy="320040"/>
          </a:xfrm>
          <a:prstGeom prst="rect">
            <a:avLst/>
          </a:prstGeom>
          <a:noFill/>
        </p:spPr>
        <p:txBody>
          <a:bodyPr wrap="square" lIns="0" rIns="0" tIns="0" bIns="0" anchor="t">
            <a:spAutoFit/>
          </a:bodyPr>
          <a:lstStyle/>
          <a:p>
            <a:pPr algn="l"/>
            <a:r>
              <a:rPr sz="1400" b="1" i="0">
                <a:solidFill>
                  <a:srgbClr val="059669"/>
                </a:solidFill>
                <a:latin typeface="Calibri"/>
              </a:rPr>
              <a:t>{{UPSIDE_LINE}}</a:t>
            </a:r>
          </a:p>
        </p:txBody>
      </p:sp>
      <p:sp>
        <p:nvSpPr>
          <p:cNvPr id="19" name="Rectangle 18"/>
          <p:cNvSpPr/>
          <p:nvPr/>
        </p:nvSpPr>
        <p:spPr>
          <a:xfrm>
            <a:off x="5303520" y="5166360"/>
            <a:ext cx="3657600" cy="10972"/>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0" y="5349240"/>
            <a:ext cx="6400800" cy="365760"/>
          </a:xfrm>
          <a:prstGeom prst="rect">
            <a:avLst/>
          </a:prstGeom>
          <a:noFill/>
        </p:spPr>
        <p:txBody>
          <a:bodyPr wrap="square" lIns="0" rIns="0" tIns="0" bIns="0" anchor="t">
            <a:spAutoFit/>
          </a:bodyPr>
          <a:lstStyle/>
          <a:p>
            <a:pPr algn="l"/>
            <a:r>
              <a:rPr sz="1600" b="0" i="1">
                <a:solidFill>
                  <a:srgbClr val="1F2937"/>
                </a:solidFill>
                <a:latin typeface="Calibri"/>
              </a:rPr>
              <a:t>{{THESIS_HEADLINE}}</a:t>
            </a:r>
          </a:p>
        </p:txBody>
      </p:sp>
      <p:sp>
        <p:nvSpPr>
          <p:cNvPr id="21" name="TextBox 20"/>
          <p:cNvSpPr txBox="1"/>
          <p:nvPr/>
        </p:nvSpPr>
        <p:spPr>
          <a:xfrm>
            <a:off x="5303520" y="5715000"/>
            <a:ext cx="6400800" cy="274320"/>
          </a:xfrm>
          <a:prstGeom prst="rect">
            <a:avLst/>
          </a:prstGeom>
          <a:noFill/>
        </p:spPr>
        <p:txBody>
          <a:bodyPr wrap="square" lIns="0" rIns="0" tIns="0" bIns="0" anchor="t">
            <a:spAutoFit/>
          </a:bodyPr>
          <a:lstStyle/>
          <a:p>
            <a:pPr algn="l"/>
            <a:r>
              <a:rPr sz="1200" b="0" i="0">
                <a:solidFill>
                  <a:srgbClr val="4A5568"/>
                </a:solidFill>
                <a:latin typeface="Calibri"/>
              </a:rPr>
              <a:t>Luận điểm ủng hộ chiến lược MUA</a:t>
            </a:r>
          </a:p>
        </p:txBody>
      </p:sp>
      <p:sp>
        <p:nvSpPr>
          <p:cNvPr id="22" name="TextBox 21"/>
          <p:cNvSpPr txBox="1"/>
          <p:nvPr/>
        </p:nvSpPr>
        <p:spPr>
          <a:xfrm>
            <a:off x="5303520" y="6263640"/>
            <a:ext cx="6400800" cy="274320"/>
          </a:xfrm>
          <a:prstGeom prst="rect">
            <a:avLst/>
          </a:prstGeom>
          <a:noFill/>
        </p:spPr>
        <p:txBody>
          <a:bodyPr wrap="square" lIns="0" rIns="0" tIns="0" bIns="0" anchor="t">
            <a:spAutoFit/>
          </a:bodyPr>
          <a:lstStyle/>
          <a:p>
            <a:pPr algn="l"/>
            <a:r>
              <a:rPr sz="1000" b="0" i="0">
                <a:solidFill>
                  <a:srgbClr val="4A5568"/>
                </a:solidFill>
                <a:latin typeface="Calibri"/>
              </a:rPr>
              <a:t>{{PUBLISH_DATE}}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COVER_B_DEEPDIVE">
    <p:spTree>
      <p:nvGrpSpPr>
        <p:cNvPr id="1" name=""/>
        <p:cNvGrpSpPr/>
        <p:nvPr/>
      </p:nvGrpSpPr>
      <p:grpSpPr/>
      <p:sp>
        <p:nvSpPr>
          <p:cNvPr id="2" name="Rectangle 1"/>
          <p:cNvSpPr/>
          <p:nvPr/>
        </p:nvSpPr>
        <p:spPr>
          <a:xfrm>
            <a:off x="0" y="0"/>
            <a:ext cx="12188952" cy="109728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274320"/>
          </a:xfrm>
          <a:prstGeom prst="rect">
            <a:avLst/>
          </a:prstGeom>
          <a:noFill/>
        </p:spPr>
        <p:txBody>
          <a:bodyPr wrap="square" lIns="0" rIns="0" tIns="0" bIns="0" anchor="t">
            <a:spAutoFit/>
          </a:bodyPr>
          <a:lstStyle/>
          <a:p>
            <a:pPr algn="l"/>
            <a:r>
              <a:rPr sz="1400" b="1" i="0">
                <a:solidFill>
                  <a:srgbClr val="D71249"/>
                </a:solidFill>
                <a:latin typeface="Calibri"/>
              </a:rPr>
              <a:t>PHÂN TÍCH CHUYÊN SÂU</a:t>
            </a:r>
          </a:p>
        </p:txBody>
      </p:sp>
      <p:sp>
        <p:nvSpPr>
          <p:cNvPr id="4" name="TextBox 3"/>
          <p:cNvSpPr txBox="1"/>
          <p:nvPr/>
        </p:nvSpPr>
        <p:spPr>
          <a:xfrm>
            <a:off x="548640" y="594360"/>
            <a:ext cx="10972800" cy="411480"/>
          </a:xfrm>
          <a:prstGeom prst="rect">
            <a:avLst/>
          </a:prstGeom>
          <a:noFill/>
        </p:spPr>
        <p:txBody>
          <a:bodyPr wrap="square" lIns="0" rIns="0" tIns="0" bIns="0" anchor="t">
            <a:spAutoFit/>
          </a:bodyPr>
          <a:lstStyle/>
          <a:p>
            <a:pPr algn="l"/>
            <a:r>
              <a:rPr sz="1400" b="0" i="1">
                <a:solidFill>
                  <a:srgbClr val="FFFFFF"/>
                </a:solidFill>
                <a:latin typeface="Calibri"/>
              </a:rPr>
              <a:t>{{REPORT_SUBTITLE}}</a:t>
            </a:r>
          </a:p>
        </p:txBody>
      </p:sp>
      <p:sp>
        <p:nvSpPr>
          <p:cNvPr id="5" name="TextBox 4"/>
          <p:cNvSpPr txBox="1"/>
          <p:nvPr/>
        </p:nvSpPr>
        <p:spPr>
          <a:xfrm>
            <a:off x="548640" y="1463040"/>
            <a:ext cx="10972800" cy="1371600"/>
          </a:xfrm>
          <a:prstGeom prst="rect">
            <a:avLst/>
          </a:prstGeom>
          <a:noFill/>
        </p:spPr>
        <p:txBody>
          <a:bodyPr wrap="square" lIns="0" rIns="0" tIns="0" bIns="0" anchor="t">
            <a:spAutoFit/>
          </a:bodyPr>
          <a:lstStyle/>
          <a:p>
            <a:pPr algn="ctr"/>
            <a:r>
              <a:rPr sz="8400" b="1" i="0">
                <a:solidFill>
                  <a:srgbClr val="003D7A"/>
                </a:solidFill>
                <a:latin typeface="Calibri"/>
              </a:rPr>
              <a:t>{{TICKER}}</a:t>
            </a:r>
          </a:p>
        </p:txBody>
      </p:sp>
      <p:sp>
        <p:nvSpPr>
          <p:cNvPr id="6" name="TextBox 5"/>
          <p:cNvSpPr txBox="1"/>
          <p:nvPr/>
        </p:nvSpPr>
        <p:spPr>
          <a:xfrm>
            <a:off x="548640" y="2926080"/>
            <a:ext cx="10972800" cy="457200"/>
          </a:xfrm>
          <a:prstGeom prst="rect">
            <a:avLst/>
          </a:prstGeom>
          <a:noFill/>
        </p:spPr>
        <p:txBody>
          <a:bodyPr wrap="square" lIns="0" rIns="0" tIns="0" bIns="0" anchor="t">
            <a:spAutoFit/>
          </a:bodyPr>
          <a:lstStyle/>
          <a:p>
            <a:pPr algn="ctr"/>
            <a:r>
              <a:rPr sz="2000" b="0" i="0">
                <a:solidFill>
                  <a:srgbClr val="1F2937"/>
                </a:solidFill>
                <a:latin typeface="Calibri"/>
              </a:rPr>
              <a:t>{{COMPANY_FULL_NAME}}</a:t>
            </a:r>
          </a:p>
        </p:txBody>
      </p:sp>
      <p:sp>
        <p:nvSpPr>
          <p:cNvPr id="7" name="TextBox 6"/>
          <p:cNvSpPr txBox="1"/>
          <p:nvPr/>
        </p:nvSpPr>
        <p:spPr>
          <a:xfrm>
            <a:off x="548640" y="3429000"/>
            <a:ext cx="10972800" cy="320040"/>
          </a:xfrm>
          <a:prstGeom prst="rect">
            <a:avLst/>
          </a:prstGeom>
          <a:noFill/>
        </p:spPr>
        <p:txBody>
          <a:bodyPr wrap="square" lIns="0" rIns="0" tIns="0" bIns="0" anchor="t">
            <a:spAutoFit/>
          </a:bodyPr>
          <a:lstStyle/>
          <a:p>
            <a:pPr algn="ctr"/>
            <a:r>
              <a:rPr sz="1200" b="0" i="1">
                <a:solidFill>
                  <a:srgbClr val="4A5568"/>
                </a:solidFill>
                <a:latin typeface="Calibri"/>
              </a:rPr>
              <a:t>{{INDUSTRY_LABEL}}</a:t>
            </a:r>
          </a:p>
        </p:txBody>
      </p:sp>
      <p:sp>
        <p:nvSpPr>
          <p:cNvPr id="8" name="Rectangle 7"/>
          <p:cNvSpPr/>
          <p:nvPr/>
        </p:nvSpPr>
        <p:spPr>
          <a:xfrm>
            <a:off x="457200" y="4206240"/>
            <a:ext cx="2674620" cy="13716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4206240"/>
            <a:ext cx="73152" cy="137160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4297679"/>
            <a:ext cx="2400300" cy="274320"/>
          </a:xfrm>
          <a:prstGeom prst="rect">
            <a:avLst/>
          </a:prstGeom>
          <a:noFill/>
        </p:spPr>
        <p:txBody>
          <a:bodyPr wrap="square" lIns="0" rIns="0" tIns="0" bIns="0" anchor="t">
            <a:spAutoFit/>
          </a:bodyPr>
          <a:lstStyle/>
          <a:p>
            <a:pPr algn="l"/>
            <a:r>
              <a:rPr sz="1000" b="0" i="0">
                <a:solidFill>
                  <a:srgbClr val="4A5568"/>
                </a:solidFill>
                <a:latin typeface="Calibri"/>
              </a:rPr>
              <a:t>Giá hiện tại</a:t>
            </a:r>
          </a:p>
        </p:txBody>
      </p:sp>
      <p:sp>
        <p:nvSpPr>
          <p:cNvPr id="11" name="TextBox 10"/>
          <p:cNvSpPr txBox="1"/>
          <p:nvPr/>
        </p:nvSpPr>
        <p:spPr>
          <a:xfrm>
            <a:off x="640080" y="4572000"/>
            <a:ext cx="2400300" cy="457200"/>
          </a:xfrm>
          <a:prstGeom prst="rect">
            <a:avLst/>
          </a:prstGeom>
          <a:noFill/>
        </p:spPr>
        <p:txBody>
          <a:bodyPr wrap="square" lIns="0" rIns="0" tIns="0" bIns="0" anchor="t">
            <a:spAutoFit/>
          </a:bodyPr>
          <a:lstStyle/>
          <a:p>
            <a:pPr algn="l"/>
            <a:r>
              <a:rPr sz="2200" b="1" i="0">
                <a:solidFill>
                  <a:srgbClr val="003D7A"/>
                </a:solidFill>
                <a:latin typeface="Calibri"/>
              </a:rPr>
              <a:t>{{PRICE_CURRENT}}</a:t>
            </a:r>
          </a:p>
        </p:txBody>
      </p:sp>
      <p:sp>
        <p:nvSpPr>
          <p:cNvPr id="12" name="TextBox 11"/>
          <p:cNvSpPr txBox="1"/>
          <p:nvPr/>
        </p:nvSpPr>
        <p:spPr>
          <a:xfrm>
            <a:off x="640080" y="5029200"/>
            <a:ext cx="2400300" cy="320040"/>
          </a:xfrm>
          <a:prstGeom prst="rect">
            <a:avLst/>
          </a:prstGeom>
          <a:noFill/>
        </p:spPr>
        <p:txBody>
          <a:bodyPr wrap="square" lIns="0" rIns="0" tIns="0" bIns="0" anchor="t">
            <a:spAutoFit/>
          </a:bodyPr>
          <a:lstStyle/>
          <a:p>
            <a:pPr algn="l"/>
            <a:r>
              <a:rPr sz="1200" b="1" i="0">
                <a:solidFill>
                  <a:srgbClr val="4A5568"/>
                </a:solidFill>
                <a:latin typeface="Calibri"/>
              </a:rPr>
              <a:t>{{PRICE_DATE}}</a:t>
            </a:r>
          </a:p>
        </p:txBody>
      </p:sp>
      <p:sp>
        <p:nvSpPr>
          <p:cNvPr id="13" name="Rectangle 12"/>
          <p:cNvSpPr/>
          <p:nvPr/>
        </p:nvSpPr>
        <p:spPr>
          <a:xfrm>
            <a:off x="3314700" y="4206240"/>
            <a:ext cx="2674620" cy="13716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14700" y="4206240"/>
            <a:ext cx="73152" cy="137160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7580" y="4297679"/>
            <a:ext cx="2400300" cy="274320"/>
          </a:xfrm>
          <a:prstGeom prst="rect">
            <a:avLst/>
          </a:prstGeom>
          <a:noFill/>
        </p:spPr>
        <p:txBody>
          <a:bodyPr wrap="square" lIns="0" rIns="0" tIns="0" bIns="0" anchor="t">
            <a:spAutoFit/>
          </a:bodyPr>
          <a:lstStyle/>
          <a:p>
            <a:pPr algn="l"/>
            <a:r>
              <a:rPr sz="1000" b="0" i="0">
                <a:solidFill>
                  <a:srgbClr val="4A5568"/>
                </a:solidFill>
                <a:latin typeface="Calibri"/>
              </a:rPr>
              <a:t>Giá kỳ vọng (Cơ sở)</a:t>
            </a:r>
          </a:p>
        </p:txBody>
      </p:sp>
      <p:sp>
        <p:nvSpPr>
          <p:cNvPr id="16" name="TextBox 15"/>
          <p:cNvSpPr txBox="1"/>
          <p:nvPr/>
        </p:nvSpPr>
        <p:spPr>
          <a:xfrm>
            <a:off x="3497580" y="4572000"/>
            <a:ext cx="2400300" cy="457200"/>
          </a:xfrm>
          <a:prstGeom prst="rect">
            <a:avLst/>
          </a:prstGeom>
          <a:noFill/>
        </p:spPr>
        <p:txBody>
          <a:bodyPr wrap="square" lIns="0" rIns="0" tIns="0" bIns="0" anchor="t">
            <a:spAutoFit/>
          </a:bodyPr>
          <a:lstStyle/>
          <a:p>
            <a:pPr algn="l"/>
            <a:r>
              <a:rPr sz="2200" b="1" i="0">
                <a:solidFill>
                  <a:srgbClr val="003D7A"/>
                </a:solidFill>
                <a:latin typeface="Calibri"/>
              </a:rPr>
              <a:t>{{TARGET_BASE}}</a:t>
            </a:r>
          </a:p>
        </p:txBody>
      </p:sp>
      <p:sp>
        <p:nvSpPr>
          <p:cNvPr id="17" name="TextBox 16"/>
          <p:cNvSpPr txBox="1"/>
          <p:nvPr/>
        </p:nvSpPr>
        <p:spPr>
          <a:xfrm>
            <a:off x="3497580" y="5029200"/>
            <a:ext cx="2400300" cy="320040"/>
          </a:xfrm>
          <a:prstGeom prst="rect">
            <a:avLst/>
          </a:prstGeom>
          <a:noFill/>
        </p:spPr>
        <p:txBody>
          <a:bodyPr wrap="square" lIns="0" rIns="0" tIns="0" bIns="0" anchor="t">
            <a:spAutoFit/>
          </a:bodyPr>
          <a:lstStyle/>
          <a:p>
            <a:pPr algn="l"/>
            <a:r>
              <a:rPr sz="1200" b="1" i="0">
                <a:solidFill>
                  <a:srgbClr val="059669"/>
                </a:solidFill>
                <a:latin typeface="Calibri"/>
              </a:rPr>
              <a:t>{{UPSIDE_BASE}}</a:t>
            </a:r>
          </a:p>
        </p:txBody>
      </p:sp>
      <p:sp>
        <p:nvSpPr>
          <p:cNvPr id="18" name="Rectangle 17"/>
          <p:cNvSpPr/>
          <p:nvPr/>
        </p:nvSpPr>
        <p:spPr>
          <a:xfrm>
            <a:off x="6172200" y="4206240"/>
            <a:ext cx="2674620" cy="13716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72200" y="4206240"/>
            <a:ext cx="73152" cy="137160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2400300" cy="274320"/>
          </a:xfrm>
          <a:prstGeom prst="rect">
            <a:avLst/>
          </a:prstGeom>
          <a:noFill/>
        </p:spPr>
        <p:txBody>
          <a:bodyPr wrap="square" lIns="0" rIns="0" tIns="0" bIns="0" anchor="t">
            <a:spAutoFit/>
          </a:bodyPr>
          <a:lstStyle/>
          <a:p>
            <a:pPr algn="l"/>
            <a:r>
              <a:rPr sz="1000" b="0" i="0">
                <a:solidFill>
                  <a:srgbClr val="4A5568"/>
                </a:solidFill>
                <a:latin typeface="Calibri"/>
              </a:rPr>
              <a:t>Mức cắt lỗ</a:t>
            </a:r>
          </a:p>
        </p:txBody>
      </p:sp>
      <p:sp>
        <p:nvSpPr>
          <p:cNvPr id="21" name="TextBox 20"/>
          <p:cNvSpPr txBox="1"/>
          <p:nvPr/>
        </p:nvSpPr>
        <p:spPr>
          <a:xfrm>
            <a:off x="6355080" y="4572000"/>
            <a:ext cx="2400300" cy="457200"/>
          </a:xfrm>
          <a:prstGeom prst="rect">
            <a:avLst/>
          </a:prstGeom>
          <a:noFill/>
        </p:spPr>
        <p:txBody>
          <a:bodyPr wrap="square" lIns="0" rIns="0" tIns="0" bIns="0" anchor="t">
            <a:spAutoFit/>
          </a:bodyPr>
          <a:lstStyle/>
          <a:p>
            <a:pPr algn="l"/>
            <a:r>
              <a:rPr sz="2200" b="1" i="0">
                <a:solidFill>
                  <a:srgbClr val="003D7A"/>
                </a:solidFill>
                <a:latin typeface="Calibri"/>
              </a:rPr>
              <a:t>{{STOPLOSS}}</a:t>
            </a:r>
          </a:p>
        </p:txBody>
      </p:sp>
      <p:sp>
        <p:nvSpPr>
          <p:cNvPr id="22" name="TextBox 21"/>
          <p:cNvSpPr txBox="1"/>
          <p:nvPr/>
        </p:nvSpPr>
        <p:spPr>
          <a:xfrm>
            <a:off x="6355080" y="5029200"/>
            <a:ext cx="2400300" cy="320040"/>
          </a:xfrm>
          <a:prstGeom prst="rect">
            <a:avLst/>
          </a:prstGeom>
          <a:noFill/>
        </p:spPr>
        <p:txBody>
          <a:bodyPr wrap="square" lIns="0" rIns="0" tIns="0" bIns="0" anchor="t">
            <a:spAutoFit/>
          </a:bodyPr>
          <a:lstStyle/>
          <a:p>
            <a:pPr algn="l"/>
            <a:r>
              <a:rPr sz="1200" b="1" i="0">
                <a:solidFill>
                  <a:srgbClr val="D71249"/>
                </a:solidFill>
                <a:latin typeface="Calibri"/>
              </a:rPr>
              <a:t>{{DOWNSIDE_STOP}}</a:t>
            </a:r>
          </a:p>
        </p:txBody>
      </p:sp>
      <p:sp>
        <p:nvSpPr>
          <p:cNvPr id="23" name="Rectangle 22"/>
          <p:cNvSpPr/>
          <p:nvPr/>
        </p:nvSpPr>
        <p:spPr>
          <a:xfrm>
            <a:off x="9029700" y="4206240"/>
            <a:ext cx="2674620" cy="13716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29700" y="4206240"/>
            <a:ext cx="73152" cy="137160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12580" y="4297679"/>
            <a:ext cx="2400300" cy="274320"/>
          </a:xfrm>
          <a:prstGeom prst="rect">
            <a:avLst/>
          </a:prstGeom>
          <a:noFill/>
        </p:spPr>
        <p:txBody>
          <a:bodyPr wrap="square" lIns="0" rIns="0" tIns="0" bIns="0" anchor="t">
            <a:spAutoFit/>
          </a:bodyPr>
          <a:lstStyle/>
          <a:p>
            <a:pPr algn="l"/>
            <a:r>
              <a:rPr sz="1000" b="0" i="0">
                <a:solidFill>
                  <a:srgbClr val="4A5568"/>
                </a:solidFill>
                <a:latin typeface="Calibri"/>
              </a:rPr>
              <a:t>Tỷ lệ lời-lỗ</a:t>
            </a:r>
          </a:p>
        </p:txBody>
      </p:sp>
      <p:sp>
        <p:nvSpPr>
          <p:cNvPr id="26" name="TextBox 25"/>
          <p:cNvSpPr txBox="1"/>
          <p:nvPr/>
        </p:nvSpPr>
        <p:spPr>
          <a:xfrm>
            <a:off x="9212580" y="4572000"/>
            <a:ext cx="2400300" cy="457200"/>
          </a:xfrm>
          <a:prstGeom prst="rect">
            <a:avLst/>
          </a:prstGeom>
          <a:noFill/>
        </p:spPr>
        <p:txBody>
          <a:bodyPr wrap="square" lIns="0" rIns="0" tIns="0" bIns="0" anchor="t">
            <a:spAutoFit/>
          </a:bodyPr>
          <a:lstStyle/>
          <a:p>
            <a:pPr algn="l"/>
            <a:r>
              <a:rPr sz="2200" b="1" i="0">
                <a:solidFill>
                  <a:srgbClr val="003D7A"/>
                </a:solidFill>
                <a:latin typeface="Calibri"/>
              </a:rPr>
              <a:t>{{RR_RATIO}}</a:t>
            </a:r>
          </a:p>
        </p:txBody>
      </p:sp>
      <p:sp>
        <p:nvSpPr>
          <p:cNvPr id="27" name="TextBox 26"/>
          <p:cNvSpPr txBox="1"/>
          <p:nvPr/>
        </p:nvSpPr>
        <p:spPr>
          <a:xfrm>
            <a:off x="9212580" y="5029200"/>
            <a:ext cx="2400300" cy="320040"/>
          </a:xfrm>
          <a:prstGeom prst="rect">
            <a:avLst/>
          </a:prstGeom>
          <a:noFill/>
        </p:spPr>
        <p:txBody>
          <a:bodyPr wrap="square" lIns="0" rIns="0" tIns="0" bIns="0" anchor="t">
            <a:spAutoFit/>
          </a:bodyPr>
          <a:lstStyle/>
          <a:p>
            <a:pPr algn="l"/>
            <a:r>
              <a:rPr sz="1200" b="1" i="0">
                <a:solidFill>
                  <a:srgbClr val="003D7A"/>
                </a:solidFill>
                <a:latin typeface="Calibri"/>
              </a:rPr>
              <a:t>{{RR_VERDICT}}</a:t>
            </a:r>
          </a:p>
        </p:txBody>
      </p:sp>
      <p:sp>
        <p:nvSpPr>
          <p:cNvPr id="28" name="TextBox 27"/>
          <p:cNvSpPr txBox="1"/>
          <p:nvPr/>
        </p:nvSpPr>
        <p:spPr>
          <a:xfrm>
            <a:off x="548640" y="6126480"/>
            <a:ext cx="7315200" cy="274320"/>
          </a:xfrm>
          <a:prstGeom prst="rect">
            <a:avLst/>
          </a:prstGeom>
          <a:noFill/>
        </p:spPr>
        <p:txBody>
          <a:bodyPr wrap="square" lIns="0" rIns="0" tIns="0" bIns="0" anchor="t">
            <a:spAutoFit/>
          </a:bodyPr>
          <a:lstStyle/>
          <a:p>
            <a:pPr algn="l"/>
            <a:r>
              <a:rPr sz="1000" b="0" i="1">
                <a:solidFill>
                  <a:srgbClr val="4A5568"/>
                </a:solidFill>
                <a:latin typeface="Calibri"/>
              </a:rPr>
              <a:t>Phòng Môi giới và Tư vấn Đầu tư  •  Tổ tầm soát cổ phiếu</a:t>
            </a:r>
          </a:p>
        </p:txBody>
      </p:sp>
      <p:sp>
        <p:nvSpPr>
          <p:cNvPr id="29" name="TextBox 28"/>
          <p:cNvSpPr txBox="1"/>
          <p:nvPr/>
        </p:nvSpPr>
        <p:spPr>
          <a:xfrm>
            <a:off x="7863840" y="6126480"/>
            <a:ext cx="3840480" cy="274320"/>
          </a:xfrm>
          <a:prstGeom prst="rect">
            <a:avLst/>
          </a:prstGeom>
          <a:noFill/>
        </p:spPr>
        <p:txBody>
          <a:bodyPr wrap="square" lIns="0" rIns="0" tIns="0" bIns="0" anchor="t">
            <a:spAutoFit/>
          </a:bodyPr>
          <a:lstStyle/>
          <a:p>
            <a:pPr algn="r"/>
            <a:r>
              <a:rPr sz="1000" b="0" i="0">
                <a:solidFill>
                  <a:srgbClr val="4A5568"/>
                </a:solidFill>
                <a:latin typeface="Calibri"/>
              </a:rPr>
              <a:t>{{PUBLISH_DATE}}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COVER_C_WEEKLY_MARKET">
    <p:spTree>
      <p:nvGrpSpPr>
        <p:cNvPr id="1" name=""/>
        <p:cNvGrpSpPr/>
        <p:nvPr/>
      </p:nvGrpSpPr>
      <p:grpSpPr/>
      <p:sp>
        <p:nvSpPr>
          <p:cNvPr id="2" name="Rectangle 1"/>
          <p:cNvSpPr/>
          <p:nvPr/>
        </p:nvSpPr>
        <p:spPr>
          <a:xfrm>
            <a:off x="0" y="0"/>
            <a:ext cx="12188952" cy="384048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10972800" cy="365760"/>
          </a:xfrm>
          <a:prstGeom prst="rect">
            <a:avLst/>
          </a:prstGeom>
          <a:noFill/>
        </p:spPr>
        <p:txBody>
          <a:bodyPr wrap="square" lIns="0" rIns="0" tIns="0" bIns="0" anchor="t">
            <a:spAutoFit/>
          </a:bodyPr>
          <a:lstStyle/>
          <a:p>
            <a:pPr algn="l"/>
            <a:r>
              <a:rPr sz="1400" b="1" i="0">
                <a:solidFill>
                  <a:srgbClr val="D71249"/>
                </a:solidFill>
                <a:latin typeface="Calibri"/>
              </a:rPr>
              <a:t>BÁO CÁO THỊ TRƯỜNG TUẦN</a:t>
            </a:r>
          </a:p>
        </p:txBody>
      </p:sp>
      <p:sp>
        <p:nvSpPr>
          <p:cNvPr id="4" name="TextBox 3"/>
          <p:cNvSpPr txBox="1"/>
          <p:nvPr/>
        </p:nvSpPr>
        <p:spPr>
          <a:xfrm>
            <a:off x="548640" y="960120"/>
            <a:ext cx="10972800" cy="1005840"/>
          </a:xfrm>
          <a:prstGeom prst="rect">
            <a:avLst/>
          </a:prstGeom>
          <a:noFill/>
        </p:spPr>
        <p:txBody>
          <a:bodyPr wrap="square" lIns="0" rIns="0" tIns="0" bIns="0" anchor="t">
            <a:spAutoFit/>
          </a:bodyPr>
          <a:lstStyle/>
          <a:p>
            <a:pPr algn="l"/>
            <a:r>
              <a:rPr sz="5400" b="1" i="0">
                <a:solidFill>
                  <a:srgbClr val="FFFFFF"/>
                </a:solidFill>
                <a:latin typeface="Calibri"/>
              </a:rPr>
              <a:t>{{WEEK_LABEL}}</a:t>
            </a:r>
          </a:p>
        </p:txBody>
      </p:sp>
      <p:sp>
        <p:nvSpPr>
          <p:cNvPr id="5" name="TextBox 4"/>
          <p:cNvSpPr txBox="1"/>
          <p:nvPr/>
        </p:nvSpPr>
        <p:spPr>
          <a:xfrm>
            <a:off x="548640" y="2103120"/>
            <a:ext cx="10972800" cy="457200"/>
          </a:xfrm>
          <a:prstGeom prst="rect">
            <a:avLst/>
          </a:prstGeom>
          <a:noFill/>
        </p:spPr>
        <p:txBody>
          <a:bodyPr wrap="square" lIns="0" rIns="0" tIns="0" bIns="0" anchor="t">
            <a:spAutoFit/>
          </a:bodyPr>
          <a:lstStyle/>
          <a:p>
            <a:pPr algn="l"/>
            <a:r>
              <a:rPr sz="2000" b="0" i="1">
                <a:solidFill>
                  <a:srgbClr val="FFFFFF"/>
                </a:solidFill>
                <a:latin typeface="Calibri"/>
              </a:rPr>
              <a:t>{{HEADLINE_LINE}}</a:t>
            </a:r>
          </a:p>
        </p:txBody>
      </p:sp>
      <p:sp>
        <p:nvSpPr>
          <p:cNvPr id="6" name="Rectangle 5"/>
          <p:cNvSpPr/>
          <p:nvPr/>
        </p:nvSpPr>
        <p:spPr>
          <a:xfrm>
            <a:off x="548640" y="2834640"/>
            <a:ext cx="3200400" cy="64008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Calibri"/>
              </a:rPr>
              <a:t>{{REGIME_BADGE}}</a:t>
            </a:r>
          </a:p>
        </p:txBody>
      </p:sp>
      <p:sp>
        <p:nvSpPr>
          <p:cNvPr id="7" name="Rectangle 6"/>
          <p:cNvSpPr/>
          <p:nvPr/>
        </p:nvSpPr>
        <p:spPr>
          <a:xfrm>
            <a:off x="457200" y="4206240"/>
            <a:ext cx="3566160" cy="13716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4206240"/>
            <a:ext cx="73152" cy="137160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4297679"/>
            <a:ext cx="3291840" cy="274320"/>
          </a:xfrm>
          <a:prstGeom prst="rect">
            <a:avLst/>
          </a:prstGeom>
          <a:noFill/>
        </p:spPr>
        <p:txBody>
          <a:bodyPr wrap="square" lIns="0" rIns="0" tIns="0" bIns="0" anchor="t">
            <a:spAutoFit/>
          </a:bodyPr>
          <a:lstStyle/>
          <a:p>
            <a:pPr algn="l"/>
            <a:r>
              <a:rPr sz="1000" b="0" i="0">
                <a:solidFill>
                  <a:srgbClr val="4A5568"/>
                </a:solidFill>
                <a:latin typeface="Calibri"/>
              </a:rPr>
              <a:t>VN-INDEX cuối tuần</a:t>
            </a:r>
          </a:p>
        </p:txBody>
      </p:sp>
      <p:sp>
        <p:nvSpPr>
          <p:cNvPr id="10" name="TextBox 9"/>
          <p:cNvSpPr txBox="1"/>
          <p:nvPr/>
        </p:nvSpPr>
        <p:spPr>
          <a:xfrm>
            <a:off x="640080" y="4572000"/>
            <a:ext cx="3291840" cy="457200"/>
          </a:xfrm>
          <a:prstGeom prst="rect">
            <a:avLst/>
          </a:prstGeom>
          <a:noFill/>
        </p:spPr>
        <p:txBody>
          <a:bodyPr wrap="square" lIns="0" rIns="0" tIns="0" bIns="0" anchor="t">
            <a:spAutoFit/>
          </a:bodyPr>
          <a:lstStyle/>
          <a:p>
            <a:pPr algn="l"/>
            <a:r>
              <a:rPr sz="2200" b="1" i="0">
                <a:solidFill>
                  <a:srgbClr val="003D7A"/>
                </a:solidFill>
                <a:latin typeface="Calibri"/>
              </a:rPr>
              <a:t>{{VNINDEX_CLOSE}}</a:t>
            </a:r>
          </a:p>
        </p:txBody>
      </p:sp>
      <p:sp>
        <p:nvSpPr>
          <p:cNvPr id="11" name="TextBox 10"/>
          <p:cNvSpPr txBox="1"/>
          <p:nvPr/>
        </p:nvSpPr>
        <p:spPr>
          <a:xfrm>
            <a:off x="640080" y="5029200"/>
            <a:ext cx="3291840" cy="320040"/>
          </a:xfrm>
          <a:prstGeom prst="rect">
            <a:avLst/>
          </a:prstGeom>
          <a:noFill/>
        </p:spPr>
        <p:txBody>
          <a:bodyPr wrap="square" lIns="0" rIns="0" tIns="0" bIns="0" anchor="t">
            <a:spAutoFit/>
          </a:bodyPr>
          <a:lstStyle/>
          <a:p>
            <a:pPr algn="l"/>
            <a:r>
              <a:rPr sz="1200" b="1" i="0">
                <a:solidFill>
                  <a:srgbClr val="059669"/>
                </a:solidFill>
                <a:latin typeface="Calibri"/>
              </a:rPr>
              <a:t>{{VNINDEX_CHANGE}}</a:t>
            </a:r>
          </a:p>
        </p:txBody>
      </p:sp>
      <p:sp>
        <p:nvSpPr>
          <p:cNvPr id="12" name="Rectangle 11"/>
          <p:cNvSpPr/>
          <p:nvPr/>
        </p:nvSpPr>
        <p:spPr>
          <a:xfrm>
            <a:off x="4297680" y="4206240"/>
            <a:ext cx="3566160" cy="13716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4206240"/>
            <a:ext cx="73152" cy="137160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60" y="4297679"/>
            <a:ext cx="3291840" cy="274320"/>
          </a:xfrm>
          <a:prstGeom prst="rect">
            <a:avLst/>
          </a:prstGeom>
          <a:noFill/>
        </p:spPr>
        <p:txBody>
          <a:bodyPr wrap="square" lIns="0" rIns="0" tIns="0" bIns="0" anchor="t">
            <a:spAutoFit/>
          </a:bodyPr>
          <a:lstStyle/>
          <a:p>
            <a:pPr algn="l"/>
            <a:r>
              <a:rPr sz="1000" b="0" i="0">
                <a:solidFill>
                  <a:srgbClr val="4A5568"/>
                </a:solidFill>
                <a:latin typeface="Calibri"/>
              </a:rPr>
              <a:t>Thanh khoản trung bình</a:t>
            </a:r>
          </a:p>
        </p:txBody>
      </p:sp>
      <p:sp>
        <p:nvSpPr>
          <p:cNvPr id="15" name="TextBox 14"/>
          <p:cNvSpPr txBox="1"/>
          <p:nvPr/>
        </p:nvSpPr>
        <p:spPr>
          <a:xfrm>
            <a:off x="4480560" y="4572000"/>
            <a:ext cx="3291840" cy="457200"/>
          </a:xfrm>
          <a:prstGeom prst="rect">
            <a:avLst/>
          </a:prstGeom>
          <a:noFill/>
        </p:spPr>
        <p:txBody>
          <a:bodyPr wrap="square" lIns="0" rIns="0" tIns="0" bIns="0" anchor="t">
            <a:spAutoFit/>
          </a:bodyPr>
          <a:lstStyle/>
          <a:p>
            <a:pPr algn="l"/>
            <a:r>
              <a:rPr sz="2200" b="1" i="0">
                <a:solidFill>
                  <a:srgbClr val="003D7A"/>
                </a:solidFill>
                <a:latin typeface="Calibri"/>
              </a:rPr>
              <a:t>{{LIQUIDITY_AVG}}</a:t>
            </a:r>
          </a:p>
        </p:txBody>
      </p:sp>
      <p:sp>
        <p:nvSpPr>
          <p:cNvPr id="16" name="TextBox 15"/>
          <p:cNvSpPr txBox="1"/>
          <p:nvPr/>
        </p:nvSpPr>
        <p:spPr>
          <a:xfrm>
            <a:off x="4480560" y="5029200"/>
            <a:ext cx="3291840" cy="320040"/>
          </a:xfrm>
          <a:prstGeom prst="rect">
            <a:avLst/>
          </a:prstGeom>
          <a:noFill/>
        </p:spPr>
        <p:txBody>
          <a:bodyPr wrap="square" lIns="0" rIns="0" tIns="0" bIns="0" anchor="t">
            <a:spAutoFit/>
          </a:bodyPr>
          <a:lstStyle/>
          <a:p>
            <a:pPr algn="l"/>
            <a:r>
              <a:rPr sz="1200" b="1" i="0">
                <a:solidFill>
                  <a:srgbClr val="059669"/>
                </a:solidFill>
                <a:latin typeface="Calibri"/>
              </a:rPr>
              <a:t>{{LIQUIDITY_NOTE}}</a:t>
            </a:r>
          </a:p>
        </p:txBody>
      </p:sp>
      <p:sp>
        <p:nvSpPr>
          <p:cNvPr id="17" name="Rectangle 16"/>
          <p:cNvSpPr/>
          <p:nvPr/>
        </p:nvSpPr>
        <p:spPr>
          <a:xfrm>
            <a:off x="8138160" y="4206240"/>
            <a:ext cx="3566160" cy="13716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38160" y="4206240"/>
            <a:ext cx="73152" cy="137160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40" y="4297679"/>
            <a:ext cx="3291840" cy="274320"/>
          </a:xfrm>
          <a:prstGeom prst="rect">
            <a:avLst/>
          </a:prstGeom>
          <a:noFill/>
        </p:spPr>
        <p:txBody>
          <a:bodyPr wrap="square" lIns="0" rIns="0" tIns="0" bIns="0" anchor="t">
            <a:spAutoFit/>
          </a:bodyPr>
          <a:lstStyle/>
          <a:p>
            <a:pPr algn="l"/>
            <a:r>
              <a:rPr sz="1000" b="0" i="0">
                <a:solidFill>
                  <a:srgbClr val="4A5568"/>
                </a:solidFill>
                <a:latin typeface="Calibri"/>
              </a:rPr>
              <a:t>Khối ngoại tuần</a:t>
            </a:r>
          </a:p>
        </p:txBody>
      </p:sp>
      <p:sp>
        <p:nvSpPr>
          <p:cNvPr id="20" name="TextBox 19"/>
          <p:cNvSpPr txBox="1"/>
          <p:nvPr/>
        </p:nvSpPr>
        <p:spPr>
          <a:xfrm>
            <a:off x="8321040" y="4572000"/>
            <a:ext cx="3291840" cy="457200"/>
          </a:xfrm>
          <a:prstGeom prst="rect">
            <a:avLst/>
          </a:prstGeom>
          <a:noFill/>
        </p:spPr>
        <p:txBody>
          <a:bodyPr wrap="square" lIns="0" rIns="0" tIns="0" bIns="0" anchor="t">
            <a:spAutoFit/>
          </a:bodyPr>
          <a:lstStyle/>
          <a:p>
            <a:pPr algn="l"/>
            <a:r>
              <a:rPr sz="2200" b="1" i="0">
                <a:solidFill>
                  <a:srgbClr val="003D7A"/>
                </a:solidFill>
                <a:latin typeface="Calibri"/>
              </a:rPr>
              <a:t>{{FOREIGN_NET}}</a:t>
            </a:r>
          </a:p>
        </p:txBody>
      </p:sp>
      <p:sp>
        <p:nvSpPr>
          <p:cNvPr id="21" name="TextBox 20"/>
          <p:cNvSpPr txBox="1"/>
          <p:nvPr/>
        </p:nvSpPr>
        <p:spPr>
          <a:xfrm>
            <a:off x="8321040" y="5029200"/>
            <a:ext cx="3291840" cy="320040"/>
          </a:xfrm>
          <a:prstGeom prst="rect">
            <a:avLst/>
          </a:prstGeom>
          <a:noFill/>
        </p:spPr>
        <p:txBody>
          <a:bodyPr wrap="square" lIns="0" rIns="0" tIns="0" bIns="0" anchor="t">
            <a:spAutoFit/>
          </a:bodyPr>
          <a:lstStyle/>
          <a:p>
            <a:pPr algn="l"/>
            <a:r>
              <a:rPr sz="1200" b="1" i="0">
                <a:solidFill>
                  <a:srgbClr val="059669"/>
                </a:solidFill>
                <a:latin typeface="Calibri"/>
              </a:rPr>
              <a:t>{{FOREIGN_NOTE}}</a:t>
            </a:r>
          </a:p>
        </p:txBody>
      </p:sp>
      <p:sp>
        <p:nvSpPr>
          <p:cNvPr id="22" name="TextBox 21"/>
          <p:cNvSpPr txBox="1"/>
          <p:nvPr/>
        </p:nvSpPr>
        <p:spPr>
          <a:xfrm>
            <a:off x="548640" y="6126480"/>
            <a:ext cx="7315200" cy="274320"/>
          </a:xfrm>
          <a:prstGeom prst="rect">
            <a:avLst/>
          </a:prstGeom>
          <a:noFill/>
        </p:spPr>
        <p:txBody>
          <a:bodyPr wrap="square" lIns="0" rIns="0" tIns="0" bIns="0" anchor="t">
            <a:spAutoFit/>
          </a:bodyPr>
          <a:lstStyle/>
          <a:p>
            <a:pPr algn="l"/>
            <a:r>
              <a:rPr sz="1000" b="0" i="0">
                <a:solidFill>
                  <a:srgbClr val="4A5568"/>
                </a:solidFill>
                <a:latin typeface="Calibri"/>
              </a:rPr>
              <a:t>Phòng Môi giới và Tư vấn Đầu tư</a:t>
            </a:r>
          </a:p>
        </p:txBody>
      </p:sp>
      <p:sp>
        <p:nvSpPr>
          <p:cNvPr id="23" name="TextBox 22"/>
          <p:cNvSpPr txBox="1"/>
          <p:nvPr/>
        </p:nvSpPr>
        <p:spPr>
          <a:xfrm>
            <a:off x="7863840" y="6126480"/>
            <a:ext cx="3840480" cy="274320"/>
          </a:xfrm>
          <a:prstGeom prst="rect">
            <a:avLst/>
          </a:prstGeom>
          <a:noFill/>
        </p:spPr>
        <p:txBody>
          <a:bodyPr wrap="square" lIns="0" rIns="0" tIns="0" bIns="0" anchor="t">
            <a:spAutoFit/>
          </a:bodyPr>
          <a:lstStyle/>
          <a:p>
            <a:pPr algn="r"/>
            <a:r>
              <a:rPr sz="1000" b="0" i="0">
                <a:solidFill>
                  <a:srgbClr val="4A5568"/>
                </a:solidFill>
                <a:latin typeface="Calibri"/>
              </a:rPr>
              <a:t>Phát hành: {{PUBLISH_DATE}}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COVER_D_MACRO_SECTOR">
    <p:spTree>
      <p:nvGrpSpPr>
        <p:cNvPr id="1" name=""/>
        <p:cNvGrpSpPr/>
        <p:nvPr/>
      </p:nvGrpSpPr>
      <p:grpSpPr/>
      <p:sp>
        <p:nvSpPr>
          <p:cNvPr id="2" name="Rectangle 1"/>
          <p:cNvSpPr/>
          <p:nvPr/>
        </p:nvSpPr>
        <p:spPr>
          <a:xfrm>
            <a:off x="0" y="0"/>
            <a:ext cx="457200" cy="685800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0"/>
            <a:ext cx="457200" cy="182880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731520"/>
            <a:ext cx="10972800" cy="365760"/>
          </a:xfrm>
          <a:prstGeom prst="rect">
            <a:avLst/>
          </a:prstGeom>
          <a:noFill/>
        </p:spPr>
        <p:txBody>
          <a:bodyPr wrap="square" lIns="0" rIns="0" tIns="0" bIns="0" anchor="t">
            <a:spAutoFit/>
          </a:bodyPr>
          <a:lstStyle/>
          <a:p>
            <a:pPr algn="l"/>
            <a:r>
              <a:rPr sz="1400" b="1" i="0">
                <a:solidFill>
                  <a:srgbClr val="D71249"/>
                </a:solidFill>
                <a:latin typeface="Calibri"/>
              </a:rPr>
              <a:t>{{THEME_TAG}}</a:t>
            </a:r>
          </a:p>
        </p:txBody>
      </p:sp>
      <p:sp>
        <p:nvSpPr>
          <p:cNvPr id="5" name="TextBox 4"/>
          <p:cNvSpPr txBox="1"/>
          <p:nvPr/>
        </p:nvSpPr>
        <p:spPr>
          <a:xfrm>
            <a:off x="822960" y="1188720"/>
            <a:ext cx="10972800" cy="1371600"/>
          </a:xfrm>
          <a:prstGeom prst="rect">
            <a:avLst/>
          </a:prstGeom>
          <a:noFill/>
        </p:spPr>
        <p:txBody>
          <a:bodyPr wrap="square" lIns="0" rIns="0" tIns="0" bIns="0" anchor="t">
            <a:spAutoFit/>
          </a:bodyPr>
          <a:lstStyle/>
          <a:p>
            <a:pPr algn="l"/>
            <a:r>
              <a:rPr sz="4400" b="1" i="0">
                <a:solidFill>
                  <a:srgbClr val="003D7A"/>
                </a:solidFill>
                <a:latin typeface="Calibri"/>
              </a:rPr>
              <a:t>{{REPORT_TITLE}}</a:t>
            </a:r>
          </a:p>
        </p:txBody>
      </p:sp>
      <p:sp>
        <p:nvSpPr>
          <p:cNvPr id="6" name="TextBox 5"/>
          <p:cNvSpPr txBox="1"/>
          <p:nvPr/>
        </p:nvSpPr>
        <p:spPr>
          <a:xfrm>
            <a:off x="822960" y="2697480"/>
            <a:ext cx="10972800" cy="457200"/>
          </a:xfrm>
          <a:prstGeom prst="rect">
            <a:avLst/>
          </a:prstGeom>
          <a:noFill/>
        </p:spPr>
        <p:txBody>
          <a:bodyPr wrap="square" lIns="0" rIns="0" tIns="0" bIns="0" anchor="t">
            <a:spAutoFit/>
          </a:bodyPr>
          <a:lstStyle/>
          <a:p>
            <a:pPr algn="l"/>
            <a:r>
              <a:rPr sz="1800" b="0" i="1">
                <a:solidFill>
                  <a:srgbClr val="4A5568"/>
                </a:solidFill>
                <a:latin typeface="Calibri"/>
              </a:rPr>
              <a:t>{{REPORT_SUBTITLE}}</a:t>
            </a:r>
          </a:p>
        </p:txBody>
      </p:sp>
      <p:sp>
        <p:nvSpPr>
          <p:cNvPr id="7" name="Rectangle 6"/>
          <p:cNvSpPr/>
          <p:nvPr/>
        </p:nvSpPr>
        <p:spPr>
          <a:xfrm>
            <a:off x="822960" y="3383280"/>
            <a:ext cx="2743200" cy="10972"/>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520440"/>
            <a:ext cx="10972800" cy="274320"/>
          </a:xfrm>
          <a:prstGeom prst="rect">
            <a:avLst/>
          </a:prstGeom>
          <a:noFill/>
        </p:spPr>
        <p:txBody>
          <a:bodyPr wrap="square" lIns="0" rIns="0" tIns="0" bIns="0" anchor="t">
            <a:spAutoFit/>
          </a:bodyPr>
          <a:lstStyle/>
          <a:p>
            <a:pPr algn="l"/>
            <a:r>
              <a:rPr sz="1000" b="1" i="0">
                <a:solidFill>
                  <a:srgbClr val="003D7A"/>
                </a:solidFill>
                <a:latin typeface="Calibri"/>
              </a:rPr>
              <a:t>3 ĐIỂM CỐT LÕI</a:t>
            </a:r>
          </a:p>
        </p:txBody>
      </p:sp>
      <p:sp>
        <p:nvSpPr>
          <p:cNvPr id="9" name="Rectangle 8"/>
          <p:cNvSpPr/>
          <p:nvPr/>
        </p:nvSpPr>
        <p:spPr>
          <a:xfrm>
            <a:off x="822960" y="3977639"/>
            <a:ext cx="411480" cy="41148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Calibri"/>
              </a:rPr>
              <a:t>01</a:t>
            </a:r>
          </a:p>
        </p:txBody>
      </p:sp>
      <p:sp>
        <p:nvSpPr>
          <p:cNvPr id="10" name="TextBox 9"/>
          <p:cNvSpPr txBox="1"/>
          <p:nvPr/>
        </p:nvSpPr>
        <p:spPr>
          <a:xfrm>
            <a:off x="1417320" y="3931920"/>
            <a:ext cx="10058400" cy="548640"/>
          </a:xfrm>
          <a:prstGeom prst="rect">
            <a:avLst/>
          </a:prstGeom>
          <a:noFill/>
        </p:spPr>
        <p:txBody>
          <a:bodyPr wrap="square" lIns="0" rIns="0" tIns="0" bIns="0" anchor="t">
            <a:spAutoFit/>
          </a:bodyPr>
          <a:lstStyle/>
          <a:p>
            <a:pPr algn="l"/>
            <a:r>
              <a:rPr sz="1100" b="0" i="0">
                <a:solidFill>
                  <a:srgbClr val="1F2937"/>
                </a:solidFill>
                <a:latin typeface="Calibri"/>
              </a:rPr>
              <a:t>{{TAKEAWAY_1}}</a:t>
            </a:r>
          </a:p>
        </p:txBody>
      </p:sp>
      <p:sp>
        <p:nvSpPr>
          <p:cNvPr id="11" name="Rectangle 10"/>
          <p:cNvSpPr/>
          <p:nvPr/>
        </p:nvSpPr>
        <p:spPr>
          <a:xfrm>
            <a:off x="822960" y="4617720"/>
            <a:ext cx="411480" cy="41148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Calibri"/>
              </a:rPr>
              <a:t>02</a:t>
            </a:r>
          </a:p>
        </p:txBody>
      </p:sp>
      <p:sp>
        <p:nvSpPr>
          <p:cNvPr id="12" name="TextBox 11"/>
          <p:cNvSpPr txBox="1"/>
          <p:nvPr/>
        </p:nvSpPr>
        <p:spPr>
          <a:xfrm>
            <a:off x="1417320" y="4572000"/>
            <a:ext cx="10058400" cy="548640"/>
          </a:xfrm>
          <a:prstGeom prst="rect">
            <a:avLst/>
          </a:prstGeom>
          <a:noFill/>
        </p:spPr>
        <p:txBody>
          <a:bodyPr wrap="square" lIns="0" rIns="0" tIns="0" bIns="0" anchor="t">
            <a:spAutoFit/>
          </a:bodyPr>
          <a:lstStyle/>
          <a:p>
            <a:pPr algn="l"/>
            <a:r>
              <a:rPr sz="1100" b="0" i="0">
                <a:solidFill>
                  <a:srgbClr val="1F2937"/>
                </a:solidFill>
                <a:latin typeface="Calibri"/>
              </a:rPr>
              <a:t>{{TAKEAWAY_2}}</a:t>
            </a:r>
          </a:p>
        </p:txBody>
      </p:sp>
      <p:sp>
        <p:nvSpPr>
          <p:cNvPr id="13" name="Rectangle 12"/>
          <p:cNvSpPr/>
          <p:nvPr/>
        </p:nvSpPr>
        <p:spPr>
          <a:xfrm>
            <a:off x="822960" y="5257800"/>
            <a:ext cx="411480" cy="41148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Calibri"/>
              </a:rPr>
              <a:t>03</a:t>
            </a:r>
          </a:p>
        </p:txBody>
      </p:sp>
      <p:sp>
        <p:nvSpPr>
          <p:cNvPr id="14" name="TextBox 13"/>
          <p:cNvSpPr txBox="1"/>
          <p:nvPr/>
        </p:nvSpPr>
        <p:spPr>
          <a:xfrm>
            <a:off x="1417320" y="5212080"/>
            <a:ext cx="10058400" cy="548640"/>
          </a:xfrm>
          <a:prstGeom prst="rect">
            <a:avLst/>
          </a:prstGeom>
          <a:noFill/>
        </p:spPr>
        <p:txBody>
          <a:bodyPr wrap="square" lIns="0" rIns="0" tIns="0" bIns="0" anchor="t">
            <a:spAutoFit/>
          </a:bodyPr>
          <a:lstStyle/>
          <a:p>
            <a:pPr algn="l"/>
            <a:r>
              <a:rPr sz="1100" b="0" i="0">
                <a:solidFill>
                  <a:srgbClr val="1F2937"/>
                </a:solidFill>
                <a:latin typeface="Calibri"/>
              </a:rPr>
              <a:t>{{TAKEAWAY_3}}</a:t>
            </a:r>
          </a:p>
        </p:txBody>
      </p:sp>
      <p:sp>
        <p:nvSpPr>
          <p:cNvPr id="15" name="TextBox 14"/>
          <p:cNvSpPr txBox="1"/>
          <p:nvPr/>
        </p:nvSpPr>
        <p:spPr>
          <a:xfrm>
            <a:off x="822960" y="6126480"/>
            <a:ext cx="7315200" cy="274320"/>
          </a:xfrm>
          <a:prstGeom prst="rect">
            <a:avLst/>
          </a:prstGeom>
          <a:noFill/>
        </p:spPr>
        <p:txBody>
          <a:bodyPr wrap="square" lIns="0" rIns="0" tIns="0" bIns="0" anchor="t">
            <a:spAutoFit/>
          </a:bodyPr>
          <a:lstStyle/>
          <a:p>
            <a:pPr algn="l"/>
            <a:r>
              <a:rPr sz="1000" b="0" i="1">
                <a:solidFill>
                  <a:srgbClr val="4A5568"/>
                </a:solidFill>
                <a:latin typeface="Calibri"/>
              </a:rPr>
              <a:t>Phòng Môi giới và Tư vấn Đầu tư  •  Tổ tầm soát cổ phiếu</a:t>
            </a:r>
          </a:p>
        </p:txBody>
      </p:sp>
      <p:sp>
        <p:nvSpPr>
          <p:cNvPr id="16" name="TextBox 15"/>
          <p:cNvSpPr txBox="1"/>
          <p:nvPr/>
        </p:nvSpPr>
        <p:spPr>
          <a:xfrm>
            <a:off x="8138160" y="6126480"/>
            <a:ext cx="3657600" cy="274320"/>
          </a:xfrm>
          <a:prstGeom prst="rect">
            <a:avLst/>
          </a:prstGeom>
          <a:noFill/>
        </p:spPr>
        <p:txBody>
          <a:bodyPr wrap="square" lIns="0" rIns="0" tIns="0" bIns="0" anchor="t">
            <a:spAutoFit/>
          </a:bodyPr>
          <a:lstStyle/>
          <a:p>
            <a:pPr algn="r"/>
            <a:r>
              <a:rPr sz="1000" b="0" i="0">
                <a:solidFill>
                  <a:srgbClr val="4A5568"/>
                </a:solidFill>
                <a:latin typeface="Calibri"/>
              </a:rPr>
              <a:t>{{PUBLISH_DATE}}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COVER_E_GENERIC">
    <p:spTree>
      <p:nvGrpSpPr>
        <p:cNvPr id="1" name=""/>
        <p:cNvGrpSpPr/>
        <p:nvPr/>
      </p:nvGrpSpPr>
      <p:grpSpPr/>
      <p:sp>
        <p:nvSpPr>
          <p:cNvPr id="2" name="Rectangle 1"/>
          <p:cNvSpPr/>
          <p:nvPr/>
        </p:nvSpPr>
        <p:spPr>
          <a:xfrm>
            <a:off x="3657600" y="1645920"/>
            <a:ext cx="4873752" cy="10972"/>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0"/>
            <a:ext cx="10972800" cy="365760"/>
          </a:xfrm>
          <a:prstGeom prst="rect">
            <a:avLst/>
          </a:prstGeom>
          <a:noFill/>
        </p:spPr>
        <p:txBody>
          <a:bodyPr wrap="square" lIns="0" rIns="0" tIns="0" bIns="0" anchor="t">
            <a:spAutoFit/>
          </a:bodyPr>
          <a:lstStyle/>
          <a:p>
            <a:pPr algn="ctr"/>
            <a:r>
              <a:rPr sz="1400" b="1" i="0">
                <a:solidFill>
                  <a:srgbClr val="D71249"/>
                </a:solidFill>
                <a:latin typeface="Calibri"/>
              </a:rPr>
              <a:t>{{REPORT_KIND_TAG}}</a:t>
            </a:r>
          </a:p>
        </p:txBody>
      </p:sp>
      <p:sp>
        <p:nvSpPr>
          <p:cNvPr id="4" name="TextBox 3"/>
          <p:cNvSpPr txBox="1"/>
          <p:nvPr/>
        </p:nvSpPr>
        <p:spPr>
          <a:xfrm>
            <a:off x="548640" y="2286000"/>
            <a:ext cx="10972800" cy="1371600"/>
          </a:xfrm>
          <a:prstGeom prst="rect">
            <a:avLst/>
          </a:prstGeom>
          <a:noFill/>
        </p:spPr>
        <p:txBody>
          <a:bodyPr wrap="square" lIns="0" rIns="0" tIns="0" bIns="0" anchor="t">
            <a:spAutoFit/>
          </a:bodyPr>
          <a:lstStyle/>
          <a:p>
            <a:pPr algn="ctr"/>
            <a:r>
              <a:rPr sz="4800" b="1" i="0">
                <a:solidFill>
                  <a:srgbClr val="003D7A"/>
                </a:solidFill>
                <a:latin typeface="Calibri"/>
              </a:rPr>
              <a:t>{{REPORT_TITLE}}</a:t>
            </a:r>
          </a:p>
        </p:txBody>
      </p:sp>
      <p:sp>
        <p:nvSpPr>
          <p:cNvPr id="5" name="TextBox 4"/>
          <p:cNvSpPr txBox="1"/>
          <p:nvPr/>
        </p:nvSpPr>
        <p:spPr>
          <a:xfrm>
            <a:off x="548640" y="3749039"/>
            <a:ext cx="10972800" cy="457200"/>
          </a:xfrm>
          <a:prstGeom prst="rect">
            <a:avLst/>
          </a:prstGeom>
          <a:noFill/>
        </p:spPr>
        <p:txBody>
          <a:bodyPr wrap="square" lIns="0" rIns="0" tIns="0" bIns="0" anchor="t">
            <a:spAutoFit/>
          </a:bodyPr>
          <a:lstStyle/>
          <a:p>
            <a:pPr algn="ctr"/>
            <a:r>
              <a:rPr sz="1800" b="0" i="1">
                <a:solidFill>
                  <a:srgbClr val="4A5568"/>
                </a:solidFill>
                <a:latin typeface="Calibri"/>
              </a:rPr>
              <a:t>{{REPORT_SUBTITLE}}</a:t>
            </a:r>
          </a:p>
        </p:txBody>
      </p:sp>
      <p:sp>
        <p:nvSpPr>
          <p:cNvPr id="6" name="Rectangle 5"/>
          <p:cNvSpPr/>
          <p:nvPr/>
        </p:nvSpPr>
        <p:spPr>
          <a:xfrm>
            <a:off x="3657600" y="4480560"/>
            <a:ext cx="4873752" cy="10972"/>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846320"/>
            <a:ext cx="10972800" cy="274320"/>
          </a:xfrm>
          <a:prstGeom prst="rect">
            <a:avLst/>
          </a:prstGeom>
          <a:noFill/>
        </p:spPr>
        <p:txBody>
          <a:bodyPr wrap="square" lIns="0" rIns="0" tIns="0" bIns="0" anchor="t">
            <a:spAutoFit/>
          </a:bodyPr>
          <a:lstStyle/>
          <a:p>
            <a:pPr algn="ctr"/>
            <a:r>
              <a:rPr sz="1400" b="1" i="0">
                <a:solidFill>
                  <a:srgbClr val="1F2937"/>
                </a:solidFill>
                <a:latin typeface="Calibri"/>
              </a:rPr>
              <a:t>Phòng Môi giới và Tư vấn Đầu tư</a:t>
            </a:r>
          </a:p>
        </p:txBody>
      </p:sp>
      <p:sp>
        <p:nvSpPr>
          <p:cNvPr id="8" name="TextBox 7"/>
          <p:cNvSpPr txBox="1"/>
          <p:nvPr/>
        </p:nvSpPr>
        <p:spPr>
          <a:xfrm>
            <a:off x="548640" y="5166360"/>
            <a:ext cx="10972800" cy="274320"/>
          </a:xfrm>
          <a:prstGeom prst="rect">
            <a:avLst/>
          </a:prstGeom>
          <a:noFill/>
        </p:spPr>
        <p:txBody>
          <a:bodyPr wrap="square" lIns="0" rIns="0" tIns="0" bIns="0" anchor="t">
            <a:spAutoFit/>
          </a:bodyPr>
          <a:lstStyle/>
          <a:p>
            <a:pPr algn="ctr"/>
            <a:r>
              <a:rPr sz="1000" b="0" i="0">
                <a:solidFill>
                  <a:srgbClr val="4A5568"/>
                </a:solidFill>
                <a:latin typeface="Calibri"/>
              </a:rPr>
              <a:t>Tổ tầm soát cổ phiếu</a:t>
            </a:r>
          </a:p>
        </p:txBody>
      </p:sp>
      <p:sp>
        <p:nvSpPr>
          <p:cNvPr id="9" name="TextBox 8"/>
          <p:cNvSpPr txBox="1"/>
          <p:nvPr/>
        </p:nvSpPr>
        <p:spPr>
          <a:xfrm>
            <a:off x="548640" y="5760720"/>
            <a:ext cx="10972800" cy="274320"/>
          </a:xfrm>
          <a:prstGeom prst="rect">
            <a:avLst/>
          </a:prstGeom>
          <a:noFill/>
        </p:spPr>
        <p:txBody>
          <a:bodyPr wrap="square" lIns="0" rIns="0" tIns="0" bIns="0" anchor="t">
            <a:spAutoFit/>
          </a:bodyPr>
          <a:lstStyle/>
          <a:p>
            <a:pPr algn="ctr"/>
            <a:r>
              <a:rPr sz="1400" b="1" i="0">
                <a:solidFill>
                  <a:srgbClr val="003D7A"/>
                </a:solidFill>
                <a:latin typeface="Calibri"/>
              </a:rPr>
              <a:t>{{PUBLISH_DATE}}</a:t>
            </a:r>
          </a:p>
        </p:txBody>
      </p:sp>
      <p:sp>
        <p:nvSpPr>
          <p:cNvPr id="10" name="Freeform 9"/>
          <p:cNvSpPr/>
          <p:nvPr/>
        </p:nvSpPr>
        <p:spPr>
          <a:xfrm>
            <a:off x="10515600" y="5486400"/>
            <a:ext cx="640080" cy="1280160"/>
          </a:xfrm>
          <a:custGeom>
            <a:avLst/>
            <a:gdLst/>
            <a:ahLst/>
            <a:cxnLst/>
            <a:rect l="l" t="t" r="r" b="b"/>
            <a:pathLst>
              <a:path w="640080" h="1280160">
                <a:moveTo>
                  <a:pt x="0" y="640080"/>
                </a:moveTo>
                <a:lnTo>
                  <a:pt x="640080" y="0"/>
                </a:lnTo>
                <a:lnTo>
                  <a:pt x="640080" y="1280160"/>
                </a:lnTo>
                <a:close/>
              </a:path>
            </a:pathLst>
          </a:cu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SECTION_DIVIDER">
    <p:spTree>
      <p:nvGrpSpPr>
        <p:cNvPr id="1" name=""/>
        <p:cNvGrpSpPr/>
        <p:nvPr/>
      </p:nvGrpSpPr>
      <p:grpSpPr/>
      <p:sp>
        <p:nvSpPr>
          <p:cNvPr id="2" name="Rectangle 1"/>
          <p:cNvSpPr/>
          <p:nvPr/>
        </p:nvSpPr>
        <p:spPr>
          <a:xfrm>
            <a:off x="0" y="0"/>
            <a:ext cx="12188952" cy="685800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560320"/>
            <a:ext cx="9144000" cy="457200"/>
          </a:xfrm>
          <a:prstGeom prst="rect">
            <a:avLst/>
          </a:prstGeom>
          <a:noFill/>
        </p:spPr>
        <p:txBody>
          <a:bodyPr wrap="square" lIns="0" rIns="0" tIns="0" bIns="0" anchor="t">
            <a:spAutoFit/>
          </a:bodyPr>
          <a:lstStyle/>
          <a:p>
            <a:pPr algn="l"/>
            <a:r>
              <a:rPr sz="1800" b="1" i="0">
                <a:solidFill>
                  <a:srgbClr val="D71249"/>
                </a:solidFill>
                <a:latin typeface="Calibri"/>
              </a:rPr>
              <a:t>{{SECTION_TAG}}</a:t>
            </a:r>
          </a:p>
        </p:txBody>
      </p:sp>
      <p:sp>
        <p:nvSpPr>
          <p:cNvPr id="4" name="TextBox 3"/>
          <p:cNvSpPr txBox="1"/>
          <p:nvPr/>
        </p:nvSpPr>
        <p:spPr>
          <a:xfrm>
            <a:off x="1371600" y="3017520"/>
            <a:ext cx="9144000" cy="1097280"/>
          </a:xfrm>
          <a:prstGeom prst="rect">
            <a:avLst/>
          </a:prstGeom>
          <a:noFill/>
        </p:spPr>
        <p:txBody>
          <a:bodyPr wrap="square" lIns="0" rIns="0" tIns="0" bIns="0" anchor="t">
            <a:spAutoFit/>
          </a:bodyPr>
          <a:lstStyle/>
          <a:p>
            <a:pPr algn="l"/>
            <a:r>
              <a:rPr sz="4800" b="1" i="0">
                <a:solidFill>
                  <a:srgbClr val="FFFFFF"/>
                </a:solidFill>
                <a:latin typeface="Calibri"/>
              </a:rPr>
              <a:t>{{SECTION_TITLE}}</a:t>
            </a:r>
          </a:p>
        </p:txBody>
      </p:sp>
      <p:sp>
        <p:nvSpPr>
          <p:cNvPr id="5" name="TextBox 4"/>
          <p:cNvSpPr txBox="1"/>
          <p:nvPr/>
        </p:nvSpPr>
        <p:spPr>
          <a:xfrm>
            <a:off x="1371600" y="4206240"/>
            <a:ext cx="9144000" cy="457200"/>
          </a:xfrm>
          <a:prstGeom prst="rect">
            <a:avLst/>
          </a:prstGeom>
          <a:noFill/>
        </p:spPr>
        <p:txBody>
          <a:bodyPr wrap="square" lIns="0" rIns="0" tIns="0" bIns="0" anchor="t">
            <a:spAutoFit/>
          </a:bodyPr>
          <a:lstStyle/>
          <a:p>
            <a:pPr algn="l"/>
            <a:r>
              <a:rPr sz="1600" b="0" i="1">
                <a:solidFill>
                  <a:srgbClr val="FFFFFF"/>
                </a:solidFill>
                <a:latin typeface="Calibri"/>
              </a:rPr>
              <a:t>{{SECTION_DESC}}</a:t>
            </a:r>
          </a:p>
        </p:txBody>
      </p:sp>
      <p:sp>
        <p:nvSpPr>
          <p:cNvPr id="6" name="Rectangle 5"/>
          <p:cNvSpPr/>
          <p:nvPr/>
        </p:nvSpPr>
        <p:spPr>
          <a:xfrm>
            <a:off x="1371600" y="6217920"/>
            <a:ext cx="457200" cy="9144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0515600" y="5486400"/>
            <a:ext cx="640080" cy="1280160"/>
          </a:xfrm>
          <a:custGeom>
            <a:avLst/>
            <a:gdLst/>
            <a:ahLst/>
            <a:cxnLst/>
            <a:rect l="l" t="t" r="r" b="b"/>
            <a:pathLst>
              <a:path w="640080" h="1280160">
                <a:moveTo>
                  <a:pt x="0" y="640080"/>
                </a:moveTo>
                <a:lnTo>
                  <a:pt x="640080" y="0"/>
                </a:lnTo>
                <a:lnTo>
                  <a:pt x="640080" y="1280160"/>
                </a:lnTo>
                <a:close/>
              </a:path>
            </a:pathLst>
          </a:cu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BULLET_LIST_SUMMARY">
    <p:spTree>
      <p:nvGrpSpPr>
        <p:cNvPr id="1" name=""/>
        <p:cNvGrpSpPr/>
        <p:nvPr/>
      </p:nvGrpSpPr>
      <p:grpSpPr/>
      <p:sp>
        <p:nvSpPr>
          <p:cNvPr id="2" name="Rectangle 1"/>
          <p:cNvSpPr/>
          <p:nvPr/>
        </p:nvSpPr>
        <p:spPr>
          <a:xfrm>
            <a:off x="457200" y="411480"/>
            <a:ext cx="73152" cy="64008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1064240" cy="502920"/>
          </a:xfrm>
          <a:prstGeom prst="rect">
            <a:avLst/>
          </a:prstGeom>
          <a:noFill/>
        </p:spPr>
        <p:txBody>
          <a:bodyPr wrap="square" lIns="0" rIns="0" tIns="0" bIns="0" anchor="ctr">
            <a:spAutoFit/>
          </a:bodyPr>
          <a:lstStyle/>
          <a:p>
            <a:pPr algn="l"/>
            <a:r>
              <a:rPr sz="2600" b="1" i="0">
                <a:solidFill>
                  <a:srgbClr val="003D7A"/>
                </a:solidFill>
                <a:latin typeface="Calibri"/>
              </a:rPr>
              <a:t>{{SECTION_TITLE}}</a:t>
            </a:r>
          </a:p>
        </p:txBody>
      </p:sp>
      <p:sp>
        <p:nvSpPr>
          <p:cNvPr id="4" name="TextBox 3"/>
          <p:cNvSpPr txBox="1"/>
          <p:nvPr/>
        </p:nvSpPr>
        <p:spPr>
          <a:xfrm>
            <a:off x="640080" y="868680"/>
            <a:ext cx="11064240" cy="274320"/>
          </a:xfrm>
          <a:prstGeom prst="rect">
            <a:avLst/>
          </a:prstGeom>
          <a:noFill/>
        </p:spPr>
        <p:txBody>
          <a:bodyPr wrap="square" lIns="0" rIns="0" tIns="0" bIns="0" anchor="t">
            <a:spAutoFit/>
          </a:bodyPr>
          <a:lstStyle/>
          <a:p>
            <a:pPr algn="l"/>
            <a:r>
              <a:rPr sz="1200" b="0" i="1">
                <a:solidFill>
                  <a:srgbClr val="4A5568"/>
                </a:solidFill>
                <a:latin typeface="Calibri"/>
              </a:rPr>
              <a:t>{{SECTION_SUB}}</a:t>
            </a:r>
          </a:p>
        </p:txBody>
      </p:sp>
      <p:sp>
        <p:nvSpPr>
          <p:cNvPr id="5" name="Rectangle 4"/>
          <p:cNvSpPr/>
          <p:nvPr/>
        </p:nvSpPr>
        <p:spPr>
          <a:xfrm>
            <a:off x="457200" y="1536192"/>
            <a:ext cx="164592" cy="164592"/>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371600"/>
            <a:ext cx="11247120" cy="292608"/>
          </a:xfrm>
          <a:prstGeom prst="rect">
            <a:avLst/>
          </a:prstGeom>
          <a:noFill/>
        </p:spPr>
        <p:txBody>
          <a:bodyPr wrap="square" lIns="0" rIns="0" tIns="0" bIns="0" anchor="t">
            <a:spAutoFit/>
          </a:bodyPr>
          <a:lstStyle/>
          <a:p>
            <a:pPr algn="l"/>
            <a:r>
              <a:rPr sz="1500" b="1" i="0">
                <a:solidFill>
                  <a:srgbClr val="003D7A"/>
                </a:solidFill>
                <a:latin typeface="Calibri"/>
              </a:rPr>
              <a:t>{{BULLET_1_LABEL}}</a:t>
            </a:r>
          </a:p>
        </p:txBody>
      </p:sp>
      <p:sp>
        <p:nvSpPr>
          <p:cNvPr id="7" name="TextBox 6"/>
          <p:cNvSpPr txBox="1"/>
          <p:nvPr/>
        </p:nvSpPr>
        <p:spPr>
          <a:xfrm>
            <a:off x="822960" y="1700784"/>
            <a:ext cx="10881360" cy="594360"/>
          </a:xfrm>
          <a:prstGeom prst="rect">
            <a:avLst/>
          </a:prstGeom>
          <a:noFill/>
        </p:spPr>
        <p:txBody>
          <a:bodyPr wrap="square" lIns="0" rIns="0" tIns="0" bIns="0" anchor="t">
            <a:spAutoFit/>
          </a:bodyPr>
          <a:lstStyle/>
          <a:p>
            <a:pPr algn="l"/>
            <a:r>
              <a:rPr sz="1100" b="0" i="0">
                <a:solidFill>
                  <a:srgbClr val="1F2937"/>
                </a:solidFill>
                <a:latin typeface="Calibri"/>
              </a:rPr>
              <a:t>{{BULLET_1_BODY}}</a:t>
            </a:r>
          </a:p>
        </p:txBody>
      </p:sp>
      <p:sp>
        <p:nvSpPr>
          <p:cNvPr id="8" name="Rectangle 7"/>
          <p:cNvSpPr/>
          <p:nvPr/>
        </p:nvSpPr>
        <p:spPr>
          <a:xfrm>
            <a:off x="457200" y="2523744"/>
            <a:ext cx="164592" cy="164592"/>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59152"/>
            <a:ext cx="11247120" cy="292608"/>
          </a:xfrm>
          <a:prstGeom prst="rect">
            <a:avLst/>
          </a:prstGeom>
          <a:noFill/>
        </p:spPr>
        <p:txBody>
          <a:bodyPr wrap="square" lIns="0" rIns="0" tIns="0" bIns="0" anchor="t">
            <a:spAutoFit/>
          </a:bodyPr>
          <a:lstStyle/>
          <a:p>
            <a:pPr algn="l"/>
            <a:r>
              <a:rPr sz="1500" b="1" i="0">
                <a:solidFill>
                  <a:srgbClr val="003D7A"/>
                </a:solidFill>
                <a:latin typeface="Calibri"/>
              </a:rPr>
              <a:t>{{BULLET_2_LABEL}}</a:t>
            </a:r>
          </a:p>
        </p:txBody>
      </p:sp>
      <p:sp>
        <p:nvSpPr>
          <p:cNvPr id="10" name="TextBox 9"/>
          <p:cNvSpPr txBox="1"/>
          <p:nvPr/>
        </p:nvSpPr>
        <p:spPr>
          <a:xfrm>
            <a:off x="822960" y="2688336"/>
            <a:ext cx="10881360" cy="594360"/>
          </a:xfrm>
          <a:prstGeom prst="rect">
            <a:avLst/>
          </a:prstGeom>
          <a:noFill/>
        </p:spPr>
        <p:txBody>
          <a:bodyPr wrap="square" lIns="0" rIns="0" tIns="0" bIns="0" anchor="t">
            <a:spAutoFit/>
          </a:bodyPr>
          <a:lstStyle/>
          <a:p>
            <a:pPr algn="l"/>
            <a:r>
              <a:rPr sz="1100" b="0" i="0">
                <a:solidFill>
                  <a:srgbClr val="1F2937"/>
                </a:solidFill>
                <a:latin typeface="Calibri"/>
              </a:rPr>
              <a:t>{{BULLET_2_BODY}}</a:t>
            </a:r>
          </a:p>
        </p:txBody>
      </p:sp>
      <p:sp>
        <p:nvSpPr>
          <p:cNvPr id="11" name="Rectangle 10"/>
          <p:cNvSpPr/>
          <p:nvPr/>
        </p:nvSpPr>
        <p:spPr>
          <a:xfrm>
            <a:off x="457200" y="3511296"/>
            <a:ext cx="164592" cy="164592"/>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346704"/>
            <a:ext cx="11247120" cy="292608"/>
          </a:xfrm>
          <a:prstGeom prst="rect">
            <a:avLst/>
          </a:prstGeom>
          <a:noFill/>
        </p:spPr>
        <p:txBody>
          <a:bodyPr wrap="square" lIns="0" rIns="0" tIns="0" bIns="0" anchor="t">
            <a:spAutoFit/>
          </a:bodyPr>
          <a:lstStyle/>
          <a:p>
            <a:pPr algn="l"/>
            <a:r>
              <a:rPr sz="1500" b="1" i="0">
                <a:solidFill>
                  <a:srgbClr val="003D7A"/>
                </a:solidFill>
                <a:latin typeface="Calibri"/>
              </a:rPr>
              <a:t>{{BULLET_3_LABEL}}</a:t>
            </a:r>
          </a:p>
        </p:txBody>
      </p:sp>
      <p:sp>
        <p:nvSpPr>
          <p:cNvPr id="13" name="TextBox 12"/>
          <p:cNvSpPr txBox="1"/>
          <p:nvPr/>
        </p:nvSpPr>
        <p:spPr>
          <a:xfrm>
            <a:off x="822960" y="3675888"/>
            <a:ext cx="10881360" cy="594360"/>
          </a:xfrm>
          <a:prstGeom prst="rect">
            <a:avLst/>
          </a:prstGeom>
          <a:noFill/>
        </p:spPr>
        <p:txBody>
          <a:bodyPr wrap="square" lIns="0" rIns="0" tIns="0" bIns="0" anchor="t">
            <a:spAutoFit/>
          </a:bodyPr>
          <a:lstStyle/>
          <a:p>
            <a:pPr algn="l"/>
            <a:r>
              <a:rPr sz="1100" b="0" i="0">
                <a:solidFill>
                  <a:srgbClr val="1F2937"/>
                </a:solidFill>
                <a:latin typeface="Calibri"/>
              </a:rPr>
              <a:t>{{BULLET_3_BODY}}</a:t>
            </a:r>
          </a:p>
        </p:txBody>
      </p:sp>
      <p:sp>
        <p:nvSpPr>
          <p:cNvPr id="14" name="Rectangle 13"/>
          <p:cNvSpPr/>
          <p:nvPr/>
        </p:nvSpPr>
        <p:spPr>
          <a:xfrm>
            <a:off x="457200" y="4498848"/>
            <a:ext cx="164592" cy="164592"/>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334256"/>
            <a:ext cx="11247120" cy="292608"/>
          </a:xfrm>
          <a:prstGeom prst="rect">
            <a:avLst/>
          </a:prstGeom>
          <a:noFill/>
        </p:spPr>
        <p:txBody>
          <a:bodyPr wrap="square" lIns="0" rIns="0" tIns="0" bIns="0" anchor="t">
            <a:spAutoFit/>
          </a:bodyPr>
          <a:lstStyle/>
          <a:p>
            <a:pPr algn="l"/>
            <a:r>
              <a:rPr sz="1500" b="1" i="0">
                <a:solidFill>
                  <a:srgbClr val="003D7A"/>
                </a:solidFill>
                <a:latin typeface="Calibri"/>
              </a:rPr>
              <a:t>{{BULLET_4_LABEL}}</a:t>
            </a:r>
          </a:p>
        </p:txBody>
      </p:sp>
      <p:sp>
        <p:nvSpPr>
          <p:cNvPr id="16" name="TextBox 15"/>
          <p:cNvSpPr txBox="1"/>
          <p:nvPr/>
        </p:nvSpPr>
        <p:spPr>
          <a:xfrm>
            <a:off x="822960" y="4663440"/>
            <a:ext cx="10881360" cy="594360"/>
          </a:xfrm>
          <a:prstGeom prst="rect">
            <a:avLst/>
          </a:prstGeom>
          <a:noFill/>
        </p:spPr>
        <p:txBody>
          <a:bodyPr wrap="square" lIns="0" rIns="0" tIns="0" bIns="0" anchor="t">
            <a:spAutoFit/>
          </a:bodyPr>
          <a:lstStyle/>
          <a:p>
            <a:pPr algn="l"/>
            <a:r>
              <a:rPr sz="1100" b="0" i="0">
                <a:solidFill>
                  <a:srgbClr val="1F2937"/>
                </a:solidFill>
                <a:latin typeface="Calibri"/>
              </a:rPr>
              <a:t>{{BULLET_4_BODY}}</a:t>
            </a:r>
          </a:p>
        </p:txBody>
      </p:sp>
      <p:sp>
        <p:nvSpPr>
          <p:cNvPr id="17" name="Rectangle 16"/>
          <p:cNvSpPr/>
          <p:nvPr/>
        </p:nvSpPr>
        <p:spPr>
          <a:xfrm>
            <a:off x="457200" y="5486400"/>
            <a:ext cx="164592" cy="164592"/>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321808"/>
            <a:ext cx="11247120" cy="292608"/>
          </a:xfrm>
          <a:prstGeom prst="rect">
            <a:avLst/>
          </a:prstGeom>
          <a:noFill/>
        </p:spPr>
        <p:txBody>
          <a:bodyPr wrap="square" lIns="0" rIns="0" tIns="0" bIns="0" anchor="t">
            <a:spAutoFit/>
          </a:bodyPr>
          <a:lstStyle/>
          <a:p>
            <a:pPr algn="l"/>
            <a:r>
              <a:rPr sz="1500" b="1" i="0">
                <a:solidFill>
                  <a:srgbClr val="003D7A"/>
                </a:solidFill>
                <a:latin typeface="Calibri"/>
              </a:rPr>
              <a:t>{{BULLET_5_LABEL}}</a:t>
            </a:r>
          </a:p>
        </p:txBody>
      </p:sp>
      <p:sp>
        <p:nvSpPr>
          <p:cNvPr id="19" name="TextBox 18"/>
          <p:cNvSpPr txBox="1"/>
          <p:nvPr/>
        </p:nvSpPr>
        <p:spPr>
          <a:xfrm>
            <a:off x="822960" y="5650992"/>
            <a:ext cx="10881360" cy="594360"/>
          </a:xfrm>
          <a:prstGeom prst="rect">
            <a:avLst/>
          </a:prstGeom>
          <a:noFill/>
        </p:spPr>
        <p:txBody>
          <a:bodyPr wrap="square" lIns="0" rIns="0" tIns="0" bIns="0" anchor="t">
            <a:spAutoFit/>
          </a:bodyPr>
          <a:lstStyle/>
          <a:p>
            <a:pPr algn="l"/>
            <a:r>
              <a:rPr sz="1100" b="0" i="0">
                <a:solidFill>
                  <a:srgbClr val="1F2937"/>
                </a:solidFill>
                <a:latin typeface="Calibri"/>
              </a:rPr>
              <a:t>{{BULLET_5_BODY}}</a:t>
            </a:r>
          </a:p>
        </p:txBody>
      </p:sp>
      <p:sp>
        <p:nvSpPr>
          <p:cNvPr id="20" name="TextBox 19"/>
          <p:cNvSpPr txBox="1"/>
          <p:nvPr/>
        </p:nvSpPr>
        <p:spPr>
          <a:xfrm>
            <a:off x="457200" y="6537960"/>
            <a:ext cx="9144000" cy="274320"/>
          </a:xfrm>
          <a:prstGeom prst="rect">
            <a:avLst/>
          </a:prstGeom>
          <a:noFill/>
        </p:spPr>
        <p:txBody>
          <a:bodyPr wrap="square" lIns="0" rIns="0" tIns="0" bIns="0" anchor="t">
            <a:spAutoFit/>
          </a:bodyPr>
          <a:lstStyle/>
          <a:p>
            <a:pPr algn="l"/>
            <a:r>
              <a:rPr sz="900" b="0" i="0">
                <a:solidFill>
                  <a:srgbClr val="9CA3AF"/>
                </a:solidFill>
                <a:latin typeface="Calibri"/>
              </a:rPr>
              <a:t>{{FOOTER_LEFT}}</a:t>
            </a:r>
          </a:p>
        </p:txBody>
      </p:sp>
      <p:sp>
        <p:nvSpPr>
          <p:cNvPr id="21" name="TextBox 20"/>
          <p:cNvSpPr txBox="1"/>
          <p:nvPr/>
        </p:nvSpPr>
        <p:spPr>
          <a:xfrm>
            <a:off x="11247120" y="6537960"/>
            <a:ext cx="457200" cy="274320"/>
          </a:xfrm>
          <a:prstGeom prst="rect">
            <a:avLst/>
          </a:prstGeom>
          <a:noFill/>
        </p:spPr>
        <p:txBody>
          <a:bodyPr wrap="square" lIns="0" rIns="0" tIns="0" bIns="0" anchor="t">
            <a:spAutoFit/>
          </a:bodyPr>
          <a:lstStyle/>
          <a:p>
            <a:pPr algn="r"/>
            <a:r>
              <a:rPr sz="900" b="1" i="0">
                <a:solidFill>
                  <a:srgbClr val="003D7A"/>
                </a:solidFill>
                <a:latin typeface="Calibri"/>
              </a:rPr>
              <a:t>{{PAGE_NUM}}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STAT_CALLOUT_GRID_4CELL">
    <p:spTree>
      <p:nvGrpSpPr>
        <p:cNvPr id="1" name=""/>
        <p:cNvGrpSpPr/>
        <p:nvPr/>
      </p:nvGrpSpPr>
      <p:grpSpPr/>
      <p:sp>
        <p:nvSpPr>
          <p:cNvPr id="2" name="Rectangle 1"/>
          <p:cNvSpPr/>
          <p:nvPr/>
        </p:nvSpPr>
        <p:spPr>
          <a:xfrm>
            <a:off x="457200" y="411480"/>
            <a:ext cx="73152" cy="64008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1064240" cy="502920"/>
          </a:xfrm>
          <a:prstGeom prst="rect">
            <a:avLst/>
          </a:prstGeom>
          <a:noFill/>
        </p:spPr>
        <p:txBody>
          <a:bodyPr wrap="square" lIns="0" rIns="0" tIns="0" bIns="0" anchor="ctr">
            <a:spAutoFit/>
          </a:bodyPr>
          <a:lstStyle/>
          <a:p>
            <a:pPr algn="l"/>
            <a:r>
              <a:rPr sz="2600" b="1" i="0">
                <a:solidFill>
                  <a:srgbClr val="003D7A"/>
                </a:solidFill>
                <a:latin typeface="Calibri"/>
              </a:rPr>
              <a:t>{{SECTION_TITLE}}</a:t>
            </a:r>
          </a:p>
        </p:txBody>
      </p:sp>
      <p:sp>
        <p:nvSpPr>
          <p:cNvPr id="4" name="TextBox 3"/>
          <p:cNvSpPr txBox="1"/>
          <p:nvPr/>
        </p:nvSpPr>
        <p:spPr>
          <a:xfrm>
            <a:off x="640080" y="868680"/>
            <a:ext cx="11064240" cy="274320"/>
          </a:xfrm>
          <a:prstGeom prst="rect">
            <a:avLst/>
          </a:prstGeom>
          <a:noFill/>
        </p:spPr>
        <p:txBody>
          <a:bodyPr wrap="square" lIns="0" rIns="0" tIns="0" bIns="0" anchor="t">
            <a:spAutoFit/>
          </a:bodyPr>
          <a:lstStyle/>
          <a:p>
            <a:pPr algn="l"/>
            <a:r>
              <a:rPr sz="1200" b="0" i="1">
                <a:solidFill>
                  <a:srgbClr val="4A5568"/>
                </a:solidFill>
                <a:latin typeface="Calibri"/>
              </a:rPr>
              <a:t>{{SECTION_SUB}}</a:t>
            </a:r>
          </a:p>
        </p:txBody>
      </p:sp>
      <p:sp>
        <p:nvSpPr>
          <p:cNvPr id="5" name="Rectangle 4"/>
          <p:cNvSpPr/>
          <p:nvPr/>
        </p:nvSpPr>
        <p:spPr>
          <a:xfrm>
            <a:off x="457200" y="1371600"/>
            <a:ext cx="2743200" cy="118872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71600"/>
            <a:ext cx="73152" cy="118872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63040"/>
            <a:ext cx="2468879" cy="274320"/>
          </a:xfrm>
          <a:prstGeom prst="rect">
            <a:avLst/>
          </a:prstGeom>
          <a:noFill/>
        </p:spPr>
        <p:txBody>
          <a:bodyPr wrap="square" lIns="0" rIns="0" tIns="0" bIns="0" anchor="t">
            <a:spAutoFit/>
          </a:bodyPr>
          <a:lstStyle/>
          <a:p>
            <a:pPr algn="l"/>
            <a:r>
              <a:rPr sz="1000" b="0" i="0">
                <a:solidFill>
                  <a:srgbClr val="4A5568"/>
                </a:solidFill>
                <a:latin typeface="Calibri"/>
              </a:rPr>
              <a:t>Giá mục tiêu ngắn hạn</a:t>
            </a:r>
          </a:p>
        </p:txBody>
      </p:sp>
      <p:sp>
        <p:nvSpPr>
          <p:cNvPr id="8" name="TextBox 7"/>
          <p:cNvSpPr txBox="1"/>
          <p:nvPr/>
        </p:nvSpPr>
        <p:spPr>
          <a:xfrm>
            <a:off x="640080" y="1737360"/>
            <a:ext cx="2468879" cy="457200"/>
          </a:xfrm>
          <a:prstGeom prst="rect">
            <a:avLst/>
          </a:prstGeom>
          <a:noFill/>
        </p:spPr>
        <p:txBody>
          <a:bodyPr wrap="square" lIns="0" rIns="0" tIns="0" bIns="0" anchor="t">
            <a:spAutoFit/>
          </a:bodyPr>
          <a:lstStyle/>
          <a:p>
            <a:pPr algn="l"/>
            <a:r>
              <a:rPr sz="2200" b="1" i="0">
                <a:solidFill>
                  <a:srgbClr val="003D7A"/>
                </a:solidFill>
                <a:latin typeface="Calibri"/>
              </a:rPr>
              <a:t>{{TARGET_SHORT}}</a:t>
            </a:r>
          </a:p>
        </p:txBody>
      </p:sp>
      <p:sp>
        <p:nvSpPr>
          <p:cNvPr id="9" name="TextBox 8"/>
          <p:cNvSpPr txBox="1"/>
          <p:nvPr/>
        </p:nvSpPr>
        <p:spPr>
          <a:xfrm>
            <a:off x="640080" y="2194560"/>
            <a:ext cx="2468879" cy="320040"/>
          </a:xfrm>
          <a:prstGeom prst="rect">
            <a:avLst/>
          </a:prstGeom>
          <a:noFill/>
        </p:spPr>
        <p:txBody>
          <a:bodyPr wrap="square" lIns="0" rIns="0" tIns="0" bIns="0" anchor="t">
            <a:spAutoFit/>
          </a:bodyPr>
          <a:lstStyle/>
          <a:p>
            <a:pPr algn="l"/>
            <a:r>
              <a:rPr sz="1200" b="1" i="0">
                <a:solidFill>
                  <a:srgbClr val="059669"/>
                </a:solidFill>
                <a:latin typeface="Calibri"/>
              </a:rPr>
              <a:t>{{UPSIDE_SHORT}}</a:t>
            </a:r>
          </a:p>
        </p:txBody>
      </p:sp>
      <p:sp>
        <p:nvSpPr>
          <p:cNvPr id="10" name="Rectangle 9"/>
          <p:cNvSpPr/>
          <p:nvPr/>
        </p:nvSpPr>
        <p:spPr>
          <a:xfrm>
            <a:off x="3291840" y="1371600"/>
            <a:ext cx="2743200" cy="118872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91840" y="1371600"/>
            <a:ext cx="73152" cy="118872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0" y="1463040"/>
            <a:ext cx="2468879" cy="274320"/>
          </a:xfrm>
          <a:prstGeom prst="rect">
            <a:avLst/>
          </a:prstGeom>
          <a:noFill/>
        </p:spPr>
        <p:txBody>
          <a:bodyPr wrap="square" lIns="0" rIns="0" tIns="0" bIns="0" anchor="t">
            <a:spAutoFit/>
          </a:bodyPr>
          <a:lstStyle/>
          <a:p>
            <a:pPr algn="l"/>
            <a:r>
              <a:rPr sz="1000" b="0" i="0">
                <a:solidFill>
                  <a:srgbClr val="4A5568"/>
                </a:solidFill>
                <a:latin typeface="Calibri"/>
              </a:rPr>
              <a:t>Giá mục tiêu trung hạn</a:t>
            </a:r>
          </a:p>
        </p:txBody>
      </p:sp>
      <p:sp>
        <p:nvSpPr>
          <p:cNvPr id="13" name="TextBox 12"/>
          <p:cNvSpPr txBox="1"/>
          <p:nvPr/>
        </p:nvSpPr>
        <p:spPr>
          <a:xfrm>
            <a:off x="3474720" y="1737360"/>
            <a:ext cx="2468879" cy="457200"/>
          </a:xfrm>
          <a:prstGeom prst="rect">
            <a:avLst/>
          </a:prstGeom>
          <a:noFill/>
        </p:spPr>
        <p:txBody>
          <a:bodyPr wrap="square" lIns="0" rIns="0" tIns="0" bIns="0" anchor="t">
            <a:spAutoFit/>
          </a:bodyPr>
          <a:lstStyle/>
          <a:p>
            <a:pPr algn="l"/>
            <a:r>
              <a:rPr sz="2200" b="1" i="0">
                <a:solidFill>
                  <a:srgbClr val="003D7A"/>
                </a:solidFill>
                <a:latin typeface="Calibri"/>
              </a:rPr>
              <a:t>{{TARGET_MID}}</a:t>
            </a:r>
          </a:p>
        </p:txBody>
      </p:sp>
      <p:sp>
        <p:nvSpPr>
          <p:cNvPr id="14" name="TextBox 13"/>
          <p:cNvSpPr txBox="1"/>
          <p:nvPr/>
        </p:nvSpPr>
        <p:spPr>
          <a:xfrm>
            <a:off x="3474720" y="2194560"/>
            <a:ext cx="2468879" cy="320040"/>
          </a:xfrm>
          <a:prstGeom prst="rect">
            <a:avLst/>
          </a:prstGeom>
          <a:noFill/>
        </p:spPr>
        <p:txBody>
          <a:bodyPr wrap="square" lIns="0" rIns="0" tIns="0" bIns="0" anchor="t">
            <a:spAutoFit/>
          </a:bodyPr>
          <a:lstStyle/>
          <a:p>
            <a:pPr algn="l"/>
            <a:r>
              <a:rPr sz="1200" b="1" i="0">
                <a:solidFill>
                  <a:srgbClr val="059669"/>
                </a:solidFill>
                <a:latin typeface="Calibri"/>
              </a:rPr>
              <a:t>{{UPSIDE_MID}}</a:t>
            </a:r>
          </a:p>
        </p:txBody>
      </p:sp>
      <p:sp>
        <p:nvSpPr>
          <p:cNvPr id="15" name="Rectangle 14"/>
          <p:cNvSpPr/>
          <p:nvPr/>
        </p:nvSpPr>
        <p:spPr>
          <a:xfrm>
            <a:off x="6126480" y="1371600"/>
            <a:ext cx="2743200" cy="118872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26480" y="1371600"/>
            <a:ext cx="73152" cy="118872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1463040"/>
            <a:ext cx="2468879" cy="274320"/>
          </a:xfrm>
          <a:prstGeom prst="rect">
            <a:avLst/>
          </a:prstGeom>
          <a:noFill/>
        </p:spPr>
        <p:txBody>
          <a:bodyPr wrap="square" lIns="0" rIns="0" tIns="0" bIns="0" anchor="t">
            <a:spAutoFit/>
          </a:bodyPr>
          <a:lstStyle/>
          <a:p>
            <a:pPr algn="l"/>
            <a:r>
              <a:rPr sz="1000" b="0" i="0">
                <a:solidFill>
                  <a:srgbClr val="4A5568"/>
                </a:solidFill>
                <a:latin typeface="Calibri"/>
              </a:rPr>
              <a:t>Mức cắt lỗ</a:t>
            </a:r>
          </a:p>
        </p:txBody>
      </p:sp>
      <p:sp>
        <p:nvSpPr>
          <p:cNvPr id="18" name="TextBox 17"/>
          <p:cNvSpPr txBox="1"/>
          <p:nvPr/>
        </p:nvSpPr>
        <p:spPr>
          <a:xfrm>
            <a:off x="6309360" y="1737360"/>
            <a:ext cx="2468879" cy="457200"/>
          </a:xfrm>
          <a:prstGeom prst="rect">
            <a:avLst/>
          </a:prstGeom>
          <a:noFill/>
        </p:spPr>
        <p:txBody>
          <a:bodyPr wrap="square" lIns="0" rIns="0" tIns="0" bIns="0" anchor="t">
            <a:spAutoFit/>
          </a:bodyPr>
          <a:lstStyle/>
          <a:p>
            <a:pPr algn="l"/>
            <a:r>
              <a:rPr sz="2200" b="1" i="0">
                <a:solidFill>
                  <a:srgbClr val="003D7A"/>
                </a:solidFill>
                <a:latin typeface="Calibri"/>
              </a:rPr>
              <a:t>{{STOPLOSS}}</a:t>
            </a:r>
          </a:p>
        </p:txBody>
      </p:sp>
      <p:sp>
        <p:nvSpPr>
          <p:cNvPr id="19" name="TextBox 18"/>
          <p:cNvSpPr txBox="1"/>
          <p:nvPr/>
        </p:nvSpPr>
        <p:spPr>
          <a:xfrm>
            <a:off x="6309360" y="2194560"/>
            <a:ext cx="2468879" cy="320040"/>
          </a:xfrm>
          <a:prstGeom prst="rect">
            <a:avLst/>
          </a:prstGeom>
          <a:noFill/>
        </p:spPr>
        <p:txBody>
          <a:bodyPr wrap="square" lIns="0" rIns="0" tIns="0" bIns="0" anchor="t">
            <a:spAutoFit/>
          </a:bodyPr>
          <a:lstStyle/>
          <a:p>
            <a:pPr algn="l"/>
            <a:r>
              <a:rPr sz="1200" b="1" i="0">
                <a:solidFill>
                  <a:srgbClr val="D71249"/>
                </a:solidFill>
                <a:latin typeface="Calibri"/>
              </a:rPr>
              <a:t>{{DOWNSIDE_STOP}}</a:t>
            </a:r>
          </a:p>
        </p:txBody>
      </p:sp>
      <p:sp>
        <p:nvSpPr>
          <p:cNvPr id="20" name="Rectangle 19"/>
          <p:cNvSpPr/>
          <p:nvPr/>
        </p:nvSpPr>
        <p:spPr>
          <a:xfrm>
            <a:off x="8961120" y="1371600"/>
            <a:ext cx="2743200" cy="118872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61120" y="1371600"/>
            <a:ext cx="73152" cy="118872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0" y="1463040"/>
            <a:ext cx="2468879" cy="274320"/>
          </a:xfrm>
          <a:prstGeom prst="rect">
            <a:avLst/>
          </a:prstGeom>
          <a:noFill/>
        </p:spPr>
        <p:txBody>
          <a:bodyPr wrap="square" lIns="0" rIns="0" tIns="0" bIns="0" anchor="t">
            <a:spAutoFit/>
          </a:bodyPr>
          <a:lstStyle/>
          <a:p>
            <a:pPr algn="l"/>
            <a:r>
              <a:rPr sz="1000" b="0" i="0">
                <a:solidFill>
                  <a:srgbClr val="4A5568"/>
                </a:solidFill>
                <a:latin typeface="Calibri"/>
              </a:rPr>
              <a:t>Tỷ lệ lời-lỗ</a:t>
            </a:r>
          </a:p>
        </p:txBody>
      </p:sp>
      <p:sp>
        <p:nvSpPr>
          <p:cNvPr id="23" name="TextBox 22"/>
          <p:cNvSpPr txBox="1"/>
          <p:nvPr/>
        </p:nvSpPr>
        <p:spPr>
          <a:xfrm>
            <a:off x="9144000" y="1737360"/>
            <a:ext cx="2468879" cy="457200"/>
          </a:xfrm>
          <a:prstGeom prst="rect">
            <a:avLst/>
          </a:prstGeom>
          <a:noFill/>
        </p:spPr>
        <p:txBody>
          <a:bodyPr wrap="square" lIns="0" rIns="0" tIns="0" bIns="0" anchor="t">
            <a:spAutoFit/>
          </a:bodyPr>
          <a:lstStyle/>
          <a:p>
            <a:pPr algn="l"/>
            <a:r>
              <a:rPr sz="2200" b="1" i="0">
                <a:solidFill>
                  <a:srgbClr val="003D7A"/>
                </a:solidFill>
                <a:latin typeface="Calibri"/>
              </a:rPr>
              <a:t>{{RR_RATIO}}</a:t>
            </a:r>
          </a:p>
        </p:txBody>
      </p:sp>
      <p:sp>
        <p:nvSpPr>
          <p:cNvPr id="24" name="TextBox 23"/>
          <p:cNvSpPr txBox="1"/>
          <p:nvPr/>
        </p:nvSpPr>
        <p:spPr>
          <a:xfrm>
            <a:off x="9144000" y="2194560"/>
            <a:ext cx="2468879" cy="320040"/>
          </a:xfrm>
          <a:prstGeom prst="rect">
            <a:avLst/>
          </a:prstGeom>
          <a:noFill/>
        </p:spPr>
        <p:txBody>
          <a:bodyPr wrap="square" lIns="0" rIns="0" tIns="0" bIns="0" anchor="t">
            <a:spAutoFit/>
          </a:bodyPr>
          <a:lstStyle/>
          <a:p>
            <a:pPr algn="l"/>
            <a:r>
              <a:rPr sz="1200" b="1" i="0">
                <a:solidFill>
                  <a:srgbClr val="003D7A"/>
                </a:solidFill>
                <a:latin typeface="Calibri"/>
              </a:rPr>
              <a:t>{{RR_VERDICT}}</a:t>
            </a:r>
          </a:p>
        </p:txBody>
      </p:sp>
      <p:sp>
        <p:nvSpPr>
          <p:cNvPr id="25" name="Rectangle 24"/>
          <p:cNvSpPr/>
          <p:nvPr/>
        </p:nvSpPr>
        <p:spPr>
          <a:xfrm>
            <a:off x="457200" y="2788920"/>
            <a:ext cx="11247120" cy="41148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300" b="1" i="0">
                <a:solidFill>
                  <a:srgbClr val="FFFFFF"/>
                </a:solidFill>
                <a:latin typeface="Calibri"/>
              </a:rPr>
              <a:t>LUẬN ĐIỂM CỐT LÕI</a:t>
            </a:r>
          </a:p>
        </p:txBody>
      </p:sp>
      <p:sp>
        <p:nvSpPr>
          <p:cNvPr id="26" name="Rectangle 25"/>
          <p:cNvSpPr/>
          <p:nvPr/>
        </p:nvSpPr>
        <p:spPr>
          <a:xfrm>
            <a:off x="457200" y="3337560"/>
            <a:ext cx="557784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 y="3520440"/>
            <a:ext cx="594360" cy="59436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Calibri"/>
              </a:rPr>
              <a:t>01</a:t>
            </a:r>
          </a:p>
        </p:txBody>
      </p:sp>
      <p:sp>
        <p:nvSpPr>
          <p:cNvPr id="28" name="TextBox 27"/>
          <p:cNvSpPr txBox="1"/>
          <p:nvPr/>
        </p:nvSpPr>
        <p:spPr>
          <a:xfrm>
            <a:off x="1371600" y="3520440"/>
            <a:ext cx="4526280" cy="320040"/>
          </a:xfrm>
          <a:prstGeom prst="rect">
            <a:avLst/>
          </a:prstGeom>
          <a:noFill/>
        </p:spPr>
        <p:txBody>
          <a:bodyPr wrap="square" lIns="0" rIns="0" tIns="0" bIns="0" anchor="t">
            <a:spAutoFit/>
          </a:bodyPr>
          <a:lstStyle/>
          <a:p>
            <a:pPr algn="l"/>
            <a:r>
              <a:rPr sz="1300" b="1" i="0">
                <a:solidFill>
                  <a:srgbClr val="003D7A"/>
                </a:solidFill>
                <a:latin typeface="Calibri"/>
              </a:rPr>
              <a:t>{{POINT_1_TITLE}}</a:t>
            </a:r>
          </a:p>
        </p:txBody>
      </p:sp>
      <p:sp>
        <p:nvSpPr>
          <p:cNvPr id="29" name="TextBox 28"/>
          <p:cNvSpPr txBox="1"/>
          <p:nvPr/>
        </p:nvSpPr>
        <p:spPr>
          <a:xfrm>
            <a:off x="1371600" y="3840480"/>
            <a:ext cx="4526280" cy="822960"/>
          </a:xfrm>
          <a:prstGeom prst="rect">
            <a:avLst/>
          </a:prstGeom>
          <a:noFill/>
        </p:spPr>
        <p:txBody>
          <a:bodyPr wrap="square" lIns="0" rIns="0" tIns="0" bIns="0" anchor="t">
            <a:spAutoFit/>
          </a:bodyPr>
          <a:lstStyle/>
          <a:p>
            <a:pPr algn="l"/>
            <a:r>
              <a:rPr sz="1050" b="0" i="0">
                <a:solidFill>
                  <a:srgbClr val="1F2937"/>
                </a:solidFill>
                <a:latin typeface="Calibri"/>
              </a:rPr>
              <a:t>{{POINT_1_BODY}}</a:t>
            </a:r>
          </a:p>
        </p:txBody>
      </p:sp>
      <p:sp>
        <p:nvSpPr>
          <p:cNvPr id="30" name="Rectangle 29"/>
          <p:cNvSpPr/>
          <p:nvPr/>
        </p:nvSpPr>
        <p:spPr>
          <a:xfrm>
            <a:off x="6126480" y="3337560"/>
            <a:ext cx="557784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309360" y="3520440"/>
            <a:ext cx="594360" cy="59436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Calibri"/>
              </a:rPr>
              <a:t>02</a:t>
            </a:r>
          </a:p>
        </p:txBody>
      </p:sp>
      <p:sp>
        <p:nvSpPr>
          <p:cNvPr id="32" name="TextBox 31"/>
          <p:cNvSpPr txBox="1"/>
          <p:nvPr/>
        </p:nvSpPr>
        <p:spPr>
          <a:xfrm>
            <a:off x="7040880" y="3520440"/>
            <a:ext cx="4526279" cy="320040"/>
          </a:xfrm>
          <a:prstGeom prst="rect">
            <a:avLst/>
          </a:prstGeom>
          <a:noFill/>
        </p:spPr>
        <p:txBody>
          <a:bodyPr wrap="square" lIns="0" rIns="0" tIns="0" bIns="0" anchor="t">
            <a:spAutoFit/>
          </a:bodyPr>
          <a:lstStyle/>
          <a:p>
            <a:pPr algn="l"/>
            <a:r>
              <a:rPr sz="1300" b="1" i="0">
                <a:solidFill>
                  <a:srgbClr val="003D7A"/>
                </a:solidFill>
                <a:latin typeface="Calibri"/>
              </a:rPr>
              <a:t>{{POINT_2_TITLE}}</a:t>
            </a:r>
          </a:p>
        </p:txBody>
      </p:sp>
      <p:sp>
        <p:nvSpPr>
          <p:cNvPr id="33" name="TextBox 32"/>
          <p:cNvSpPr txBox="1"/>
          <p:nvPr/>
        </p:nvSpPr>
        <p:spPr>
          <a:xfrm>
            <a:off x="7040880" y="3840480"/>
            <a:ext cx="4526279" cy="822960"/>
          </a:xfrm>
          <a:prstGeom prst="rect">
            <a:avLst/>
          </a:prstGeom>
          <a:noFill/>
        </p:spPr>
        <p:txBody>
          <a:bodyPr wrap="square" lIns="0" rIns="0" tIns="0" bIns="0" anchor="t">
            <a:spAutoFit/>
          </a:bodyPr>
          <a:lstStyle/>
          <a:p>
            <a:pPr algn="l"/>
            <a:r>
              <a:rPr sz="1050" b="0" i="0">
                <a:solidFill>
                  <a:srgbClr val="1F2937"/>
                </a:solidFill>
                <a:latin typeface="Calibri"/>
              </a:rPr>
              <a:t>{{POINT_2_BODY}}</a:t>
            </a:r>
          </a:p>
        </p:txBody>
      </p:sp>
      <p:sp>
        <p:nvSpPr>
          <p:cNvPr id="34" name="Rectangle 33"/>
          <p:cNvSpPr/>
          <p:nvPr/>
        </p:nvSpPr>
        <p:spPr>
          <a:xfrm>
            <a:off x="457200" y="4937760"/>
            <a:ext cx="557784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0080" y="5120640"/>
            <a:ext cx="594360" cy="59436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Calibri"/>
              </a:rPr>
              <a:t>03</a:t>
            </a:r>
          </a:p>
        </p:txBody>
      </p:sp>
      <p:sp>
        <p:nvSpPr>
          <p:cNvPr id="36" name="TextBox 35"/>
          <p:cNvSpPr txBox="1"/>
          <p:nvPr/>
        </p:nvSpPr>
        <p:spPr>
          <a:xfrm>
            <a:off x="1371600" y="5120640"/>
            <a:ext cx="4526280" cy="320040"/>
          </a:xfrm>
          <a:prstGeom prst="rect">
            <a:avLst/>
          </a:prstGeom>
          <a:noFill/>
        </p:spPr>
        <p:txBody>
          <a:bodyPr wrap="square" lIns="0" rIns="0" tIns="0" bIns="0" anchor="t">
            <a:spAutoFit/>
          </a:bodyPr>
          <a:lstStyle/>
          <a:p>
            <a:pPr algn="l"/>
            <a:r>
              <a:rPr sz="1300" b="1" i="0">
                <a:solidFill>
                  <a:srgbClr val="003D7A"/>
                </a:solidFill>
                <a:latin typeface="Calibri"/>
              </a:rPr>
              <a:t>{{POINT_3_TITLE}}</a:t>
            </a:r>
          </a:p>
        </p:txBody>
      </p:sp>
      <p:sp>
        <p:nvSpPr>
          <p:cNvPr id="37" name="TextBox 36"/>
          <p:cNvSpPr txBox="1"/>
          <p:nvPr/>
        </p:nvSpPr>
        <p:spPr>
          <a:xfrm>
            <a:off x="1371600" y="5440680"/>
            <a:ext cx="4526280" cy="822960"/>
          </a:xfrm>
          <a:prstGeom prst="rect">
            <a:avLst/>
          </a:prstGeom>
          <a:noFill/>
        </p:spPr>
        <p:txBody>
          <a:bodyPr wrap="square" lIns="0" rIns="0" tIns="0" bIns="0" anchor="t">
            <a:spAutoFit/>
          </a:bodyPr>
          <a:lstStyle/>
          <a:p>
            <a:pPr algn="l"/>
            <a:r>
              <a:rPr sz="1050" b="0" i="0">
                <a:solidFill>
                  <a:srgbClr val="1F2937"/>
                </a:solidFill>
                <a:latin typeface="Calibri"/>
              </a:rPr>
              <a:t>{{POINT_3_BODY}}</a:t>
            </a:r>
          </a:p>
        </p:txBody>
      </p:sp>
      <p:sp>
        <p:nvSpPr>
          <p:cNvPr id="38" name="Rectangle 37"/>
          <p:cNvSpPr/>
          <p:nvPr/>
        </p:nvSpPr>
        <p:spPr>
          <a:xfrm>
            <a:off x="6126480" y="4937760"/>
            <a:ext cx="557784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309360" y="5120640"/>
            <a:ext cx="594360" cy="59436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Calibri"/>
              </a:rPr>
              <a:t>04</a:t>
            </a:r>
          </a:p>
        </p:txBody>
      </p:sp>
      <p:sp>
        <p:nvSpPr>
          <p:cNvPr id="40" name="TextBox 39"/>
          <p:cNvSpPr txBox="1"/>
          <p:nvPr/>
        </p:nvSpPr>
        <p:spPr>
          <a:xfrm>
            <a:off x="7040880" y="5120640"/>
            <a:ext cx="4526279" cy="320040"/>
          </a:xfrm>
          <a:prstGeom prst="rect">
            <a:avLst/>
          </a:prstGeom>
          <a:noFill/>
        </p:spPr>
        <p:txBody>
          <a:bodyPr wrap="square" lIns="0" rIns="0" tIns="0" bIns="0" anchor="t">
            <a:spAutoFit/>
          </a:bodyPr>
          <a:lstStyle/>
          <a:p>
            <a:pPr algn="l"/>
            <a:r>
              <a:rPr sz="1300" b="1" i="0">
                <a:solidFill>
                  <a:srgbClr val="003D7A"/>
                </a:solidFill>
                <a:latin typeface="Calibri"/>
              </a:rPr>
              <a:t>{{POINT_4_TITLE}}</a:t>
            </a:r>
          </a:p>
        </p:txBody>
      </p:sp>
      <p:sp>
        <p:nvSpPr>
          <p:cNvPr id="41" name="TextBox 40"/>
          <p:cNvSpPr txBox="1"/>
          <p:nvPr/>
        </p:nvSpPr>
        <p:spPr>
          <a:xfrm>
            <a:off x="7040880" y="5440680"/>
            <a:ext cx="4526279" cy="822960"/>
          </a:xfrm>
          <a:prstGeom prst="rect">
            <a:avLst/>
          </a:prstGeom>
          <a:noFill/>
        </p:spPr>
        <p:txBody>
          <a:bodyPr wrap="square" lIns="0" rIns="0" tIns="0" bIns="0" anchor="t">
            <a:spAutoFit/>
          </a:bodyPr>
          <a:lstStyle/>
          <a:p>
            <a:pPr algn="l"/>
            <a:r>
              <a:rPr sz="1050" b="0" i="0">
                <a:solidFill>
                  <a:srgbClr val="1F2937"/>
                </a:solidFill>
                <a:latin typeface="Calibri"/>
              </a:rPr>
              <a:t>{{POINT_4_BODY}}</a:t>
            </a:r>
          </a:p>
        </p:txBody>
      </p:sp>
      <p:sp>
        <p:nvSpPr>
          <p:cNvPr id="42" name="TextBox 41"/>
          <p:cNvSpPr txBox="1"/>
          <p:nvPr/>
        </p:nvSpPr>
        <p:spPr>
          <a:xfrm>
            <a:off x="457200" y="6537960"/>
            <a:ext cx="9144000" cy="274320"/>
          </a:xfrm>
          <a:prstGeom prst="rect">
            <a:avLst/>
          </a:prstGeom>
          <a:noFill/>
        </p:spPr>
        <p:txBody>
          <a:bodyPr wrap="square" lIns="0" rIns="0" tIns="0" bIns="0" anchor="t">
            <a:spAutoFit/>
          </a:bodyPr>
          <a:lstStyle/>
          <a:p>
            <a:pPr algn="l"/>
            <a:r>
              <a:rPr sz="900" b="0" i="0">
                <a:solidFill>
                  <a:srgbClr val="9CA3AF"/>
                </a:solidFill>
                <a:latin typeface="Calibri"/>
              </a:rPr>
              <a:t>{{FOOTER_LEFT}}</a:t>
            </a:r>
          </a:p>
        </p:txBody>
      </p:sp>
      <p:sp>
        <p:nvSpPr>
          <p:cNvPr id="43" name="TextBox 42"/>
          <p:cNvSpPr txBox="1"/>
          <p:nvPr/>
        </p:nvSpPr>
        <p:spPr>
          <a:xfrm>
            <a:off x="11247120" y="6537960"/>
            <a:ext cx="457200" cy="274320"/>
          </a:xfrm>
          <a:prstGeom prst="rect">
            <a:avLst/>
          </a:prstGeom>
          <a:noFill/>
        </p:spPr>
        <p:txBody>
          <a:bodyPr wrap="square" lIns="0" rIns="0" tIns="0" bIns="0" anchor="t">
            <a:spAutoFit/>
          </a:bodyPr>
          <a:lstStyle/>
          <a:p>
            <a:pPr algn="r"/>
            <a:r>
              <a:rPr sz="900" b="1" i="0">
                <a:solidFill>
                  <a:srgbClr val="003D7A"/>
                </a:solidFill>
                <a:latin typeface="Calibri"/>
              </a:rPr>
              <a:t>{{PAGE_NUM}}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BIG_STAT_SUBPOINTS">
    <p:spTree>
      <p:nvGrpSpPr>
        <p:cNvPr id="1" name=""/>
        <p:cNvGrpSpPr/>
        <p:nvPr/>
      </p:nvGrpSpPr>
      <p:grpSpPr/>
      <p:sp>
        <p:nvSpPr>
          <p:cNvPr id="2" name="Rectangle 1"/>
          <p:cNvSpPr/>
          <p:nvPr/>
        </p:nvSpPr>
        <p:spPr>
          <a:xfrm>
            <a:off x="457200" y="411480"/>
            <a:ext cx="73152" cy="64008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1064240" cy="502920"/>
          </a:xfrm>
          <a:prstGeom prst="rect">
            <a:avLst/>
          </a:prstGeom>
          <a:noFill/>
        </p:spPr>
        <p:txBody>
          <a:bodyPr wrap="square" lIns="0" rIns="0" tIns="0" bIns="0" anchor="ctr">
            <a:spAutoFit/>
          </a:bodyPr>
          <a:lstStyle/>
          <a:p>
            <a:pPr algn="l"/>
            <a:r>
              <a:rPr sz="2600" b="1" i="0">
                <a:solidFill>
                  <a:srgbClr val="003D7A"/>
                </a:solidFill>
                <a:latin typeface="Calibri"/>
              </a:rPr>
              <a:t>{{LUANDIEM_TITLE}}</a:t>
            </a:r>
          </a:p>
        </p:txBody>
      </p:sp>
      <p:sp>
        <p:nvSpPr>
          <p:cNvPr id="4" name="TextBox 3"/>
          <p:cNvSpPr txBox="1"/>
          <p:nvPr/>
        </p:nvSpPr>
        <p:spPr>
          <a:xfrm>
            <a:off x="640080" y="868680"/>
            <a:ext cx="11064240" cy="274320"/>
          </a:xfrm>
          <a:prstGeom prst="rect">
            <a:avLst/>
          </a:prstGeom>
          <a:noFill/>
        </p:spPr>
        <p:txBody>
          <a:bodyPr wrap="square" lIns="0" rIns="0" tIns="0" bIns="0" anchor="t">
            <a:spAutoFit/>
          </a:bodyPr>
          <a:lstStyle/>
          <a:p>
            <a:pPr algn="l"/>
            <a:r>
              <a:rPr sz="1200" b="0" i="1">
                <a:solidFill>
                  <a:srgbClr val="4A5568"/>
                </a:solidFill>
                <a:latin typeface="Calibri"/>
              </a:rPr>
              <a:t>{{LUANDIEM_SUB}}</a:t>
            </a:r>
          </a:p>
        </p:txBody>
      </p:sp>
      <p:sp>
        <p:nvSpPr>
          <p:cNvPr id="5" name="Rectangle 4"/>
          <p:cNvSpPr/>
          <p:nvPr/>
        </p:nvSpPr>
        <p:spPr>
          <a:xfrm>
            <a:off x="457200" y="1371600"/>
            <a:ext cx="4114800" cy="292608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3749039" cy="457200"/>
          </a:xfrm>
          <a:prstGeom prst="rect">
            <a:avLst/>
          </a:prstGeom>
          <a:noFill/>
        </p:spPr>
        <p:txBody>
          <a:bodyPr wrap="square" lIns="0" rIns="0" tIns="0" bIns="0" anchor="t">
            <a:spAutoFit/>
          </a:bodyPr>
          <a:lstStyle/>
          <a:p>
            <a:pPr algn="l"/>
            <a:r>
              <a:rPr sz="1800" b="1" i="0">
                <a:solidFill>
                  <a:srgbClr val="FFFFFF"/>
                </a:solidFill>
                <a:latin typeface="Calibri"/>
              </a:rPr>
              <a:t>{{KPI_LABEL}}</a:t>
            </a:r>
          </a:p>
        </p:txBody>
      </p:sp>
      <p:sp>
        <p:nvSpPr>
          <p:cNvPr id="7" name="TextBox 6"/>
          <p:cNvSpPr txBox="1"/>
          <p:nvPr/>
        </p:nvSpPr>
        <p:spPr>
          <a:xfrm>
            <a:off x="640080" y="2057400"/>
            <a:ext cx="3749039" cy="1188720"/>
          </a:xfrm>
          <a:prstGeom prst="rect">
            <a:avLst/>
          </a:prstGeom>
          <a:noFill/>
        </p:spPr>
        <p:txBody>
          <a:bodyPr wrap="square" lIns="0" rIns="0" tIns="0" bIns="0" anchor="ctr">
            <a:spAutoFit/>
          </a:bodyPr>
          <a:lstStyle/>
          <a:p>
            <a:pPr algn="ctr"/>
            <a:r>
              <a:rPr sz="7200" b="1" i="0">
                <a:solidFill>
                  <a:srgbClr val="FFFFFF"/>
                </a:solidFill>
                <a:latin typeface="Calibri"/>
              </a:rPr>
              <a:t>{{KPI_VALUE}}</a:t>
            </a:r>
          </a:p>
        </p:txBody>
      </p:sp>
      <p:sp>
        <p:nvSpPr>
          <p:cNvPr id="8" name="TextBox 7"/>
          <p:cNvSpPr txBox="1"/>
          <p:nvPr/>
        </p:nvSpPr>
        <p:spPr>
          <a:xfrm>
            <a:off x="640080" y="3383280"/>
            <a:ext cx="3749039" cy="365760"/>
          </a:xfrm>
          <a:prstGeom prst="rect">
            <a:avLst/>
          </a:prstGeom>
          <a:noFill/>
        </p:spPr>
        <p:txBody>
          <a:bodyPr wrap="square" lIns="0" rIns="0" tIns="0" bIns="0" anchor="t">
            <a:spAutoFit/>
          </a:bodyPr>
          <a:lstStyle/>
          <a:p>
            <a:pPr algn="l"/>
            <a:r>
              <a:rPr sz="1300" b="0" i="1">
                <a:solidFill>
                  <a:srgbClr val="FFFFFF"/>
                </a:solidFill>
                <a:latin typeface="Calibri"/>
              </a:rPr>
              <a:t>{{KPI_NOTE}}</a:t>
            </a:r>
          </a:p>
        </p:txBody>
      </p:sp>
      <p:sp>
        <p:nvSpPr>
          <p:cNvPr id="9" name="TextBox 8"/>
          <p:cNvSpPr txBox="1"/>
          <p:nvPr/>
        </p:nvSpPr>
        <p:spPr>
          <a:xfrm>
            <a:off x="640080" y="3840480"/>
            <a:ext cx="3749039" cy="365760"/>
          </a:xfrm>
          <a:prstGeom prst="rect">
            <a:avLst/>
          </a:prstGeom>
          <a:noFill/>
        </p:spPr>
        <p:txBody>
          <a:bodyPr wrap="square" lIns="0" rIns="0" tIns="0" bIns="0" anchor="t">
            <a:spAutoFit/>
          </a:bodyPr>
          <a:lstStyle/>
          <a:p>
            <a:pPr algn="l"/>
            <a:r>
              <a:rPr sz="1100" b="0" i="0">
                <a:solidFill>
                  <a:srgbClr val="FFFFFF"/>
                </a:solidFill>
                <a:latin typeface="Calibri"/>
              </a:rPr>
              <a:t>{{KPI_SUB}}</a:t>
            </a:r>
          </a:p>
        </p:txBody>
      </p:sp>
      <p:sp>
        <p:nvSpPr>
          <p:cNvPr id="10" name="Rectangle 9"/>
          <p:cNvSpPr/>
          <p:nvPr/>
        </p:nvSpPr>
        <p:spPr>
          <a:xfrm>
            <a:off x="4846320" y="1371600"/>
            <a:ext cx="6858000" cy="141732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46320" y="1371600"/>
            <a:ext cx="73152" cy="141732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0" y="1508760"/>
            <a:ext cx="6583680" cy="365760"/>
          </a:xfrm>
          <a:prstGeom prst="rect">
            <a:avLst/>
          </a:prstGeom>
          <a:noFill/>
        </p:spPr>
        <p:txBody>
          <a:bodyPr wrap="square" lIns="0" rIns="0" tIns="0" bIns="0" anchor="t">
            <a:spAutoFit/>
          </a:bodyPr>
          <a:lstStyle/>
          <a:p>
            <a:pPr algn="l"/>
            <a:r>
              <a:rPr sz="1500" b="1" i="0">
                <a:solidFill>
                  <a:srgbClr val="003D7A"/>
                </a:solidFill>
                <a:latin typeface="Calibri"/>
              </a:rPr>
              <a:t>{{SUBPOINT_1_TITLE}}</a:t>
            </a:r>
          </a:p>
        </p:txBody>
      </p:sp>
      <p:sp>
        <p:nvSpPr>
          <p:cNvPr id="13" name="TextBox 12"/>
          <p:cNvSpPr txBox="1"/>
          <p:nvPr/>
        </p:nvSpPr>
        <p:spPr>
          <a:xfrm>
            <a:off x="5029200" y="1874519"/>
            <a:ext cx="6583680" cy="777240"/>
          </a:xfrm>
          <a:prstGeom prst="rect">
            <a:avLst/>
          </a:prstGeom>
          <a:noFill/>
        </p:spPr>
        <p:txBody>
          <a:bodyPr wrap="square" lIns="0" rIns="0" tIns="0" bIns="0" anchor="t">
            <a:spAutoFit/>
          </a:bodyPr>
          <a:lstStyle/>
          <a:p>
            <a:pPr algn="l"/>
            <a:r>
              <a:rPr sz="1100" b="0" i="0">
                <a:solidFill>
                  <a:srgbClr val="1F2937"/>
                </a:solidFill>
                <a:latin typeface="Calibri"/>
              </a:rPr>
              <a:t>{{SUBPOINT_1_BODY}}</a:t>
            </a:r>
          </a:p>
        </p:txBody>
      </p:sp>
      <p:sp>
        <p:nvSpPr>
          <p:cNvPr id="14" name="Rectangle 13"/>
          <p:cNvSpPr/>
          <p:nvPr/>
        </p:nvSpPr>
        <p:spPr>
          <a:xfrm>
            <a:off x="4846320" y="2880360"/>
            <a:ext cx="6858000" cy="141732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846320" y="2880360"/>
            <a:ext cx="73152" cy="141732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0" y="3017520"/>
            <a:ext cx="6583680" cy="365760"/>
          </a:xfrm>
          <a:prstGeom prst="rect">
            <a:avLst/>
          </a:prstGeom>
          <a:noFill/>
        </p:spPr>
        <p:txBody>
          <a:bodyPr wrap="square" lIns="0" rIns="0" tIns="0" bIns="0" anchor="t">
            <a:spAutoFit/>
          </a:bodyPr>
          <a:lstStyle/>
          <a:p>
            <a:pPr algn="l"/>
            <a:r>
              <a:rPr sz="1500" b="1" i="0">
                <a:solidFill>
                  <a:srgbClr val="003D7A"/>
                </a:solidFill>
                <a:latin typeface="Calibri"/>
              </a:rPr>
              <a:t>{{SUBPOINT_2_TITLE}}</a:t>
            </a:r>
          </a:p>
        </p:txBody>
      </p:sp>
      <p:sp>
        <p:nvSpPr>
          <p:cNvPr id="17" name="TextBox 16"/>
          <p:cNvSpPr txBox="1"/>
          <p:nvPr/>
        </p:nvSpPr>
        <p:spPr>
          <a:xfrm>
            <a:off x="5029200" y="3383280"/>
            <a:ext cx="6583680" cy="777240"/>
          </a:xfrm>
          <a:prstGeom prst="rect">
            <a:avLst/>
          </a:prstGeom>
          <a:noFill/>
        </p:spPr>
        <p:txBody>
          <a:bodyPr wrap="square" lIns="0" rIns="0" tIns="0" bIns="0" anchor="t">
            <a:spAutoFit/>
          </a:bodyPr>
          <a:lstStyle/>
          <a:p>
            <a:pPr algn="l"/>
            <a:r>
              <a:rPr sz="1100" b="0" i="0">
                <a:solidFill>
                  <a:srgbClr val="1F2937"/>
                </a:solidFill>
                <a:latin typeface="Calibri"/>
              </a:rPr>
              <a:t>{{SUBPOINT_2_BODY}}</a:t>
            </a:r>
          </a:p>
        </p:txBody>
      </p:sp>
      <p:sp>
        <p:nvSpPr>
          <p:cNvPr id="18" name="Rectangle 17"/>
          <p:cNvSpPr/>
          <p:nvPr/>
        </p:nvSpPr>
        <p:spPr>
          <a:xfrm>
            <a:off x="4846320" y="4389120"/>
            <a:ext cx="6858000" cy="141732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46320" y="4389120"/>
            <a:ext cx="73152" cy="141732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0" y="4526280"/>
            <a:ext cx="6583680" cy="365760"/>
          </a:xfrm>
          <a:prstGeom prst="rect">
            <a:avLst/>
          </a:prstGeom>
          <a:noFill/>
        </p:spPr>
        <p:txBody>
          <a:bodyPr wrap="square" lIns="0" rIns="0" tIns="0" bIns="0" anchor="t">
            <a:spAutoFit/>
          </a:bodyPr>
          <a:lstStyle/>
          <a:p>
            <a:pPr algn="l"/>
            <a:r>
              <a:rPr sz="1500" b="1" i="0">
                <a:solidFill>
                  <a:srgbClr val="003D7A"/>
                </a:solidFill>
                <a:latin typeface="Calibri"/>
              </a:rPr>
              <a:t>{{SUBPOINT_3_TITLE}}</a:t>
            </a:r>
          </a:p>
        </p:txBody>
      </p:sp>
      <p:sp>
        <p:nvSpPr>
          <p:cNvPr id="21" name="TextBox 20"/>
          <p:cNvSpPr txBox="1"/>
          <p:nvPr/>
        </p:nvSpPr>
        <p:spPr>
          <a:xfrm>
            <a:off x="5029200" y="4892040"/>
            <a:ext cx="6583680" cy="777240"/>
          </a:xfrm>
          <a:prstGeom prst="rect">
            <a:avLst/>
          </a:prstGeom>
          <a:noFill/>
        </p:spPr>
        <p:txBody>
          <a:bodyPr wrap="square" lIns="0" rIns="0" tIns="0" bIns="0" anchor="t">
            <a:spAutoFit/>
          </a:bodyPr>
          <a:lstStyle/>
          <a:p>
            <a:pPr algn="l"/>
            <a:r>
              <a:rPr sz="1100" b="0" i="0">
                <a:solidFill>
                  <a:srgbClr val="1F2937"/>
                </a:solidFill>
                <a:latin typeface="Calibri"/>
              </a:rPr>
              <a:t>{{SUBPOINT_3_BODY}}</a:t>
            </a:r>
          </a:p>
        </p:txBody>
      </p:sp>
      <p:sp>
        <p:nvSpPr>
          <p:cNvPr id="22" name="Rectangle 21"/>
          <p:cNvSpPr/>
          <p:nvPr/>
        </p:nvSpPr>
        <p:spPr>
          <a:xfrm>
            <a:off x="457200" y="4480560"/>
            <a:ext cx="4114800" cy="178308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4572000"/>
            <a:ext cx="3840480" cy="274320"/>
          </a:xfrm>
          <a:prstGeom prst="rect">
            <a:avLst/>
          </a:prstGeom>
          <a:noFill/>
        </p:spPr>
        <p:txBody>
          <a:bodyPr wrap="square" lIns="0" rIns="0" tIns="0" bIns="0" anchor="t">
            <a:spAutoFit/>
          </a:bodyPr>
          <a:lstStyle/>
          <a:p>
            <a:pPr algn="l"/>
            <a:r>
              <a:rPr sz="1000" b="1" i="0">
                <a:solidFill>
                  <a:srgbClr val="003D7A"/>
                </a:solidFill>
                <a:latin typeface="Calibri"/>
              </a:rPr>
              <a:t>CHỈ SỐ ĐỊNH GIÁ THAM CHIẾU</a:t>
            </a:r>
          </a:p>
        </p:txBody>
      </p:sp>
      <p:sp>
        <p:nvSpPr>
          <p:cNvPr id="24" name="Rectangle 23"/>
          <p:cNvSpPr/>
          <p:nvPr/>
        </p:nvSpPr>
        <p:spPr>
          <a:xfrm>
            <a:off x="594360" y="4864608"/>
            <a:ext cx="3840480" cy="10972"/>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4937760"/>
            <a:ext cx="2381097" cy="256032"/>
          </a:xfrm>
          <a:prstGeom prst="rect">
            <a:avLst/>
          </a:prstGeom>
          <a:noFill/>
        </p:spPr>
        <p:txBody>
          <a:bodyPr wrap="square" lIns="0" rIns="0" tIns="0" bIns="0" anchor="t">
            <a:spAutoFit/>
          </a:bodyPr>
          <a:lstStyle/>
          <a:p>
            <a:pPr algn="l"/>
            <a:r>
              <a:rPr sz="1000" b="0" i="0">
                <a:solidFill>
                  <a:srgbClr val="4A5568"/>
                </a:solidFill>
                <a:latin typeface="Calibri"/>
              </a:rPr>
              <a:t>{{KPI_ROW_1_LABEL}}</a:t>
            </a:r>
          </a:p>
        </p:txBody>
      </p:sp>
      <p:sp>
        <p:nvSpPr>
          <p:cNvPr id="26" name="TextBox 25"/>
          <p:cNvSpPr txBox="1"/>
          <p:nvPr/>
        </p:nvSpPr>
        <p:spPr>
          <a:xfrm>
            <a:off x="2975457" y="4937760"/>
            <a:ext cx="1459382" cy="256032"/>
          </a:xfrm>
          <a:prstGeom prst="rect">
            <a:avLst/>
          </a:prstGeom>
          <a:noFill/>
        </p:spPr>
        <p:txBody>
          <a:bodyPr wrap="square" lIns="0" rIns="0" tIns="0" bIns="0" anchor="t">
            <a:spAutoFit/>
          </a:bodyPr>
          <a:lstStyle/>
          <a:p>
            <a:pPr algn="r"/>
            <a:r>
              <a:rPr sz="1000" b="1" i="0">
                <a:solidFill>
                  <a:srgbClr val="003D7A"/>
                </a:solidFill>
                <a:latin typeface="Calibri"/>
              </a:rPr>
              <a:t>{{KPI_ROW_1_VALUE}}</a:t>
            </a:r>
          </a:p>
        </p:txBody>
      </p:sp>
      <p:sp>
        <p:nvSpPr>
          <p:cNvPr id="27" name="TextBox 26"/>
          <p:cNvSpPr txBox="1"/>
          <p:nvPr/>
        </p:nvSpPr>
        <p:spPr>
          <a:xfrm>
            <a:off x="594360" y="5193792"/>
            <a:ext cx="2381097" cy="256032"/>
          </a:xfrm>
          <a:prstGeom prst="rect">
            <a:avLst/>
          </a:prstGeom>
          <a:noFill/>
        </p:spPr>
        <p:txBody>
          <a:bodyPr wrap="square" lIns="0" rIns="0" tIns="0" bIns="0" anchor="t">
            <a:spAutoFit/>
          </a:bodyPr>
          <a:lstStyle/>
          <a:p>
            <a:pPr algn="l"/>
            <a:r>
              <a:rPr sz="1000" b="0" i="0">
                <a:solidFill>
                  <a:srgbClr val="4A5568"/>
                </a:solidFill>
                <a:latin typeface="Calibri"/>
              </a:rPr>
              <a:t>{{KPI_ROW_2_LABEL}}</a:t>
            </a:r>
          </a:p>
        </p:txBody>
      </p:sp>
      <p:sp>
        <p:nvSpPr>
          <p:cNvPr id="28" name="TextBox 27"/>
          <p:cNvSpPr txBox="1"/>
          <p:nvPr/>
        </p:nvSpPr>
        <p:spPr>
          <a:xfrm>
            <a:off x="2975457" y="5193792"/>
            <a:ext cx="1459382" cy="256032"/>
          </a:xfrm>
          <a:prstGeom prst="rect">
            <a:avLst/>
          </a:prstGeom>
          <a:noFill/>
        </p:spPr>
        <p:txBody>
          <a:bodyPr wrap="square" lIns="0" rIns="0" tIns="0" bIns="0" anchor="t">
            <a:spAutoFit/>
          </a:bodyPr>
          <a:lstStyle/>
          <a:p>
            <a:pPr algn="r"/>
            <a:r>
              <a:rPr sz="1000" b="1" i="0">
                <a:solidFill>
                  <a:srgbClr val="003D7A"/>
                </a:solidFill>
                <a:latin typeface="Calibri"/>
              </a:rPr>
              <a:t>{{KPI_ROW_2_VALUE}}</a:t>
            </a:r>
          </a:p>
        </p:txBody>
      </p:sp>
      <p:sp>
        <p:nvSpPr>
          <p:cNvPr id="29" name="TextBox 28"/>
          <p:cNvSpPr txBox="1"/>
          <p:nvPr/>
        </p:nvSpPr>
        <p:spPr>
          <a:xfrm>
            <a:off x="594360" y="5449824"/>
            <a:ext cx="2381097" cy="256032"/>
          </a:xfrm>
          <a:prstGeom prst="rect">
            <a:avLst/>
          </a:prstGeom>
          <a:noFill/>
        </p:spPr>
        <p:txBody>
          <a:bodyPr wrap="square" lIns="0" rIns="0" tIns="0" bIns="0" anchor="t">
            <a:spAutoFit/>
          </a:bodyPr>
          <a:lstStyle/>
          <a:p>
            <a:pPr algn="l"/>
            <a:r>
              <a:rPr sz="1000" b="0" i="0">
                <a:solidFill>
                  <a:srgbClr val="4A5568"/>
                </a:solidFill>
                <a:latin typeface="Calibri"/>
              </a:rPr>
              <a:t>{{KPI_ROW_3_LABEL}}</a:t>
            </a:r>
          </a:p>
        </p:txBody>
      </p:sp>
      <p:sp>
        <p:nvSpPr>
          <p:cNvPr id="30" name="TextBox 29"/>
          <p:cNvSpPr txBox="1"/>
          <p:nvPr/>
        </p:nvSpPr>
        <p:spPr>
          <a:xfrm>
            <a:off x="2975457" y="5449824"/>
            <a:ext cx="1459382" cy="256032"/>
          </a:xfrm>
          <a:prstGeom prst="rect">
            <a:avLst/>
          </a:prstGeom>
          <a:noFill/>
        </p:spPr>
        <p:txBody>
          <a:bodyPr wrap="square" lIns="0" rIns="0" tIns="0" bIns="0" anchor="t">
            <a:spAutoFit/>
          </a:bodyPr>
          <a:lstStyle/>
          <a:p>
            <a:pPr algn="r"/>
            <a:r>
              <a:rPr sz="1000" b="1" i="0">
                <a:solidFill>
                  <a:srgbClr val="003D7A"/>
                </a:solidFill>
                <a:latin typeface="Calibri"/>
              </a:rPr>
              <a:t>{{KPI_ROW_3_VALUE}}</a:t>
            </a:r>
          </a:p>
        </p:txBody>
      </p:sp>
      <p:sp>
        <p:nvSpPr>
          <p:cNvPr id="31" name="TextBox 30"/>
          <p:cNvSpPr txBox="1"/>
          <p:nvPr/>
        </p:nvSpPr>
        <p:spPr>
          <a:xfrm>
            <a:off x="594360" y="5705856"/>
            <a:ext cx="2381097" cy="256032"/>
          </a:xfrm>
          <a:prstGeom prst="rect">
            <a:avLst/>
          </a:prstGeom>
          <a:noFill/>
        </p:spPr>
        <p:txBody>
          <a:bodyPr wrap="square" lIns="0" rIns="0" tIns="0" bIns="0" anchor="t">
            <a:spAutoFit/>
          </a:bodyPr>
          <a:lstStyle/>
          <a:p>
            <a:pPr algn="l"/>
            <a:r>
              <a:rPr sz="1000" b="0" i="0">
                <a:solidFill>
                  <a:srgbClr val="4A5568"/>
                </a:solidFill>
                <a:latin typeface="Calibri"/>
              </a:rPr>
              <a:t>{{KPI_ROW_4_LABEL}}</a:t>
            </a:r>
          </a:p>
        </p:txBody>
      </p:sp>
      <p:sp>
        <p:nvSpPr>
          <p:cNvPr id="32" name="TextBox 31"/>
          <p:cNvSpPr txBox="1"/>
          <p:nvPr/>
        </p:nvSpPr>
        <p:spPr>
          <a:xfrm>
            <a:off x="2975457" y="5705856"/>
            <a:ext cx="1459382" cy="256032"/>
          </a:xfrm>
          <a:prstGeom prst="rect">
            <a:avLst/>
          </a:prstGeom>
          <a:noFill/>
        </p:spPr>
        <p:txBody>
          <a:bodyPr wrap="square" lIns="0" rIns="0" tIns="0" bIns="0" anchor="t">
            <a:spAutoFit/>
          </a:bodyPr>
          <a:lstStyle/>
          <a:p>
            <a:pPr algn="r"/>
            <a:r>
              <a:rPr sz="1000" b="1" i="0">
                <a:solidFill>
                  <a:srgbClr val="003D7A"/>
                </a:solidFill>
                <a:latin typeface="Calibri"/>
              </a:rPr>
              <a:t>{{KPI_ROW_4_VALUE}}</a:t>
            </a:r>
          </a:p>
        </p:txBody>
      </p:sp>
      <p:sp>
        <p:nvSpPr>
          <p:cNvPr id="33" name="TextBox 32"/>
          <p:cNvSpPr txBox="1"/>
          <p:nvPr/>
        </p:nvSpPr>
        <p:spPr>
          <a:xfrm>
            <a:off x="594360" y="5961888"/>
            <a:ext cx="2381097" cy="256032"/>
          </a:xfrm>
          <a:prstGeom prst="rect">
            <a:avLst/>
          </a:prstGeom>
          <a:noFill/>
        </p:spPr>
        <p:txBody>
          <a:bodyPr wrap="square" lIns="0" rIns="0" tIns="0" bIns="0" anchor="t">
            <a:spAutoFit/>
          </a:bodyPr>
          <a:lstStyle/>
          <a:p>
            <a:pPr algn="l"/>
            <a:r>
              <a:rPr sz="1000" b="0" i="0">
                <a:solidFill>
                  <a:srgbClr val="4A5568"/>
                </a:solidFill>
                <a:latin typeface="Calibri"/>
              </a:rPr>
              <a:t>{{KPI_ROW_5_LABEL}}</a:t>
            </a:r>
          </a:p>
        </p:txBody>
      </p:sp>
      <p:sp>
        <p:nvSpPr>
          <p:cNvPr id="34" name="TextBox 33"/>
          <p:cNvSpPr txBox="1"/>
          <p:nvPr/>
        </p:nvSpPr>
        <p:spPr>
          <a:xfrm>
            <a:off x="2975457" y="5961888"/>
            <a:ext cx="1459382" cy="256032"/>
          </a:xfrm>
          <a:prstGeom prst="rect">
            <a:avLst/>
          </a:prstGeom>
          <a:noFill/>
        </p:spPr>
        <p:txBody>
          <a:bodyPr wrap="square" lIns="0" rIns="0" tIns="0" bIns="0" anchor="t">
            <a:spAutoFit/>
          </a:bodyPr>
          <a:lstStyle/>
          <a:p>
            <a:pPr algn="r"/>
            <a:r>
              <a:rPr sz="1000" b="1" i="0">
                <a:solidFill>
                  <a:srgbClr val="003D7A"/>
                </a:solidFill>
                <a:latin typeface="Calibri"/>
              </a:rPr>
              <a:t>{{KPI_ROW_5_VALUE}}</a:t>
            </a:r>
          </a:p>
        </p:txBody>
      </p:sp>
      <p:sp>
        <p:nvSpPr>
          <p:cNvPr id="35" name="TextBox 34"/>
          <p:cNvSpPr txBox="1"/>
          <p:nvPr/>
        </p:nvSpPr>
        <p:spPr>
          <a:xfrm>
            <a:off x="457200" y="6537960"/>
            <a:ext cx="9144000" cy="274320"/>
          </a:xfrm>
          <a:prstGeom prst="rect">
            <a:avLst/>
          </a:prstGeom>
          <a:noFill/>
        </p:spPr>
        <p:txBody>
          <a:bodyPr wrap="square" lIns="0" rIns="0" tIns="0" bIns="0" anchor="t">
            <a:spAutoFit/>
          </a:bodyPr>
          <a:lstStyle/>
          <a:p>
            <a:pPr algn="l"/>
            <a:r>
              <a:rPr sz="900" b="0" i="0">
                <a:solidFill>
                  <a:srgbClr val="9CA3AF"/>
                </a:solidFill>
                <a:latin typeface="Calibri"/>
              </a:rPr>
              <a:t>{{FOOTER_LEFT}}</a:t>
            </a:r>
          </a:p>
        </p:txBody>
      </p:sp>
      <p:sp>
        <p:nvSpPr>
          <p:cNvPr id="36" name="TextBox 35"/>
          <p:cNvSpPr txBox="1"/>
          <p:nvPr/>
        </p:nvSpPr>
        <p:spPr>
          <a:xfrm>
            <a:off x="11247120" y="6537960"/>
            <a:ext cx="457200" cy="274320"/>
          </a:xfrm>
          <a:prstGeom prst="rect">
            <a:avLst/>
          </a:prstGeom>
          <a:noFill/>
        </p:spPr>
        <p:txBody>
          <a:bodyPr wrap="square" lIns="0" rIns="0" tIns="0" bIns="0" anchor="t">
            <a:spAutoFit/>
          </a:bodyPr>
          <a:lstStyle/>
          <a:p>
            <a:pPr algn="r"/>
            <a:r>
              <a:rPr sz="900" b="1" i="0">
                <a:solidFill>
                  <a:srgbClr val="003D7A"/>
                </a:solidFill>
                <a:latin typeface="Calibri"/>
              </a:rPr>
              <a:t>{{PAGE_NUM}}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TWO_COLUMN_INFO_BUSINESS">
    <p:spTree>
      <p:nvGrpSpPr>
        <p:cNvPr id="1" name=""/>
        <p:cNvGrpSpPr/>
        <p:nvPr/>
      </p:nvGrpSpPr>
      <p:grpSpPr/>
      <p:sp>
        <p:nvSpPr>
          <p:cNvPr id="2" name="Rectangle 1"/>
          <p:cNvSpPr/>
          <p:nvPr/>
        </p:nvSpPr>
        <p:spPr>
          <a:xfrm>
            <a:off x="457200" y="411480"/>
            <a:ext cx="73152" cy="64008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1064240" cy="502920"/>
          </a:xfrm>
          <a:prstGeom prst="rect">
            <a:avLst/>
          </a:prstGeom>
          <a:noFill/>
        </p:spPr>
        <p:txBody>
          <a:bodyPr wrap="square" lIns="0" rIns="0" tIns="0" bIns="0" anchor="ctr">
            <a:spAutoFit/>
          </a:bodyPr>
          <a:lstStyle/>
          <a:p>
            <a:pPr algn="l"/>
            <a:r>
              <a:rPr sz="2600" b="1" i="0">
                <a:solidFill>
                  <a:srgbClr val="003D7A"/>
                </a:solidFill>
                <a:latin typeface="Calibri"/>
              </a:rPr>
              <a:t>{{SECTION_TITLE}}</a:t>
            </a:r>
          </a:p>
        </p:txBody>
      </p:sp>
      <p:sp>
        <p:nvSpPr>
          <p:cNvPr id="4" name="TextBox 3"/>
          <p:cNvSpPr txBox="1"/>
          <p:nvPr/>
        </p:nvSpPr>
        <p:spPr>
          <a:xfrm>
            <a:off x="640080" y="868680"/>
            <a:ext cx="11064240" cy="274320"/>
          </a:xfrm>
          <a:prstGeom prst="rect">
            <a:avLst/>
          </a:prstGeom>
          <a:noFill/>
        </p:spPr>
        <p:txBody>
          <a:bodyPr wrap="square" lIns="0" rIns="0" tIns="0" bIns="0" anchor="t">
            <a:spAutoFit/>
          </a:bodyPr>
          <a:lstStyle/>
          <a:p>
            <a:pPr algn="l"/>
            <a:r>
              <a:rPr sz="1200" b="0" i="1">
                <a:solidFill>
                  <a:srgbClr val="4A5568"/>
                </a:solidFill>
                <a:latin typeface="Calibri"/>
              </a:rPr>
              <a:t>{{SECTION_SUB}}</a:t>
            </a:r>
          </a:p>
        </p:txBody>
      </p:sp>
      <p:sp>
        <p:nvSpPr>
          <p:cNvPr id="5" name="Rectangle 4"/>
          <p:cNvSpPr/>
          <p:nvPr/>
        </p:nvSpPr>
        <p:spPr>
          <a:xfrm>
            <a:off x="457200" y="1371600"/>
            <a:ext cx="5440680" cy="493776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08760"/>
            <a:ext cx="5166360" cy="274320"/>
          </a:xfrm>
          <a:prstGeom prst="rect">
            <a:avLst/>
          </a:prstGeom>
          <a:noFill/>
        </p:spPr>
        <p:txBody>
          <a:bodyPr wrap="square" lIns="0" rIns="0" tIns="0" bIns="0" anchor="t">
            <a:spAutoFit/>
          </a:bodyPr>
          <a:lstStyle/>
          <a:p>
            <a:pPr algn="l"/>
            <a:r>
              <a:rPr sz="1000" b="1" i="0">
                <a:solidFill>
                  <a:srgbClr val="003D7A"/>
                </a:solidFill>
                <a:latin typeface="Calibri"/>
              </a:rPr>
              <a:t>THÔNG TIN CƠ BẢN</a:t>
            </a:r>
          </a:p>
        </p:txBody>
      </p:sp>
      <p:sp>
        <p:nvSpPr>
          <p:cNvPr id="7" name="Rectangle 6"/>
          <p:cNvSpPr/>
          <p:nvPr/>
        </p:nvSpPr>
        <p:spPr>
          <a:xfrm>
            <a:off x="640080" y="1801368"/>
            <a:ext cx="5074920" cy="10972"/>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874519"/>
            <a:ext cx="3146450" cy="292608"/>
          </a:xfrm>
          <a:prstGeom prst="rect">
            <a:avLst/>
          </a:prstGeom>
          <a:noFill/>
        </p:spPr>
        <p:txBody>
          <a:bodyPr wrap="square" lIns="0" rIns="0" tIns="0" bIns="0" anchor="t">
            <a:spAutoFit/>
          </a:bodyPr>
          <a:lstStyle/>
          <a:p>
            <a:pPr algn="l"/>
            <a:r>
              <a:rPr sz="1000" b="0" i="0">
                <a:solidFill>
                  <a:srgbClr val="4A5568"/>
                </a:solidFill>
                <a:latin typeface="Calibri"/>
              </a:rPr>
              <a:t>Mã cổ phiếu</a:t>
            </a:r>
          </a:p>
        </p:txBody>
      </p:sp>
      <p:sp>
        <p:nvSpPr>
          <p:cNvPr id="9" name="TextBox 8"/>
          <p:cNvSpPr txBox="1"/>
          <p:nvPr/>
        </p:nvSpPr>
        <p:spPr>
          <a:xfrm>
            <a:off x="3786530" y="1874519"/>
            <a:ext cx="1928469" cy="292608"/>
          </a:xfrm>
          <a:prstGeom prst="rect">
            <a:avLst/>
          </a:prstGeom>
          <a:noFill/>
        </p:spPr>
        <p:txBody>
          <a:bodyPr wrap="square" lIns="0" rIns="0" tIns="0" bIns="0" anchor="t">
            <a:spAutoFit/>
          </a:bodyPr>
          <a:lstStyle/>
          <a:p>
            <a:pPr algn="r"/>
            <a:r>
              <a:rPr sz="1000" b="1" i="0">
                <a:solidFill>
                  <a:srgbClr val="003D7A"/>
                </a:solidFill>
                <a:latin typeface="Calibri"/>
              </a:rPr>
              <a:t>{{INFO_1}}</a:t>
            </a:r>
          </a:p>
        </p:txBody>
      </p:sp>
      <p:sp>
        <p:nvSpPr>
          <p:cNvPr id="10" name="TextBox 9"/>
          <p:cNvSpPr txBox="1"/>
          <p:nvPr/>
        </p:nvSpPr>
        <p:spPr>
          <a:xfrm>
            <a:off x="640080" y="2167127"/>
            <a:ext cx="3146450" cy="292608"/>
          </a:xfrm>
          <a:prstGeom prst="rect">
            <a:avLst/>
          </a:prstGeom>
          <a:noFill/>
        </p:spPr>
        <p:txBody>
          <a:bodyPr wrap="square" lIns="0" rIns="0" tIns="0" bIns="0" anchor="t">
            <a:spAutoFit/>
          </a:bodyPr>
          <a:lstStyle/>
          <a:p>
            <a:pPr algn="l"/>
            <a:r>
              <a:rPr sz="1000" b="0" i="0">
                <a:solidFill>
                  <a:srgbClr val="4A5568"/>
                </a:solidFill>
                <a:latin typeface="Calibri"/>
              </a:rPr>
              <a:t>Ngày niêm yết</a:t>
            </a:r>
          </a:p>
        </p:txBody>
      </p:sp>
      <p:sp>
        <p:nvSpPr>
          <p:cNvPr id="11" name="TextBox 10"/>
          <p:cNvSpPr txBox="1"/>
          <p:nvPr/>
        </p:nvSpPr>
        <p:spPr>
          <a:xfrm>
            <a:off x="3786530" y="2167127"/>
            <a:ext cx="1928469" cy="292608"/>
          </a:xfrm>
          <a:prstGeom prst="rect">
            <a:avLst/>
          </a:prstGeom>
          <a:noFill/>
        </p:spPr>
        <p:txBody>
          <a:bodyPr wrap="square" lIns="0" rIns="0" tIns="0" bIns="0" anchor="t">
            <a:spAutoFit/>
          </a:bodyPr>
          <a:lstStyle/>
          <a:p>
            <a:pPr algn="r"/>
            <a:r>
              <a:rPr sz="1000" b="1" i="0">
                <a:solidFill>
                  <a:srgbClr val="003D7A"/>
                </a:solidFill>
                <a:latin typeface="Calibri"/>
              </a:rPr>
              <a:t>{{INFO_2}}</a:t>
            </a:r>
          </a:p>
        </p:txBody>
      </p:sp>
      <p:sp>
        <p:nvSpPr>
          <p:cNvPr id="12" name="TextBox 11"/>
          <p:cNvSpPr txBox="1"/>
          <p:nvPr/>
        </p:nvSpPr>
        <p:spPr>
          <a:xfrm>
            <a:off x="640080" y="2459735"/>
            <a:ext cx="3146450" cy="292608"/>
          </a:xfrm>
          <a:prstGeom prst="rect">
            <a:avLst/>
          </a:prstGeom>
          <a:noFill/>
        </p:spPr>
        <p:txBody>
          <a:bodyPr wrap="square" lIns="0" rIns="0" tIns="0" bIns="0" anchor="t">
            <a:spAutoFit/>
          </a:bodyPr>
          <a:lstStyle/>
          <a:p>
            <a:pPr algn="l"/>
            <a:r>
              <a:rPr sz="1000" b="0" i="0">
                <a:solidFill>
                  <a:srgbClr val="4A5568"/>
                </a:solidFill>
                <a:latin typeface="Calibri"/>
              </a:rPr>
              <a:t>Vốn điều lệ</a:t>
            </a:r>
          </a:p>
        </p:txBody>
      </p:sp>
      <p:sp>
        <p:nvSpPr>
          <p:cNvPr id="13" name="TextBox 12"/>
          <p:cNvSpPr txBox="1"/>
          <p:nvPr/>
        </p:nvSpPr>
        <p:spPr>
          <a:xfrm>
            <a:off x="3786530" y="2459735"/>
            <a:ext cx="1928469" cy="292608"/>
          </a:xfrm>
          <a:prstGeom prst="rect">
            <a:avLst/>
          </a:prstGeom>
          <a:noFill/>
        </p:spPr>
        <p:txBody>
          <a:bodyPr wrap="square" lIns="0" rIns="0" tIns="0" bIns="0" anchor="t">
            <a:spAutoFit/>
          </a:bodyPr>
          <a:lstStyle/>
          <a:p>
            <a:pPr algn="r"/>
            <a:r>
              <a:rPr sz="1000" b="1" i="0">
                <a:solidFill>
                  <a:srgbClr val="003D7A"/>
                </a:solidFill>
                <a:latin typeface="Calibri"/>
              </a:rPr>
              <a:t>{{INFO_3}}</a:t>
            </a:r>
          </a:p>
        </p:txBody>
      </p:sp>
      <p:sp>
        <p:nvSpPr>
          <p:cNvPr id="14" name="TextBox 13"/>
          <p:cNvSpPr txBox="1"/>
          <p:nvPr/>
        </p:nvSpPr>
        <p:spPr>
          <a:xfrm>
            <a:off x="640080" y="2752343"/>
            <a:ext cx="3146450" cy="292608"/>
          </a:xfrm>
          <a:prstGeom prst="rect">
            <a:avLst/>
          </a:prstGeom>
          <a:noFill/>
        </p:spPr>
        <p:txBody>
          <a:bodyPr wrap="square" lIns="0" rIns="0" tIns="0" bIns="0" anchor="t">
            <a:spAutoFit/>
          </a:bodyPr>
          <a:lstStyle/>
          <a:p>
            <a:pPr algn="l"/>
            <a:r>
              <a:rPr sz="1000" b="0" i="0">
                <a:solidFill>
                  <a:srgbClr val="4A5568"/>
                </a:solidFill>
                <a:latin typeface="Calibri"/>
              </a:rPr>
              <a:t>Số cổ phiếu lưu hành</a:t>
            </a:r>
          </a:p>
        </p:txBody>
      </p:sp>
      <p:sp>
        <p:nvSpPr>
          <p:cNvPr id="15" name="TextBox 14"/>
          <p:cNvSpPr txBox="1"/>
          <p:nvPr/>
        </p:nvSpPr>
        <p:spPr>
          <a:xfrm>
            <a:off x="3786530" y="2752343"/>
            <a:ext cx="1928469" cy="292608"/>
          </a:xfrm>
          <a:prstGeom prst="rect">
            <a:avLst/>
          </a:prstGeom>
          <a:noFill/>
        </p:spPr>
        <p:txBody>
          <a:bodyPr wrap="square" lIns="0" rIns="0" tIns="0" bIns="0" anchor="t">
            <a:spAutoFit/>
          </a:bodyPr>
          <a:lstStyle/>
          <a:p>
            <a:pPr algn="r"/>
            <a:r>
              <a:rPr sz="1000" b="1" i="0">
                <a:solidFill>
                  <a:srgbClr val="003D7A"/>
                </a:solidFill>
                <a:latin typeface="Calibri"/>
              </a:rPr>
              <a:t>{{INFO_4}}</a:t>
            </a:r>
          </a:p>
        </p:txBody>
      </p:sp>
      <p:sp>
        <p:nvSpPr>
          <p:cNvPr id="16" name="TextBox 15"/>
          <p:cNvSpPr txBox="1"/>
          <p:nvPr/>
        </p:nvSpPr>
        <p:spPr>
          <a:xfrm>
            <a:off x="640080" y="3044951"/>
            <a:ext cx="3146450" cy="292608"/>
          </a:xfrm>
          <a:prstGeom prst="rect">
            <a:avLst/>
          </a:prstGeom>
          <a:noFill/>
        </p:spPr>
        <p:txBody>
          <a:bodyPr wrap="square" lIns="0" rIns="0" tIns="0" bIns="0" anchor="t">
            <a:spAutoFit/>
          </a:bodyPr>
          <a:lstStyle/>
          <a:p>
            <a:pPr algn="l"/>
            <a:r>
              <a:rPr sz="1000" b="0" i="0">
                <a:solidFill>
                  <a:srgbClr val="4A5568"/>
                </a:solidFill>
                <a:latin typeface="Calibri"/>
              </a:rPr>
              <a:t>Vốn hoá thị trường</a:t>
            </a:r>
          </a:p>
        </p:txBody>
      </p:sp>
      <p:sp>
        <p:nvSpPr>
          <p:cNvPr id="17" name="TextBox 16"/>
          <p:cNvSpPr txBox="1"/>
          <p:nvPr/>
        </p:nvSpPr>
        <p:spPr>
          <a:xfrm>
            <a:off x="3786530" y="3044951"/>
            <a:ext cx="1928469" cy="292608"/>
          </a:xfrm>
          <a:prstGeom prst="rect">
            <a:avLst/>
          </a:prstGeom>
          <a:noFill/>
        </p:spPr>
        <p:txBody>
          <a:bodyPr wrap="square" lIns="0" rIns="0" tIns="0" bIns="0" anchor="t">
            <a:spAutoFit/>
          </a:bodyPr>
          <a:lstStyle/>
          <a:p>
            <a:pPr algn="r"/>
            <a:r>
              <a:rPr sz="1000" b="1" i="0">
                <a:solidFill>
                  <a:srgbClr val="003D7A"/>
                </a:solidFill>
                <a:latin typeface="Calibri"/>
              </a:rPr>
              <a:t>{{INFO_5}}</a:t>
            </a:r>
          </a:p>
        </p:txBody>
      </p:sp>
      <p:sp>
        <p:nvSpPr>
          <p:cNvPr id="18" name="TextBox 17"/>
          <p:cNvSpPr txBox="1"/>
          <p:nvPr/>
        </p:nvSpPr>
        <p:spPr>
          <a:xfrm>
            <a:off x="640080" y="3337559"/>
            <a:ext cx="3146450" cy="292608"/>
          </a:xfrm>
          <a:prstGeom prst="rect">
            <a:avLst/>
          </a:prstGeom>
          <a:noFill/>
        </p:spPr>
        <p:txBody>
          <a:bodyPr wrap="square" lIns="0" rIns="0" tIns="0" bIns="0" anchor="t">
            <a:spAutoFit/>
          </a:bodyPr>
          <a:lstStyle/>
          <a:p>
            <a:pPr algn="l"/>
            <a:r>
              <a:rPr sz="1000" b="0" i="0">
                <a:solidFill>
                  <a:srgbClr val="4A5568"/>
                </a:solidFill>
                <a:latin typeface="Calibri"/>
              </a:rPr>
              <a:t>Tỷ lệ tự do chuyển nhượng</a:t>
            </a:r>
          </a:p>
        </p:txBody>
      </p:sp>
      <p:sp>
        <p:nvSpPr>
          <p:cNvPr id="19" name="TextBox 18"/>
          <p:cNvSpPr txBox="1"/>
          <p:nvPr/>
        </p:nvSpPr>
        <p:spPr>
          <a:xfrm>
            <a:off x="3786530" y="3337559"/>
            <a:ext cx="1928469" cy="292608"/>
          </a:xfrm>
          <a:prstGeom prst="rect">
            <a:avLst/>
          </a:prstGeom>
          <a:noFill/>
        </p:spPr>
        <p:txBody>
          <a:bodyPr wrap="square" lIns="0" rIns="0" tIns="0" bIns="0" anchor="t">
            <a:spAutoFit/>
          </a:bodyPr>
          <a:lstStyle/>
          <a:p>
            <a:pPr algn="r"/>
            <a:r>
              <a:rPr sz="1000" b="1" i="0">
                <a:solidFill>
                  <a:srgbClr val="003D7A"/>
                </a:solidFill>
                <a:latin typeface="Calibri"/>
              </a:rPr>
              <a:t>{{INFO_6}}</a:t>
            </a:r>
          </a:p>
        </p:txBody>
      </p:sp>
      <p:sp>
        <p:nvSpPr>
          <p:cNvPr id="20" name="TextBox 19"/>
          <p:cNvSpPr txBox="1"/>
          <p:nvPr/>
        </p:nvSpPr>
        <p:spPr>
          <a:xfrm>
            <a:off x="640080" y="3630167"/>
            <a:ext cx="3146450" cy="292608"/>
          </a:xfrm>
          <a:prstGeom prst="rect">
            <a:avLst/>
          </a:prstGeom>
          <a:noFill/>
        </p:spPr>
        <p:txBody>
          <a:bodyPr wrap="square" lIns="0" rIns="0" tIns="0" bIns="0" anchor="t">
            <a:spAutoFit/>
          </a:bodyPr>
          <a:lstStyle/>
          <a:p>
            <a:pPr algn="l"/>
            <a:r>
              <a:rPr sz="1000" b="0" i="0">
                <a:solidFill>
                  <a:srgbClr val="4A5568"/>
                </a:solidFill>
                <a:latin typeface="Calibri"/>
              </a:rPr>
              <a:t>Cổ đông lớn nhất</a:t>
            </a:r>
          </a:p>
        </p:txBody>
      </p:sp>
      <p:sp>
        <p:nvSpPr>
          <p:cNvPr id="21" name="TextBox 20"/>
          <p:cNvSpPr txBox="1"/>
          <p:nvPr/>
        </p:nvSpPr>
        <p:spPr>
          <a:xfrm>
            <a:off x="3786530" y="3630167"/>
            <a:ext cx="1928469" cy="292608"/>
          </a:xfrm>
          <a:prstGeom prst="rect">
            <a:avLst/>
          </a:prstGeom>
          <a:noFill/>
        </p:spPr>
        <p:txBody>
          <a:bodyPr wrap="square" lIns="0" rIns="0" tIns="0" bIns="0" anchor="t">
            <a:spAutoFit/>
          </a:bodyPr>
          <a:lstStyle/>
          <a:p>
            <a:pPr algn="r"/>
            <a:r>
              <a:rPr sz="1000" b="1" i="0">
                <a:solidFill>
                  <a:srgbClr val="003D7A"/>
                </a:solidFill>
                <a:latin typeface="Calibri"/>
              </a:rPr>
              <a:t>{{INFO_7}}</a:t>
            </a:r>
          </a:p>
        </p:txBody>
      </p:sp>
      <p:sp>
        <p:nvSpPr>
          <p:cNvPr id="22" name="TextBox 21"/>
          <p:cNvSpPr txBox="1"/>
          <p:nvPr/>
        </p:nvSpPr>
        <p:spPr>
          <a:xfrm>
            <a:off x="640080" y="3922775"/>
            <a:ext cx="3146450" cy="292608"/>
          </a:xfrm>
          <a:prstGeom prst="rect">
            <a:avLst/>
          </a:prstGeom>
          <a:noFill/>
        </p:spPr>
        <p:txBody>
          <a:bodyPr wrap="square" lIns="0" rIns="0" tIns="0" bIns="0" anchor="t">
            <a:spAutoFit/>
          </a:bodyPr>
          <a:lstStyle/>
          <a:p>
            <a:pPr algn="l"/>
            <a:r>
              <a:rPr sz="1000" b="0" i="0">
                <a:solidFill>
                  <a:srgbClr val="4A5568"/>
                </a:solidFill>
                <a:latin typeface="Calibri"/>
              </a:rPr>
              <a:t>Tỷ lệ sở hữu nước ngoài</a:t>
            </a:r>
          </a:p>
        </p:txBody>
      </p:sp>
      <p:sp>
        <p:nvSpPr>
          <p:cNvPr id="23" name="TextBox 22"/>
          <p:cNvSpPr txBox="1"/>
          <p:nvPr/>
        </p:nvSpPr>
        <p:spPr>
          <a:xfrm>
            <a:off x="3786530" y="3922775"/>
            <a:ext cx="1928469" cy="292608"/>
          </a:xfrm>
          <a:prstGeom prst="rect">
            <a:avLst/>
          </a:prstGeom>
          <a:noFill/>
        </p:spPr>
        <p:txBody>
          <a:bodyPr wrap="square" lIns="0" rIns="0" tIns="0" bIns="0" anchor="t">
            <a:spAutoFit/>
          </a:bodyPr>
          <a:lstStyle/>
          <a:p>
            <a:pPr algn="r"/>
            <a:r>
              <a:rPr sz="1000" b="1" i="0">
                <a:solidFill>
                  <a:srgbClr val="003D7A"/>
                </a:solidFill>
                <a:latin typeface="Calibri"/>
              </a:rPr>
              <a:t>{{INFO_8}}</a:t>
            </a:r>
          </a:p>
        </p:txBody>
      </p:sp>
      <p:sp>
        <p:nvSpPr>
          <p:cNvPr id="24" name="TextBox 23"/>
          <p:cNvSpPr txBox="1"/>
          <p:nvPr/>
        </p:nvSpPr>
        <p:spPr>
          <a:xfrm>
            <a:off x="640080" y="4215383"/>
            <a:ext cx="3146450" cy="292608"/>
          </a:xfrm>
          <a:prstGeom prst="rect">
            <a:avLst/>
          </a:prstGeom>
          <a:noFill/>
        </p:spPr>
        <p:txBody>
          <a:bodyPr wrap="square" lIns="0" rIns="0" tIns="0" bIns="0" anchor="t">
            <a:spAutoFit/>
          </a:bodyPr>
          <a:lstStyle/>
          <a:p>
            <a:pPr algn="l"/>
            <a:r>
              <a:rPr sz="1000" b="0" i="0">
                <a:solidFill>
                  <a:srgbClr val="4A5568"/>
                </a:solidFill>
                <a:latin typeface="Calibri"/>
              </a:rPr>
              <a:t>Ngành</a:t>
            </a:r>
          </a:p>
        </p:txBody>
      </p:sp>
      <p:sp>
        <p:nvSpPr>
          <p:cNvPr id="25" name="TextBox 24"/>
          <p:cNvSpPr txBox="1"/>
          <p:nvPr/>
        </p:nvSpPr>
        <p:spPr>
          <a:xfrm>
            <a:off x="3786530" y="4215383"/>
            <a:ext cx="1928469" cy="292608"/>
          </a:xfrm>
          <a:prstGeom prst="rect">
            <a:avLst/>
          </a:prstGeom>
          <a:noFill/>
        </p:spPr>
        <p:txBody>
          <a:bodyPr wrap="square" lIns="0" rIns="0" tIns="0" bIns="0" anchor="t">
            <a:spAutoFit/>
          </a:bodyPr>
          <a:lstStyle/>
          <a:p>
            <a:pPr algn="r"/>
            <a:r>
              <a:rPr sz="1000" b="1" i="0">
                <a:solidFill>
                  <a:srgbClr val="003D7A"/>
                </a:solidFill>
                <a:latin typeface="Calibri"/>
              </a:rPr>
              <a:t>{{INFO_9}}</a:t>
            </a:r>
          </a:p>
        </p:txBody>
      </p:sp>
      <p:sp>
        <p:nvSpPr>
          <p:cNvPr id="26" name="TextBox 25"/>
          <p:cNvSpPr txBox="1"/>
          <p:nvPr/>
        </p:nvSpPr>
        <p:spPr>
          <a:xfrm>
            <a:off x="6126480" y="1371600"/>
            <a:ext cx="5577840" cy="274320"/>
          </a:xfrm>
          <a:prstGeom prst="rect">
            <a:avLst/>
          </a:prstGeom>
          <a:noFill/>
        </p:spPr>
        <p:txBody>
          <a:bodyPr wrap="square" lIns="0" rIns="0" tIns="0" bIns="0" anchor="t">
            <a:spAutoFit/>
          </a:bodyPr>
          <a:lstStyle/>
          <a:p>
            <a:pPr algn="l"/>
            <a:r>
              <a:rPr sz="1000" b="1" i="0">
                <a:solidFill>
                  <a:srgbClr val="003D7A"/>
                </a:solidFill>
                <a:latin typeface="Calibri"/>
              </a:rPr>
              <a:t>CƠ CẤU KINH DOANH &amp; TÀI SẢN CỐT LÕI</a:t>
            </a:r>
          </a:p>
        </p:txBody>
      </p:sp>
      <p:sp>
        <p:nvSpPr>
          <p:cNvPr id="27" name="Rectangle 26"/>
          <p:cNvSpPr/>
          <p:nvPr/>
        </p:nvSpPr>
        <p:spPr>
          <a:xfrm>
            <a:off x="6126480" y="1737360"/>
            <a:ext cx="5577840" cy="86868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26480" y="1737360"/>
            <a:ext cx="73152" cy="86868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09360" y="1874519"/>
            <a:ext cx="5303520" cy="365760"/>
          </a:xfrm>
          <a:prstGeom prst="rect">
            <a:avLst/>
          </a:prstGeom>
          <a:noFill/>
        </p:spPr>
        <p:txBody>
          <a:bodyPr wrap="square" lIns="0" rIns="0" tIns="0" bIns="0" anchor="t">
            <a:spAutoFit/>
          </a:bodyPr>
          <a:lstStyle/>
          <a:p>
            <a:pPr algn="l"/>
            <a:r>
              <a:rPr sz="1300" b="1" i="0">
                <a:solidFill>
                  <a:srgbClr val="003D7A"/>
                </a:solidFill>
                <a:latin typeface="Calibri"/>
              </a:rPr>
              <a:t>{{SEGMENT_1_TITLE}}</a:t>
            </a:r>
          </a:p>
        </p:txBody>
      </p:sp>
      <p:sp>
        <p:nvSpPr>
          <p:cNvPr id="30" name="TextBox 29"/>
          <p:cNvSpPr txBox="1"/>
          <p:nvPr/>
        </p:nvSpPr>
        <p:spPr>
          <a:xfrm>
            <a:off x="6309360" y="2240279"/>
            <a:ext cx="5303520" cy="228599"/>
          </a:xfrm>
          <a:prstGeom prst="rect">
            <a:avLst/>
          </a:prstGeom>
          <a:noFill/>
        </p:spPr>
        <p:txBody>
          <a:bodyPr wrap="square" lIns="0" rIns="0" tIns="0" bIns="0" anchor="t">
            <a:spAutoFit/>
          </a:bodyPr>
          <a:lstStyle/>
          <a:p>
            <a:pPr algn="l"/>
            <a:r>
              <a:rPr sz="1050" b="0" i="0">
                <a:solidFill>
                  <a:srgbClr val="1F2937"/>
                </a:solidFill>
                <a:latin typeface="Calibri"/>
              </a:rPr>
              <a:t>{{SEGMENT_1_BODY}}</a:t>
            </a:r>
          </a:p>
        </p:txBody>
      </p:sp>
      <p:sp>
        <p:nvSpPr>
          <p:cNvPr id="31" name="Rectangle 30"/>
          <p:cNvSpPr/>
          <p:nvPr/>
        </p:nvSpPr>
        <p:spPr>
          <a:xfrm>
            <a:off x="6126480" y="2651760"/>
            <a:ext cx="5577840" cy="86868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26480" y="2651760"/>
            <a:ext cx="73152" cy="86868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09360" y="2788920"/>
            <a:ext cx="5303520" cy="365760"/>
          </a:xfrm>
          <a:prstGeom prst="rect">
            <a:avLst/>
          </a:prstGeom>
          <a:noFill/>
        </p:spPr>
        <p:txBody>
          <a:bodyPr wrap="square" lIns="0" rIns="0" tIns="0" bIns="0" anchor="t">
            <a:spAutoFit/>
          </a:bodyPr>
          <a:lstStyle/>
          <a:p>
            <a:pPr algn="l"/>
            <a:r>
              <a:rPr sz="1300" b="1" i="0">
                <a:solidFill>
                  <a:srgbClr val="003D7A"/>
                </a:solidFill>
                <a:latin typeface="Calibri"/>
              </a:rPr>
              <a:t>{{SEGMENT_2_TITLE}}</a:t>
            </a:r>
          </a:p>
        </p:txBody>
      </p:sp>
      <p:sp>
        <p:nvSpPr>
          <p:cNvPr id="34" name="TextBox 33"/>
          <p:cNvSpPr txBox="1"/>
          <p:nvPr/>
        </p:nvSpPr>
        <p:spPr>
          <a:xfrm>
            <a:off x="6309360" y="3154679"/>
            <a:ext cx="5303520" cy="228599"/>
          </a:xfrm>
          <a:prstGeom prst="rect">
            <a:avLst/>
          </a:prstGeom>
          <a:noFill/>
        </p:spPr>
        <p:txBody>
          <a:bodyPr wrap="square" lIns="0" rIns="0" tIns="0" bIns="0" anchor="t">
            <a:spAutoFit/>
          </a:bodyPr>
          <a:lstStyle/>
          <a:p>
            <a:pPr algn="l"/>
            <a:r>
              <a:rPr sz="1050" b="0" i="0">
                <a:solidFill>
                  <a:srgbClr val="1F2937"/>
                </a:solidFill>
                <a:latin typeface="Calibri"/>
              </a:rPr>
              <a:t>{{SEGMENT_2_BODY}}</a:t>
            </a:r>
          </a:p>
        </p:txBody>
      </p:sp>
      <p:sp>
        <p:nvSpPr>
          <p:cNvPr id="35" name="Rectangle 34"/>
          <p:cNvSpPr/>
          <p:nvPr/>
        </p:nvSpPr>
        <p:spPr>
          <a:xfrm>
            <a:off x="6126480" y="3566160"/>
            <a:ext cx="5577840" cy="86868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126480" y="3566160"/>
            <a:ext cx="73152" cy="86868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09360" y="3703320"/>
            <a:ext cx="5303520" cy="365760"/>
          </a:xfrm>
          <a:prstGeom prst="rect">
            <a:avLst/>
          </a:prstGeom>
          <a:noFill/>
        </p:spPr>
        <p:txBody>
          <a:bodyPr wrap="square" lIns="0" rIns="0" tIns="0" bIns="0" anchor="t">
            <a:spAutoFit/>
          </a:bodyPr>
          <a:lstStyle/>
          <a:p>
            <a:pPr algn="l"/>
            <a:r>
              <a:rPr sz="1300" b="1" i="0">
                <a:solidFill>
                  <a:srgbClr val="003D7A"/>
                </a:solidFill>
                <a:latin typeface="Calibri"/>
              </a:rPr>
              <a:t>{{SEGMENT_3_TITLE}}</a:t>
            </a:r>
          </a:p>
        </p:txBody>
      </p:sp>
      <p:sp>
        <p:nvSpPr>
          <p:cNvPr id="38" name="TextBox 37"/>
          <p:cNvSpPr txBox="1"/>
          <p:nvPr/>
        </p:nvSpPr>
        <p:spPr>
          <a:xfrm>
            <a:off x="6309360" y="4069080"/>
            <a:ext cx="5303520" cy="228599"/>
          </a:xfrm>
          <a:prstGeom prst="rect">
            <a:avLst/>
          </a:prstGeom>
          <a:noFill/>
        </p:spPr>
        <p:txBody>
          <a:bodyPr wrap="square" lIns="0" rIns="0" tIns="0" bIns="0" anchor="t">
            <a:spAutoFit/>
          </a:bodyPr>
          <a:lstStyle/>
          <a:p>
            <a:pPr algn="l"/>
            <a:r>
              <a:rPr sz="1050" b="0" i="0">
                <a:solidFill>
                  <a:srgbClr val="1F2937"/>
                </a:solidFill>
                <a:latin typeface="Calibri"/>
              </a:rPr>
              <a:t>{{SEGMENT_3_BODY}}</a:t>
            </a:r>
          </a:p>
        </p:txBody>
      </p:sp>
      <p:sp>
        <p:nvSpPr>
          <p:cNvPr id="39" name="Rectangle 38"/>
          <p:cNvSpPr/>
          <p:nvPr/>
        </p:nvSpPr>
        <p:spPr>
          <a:xfrm>
            <a:off x="6126480" y="4480560"/>
            <a:ext cx="5577840" cy="86868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126480" y="4480560"/>
            <a:ext cx="73152" cy="86868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09360" y="4617720"/>
            <a:ext cx="5303520" cy="365760"/>
          </a:xfrm>
          <a:prstGeom prst="rect">
            <a:avLst/>
          </a:prstGeom>
          <a:noFill/>
        </p:spPr>
        <p:txBody>
          <a:bodyPr wrap="square" lIns="0" rIns="0" tIns="0" bIns="0" anchor="t">
            <a:spAutoFit/>
          </a:bodyPr>
          <a:lstStyle/>
          <a:p>
            <a:pPr algn="l"/>
            <a:r>
              <a:rPr sz="1300" b="1" i="0">
                <a:solidFill>
                  <a:srgbClr val="003D7A"/>
                </a:solidFill>
                <a:latin typeface="Calibri"/>
              </a:rPr>
              <a:t>{{SEGMENT_4_TITLE}}</a:t>
            </a:r>
          </a:p>
        </p:txBody>
      </p:sp>
      <p:sp>
        <p:nvSpPr>
          <p:cNvPr id="42" name="TextBox 41"/>
          <p:cNvSpPr txBox="1"/>
          <p:nvPr/>
        </p:nvSpPr>
        <p:spPr>
          <a:xfrm>
            <a:off x="6309360" y="4983480"/>
            <a:ext cx="5303520" cy="228599"/>
          </a:xfrm>
          <a:prstGeom prst="rect">
            <a:avLst/>
          </a:prstGeom>
          <a:noFill/>
        </p:spPr>
        <p:txBody>
          <a:bodyPr wrap="square" lIns="0" rIns="0" tIns="0" bIns="0" anchor="t">
            <a:spAutoFit/>
          </a:bodyPr>
          <a:lstStyle/>
          <a:p>
            <a:pPr algn="l"/>
            <a:r>
              <a:rPr sz="1050" b="0" i="0">
                <a:solidFill>
                  <a:srgbClr val="1F2937"/>
                </a:solidFill>
                <a:latin typeface="Calibri"/>
              </a:rPr>
              <a:t>{{SEGMENT_4_BODY}}</a:t>
            </a:r>
          </a:p>
        </p:txBody>
      </p:sp>
      <p:sp>
        <p:nvSpPr>
          <p:cNvPr id="43" name="Rectangle 42"/>
          <p:cNvSpPr/>
          <p:nvPr/>
        </p:nvSpPr>
        <p:spPr>
          <a:xfrm>
            <a:off x="6126480" y="5394960"/>
            <a:ext cx="5577840" cy="86868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26480" y="5394960"/>
            <a:ext cx="73152" cy="86868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09360" y="5532120"/>
            <a:ext cx="5303520" cy="365760"/>
          </a:xfrm>
          <a:prstGeom prst="rect">
            <a:avLst/>
          </a:prstGeom>
          <a:noFill/>
        </p:spPr>
        <p:txBody>
          <a:bodyPr wrap="square" lIns="0" rIns="0" tIns="0" bIns="0" anchor="t">
            <a:spAutoFit/>
          </a:bodyPr>
          <a:lstStyle/>
          <a:p>
            <a:pPr algn="l"/>
            <a:r>
              <a:rPr sz="1300" b="1" i="0">
                <a:solidFill>
                  <a:srgbClr val="003D7A"/>
                </a:solidFill>
                <a:latin typeface="Calibri"/>
              </a:rPr>
              <a:t>{{SEGMENT_5_TITLE}}</a:t>
            </a:r>
          </a:p>
        </p:txBody>
      </p:sp>
      <p:sp>
        <p:nvSpPr>
          <p:cNvPr id="46" name="TextBox 45"/>
          <p:cNvSpPr txBox="1"/>
          <p:nvPr/>
        </p:nvSpPr>
        <p:spPr>
          <a:xfrm>
            <a:off x="6309360" y="5897880"/>
            <a:ext cx="5303520" cy="228599"/>
          </a:xfrm>
          <a:prstGeom prst="rect">
            <a:avLst/>
          </a:prstGeom>
          <a:noFill/>
        </p:spPr>
        <p:txBody>
          <a:bodyPr wrap="square" lIns="0" rIns="0" tIns="0" bIns="0" anchor="t">
            <a:spAutoFit/>
          </a:bodyPr>
          <a:lstStyle/>
          <a:p>
            <a:pPr algn="l"/>
            <a:r>
              <a:rPr sz="1050" b="0" i="0">
                <a:solidFill>
                  <a:srgbClr val="1F2937"/>
                </a:solidFill>
                <a:latin typeface="Calibri"/>
              </a:rPr>
              <a:t>{{SEGMENT_5_BODY}}</a:t>
            </a:r>
          </a:p>
        </p:txBody>
      </p:sp>
      <p:sp>
        <p:nvSpPr>
          <p:cNvPr id="47" name="TextBox 46"/>
          <p:cNvSpPr txBox="1"/>
          <p:nvPr/>
        </p:nvSpPr>
        <p:spPr>
          <a:xfrm>
            <a:off x="457200" y="6537960"/>
            <a:ext cx="9144000" cy="274320"/>
          </a:xfrm>
          <a:prstGeom prst="rect">
            <a:avLst/>
          </a:prstGeom>
          <a:noFill/>
        </p:spPr>
        <p:txBody>
          <a:bodyPr wrap="square" lIns="0" rIns="0" tIns="0" bIns="0" anchor="t">
            <a:spAutoFit/>
          </a:bodyPr>
          <a:lstStyle/>
          <a:p>
            <a:pPr algn="l"/>
            <a:r>
              <a:rPr sz="900" b="0" i="0">
                <a:solidFill>
                  <a:srgbClr val="9CA3AF"/>
                </a:solidFill>
                <a:latin typeface="Calibri"/>
              </a:rPr>
              <a:t>{{FOOTER_LEFT}}</a:t>
            </a:r>
          </a:p>
        </p:txBody>
      </p:sp>
      <p:sp>
        <p:nvSpPr>
          <p:cNvPr id="48" name="TextBox 47"/>
          <p:cNvSpPr txBox="1"/>
          <p:nvPr/>
        </p:nvSpPr>
        <p:spPr>
          <a:xfrm>
            <a:off x="11247120" y="6537960"/>
            <a:ext cx="457200" cy="274320"/>
          </a:xfrm>
          <a:prstGeom prst="rect">
            <a:avLst/>
          </a:prstGeom>
          <a:noFill/>
        </p:spPr>
        <p:txBody>
          <a:bodyPr wrap="square" lIns="0" rIns="0" tIns="0" bIns="0" anchor="t">
            <a:spAutoFit/>
          </a:bodyPr>
          <a:lstStyle/>
          <a:p>
            <a:pPr algn="r"/>
            <a:r>
              <a:rPr sz="900" b="1" i="0">
                <a:solidFill>
                  <a:srgbClr val="003D7A"/>
                </a:solidFill>
                <a:latin typeface="Calibri"/>
              </a:rPr>
              <a:t>{{PAGE_NUM}}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COMPARISON_3CELL_SCENARIOS">
    <p:spTree>
      <p:nvGrpSpPr>
        <p:cNvPr id="1" name=""/>
        <p:cNvGrpSpPr/>
        <p:nvPr/>
      </p:nvGrpSpPr>
      <p:grpSpPr/>
      <p:sp>
        <p:nvSpPr>
          <p:cNvPr id="2" name="Rectangle 1"/>
          <p:cNvSpPr/>
          <p:nvPr/>
        </p:nvSpPr>
        <p:spPr>
          <a:xfrm>
            <a:off x="457200" y="411480"/>
            <a:ext cx="73152" cy="64008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1064240" cy="502920"/>
          </a:xfrm>
          <a:prstGeom prst="rect">
            <a:avLst/>
          </a:prstGeom>
          <a:noFill/>
        </p:spPr>
        <p:txBody>
          <a:bodyPr wrap="square" lIns="0" rIns="0" tIns="0" bIns="0" anchor="ctr">
            <a:spAutoFit/>
          </a:bodyPr>
          <a:lstStyle/>
          <a:p>
            <a:pPr algn="l"/>
            <a:r>
              <a:rPr sz="2600" b="1" i="0">
                <a:solidFill>
                  <a:srgbClr val="003D7A"/>
                </a:solidFill>
                <a:latin typeface="Calibri"/>
              </a:rPr>
              <a:t>{{SECTION_TITLE}}</a:t>
            </a:r>
          </a:p>
        </p:txBody>
      </p:sp>
      <p:sp>
        <p:nvSpPr>
          <p:cNvPr id="4" name="TextBox 3"/>
          <p:cNvSpPr txBox="1"/>
          <p:nvPr/>
        </p:nvSpPr>
        <p:spPr>
          <a:xfrm>
            <a:off x="640080" y="868680"/>
            <a:ext cx="11064240" cy="274320"/>
          </a:xfrm>
          <a:prstGeom prst="rect">
            <a:avLst/>
          </a:prstGeom>
          <a:noFill/>
        </p:spPr>
        <p:txBody>
          <a:bodyPr wrap="square" lIns="0" rIns="0" tIns="0" bIns="0" anchor="t">
            <a:spAutoFit/>
          </a:bodyPr>
          <a:lstStyle/>
          <a:p>
            <a:pPr algn="l"/>
            <a:r>
              <a:rPr sz="1200" b="0" i="1">
                <a:solidFill>
                  <a:srgbClr val="4A5568"/>
                </a:solidFill>
                <a:latin typeface="Calibri"/>
              </a:rPr>
              <a:t>{{SECTION_SUB}}</a:t>
            </a:r>
          </a:p>
        </p:txBody>
      </p:sp>
      <p:sp>
        <p:nvSpPr>
          <p:cNvPr id="5" name="Rectangle 4"/>
          <p:cNvSpPr/>
          <p:nvPr/>
        </p:nvSpPr>
        <p:spPr>
          <a:xfrm>
            <a:off x="457200" y="1371600"/>
            <a:ext cx="11247120" cy="100584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508760"/>
            <a:ext cx="10881360" cy="274320"/>
          </a:xfrm>
          <a:prstGeom prst="rect">
            <a:avLst/>
          </a:prstGeom>
          <a:noFill/>
        </p:spPr>
        <p:txBody>
          <a:bodyPr wrap="square" lIns="0" rIns="0" tIns="0" bIns="0" anchor="t">
            <a:spAutoFit/>
          </a:bodyPr>
          <a:lstStyle/>
          <a:p>
            <a:pPr algn="l"/>
            <a:r>
              <a:rPr sz="900" b="1" i="0">
                <a:solidFill>
                  <a:srgbClr val="D71249"/>
                </a:solidFill>
                <a:latin typeface="Calibri"/>
              </a:rPr>
              <a:t>HÀNH ĐỘNG ĐỀ XUẤT</a:t>
            </a:r>
          </a:p>
        </p:txBody>
      </p:sp>
      <p:sp>
        <p:nvSpPr>
          <p:cNvPr id="7" name="Rectangle 6"/>
          <p:cNvSpPr/>
          <p:nvPr/>
        </p:nvSpPr>
        <p:spPr>
          <a:xfrm>
            <a:off x="731520" y="1783080"/>
            <a:ext cx="2286000" cy="10972"/>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10881360" cy="502920"/>
          </a:xfrm>
          <a:prstGeom prst="rect">
            <a:avLst/>
          </a:prstGeom>
          <a:noFill/>
        </p:spPr>
        <p:txBody>
          <a:bodyPr wrap="square" lIns="0" rIns="0" tIns="0" bIns="0" anchor="t">
            <a:spAutoFit/>
          </a:bodyPr>
          <a:lstStyle/>
          <a:p>
            <a:pPr algn="l"/>
            <a:r>
              <a:rPr sz="1100" b="0" i="0">
                <a:solidFill>
                  <a:srgbClr val="FFFFFF"/>
                </a:solidFill>
                <a:latin typeface="Calibri"/>
              </a:rPr>
              <a:t>{{ACTION_RECOMMENDED}}</a:t>
            </a:r>
          </a:p>
        </p:txBody>
      </p:sp>
      <p:sp>
        <p:nvSpPr>
          <p:cNvPr id="9" name="Rectangle 8"/>
          <p:cNvSpPr/>
          <p:nvPr/>
        </p:nvSpPr>
        <p:spPr>
          <a:xfrm>
            <a:off x="457200" y="2560320"/>
            <a:ext cx="3657600" cy="3657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560320"/>
            <a:ext cx="3657600" cy="59436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633472"/>
            <a:ext cx="3383280" cy="228600"/>
          </a:xfrm>
          <a:prstGeom prst="rect">
            <a:avLst/>
          </a:prstGeom>
          <a:noFill/>
        </p:spPr>
        <p:txBody>
          <a:bodyPr wrap="square" lIns="0" rIns="0" tIns="0" bIns="0" anchor="t">
            <a:spAutoFit/>
          </a:bodyPr>
          <a:lstStyle/>
          <a:p>
            <a:pPr algn="l"/>
            <a:r>
              <a:rPr sz="900" b="1" i="0">
                <a:solidFill>
                  <a:srgbClr val="FFFFFF"/>
                </a:solidFill>
                <a:latin typeface="Calibri"/>
              </a:rPr>
              <a:t>KỊCH BẢN CƠ SỞ</a:t>
            </a:r>
          </a:p>
        </p:txBody>
      </p:sp>
      <p:sp>
        <p:nvSpPr>
          <p:cNvPr id="12" name="Rectangle 11"/>
          <p:cNvSpPr/>
          <p:nvPr/>
        </p:nvSpPr>
        <p:spPr>
          <a:xfrm>
            <a:off x="594360" y="2871216"/>
            <a:ext cx="1828800" cy="109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889504"/>
            <a:ext cx="3383280" cy="228600"/>
          </a:xfrm>
          <a:prstGeom prst="rect">
            <a:avLst/>
          </a:prstGeom>
          <a:noFill/>
        </p:spPr>
        <p:txBody>
          <a:bodyPr wrap="square" lIns="0" rIns="0" tIns="0" bIns="0" anchor="t">
            <a:spAutoFit/>
          </a:bodyPr>
          <a:lstStyle/>
          <a:p>
            <a:pPr algn="l"/>
            <a:r>
              <a:rPr sz="900" b="0" i="1">
                <a:solidFill>
                  <a:srgbClr val="FFFFFF"/>
                </a:solidFill>
                <a:latin typeface="Calibri"/>
              </a:rPr>
              <a:t>Khả năng cao nhất</a:t>
            </a:r>
          </a:p>
        </p:txBody>
      </p:sp>
      <p:sp>
        <p:nvSpPr>
          <p:cNvPr id="14" name="TextBox 13"/>
          <p:cNvSpPr txBox="1"/>
          <p:nvPr/>
        </p:nvSpPr>
        <p:spPr>
          <a:xfrm>
            <a:off x="640080" y="3337560"/>
            <a:ext cx="3291840" cy="182880"/>
          </a:xfrm>
          <a:prstGeom prst="rect">
            <a:avLst/>
          </a:prstGeom>
          <a:noFill/>
        </p:spPr>
        <p:txBody>
          <a:bodyPr wrap="square" lIns="0" rIns="0" tIns="0" bIns="0" anchor="t">
            <a:spAutoFit/>
          </a:bodyPr>
          <a:lstStyle/>
          <a:p>
            <a:pPr algn="l"/>
            <a:r>
              <a:rPr sz="900" b="0" i="0">
                <a:solidFill>
                  <a:srgbClr val="4A5568"/>
                </a:solidFill>
                <a:latin typeface="Calibri"/>
              </a:rPr>
              <a:t>Khung thời gian</a:t>
            </a:r>
          </a:p>
        </p:txBody>
      </p:sp>
      <p:sp>
        <p:nvSpPr>
          <p:cNvPr id="15" name="TextBox 14"/>
          <p:cNvSpPr txBox="1"/>
          <p:nvPr/>
        </p:nvSpPr>
        <p:spPr>
          <a:xfrm>
            <a:off x="640080" y="3520440"/>
            <a:ext cx="3291840" cy="274320"/>
          </a:xfrm>
          <a:prstGeom prst="rect">
            <a:avLst/>
          </a:prstGeom>
          <a:noFill/>
        </p:spPr>
        <p:txBody>
          <a:bodyPr wrap="square" lIns="0" rIns="0" tIns="0" bIns="0" anchor="t">
            <a:spAutoFit/>
          </a:bodyPr>
          <a:lstStyle/>
          <a:p>
            <a:pPr algn="l"/>
            <a:r>
              <a:rPr sz="1300" b="1" i="0">
                <a:solidFill>
                  <a:srgbClr val="003D7A"/>
                </a:solidFill>
                <a:latin typeface="Calibri"/>
              </a:rPr>
              <a:t>{{BASE_TIMEFRAME}}</a:t>
            </a:r>
          </a:p>
        </p:txBody>
      </p:sp>
      <p:sp>
        <p:nvSpPr>
          <p:cNvPr id="16" name="TextBox 15"/>
          <p:cNvSpPr txBox="1"/>
          <p:nvPr/>
        </p:nvSpPr>
        <p:spPr>
          <a:xfrm>
            <a:off x="640080" y="3840480"/>
            <a:ext cx="3291840" cy="182880"/>
          </a:xfrm>
          <a:prstGeom prst="rect">
            <a:avLst/>
          </a:prstGeom>
          <a:noFill/>
        </p:spPr>
        <p:txBody>
          <a:bodyPr wrap="square" lIns="0" rIns="0" tIns="0" bIns="0" anchor="t">
            <a:spAutoFit/>
          </a:bodyPr>
          <a:lstStyle/>
          <a:p>
            <a:pPr algn="l"/>
            <a:r>
              <a:rPr sz="900" b="0" i="0">
                <a:solidFill>
                  <a:srgbClr val="4A5568"/>
                </a:solidFill>
                <a:latin typeface="Calibri"/>
              </a:rPr>
              <a:t>Giá mục tiêu</a:t>
            </a:r>
          </a:p>
        </p:txBody>
      </p:sp>
      <p:sp>
        <p:nvSpPr>
          <p:cNvPr id="17" name="TextBox 16"/>
          <p:cNvSpPr txBox="1"/>
          <p:nvPr/>
        </p:nvSpPr>
        <p:spPr>
          <a:xfrm>
            <a:off x="640080" y="4023360"/>
            <a:ext cx="3291840" cy="274320"/>
          </a:xfrm>
          <a:prstGeom prst="rect">
            <a:avLst/>
          </a:prstGeom>
          <a:noFill/>
        </p:spPr>
        <p:txBody>
          <a:bodyPr wrap="square" lIns="0" rIns="0" tIns="0" bIns="0" anchor="t">
            <a:spAutoFit/>
          </a:bodyPr>
          <a:lstStyle/>
          <a:p>
            <a:pPr algn="l"/>
            <a:r>
              <a:rPr sz="1300" b="1" i="0">
                <a:solidFill>
                  <a:srgbClr val="003D7A"/>
                </a:solidFill>
                <a:latin typeface="Calibri"/>
              </a:rPr>
              <a:t>{{BASE_TARGET}}</a:t>
            </a:r>
          </a:p>
        </p:txBody>
      </p:sp>
      <p:sp>
        <p:nvSpPr>
          <p:cNvPr id="18" name="TextBox 17"/>
          <p:cNvSpPr txBox="1"/>
          <p:nvPr/>
        </p:nvSpPr>
        <p:spPr>
          <a:xfrm>
            <a:off x="640080" y="4343400"/>
            <a:ext cx="3291840" cy="182880"/>
          </a:xfrm>
          <a:prstGeom prst="rect">
            <a:avLst/>
          </a:prstGeom>
          <a:noFill/>
        </p:spPr>
        <p:txBody>
          <a:bodyPr wrap="square" lIns="0" rIns="0" tIns="0" bIns="0" anchor="t">
            <a:spAutoFit/>
          </a:bodyPr>
          <a:lstStyle/>
          <a:p>
            <a:pPr algn="l"/>
            <a:r>
              <a:rPr sz="900" b="0" i="0">
                <a:solidFill>
                  <a:srgbClr val="4A5568"/>
                </a:solidFill>
                <a:latin typeface="Calibri"/>
              </a:rPr>
              <a:t>Tỷ suất kỳ vọng</a:t>
            </a:r>
          </a:p>
        </p:txBody>
      </p:sp>
      <p:sp>
        <p:nvSpPr>
          <p:cNvPr id="19" name="TextBox 18"/>
          <p:cNvSpPr txBox="1"/>
          <p:nvPr/>
        </p:nvSpPr>
        <p:spPr>
          <a:xfrm>
            <a:off x="640080" y="4526280"/>
            <a:ext cx="3291840" cy="274320"/>
          </a:xfrm>
          <a:prstGeom prst="rect">
            <a:avLst/>
          </a:prstGeom>
          <a:noFill/>
        </p:spPr>
        <p:txBody>
          <a:bodyPr wrap="square" lIns="0" rIns="0" tIns="0" bIns="0" anchor="t">
            <a:spAutoFit/>
          </a:bodyPr>
          <a:lstStyle/>
          <a:p>
            <a:pPr algn="l"/>
            <a:r>
              <a:rPr sz="1300" b="1" i="0">
                <a:solidFill>
                  <a:srgbClr val="003D7A"/>
                </a:solidFill>
                <a:latin typeface="Calibri"/>
              </a:rPr>
              <a:t>{{BASE_RETURN}}</a:t>
            </a:r>
          </a:p>
        </p:txBody>
      </p:sp>
      <p:sp>
        <p:nvSpPr>
          <p:cNvPr id="20" name="TextBox 19"/>
          <p:cNvSpPr txBox="1"/>
          <p:nvPr/>
        </p:nvSpPr>
        <p:spPr>
          <a:xfrm>
            <a:off x="640080" y="4892040"/>
            <a:ext cx="3291840" cy="457200"/>
          </a:xfrm>
          <a:prstGeom prst="rect">
            <a:avLst/>
          </a:prstGeom>
          <a:noFill/>
        </p:spPr>
        <p:txBody>
          <a:bodyPr wrap="square" lIns="0" rIns="0" tIns="0" bIns="0" anchor="t">
            <a:spAutoFit/>
          </a:bodyPr>
          <a:lstStyle/>
          <a:p>
            <a:pPr algn="l"/>
            <a:r>
              <a:rPr sz="2800" b="1" i="0">
                <a:solidFill>
                  <a:srgbClr val="003D7A"/>
                </a:solidFill>
                <a:latin typeface="Calibri"/>
              </a:rPr>
              <a:t>{{BASE_BIG_PCT}}</a:t>
            </a:r>
          </a:p>
        </p:txBody>
      </p:sp>
      <p:sp>
        <p:nvSpPr>
          <p:cNvPr id="21" name="TextBox 20"/>
          <p:cNvSpPr txBox="1"/>
          <p:nvPr/>
        </p:nvSpPr>
        <p:spPr>
          <a:xfrm>
            <a:off x="640080" y="5440680"/>
            <a:ext cx="3291840" cy="914400"/>
          </a:xfrm>
          <a:prstGeom prst="rect">
            <a:avLst/>
          </a:prstGeom>
          <a:noFill/>
        </p:spPr>
        <p:txBody>
          <a:bodyPr wrap="square" lIns="0" rIns="0" tIns="0" bIns="0" anchor="t">
            <a:spAutoFit/>
          </a:bodyPr>
          <a:lstStyle/>
          <a:p>
            <a:pPr algn="l"/>
            <a:r>
              <a:rPr sz="1050" b="0" i="1">
                <a:solidFill>
                  <a:srgbClr val="1F2937"/>
                </a:solidFill>
                <a:latin typeface="Calibri"/>
              </a:rPr>
              <a:t>{{BASE_BODY}}</a:t>
            </a:r>
          </a:p>
        </p:txBody>
      </p:sp>
      <p:sp>
        <p:nvSpPr>
          <p:cNvPr id="22" name="Rectangle 21"/>
          <p:cNvSpPr/>
          <p:nvPr/>
        </p:nvSpPr>
        <p:spPr>
          <a:xfrm>
            <a:off x="4251960" y="2560320"/>
            <a:ext cx="3657600" cy="3657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51960" y="2560320"/>
            <a:ext cx="3657600" cy="59436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89120" y="2633472"/>
            <a:ext cx="3383280" cy="228600"/>
          </a:xfrm>
          <a:prstGeom prst="rect">
            <a:avLst/>
          </a:prstGeom>
          <a:noFill/>
        </p:spPr>
        <p:txBody>
          <a:bodyPr wrap="square" lIns="0" rIns="0" tIns="0" bIns="0" anchor="t">
            <a:spAutoFit/>
          </a:bodyPr>
          <a:lstStyle/>
          <a:p>
            <a:pPr algn="l"/>
            <a:r>
              <a:rPr sz="900" b="1" i="0">
                <a:solidFill>
                  <a:srgbClr val="FFFFFF"/>
                </a:solidFill>
                <a:latin typeface="Calibri"/>
              </a:rPr>
              <a:t>KỊCH BẢN TÍCH CỰC</a:t>
            </a:r>
          </a:p>
        </p:txBody>
      </p:sp>
      <p:sp>
        <p:nvSpPr>
          <p:cNvPr id="25" name="Rectangle 24"/>
          <p:cNvSpPr/>
          <p:nvPr/>
        </p:nvSpPr>
        <p:spPr>
          <a:xfrm>
            <a:off x="4389120" y="2871216"/>
            <a:ext cx="1828800" cy="109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89120" y="2889504"/>
            <a:ext cx="3383280" cy="228600"/>
          </a:xfrm>
          <a:prstGeom prst="rect">
            <a:avLst/>
          </a:prstGeom>
          <a:noFill/>
        </p:spPr>
        <p:txBody>
          <a:bodyPr wrap="square" lIns="0" rIns="0" tIns="0" bIns="0" anchor="t">
            <a:spAutoFit/>
          </a:bodyPr>
          <a:lstStyle/>
          <a:p>
            <a:pPr algn="l"/>
            <a:r>
              <a:rPr sz="900" b="0" i="1">
                <a:solidFill>
                  <a:srgbClr val="FFFFFF"/>
                </a:solidFill>
                <a:latin typeface="Calibri"/>
              </a:rPr>
              <a:t>Khả năng vừa phải</a:t>
            </a:r>
          </a:p>
        </p:txBody>
      </p:sp>
      <p:sp>
        <p:nvSpPr>
          <p:cNvPr id="27" name="TextBox 26"/>
          <p:cNvSpPr txBox="1"/>
          <p:nvPr/>
        </p:nvSpPr>
        <p:spPr>
          <a:xfrm>
            <a:off x="4434840" y="3337560"/>
            <a:ext cx="3291840" cy="182880"/>
          </a:xfrm>
          <a:prstGeom prst="rect">
            <a:avLst/>
          </a:prstGeom>
          <a:noFill/>
        </p:spPr>
        <p:txBody>
          <a:bodyPr wrap="square" lIns="0" rIns="0" tIns="0" bIns="0" anchor="t">
            <a:spAutoFit/>
          </a:bodyPr>
          <a:lstStyle/>
          <a:p>
            <a:pPr algn="l"/>
            <a:r>
              <a:rPr sz="900" b="0" i="0">
                <a:solidFill>
                  <a:srgbClr val="4A5568"/>
                </a:solidFill>
                <a:latin typeface="Calibri"/>
              </a:rPr>
              <a:t>Khung thời gian</a:t>
            </a:r>
          </a:p>
        </p:txBody>
      </p:sp>
      <p:sp>
        <p:nvSpPr>
          <p:cNvPr id="28" name="TextBox 27"/>
          <p:cNvSpPr txBox="1"/>
          <p:nvPr/>
        </p:nvSpPr>
        <p:spPr>
          <a:xfrm>
            <a:off x="4434840" y="3520440"/>
            <a:ext cx="3291840" cy="274320"/>
          </a:xfrm>
          <a:prstGeom prst="rect">
            <a:avLst/>
          </a:prstGeom>
          <a:noFill/>
        </p:spPr>
        <p:txBody>
          <a:bodyPr wrap="square" lIns="0" rIns="0" tIns="0" bIns="0" anchor="t">
            <a:spAutoFit/>
          </a:bodyPr>
          <a:lstStyle/>
          <a:p>
            <a:pPr algn="l"/>
            <a:r>
              <a:rPr sz="1300" b="1" i="0">
                <a:solidFill>
                  <a:srgbClr val="003D7A"/>
                </a:solidFill>
                <a:latin typeface="Calibri"/>
              </a:rPr>
              <a:t>{{BULL_TIMEFRAME}}</a:t>
            </a:r>
          </a:p>
        </p:txBody>
      </p:sp>
      <p:sp>
        <p:nvSpPr>
          <p:cNvPr id="29" name="TextBox 28"/>
          <p:cNvSpPr txBox="1"/>
          <p:nvPr/>
        </p:nvSpPr>
        <p:spPr>
          <a:xfrm>
            <a:off x="4434840" y="3840480"/>
            <a:ext cx="3291840" cy="182880"/>
          </a:xfrm>
          <a:prstGeom prst="rect">
            <a:avLst/>
          </a:prstGeom>
          <a:noFill/>
        </p:spPr>
        <p:txBody>
          <a:bodyPr wrap="square" lIns="0" rIns="0" tIns="0" bIns="0" anchor="t">
            <a:spAutoFit/>
          </a:bodyPr>
          <a:lstStyle/>
          <a:p>
            <a:pPr algn="l"/>
            <a:r>
              <a:rPr sz="900" b="0" i="0">
                <a:solidFill>
                  <a:srgbClr val="4A5568"/>
                </a:solidFill>
                <a:latin typeface="Calibri"/>
              </a:rPr>
              <a:t>Giá mục tiêu</a:t>
            </a:r>
          </a:p>
        </p:txBody>
      </p:sp>
      <p:sp>
        <p:nvSpPr>
          <p:cNvPr id="30" name="TextBox 29"/>
          <p:cNvSpPr txBox="1"/>
          <p:nvPr/>
        </p:nvSpPr>
        <p:spPr>
          <a:xfrm>
            <a:off x="4434840" y="4023360"/>
            <a:ext cx="3291840" cy="274320"/>
          </a:xfrm>
          <a:prstGeom prst="rect">
            <a:avLst/>
          </a:prstGeom>
          <a:noFill/>
        </p:spPr>
        <p:txBody>
          <a:bodyPr wrap="square" lIns="0" rIns="0" tIns="0" bIns="0" anchor="t">
            <a:spAutoFit/>
          </a:bodyPr>
          <a:lstStyle/>
          <a:p>
            <a:pPr algn="l"/>
            <a:r>
              <a:rPr sz="1300" b="1" i="0">
                <a:solidFill>
                  <a:srgbClr val="003D7A"/>
                </a:solidFill>
                <a:latin typeface="Calibri"/>
              </a:rPr>
              <a:t>{{BULL_TARGET}}</a:t>
            </a:r>
          </a:p>
        </p:txBody>
      </p:sp>
      <p:sp>
        <p:nvSpPr>
          <p:cNvPr id="31" name="TextBox 30"/>
          <p:cNvSpPr txBox="1"/>
          <p:nvPr/>
        </p:nvSpPr>
        <p:spPr>
          <a:xfrm>
            <a:off x="4434840" y="4343400"/>
            <a:ext cx="3291840" cy="182880"/>
          </a:xfrm>
          <a:prstGeom prst="rect">
            <a:avLst/>
          </a:prstGeom>
          <a:noFill/>
        </p:spPr>
        <p:txBody>
          <a:bodyPr wrap="square" lIns="0" rIns="0" tIns="0" bIns="0" anchor="t">
            <a:spAutoFit/>
          </a:bodyPr>
          <a:lstStyle/>
          <a:p>
            <a:pPr algn="l"/>
            <a:r>
              <a:rPr sz="900" b="0" i="0">
                <a:solidFill>
                  <a:srgbClr val="4A5568"/>
                </a:solidFill>
                <a:latin typeface="Calibri"/>
              </a:rPr>
              <a:t>Tỷ suất kỳ vọng</a:t>
            </a:r>
          </a:p>
        </p:txBody>
      </p:sp>
      <p:sp>
        <p:nvSpPr>
          <p:cNvPr id="32" name="TextBox 31"/>
          <p:cNvSpPr txBox="1"/>
          <p:nvPr/>
        </p:nvSpPr>
        <p:spPr>
          <a:xfrm>
            <a:off x="4434840" y="4526280"/>
            <a:ext cx="3291840" cy="274320"/>
          </a:xfrm>
          <a:prstGeom prst="rect">
            <a:avLst/>
          </a:prstGeom>
          <a:noFill/>
        </p:spPr>
        <p:txBody>
          <a:bodyPr wrap="square" lIns="0" rIns="0" tIns="0" bIns="0" anchor="t">
            <a:spAutoFit/>
          </a:bodyPr>
          <a:lstStyle/>
          <a:p>
            <a:pPr algn="l"/>
            <a:r>
              <a:rPr sz="1300" b="1" i="0">
                <a:solidFill>
                  <a:srgbClr val="003D7A"/>
                </a:solidFill>
                <a:latin typeface="Calibri"/>
              </a:rPr>
              <a:t>{{BULL_RETURN}}</a:t>
            </a:r>
          </a:p>
        </p:txBody>
      </p:sp>
      <p:sp>
        <p:nvSpPr>
          <p:cNvPr id="33" name="TextBox 32"/>
          <p:cNvSpPr txBox="1"/>
          <p:nvPr/>
        </p:nvSpPr>
        <p:spPr>
          <a:xfrm>
            <a:off x="4434840" y="4892040"/>
            <a:ext cx="3291840" cy="457200"/>
          </a:xfrm>
          <a:prstGeom prst="rect">
            <a:avLst/>
          </a:prstGeom>
          <a:noFill/>
        </p:spPr>
        <p:txBody>
          <a:bodyPr wrap="square" lIns="0" rIns="0" tIns="0" bIns="0" anchor="t">
            <a:spAutoFit/>
          </a:bodyPr>
          <a:lstStyle/>
          <a:p>
            <a:pPr algn="l"/>
            <a:r>
              <a:rPr sz="2800" b="1" i="0">
                <a:solidFill>
                  <a:srgbClr val="059669"/>
                </a:solidFill>
                <a:latin typeface="Calibri"/>
              </a:rPr>
              <a:t>{{BULL_BIG_PCT}}</a:t>
            </a:r>
          </a:p>
        </p:txBody>
      </p:sp>
      <p:sp>
        <p:nvSpPr>
          <p:cNvPr id="34" name="TextBox 33"/>
          <p:cNvSpPr txBox="1"/>
          <p:nvPr/>
        </p:nvSpPr>
        <p:spPr>
          <a:xfrm>
            <a:off x="4434840" y="5440680"/>
            <a:ext cx="3291840" cy="914400"/>
          </a:xfrm>
          <a:prstGeom prst="rect">
            <a:avLst/>
          </a:prstGeom>
          <a:noFill/>
        </p:spPr>
        <p:txBody>
          <a:bodyPr wrap="square" lIns="0" rIns="0" tIns="0" bIns="0" anchor="t">
            <a:spAutoFit/>
          </a:bodyPr>
          <a:lstStyle/>
          <a:p>
            <a:pPr algn="l"/>
            <a:r>
              <a:rPr sz="1050" b="0" i="1">
                <a:solidFill>
                  <a:srgbClr val="1F2937"/>
                </a:solidFill>
                <a:latin typeface="Calibri"/>
              </a:rPr>
              <a:t>{{BULL_BODY}}</a:t>
            </a:r>
          </a:p>
        </p:txBody>
      </p:sp>
      <p:sp>
        <p:nvSpPr>
          <p:cNvPr id="35" name="Rectangle 34"/>
          <p:cNvSpPr/>
          <p:nvPr/>
        </p:nvSpPr>
        <p:spPr>
          <a:xfrm>
            <a:off x="8046720" y="2560320"/>
            <a:ext cx="3657600" cy="3657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46720" y="2560320"/>
            <a:ext cx="3657600" cy="59436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183880" y="2633472"/>
            <a:ext cx="3383280" cy="228600"/>
          </a:xfrm>
          <a:prstGeom prst="rect">
            <a:avLst/>
          </a:prstGeom>
          <a:noFill/>
        </p:spPr>
        <p:txBody>
          <a:bodyPr wrap="square" lIns="0" rIns="0" tIns="0" bIns="0" anchor="t">
            <a:spAutoFit/>
          </a:bodyPr>
          <a:lstStyle/>
          <a:p>
            <a:pPr algn="l"/>
            <a:r>
              <a:rPr sz="900" b="1" i="0">
                <a:solidFill>
                  <a:srgbClr val="FFFFFF"/>
                </a:solidFill>
                <a:latin typeface="Calibri"/>
              </a:rPr>
              <a:t>KỊCH BẢN THẬN TRỌNG</a:t>
            </a:r>
          </a:p>
        </p:txBody>
      </p:sp>
      <p:sp>
        <p:nvSpPr>
          <p:cNvPr id="38" name="Rectangle 37"/>
          <p:cNvSpPr/>
          <p:nvPr/>
        </p:nvSpPr>
        <p:spPr>
          <a:xfrm>
            <a:off x="8183880" y="2871216"/>
            <a:ext cx="1828800" cy="109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83880" y="2889504"/>
            <a:ext cx="3383280" cy="228600"/>
          </a:xfrm>
          <a:prstGeom prst="rect">
            <a:avLst/>
          </a:prstGeom>
          <a:noFill/>
        </p:spPr>
        <p:txBody>
          <a:bodyPr wrap="square" lIns="0" rIns="0" tIns="0" bIns="0" anchor="t">
            <a:spAutoFit/>
          </a:bodyPr>
          <a:lstStyle/>
          <a:p>
            <a:pPr algn="l"/>
            <a:r>
              <a:rPr sz="900" b="0" i="1">
                <a:solidFill>
                  <a:srgbClr val="FFFFFF"/>
                </a:solidFill>
                <a:latin typeface="Calibri"/>
              </a:rPr>
              <a:t>Khả năng thấp</a:t>
            </a:r>
          </a:p>
        </p:txBody>
      </p:sp>
      <p:sp>
        <p:nvSpPr>
          <p:cNvPr id="40" name="TextBox 39"/>
          <p:cNvSpPr txBox="1"/>
          <p:nvPr/>
        </p:nvSpPr>
        <p:spPr>
          <a:xfrm>
            <a:off x="8229600" y="3337560"/>
            <a:ext cx="3291840" cy="182880"/>
          </a:xfrm>
          <a:prstGeom prst="rect">
            <a:avLst/>
          </a:prstGeom>
          <a:noFill/>
        </p:spPr>
        <p:txBody>
          <a:bodyPr wrap="square" lIns="0" rIns="0" tIns="0" bIns="0" anchor="t">
            <a:spAutoFit/>
          </a:bodyPr>
          <a:lstStyle/>
          <a:p>
            <a:pPr algn="l"/>
            <a:r>
              <a:rPr sz="900" b="0" i="0">
                <a:solidFill>
                  <a:srgbClr val="4A5568"/>
                </a:solidFill>
                <a:latin typeface="Calibri"/>
              </a:rPr>
              <a:t>Khung thời gian</a:t>
            </a:r>
          </a:p>
        </p:txBody>
      </p:sp>
      <p:sp>
        <p:nvSpPr>
          <p:cNvPr id="41" name="TextBox 40"/>
          <p:cNvSpPr txBox="1"/>
          <p:nvPr/>
        </p:nvSpPr>
        <p:spPr>
          <a:xfrm>
            <a:off x="8229600" y="3520440"/>
            <a:ext cx="3291840" cy="274320"/>
          </a:xfrm>
          <a:prstGeom prst="rect">
            <a:avLst/>
          </a:prstGeom>
          <a:noFill/>
        </p:spPr>
        <p:txBody>
          <a:bodyPr wrap="square" lIns="0" rIns="0" tIns="0" bIns="0" anchor="t">
            <a:spAutoFit/>
          </a:bodyPr>
          <a:lstStyle/>
          <a:p>
            <a:pPr algn="l"/>
            <a:r>
              <a:rPr sz="1300" b="1" i="0">
                <a:solidFill>
                  <a:srgbClr val="003D7A"/>
                </a:solidFill>
                <a:latin typeface="Calibri"/>
              </a:rPr>
              <a:t>{{BEAR_TIMEFRAME}}</a:t>
            </a:r>
          </a:p>
        </p:txBody>
      </p:sp>
      <p:sp>
        <p:nvSpPr>
          <p:cNvPr id="42" name="TextBox 41"/>
          <p:cNvSpPr txBox="1"/>
          <p:nvPr/>
        </p:nvSpPr>
        <p:spPr>
          <a:xfrm>
            <a:off x="8229600" y="3840480"/>
            <a:ext cx="3291840" cy="182880"/>
          </a:xfrm>
          <a:prstGeom prst="rect">
            <a:avLst/>
          </a:prstGeom>
          <a:noFill/>
        </p:spPr>
        <p:txBody>
          <a:bodyPr wrap="square" lIns="0" rIns="0" tIns="0" bIns="0" anchor="t">
            <a:spAutoFit/>
          </a:bodyPr>
          <a:lstStyle/>
          <a:p>
            <a:pPr algn="l"/>
            <a:r>
              <a:rPr sz="900" b="0" i="0">
                <a:solidFill>
                  <a:srgbClr val="4A5568"/>
                </a:solidFill>
                <a:latin typeface="Calibri"/>
              </a:rPr>
              <a:t>Giá mục tiêu</a:t>
            </a:r>
          </a:p>
        </p:txBody>
      </p:sp>
      <p:sp>
        <p:nvSpPr>
          <p:cNvPr id="43" name="TextBox 42"/>
          <p:cNvSpPr txBox="1"/>
          <p:nvPr/>
        </p:nvSpPr>
        <p:spPr>
          <a:xfrm>
            <a:off x="8229600" y="4023360"/>
            <a:ext cx="3291840" cy="274320"/>
          </a:xfrm>
          <a:prstGeom prst="rect">
            <a:avLst/>
          </a:prstGeom>
          <a:noFill/>
        </p:spPr>
        <p:txBody>
          <a:bodyPr wrap="square" lIns="0" rIns="0" tIns="0" bIns="0" anchor="t">
            <a:spAutoFit/>
          </a:bodyPr>
          <a:lstStyle/>
          <a:p>
            <a:pPr algn="l"/>
            <a:r>
              <a:rPr sz="1300" b="1" i="0">
                <a:solidFill>
                  <a:srgbClr val="003D7A"/>
                </a:solidFill>
                <a:latin typeface="Calibri"/>
              </a:rPr>
              <a:t>{{BEAR_TARGET}}</a:t>
            </a:r>
          </a:p>
        </p:txBody>
      </p:sp>
      <p:sp>
        <p:nvSpPr>
          <p:cNvPr id="44" name="TextBox 43"/>
          <p:cNvSpPr txBox="1"/>
          <p:nvPr/>
        </p:nvSpPr>
        <p:spPr>
          <a:xfrm>
            <a:off x="8229600" y="4343400"/>
            <a:ext cx="3291840" cy="182880"/>
          </a:xfrm>
          <a:prstGeom prst="rect">
            <a:avLst/>
          </a:prstGeom>
          <a:noFill/>
        </p:spPr>
        <p:txBody>
          <a:bodyPr wrap="square" lIns="0" rIns="0" tIns="0" bIns="0" anchor="t">
            <a:spAutoFit/>
          </a:bodyPr>
          <a:lstStyle/>
          <a:p>
            <a:pPr algn="l"/>
            <a:r>
              <a:rPr sz="900" b="0" i="0">
                <a:solidFill>
                  <a:srgbClr val="4A5568"/>
                </a:solidFill>
                <a:latin typeface="Calibri"/>
              </a:rPr>
              <a:t>Tỷ suất kỳ vọng</a:t>
            </a:r>
          </a:p>
        </p:txBody>
      </p:sp>
      <p:sp>
        <p:nvSpPr>
          <p:cNvPr id="45" name="TextBox 44"/>
          <p:cNvSpPr txBox="1"/>
          <p:nvPr/>
        </p:nvSpPr>
        <p:spPr>
          <a:xfrm>
            <a:off x="8229600" y="4526280"/>
            <a:ext cx="3291840" cy="274320"/>
          </a:xfrm>
          <a:prstGeom prst="rect">
            <a:avLst/>
          </a:prstGeom>
          <a:noFill/>
        </p:spPr>
        <p:txBody>
          <a:bodyPr wrap="square" lIns="0" rIns="0" tIns="0" bIns="0" anchor="t">
            <a:spAutoFit/>
          </a:bodyPr>
          <a:lstStyle/>
          <a:p>
            <a:pPr algn="l"/>
            <a:r>
              <a:rPr sz="1300" b="1" i="0">
                <a:solidFill>
                  <a:srgbClr val="003D7A"/>
                </a:solidFill>
                <a:latin typeface="Calibri"/>
              </a:rPr>
              <a:t>{{BEAR_RETURN}}</a:t>
            </a:r>
          </a:p>
        </p:txBody>
      </p:sp>
      <p:sp>
        <p:nvSpPr>
          <p:cNvPr id="46" name="TextBox 45"/>
          <p:cNvSpPr txBox="1"/>
          <p:nvPr/>
        </p:nvSpPr>
        <p:spPr>
          <a:xfrm>
            <a:off x="8229600" y="4892040"/>
            <a:ext cx="3291840" cy="457200"/>
          </a:xfrm>
          <a:prstGeom prst="rect">
            <a:avLst/>
          </a:prstGeom>
          <a:noFill/>
        </p:spPr>
        <p:txBody>
          <a:bodyPr wrap="square" lIns="0" rIns="0" tIns="0" bIns="0" anchor="t">
            <a:spAutoFit/>
          </a:bodyPr>
          <a:lstStyle/>
          <a:p>
            <a:pPr algn="l"/>
            <a:r>
              <a:rPr sz="2800" b="1" i="0">
                <a:solidFill>
                  <a:srgbClr val="D71249"/>
                </a:solidFill>
                <a:latin typeface="Calibri"/>
              </a:rPr>
              <a:t>{{BEAR_BIG_PCT}}</a:t>
            </a:r>
          </a:p>
        </p:txBody>
      </p:sp>
      <p:sp>
        <p:nvSpPr>
          <p:cNvPr id="47" name="TextBox 46"/>
          <p:cNvSpPr txBox="1"/>
          <p:nvPr/>
        </p:nvSpPr>
        <p:spPr>
          <a:xfrm>
            <a:off x="8229600" y="5440680"/>
            <a:ext cx="3291840" cy="914400"/>
          </a:xfrm>
          <a:prstGeom prst="rect">
            <a:avLst/>
          </a:prstGeom>
          <a:noFill/>
        </p:spPr>
        <p:txBody>
          <a:bodyPr wrap="square" lIns="0" rIns="0" tIns="0" bIns="0" anchor="t">
            <a:spAutoFit/>
          </a:bodyPr>
          <a:lstStyle/>
          <a:p>
            <a:pPr algn="l"/>
            <a:r>
              <a:rPr sz="1050" b="0" i="1">
                <a:solidFill>
                  <a:srgbClr val="1F2937"/>
                </a:solidFill>
                <a:latin typeface="Calibri"/>
              </a:rPr>
              <a:t>{{BEAR_BODY}}</a:t>
            </a:r>
          </a:p>
        </p:txBody>
      </p:sp>
      <p:sp>
        <p:nvSpPr>
          <p:cNvPr id="48" name="TextBox 47"/>
          <p:cNvSpPr txBox="1"/>
          <p:nvPr/>
        </p:nvSpPr>
        <p:spPr>
          <a:xfrm>
            <a:off x="457200" y="6537960"/>
            <a:ext cx="9144000" cy="274320"/>
          </a:xfrm>
          <a:prstGeom prst="rect">
            <a:avLst/>
          </a:prstGeom>
          <a:noFill/>
        </p:spPr>
        <p:txBody>
          <a:bodyPr wrap="square" lIns="0" rIns="0" tIns="0" bIns="0" anchor="t">
            <a:spAutoFit/>
          </a:bodyPr>
          <a:lstStyle/>
          <a:p>
            <a:pPr algn="l"/>
            <a:r>
              <a:rPr sz="900" b="0" i="0">
                <a:solidFill>
                  <a:srgbClr val="9CA3AF"/>
                </a:solidFill>
                <a:latin typeface="Calibri"/>
              </a:rPr>
              <a:t>{{FOOTER_LEFT}}</a:t>
            </a:r>
          </a:p>
        </p:txBody>
      </p:sp>
      <p:sp>
        <p:nvSpPr>
          <p:cNvPr id="49" name="TextBox 48"/>
          <p:cNvSpPr txBox="1"/>
          <p:nvPr/>
        </p:nvSpPr>
        <p:spPr>
          <a:xfrm>
            <a:off x="11247120" y="6537960"/>
            <a:ext cx="457200" cy="274320"/>
          </a:xfrm>
          <a:prstGeom prst="rect">
            <a:avLst/>
          </a:prstGeom>
          <a:noFill/>
        </p:spPr>
        <p:txBody>
          <a:bodyPr wrap="square" lIns="0" rIns="0" tIns="0" bIns="0" anchor="t">
            <a:spAutoFit/>
          </a:bodyPr>
          <a:lstStyle/>
          <a:p>
            <a:pPr algn="r"/>
            <a:r>
              <a:rPr sz="900" b="1" i="0">
                <a:solidFill>
                  <a:srgbClr val="003D7A"/>
                </a:solidFill>
                <a:latin typeface="Calibri"/>
              </a:rPr>
              <a:t>{{PAGE_NUM}}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STAT_TABLE_COMBO_SESSION">
    <p:spTree>
      <p:nvGrpSpPr>
        <p:cNvPr id="1" name=""/>
        <p:cNvGrpSpPr/>
        <p:nvPr/>
      </p:nvGrpSpPr>
      <p:grpSpPr/>
      <p:sp>
        <p:nvSpPr>
          <p:cNvPr id="2" name="Rectangle 1"/>
          <p:cNvSpPr/>
          <p:nvPr/>
        </p:nvSpPr>
        <p:spPr>
          <a:xfrm>
            <a:off x="457200" y="411480"/>
            <a:ext cx="73152" cy="64008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1064240" cy="502920"/>
          </a:xfrm>
          <a:prstGeom prst="rect">
            <a:avLst/>
          </a:prstGeom>
          <a:noFill/>
        </p:spPr>
        <p:txBody>
          <a:bodyPr wrap="square" lIns="0" rIns="0" tIns="0" bIns="0" anchor="ctr">
            <a:spAutoFit/>
          </a:bodyPr>
          <a:lstStyle/>
          <a:p>
            <a:pPr algn="l"/>
            <a:r>
              <a:rPr sz="2600" b="1" i="0">
                <a:solidFill>
                  <a:srgbClr val="003D7A"/>
                </a:solidFill>
                <a:latin typeface="Calibri"/>
              </a:rPr>
              <a:t>{{SECTION_TITLE}}</a:t>
            </a:r>
          </a:p>
        </p:txBody>
      </p:sp>
      <p:sp>
        <p:nvSpPr>
          <p:cNvPr id="4" name="TextBox 3"/>
          <p:cNvSpPr txBox="1"/>
          <p:nvPr/>
        </p:nvSpPr>
        <p:spPr>
          <a:xfrm>
            <a:off x="640080" y="868680"/>
            <a:ext cx="11064240" cy="274320"/>
          </a:xfrm>
          <a:prstGeom prst="rect">
            <a:avLst/>
          </a:prstGeom>
          <a:noFill/>
        </p:spPr>
        <p:txBody>
          <a:bodyPr wrap="square" lIns="0" rIns="0" tIns="0" bIns="0" anchor="t">
            <a:spAutoFit/>
          </a:bodyPr>
          <a:lstStyle/>
          <a:p>
            <a:pPr algn="l"/>
            <a:r>
              <a:rPr sz="1200" b="0" i="1">
                <a:solidFill>
                  <a:srgbClr val="4A5568"/>
                </a:solidFill>
                <a:latin typeface="Calibri"/>
              </a:rPr>
              <a:t>{{SECTION_SUB}}</a:t>
            </a:r>
          </a:p>
        </p:txBody>
      </p:sp>
      <p:sp>
        <p:nvSpPr>
          <p:cNvPr id="5" name="Rectangle 4"/>
          <p:cNvSpPr/>
          <p:nvPr/>
        </p:nvSpPr>
        <p:spPr>
          <a:xfrm>
            <a:off x="457200" y="1371600"/>
            <a:ext cx="2743200" cy="118872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71600"/>
            <a:ext cx="73152" cy="118872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63040"/>
            <a:ext cx="2468879" cy="274320"/>
          </a:xfrm>
          <a:prstGeom prst="rect">
            <a:avLst/>
          </a:prstGeom>
          <a:noFill/>
        </p:spPr>
        <p:txBody>
          <a:bodyPr wrap="square" lIns="0" rIns="0" tIns="0" bIns="0" anchor="t">
            <a:spAutoFit/>
          </a:bodyPr>
          <a:lstStyle/>
          <a:p>
            <a:pPr algn="l"/>
            <a:r>
              <a:rPr sz="1000" b="0" i="0">
                <a:solidFill>
                  <a:srgbClr val="4A5568"/>
                </a:solidFill>
                <a:latin typeface="Calibri"/>
              </a:rPr>
              <a:t>ĐÓNG CỬA</a:t>
            </a:r>
          </a:p>
        </p:txBody>
      </p:sp>
      <p:sp>
        <p:nvSpPr>
          <p:cNvPr id="8" name="TextBox 7"/>
          <p:cNvSpPr txBox="1"/>
          <p:nvPr/>
        </p:nvSpPr>
        <p:spPr>
          <a:xfrm>
            <a:off x="640080" y="1737360"/>
            <a:ext cx="2468879" cy="457200"/>
          </a:xfrm>
          <a:prstGeom prst="rect">
            <a:avLst/>
          </a:prstGeom>
          <a:noFill/>
        </p:spPr>
        <p:txBody>
          <a:bodyPr wrap="square" lIns="0" rIns="0" tIns="0" bIns="0" anchor="t">
            <a:spAutoFit/>
          </a:bodyPr>
          <a:lstStyle/>
          <a:p>
            <a:pPr algn="l"/>
            <a:r>
              <a:rPr sz="2200" b="1" i="0">
                <a:solidFill>
                  <a:srgbClr val="003D7A"/>
                </a:solidFill>
                <a:latin typeface="Calibri"/>
              </a:rPr>
              <a:t>{{CLOSE_PRICE}}</a:t>
            </a:r>
          </a:p>
        </p:txBody>
      </p:sp>
      <p:sp>
        <p:nvSpPr>
          <p:cNvPr id="9" name="TextBox 8"/>
          <p:cNvSpPr txBox="1"/>
          <p:nvPr/>
        </p:nvSpPr>
        <p:spPr>
          <a:xfrm>
            <a:off x="640080" y="2194560"/>
            <a:ext cx="2468879" cy="320040"/>
          </a:xfrm>
          <a:prstGeom prst="rect">
            <a:avLst/>
          </a:prstGeom>
          <a:noFill/>
        </p:spPr>
        <p:txBody>
          <a:bodyPr wrap="square" lIns="0" rIns="0" tIns="0" bIns="0" anchor="t">
            <a:spAutoFit/>
          </a:bodyPr>
          <a:lstStyle/>
          <a:p>
            <a:pPr algn="l"/>
            <a:r>
              <a:rPr sz="1200" b="1" i="0">
                <a:solidFill>
                  <a:srgbClr val="059669"/>
                </a:solidFill>
                <a:latin typeface="Calibri"/>
              </a:rPr>
              <a:t>{{CLOSE_CHANGE}}</a:t>
            </a:r>
          </a:p>
        </p:txBody>
      </p:sp>
      <p:sp>
        <p:nvSpPr>
          <p:cNvPr id="10" name="Rectangle 9"/>
          <p:cNvSpPr/>
          <p:nvPr/>
        </p:nvSpPr>
        <p:spPr>
          <a:xfrm>
            <a:off x="3291840" y="1371600"/>
            <a:ext cx="2743200" cy="118872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91840" y="1371600"/>
            <a:ext cx="73152" cy="118872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0" y="1463040"/>
            <a:ext cx="2468879" cy="274320"/>
          </a:xfrm>
          <a:prstGeom prst="rect">
            <a:avLst/>
          </a:prstGeom>
          <a:noFill/>
        </p:spPr>
        <p:txBody>
          <a:bodyPr wrap="square" lIns="0" rIns="0" tIns="0" bIns="0" anchor="t">
            <a:spAutoFit/>
          </a:bodyPr>
          <a:lstStyle/>
          <a:p>
            <a:pPr algn="l"/>
            <a:r>
              <a:rPr sz="1000" b="0" i="0">
                <a:solidFill>
                  <a:srgbClr val="4A5568"/>
                </a:solidFill>
                <a:latin typeface="Calibri"/>
              </a:rPr>
              <a:t>CAO NHẤT</a:t>
            </a:r>
          </a:p>
        </p:txBody>
      </p:sp>
      <p:sp>
        <p:nvSpPr>
          <p:cNvPr id="13" name="TextBox 12"/>
          <p:cNvSpPr txBox="1"/>
          <p:nvPr/>
        </p:nvSpPr>
        <p:spPr>
          <a:xfrm>
            <a:off x="3474720" y="1737360"/>
            <a:ext cx="2468879" cy="457200"/>
          </a:xfrm>
          <a:prstGeom prst="rect">
            <a:avLst/>
          </a:prstGeom>
          <a:noFill/>
        </p:spPr>
        <p:txBody>
          <a:bodyPr wrap="square" lIns="0" rIns="0" tIns="0" bIns="0" anchor="t">
            <a:spAutoFit/>
          </a:bodyPr>
          <a:lstStyle/>
          <a:p>
            <a:pPr algn="l"/>
            <a:r>
              <a:rPr sz="2200" b="1" i="0">
                <a:solidFill>
                  <a:srgbClr val="003D7A"/>
                </a:solidFill>
                <a:latin typeface="Calibri"/>
              </a:rPr>
              <a:t>{{HIGH_PRICE}}</a:t>
            </a:r>
          </a:p>
        </p:txBody>
      </p:sp>
      <p:sp>
        <p:nvSpPr>
          <p:cNvPr id="14" name="TextBox 13"/>
          <p:cNvSpPr txBox="1"/>
          <p:nvPr/>
        </p:nvSpPr>
        <p:spPr>
          <a:xfrm>
            <a:off x="3474720" y="2194560"/>
            <a:ext cx="2468879" cy="320040"/>
          </a:xfrm>
          <a:prstGeom prst="rect">
            <a:avLst/>
          </a:prstGeom>
          <a:noFill/>
        </p:spPr>
        <p:txBody>
          <a:bodyPr wrap="square" lIns="0" rIns="0" tIns="0" bIns="0" anchor="t">
            <a:spAutoFit/>
          </a:bodyPr>
          <a:lstStyle/>
          <a:p>
            <a:pPr algn="l"/>
            <a:r>
              <a:rPr sz="1200" b="1" i="0">
                <a:solidFill>
                  <a:srgbClr val="4A5568"/>
                </a:solidFill>
                <a:latin typeface="Calibri"/>
              </a:rPr>
              <a:t>{{HIGH_NOTE}}</a:t>
            </a:r>
          </a:p>
        </p:txBody>
      </p:sp>
      <p:sp>
        <p:nvSpPr>
          <p:cNvPr id="15" name="Rectangle 14"/>
          <p:cNvSpPr/>
          <p:nvPr/>
        </p:nvSpPr>
        <p:spPr>
          <a:xfrm>
            <a:off x="6126480" y="1371600"/>
            <a:ext cx="2743200" cy="118872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26480" y="1371600"/>
            <a:ext cx="73152" cy="118872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1463040"/>
            <a:ext cx="2468879" cy="274320"/>
          </a:xfrm>
          <a:prstGeom prst="rect">
            <a:avLst/>
          </a:prstGeom>
          <a:noFill/>
        </p:spPr>
        <p:txBody>
          <a:bodyPr wrap="square" lIns="0" rIns="0" tIns="0" bIns="0" anchor="t">
            <a:spAutoFit/>
          </a:bodyPr>
          <a:lstStyle/>
          <a:p>
            <a:pPr algn="l"/>
            <a:r>
              <a:rPr sz="1000" b="0" i="0">
                <a:solidFill>
                  <a:srgbClr val="4A5568"/>
                </a:solidFill>
                <a:latin typeface="Calibri"/>
              </a:rPr>
              <a:t>THẤP NHẤT</a:t>
            </a:r>
          </a:p>
        </p:txBody>
      </p:sp>
      <p:sp>
        <p:nvSpPr>
          <p:cNvPr id="18" name="TextBox 17"/>
          <p:cNvSpPr txBox="1"/>
          <p:nvPr/>
        </p:nvSpPr>
        <p:spPr>
          <a:xfrm>
            <a:off x="6309360" y="1737360"/>
            <a:ext cx="2468879" cy="457200"/>
          </a:xfrm>
          <a:prstGeom prst="rect">
            <a:avLst/>
          </a:prstGeom>
          <a:noFill/>
        </p:spPr>
        <p:txBody>
          <a:bodyPr wrap="square" lIns="0" rIns="0" tIns="0" bIns="0" anchor="t">
            <a:spAutoFit/>
          </a:bodyPr>
          <a:lstStyle/>
          <a:p>
            <a:pPr algn="l"/>
            <a:r>
              <a:rPr sz="2200" b="1" i="0">
                <a:solidFill>
                  <a:srgbClr val="003D7A"/>
                </a:solidFill>
                <a:latin typeface="Calibri"/>
              </a:rPr>
              <a:t>{{LOW_PRICE}}</a:t>
            </a:r>
          </a:p>
        </p:txBody>
      </p:sp>
      <p:sp>
        <p:nvSpPr>
          <p:cNvPr id="19" name="TextBox 18"/>
          <p:cNvSpPr txBox="1"/>
          <p:nvPr/>
        </p:nvSpPr>
        <p:spPr>
          <a:xfrm>
            <a:off x="6309360" y="2194560"/>
            <a:ext cx="2468879" cy="320040"/>
          </a:xfrm>
          <a:prstGeom prst="rect">
            <a:avLst/>
          </a:prstGeom>
          <a:noFill/>
        </p:spPr>
        <p:txBody>
          <a:bodyPr wrap="square" lIns="0" rIns="0" tIns="0" bIns="0" anchor="t">
            <a:spAutoFit/>
          </a:bodyPr>
          <a:lstStyle/>
          <a:p>
            <a:pPr algn="l"/>
            <a:r>
              <a:rPr sz="1200" b="1" i="0">
                <a:solidFill>
                  <a:srgbClr val="4A5568"/>
                </a:solidFill>
                <a:latin typeface="Calibri"/>
              </a:rPr>
              <a:t>{{LOW_NOTE}}</a:t>
            </a:r>
          </a:p>
        </p:txBody>
      </p:sp>
      <p:sp>
        <p:nvSpPr>
          <p:cNvPr id="20" name="Rectangle 19"/>
          <p:cNvSpPr/>
          <p:nvPr/>
        </p:nvSpPr>
        <p:spPr>
          <a:xfrm>
            <a:off x="8961120" y="1371600"/>
            <a:ext cx="2743200" cy="118872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61120" y="1371600"/>
            <a:ext cx="73152" cy="118872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0" y="1463040"/>
            <a:ext cx="2468879" cy="274320"/>
          </a:xfrm>
          <a:prstGeom prst="rect">
            <a:avLst/>
          </a:prstGeom>
          <a:noFill/>
        </p:spPr>
        <p:txBody>
          <a:bodyPr wrap="square" lIns="0" rIns="0" tIns="0" bIns="0" anchor="t">
            <a:spAutoFit/>
          </a:bodyPr>
          <a:lstStyle/>
          <a:p>
            <a:pPr algn="l"/>
            <a:r>
              <a:rPr sz="1000" b="0" i="0">
                <a:solidFill>
                  <a:srgbClr val="4A5568"/>
                </a:solidFill>
                <a:latin typeface="Calibri"/>
              </a:rPr>
              <a:t>GIÁ TRỊ GIAO DỊCH</a:t>
            </a:r>
          </a:p>
        </p:txBody>
      </p:sp>
      <p:sp>
        <p:nvSpPr>
          <p:cNvPr id="23" name="TextBox 22"/>
          <p:cNvSpPr txBox="1"/>
          <p:nvPr/>
        </p:nvSpPr>
        <p:spPr>
          <a:xfrm>
            <a:off x="9144000" y="1737360"/>
            <a:ext cx="2468879" cy="457200"/>
          </a:xfrm>
          <a:prstGeom prst="rect">
            <a:avLst/>
          </a:prstGeom>
          <a:noFill/>
        </p:spPr>
        <p:txBody>
          <a:bodyPr wrap="square" lIns="0" rIns="0" tIns="0" bIns="0" anchor="t">
            <a:spAutoFit/>
          </a:bodyPr>
          <a:lstStyle/>
          <a:p>
            <a:pPr algn="l"/>
            <a:r>
              <a:rPr sz="2200" b="1" i="0">
                <a:solidFill>
                  <a:srgbClr val="003D7A"/>
                </a:solidFill>
                <a:latin typeface="Calibri"/>
              </a:rPr>
              <a:t>{{VALUE_AMOUNT}}</a:t>
            </a:r>
          </a:p>
        </p:txBody>
      </p:sp>
      <p:sp>
        <p:nvSpPr>
          <p:cNvPr id="24" name="TextBox 23"/>
          <p:cNvSpPr txBox="1"/>
          <p:nvPr/>
        </p:nvSpPr>
        <p:spPr>
          <a:xfrm>
            <a:off x="9144000" y="2194560"/>
            <a:ext cx="2468879" cy="320040"/>
          </a:xfrm>
          <a:prstGeom prst="rect">
            <a:avLst/>
          </a:prstGeom>
          <a:noFill/>
        </p:spPr>
        <p:txBody>
          <a:bodyPr wrap="square" lIns="0" rIns="0" tIns="0" bIns="0" anchor="t">
            <a:spAutoFit/>
          </a:bodyPr>
          <a:lstStyle/>
          <a:p>
            <a:pPr algn="l"/>
            <a:r>
              <a:rPr sz="1200" b="1" i="0">
                <a:solidFill>
                  <a:srgbClr val="4A5568"/>
                </a:solidFill>
                <a:latin typeface="Calibri"/>
              </a:rPr>
              <a:t>{{LIQUIDITY_NOTE}}</a:t>
            </a:r>
          </a:p>
        </p:txBody>
      </p:sp>
      <p:sp>
        <p:nvSpPr>
          <p:cNvPr id="25" name="TextBox 24"/>
          <p:cNvSpPr txBox="1"/>
          <p:nvPr/>
        </p:nvSpPr>
        <p:spPr>
          <a:xfrm>
            <a:off x="457200" y="2834639"/>
            <a:ext cx="11247120" cy="274320"/>
          </a:xfrm>
          <a:prstGeom prst="rect">
            <a:avLst/>
          </a:prstGeom>
          <a:noFill/>
        </p:spPr>
        <p:txBody>
          <a:bodyPr wrap="square" lIns="0" rIns="0" tIns="0" bIns="0" anchor="t">
            <a:spAutoFit/>
          </a:bodyPr>
          <a:lstStyle/>
          <a:p>
            <a:pPr algn="l"/>
            <a:r>
              <a:rPr sz="1000" b="1" i="0">
                <a:solidFill>
                  <a:srgbClr val="003D7A"/>
                </a:solidFill>
                <a:latin typeface="Calibri"/>
              </a:rPr>
              <a:t>CÁC MỨC KỸ THUẬT QUAN TRỌNG</a:t>
            </a:r>
          </a:p>
        </p:txBody>
      </p:sp>
      <p:sp>
        <p:nvSpPr>
          <p:cNvPr id="26" name="Rectangle 25"/>
          <p:cNvSpPr/>
          <p:nvPr/>
        </p:nvSpPr>
        <p:spPr>
          <a:xfrm>
            <a:off x="457200" y="3200399"/>
            <a:ext cx="11247120" cy="36576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3246119"/>
            <a:ext cx="3931920" cy="274320"/>
          </a:xfrm>
          <a:prstGeom prst="rect">
            <a:avLst/>
          </a:prstGeom>
          <a:noFill/>
        </p:spPr>
        <p:txBody>
          <a:bodyPr wrap="square" lIns="0" rIns="0" tIns="0" bIns="0" anchor="ctr">
            <a:spAutoFit/>
          </a:bodyPr>
          <a:lstStyle/>
          <a:p>
            <a:pPr algn="l"/>
            <a:r>
              <a:rPr sz="900" b="1" i="0">
                <a:solidFill>
                  <a:srgbClr val="FFFFFF"/>
                </a:solidFill>
                <a:latin typeface="Calibri"/>
              </a:rPr>
              <a:t>MỨC KỸ THUẬT</a:t>
            </a:r>
          </a:p>
        </p:txBody>
      </p:sp>
      <p:sp>
        <p:nvSpPr>
          <p:cNvPr id="28" name="TextBox 27"/>
          <p:cNvSpPr txBox="1"/>
          <p:nvPr/>
        </p:nvSpPr>
        <p:spPr>
          <a:xfrm>
            <a:off x="4663440" y="3246119"/>
            <a:ext cx="3017520" cy="274320"/>
          </a:xfrm>
          <a:prstGeom prst="rect">
            <a:avLst/>
          </a:prstGeom>
          <a:noFill/>
        </p:spPr>
        <p:txBody>
          <a:bodyPr wrap="square" lIns="0" rIns="0" tIns="0" bIns="0" anchor="ctr">
            <a:spAutoFit/>
          </a:bodyPr>
          <a:lstStyle/>
          <a:p>
            <a:pPr algn="r"/>
            <a:r>
              <a:rPr sz="900" b="1" i="0">
                <a:solidFill>
                  <a:srgbClr val="FFFFFF"/>
                </a:solidFill>
                <a:latin typeface="Calibri"/>
              </a:rPr>
              <a:t>GIÁ (đồng)</a:t>
            </a:r>
          </a:p>
        </p:txBody>
      </p:sp>
      <p:sp>
        <p:nvSpPr>
          <p:cNvPr id="29" name="TextBox 28"/>
          <p:cNvSpPr txBox="1"/>
          <p:nvPr/>
        </p:nvSpPr>
        <p:spPr>
          <a:xfrm>
            <a:off x="7863840" y="3246119"/>
            <a:ext cx="3749039" cy="274320"/>
          </a:xfrm>
          <a:prstGeom prst="rect">
            <a:avLst/>
          </a:prstGeom>
          <a:noFill/>
        </p:spPr>
        <p:txBody>
          <a:bodyPr wrap="square" lIns="0" rIns="0" tIns="0" bIns="0" anchor="ctr">
            <a:spAutoFit/>
          </a:bodyPr>
          <a:lstStyle/>
          <a:p>
            <a:pPr algn="r"/>
            <a:r>
              <a:rPr sz="900" b="1" i="0">
                <a:solidFill>
                  <a:srgbClr val="FFFFFF"/>
                </a:solidFill>
                <a:latin typeface="Calibri"/>
              </a:rPr>
              <a:t>CHÊNH SO GIÁ HIỆN TẠI</a:t>
            </a:r>
          </a:p>
        </p:txBody>
      </p:sp>
      <p:sp>
        <p:nvSpPr>
          <p:cNvPr id="30" name="Rectangle 29"/>
          <p:cNvSpPr/>
          <p:nvPr/>
        </p:nvSpPr>
        <p:spPr>
          <a:xfrm>
            <a:off x="457200" y="3566159"/>
            <a:ext cx="11247120" cy="256032"/>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3611879"/>
            <a:ext cx="3931920" cy="164592"/>
          </a:xfrm>
          <a:prstGeom prst="rect">
            <a:avLst/>
          </a:prstGeom>
          <a:noFill/>
        </p:spPr>
        <p:txBody>
          <a:bodyPr wrap="square" lIns="0" rIns="0" tIns="0" bIns="0" anchor="ctr">
            <a:spAutoFit/>
          </a:bodyPr>
          <a:lstStyle/>
          <a:p>
            <a:pPr algn="l"/>
            <a:r>
              <a:rPr sz="1050" b="0" i="0">
                <a:solidFill>
                  <a:srgbClr val="1F2937"/>
                </a:solidFill>
                <a:latin typeface="Calibri"/>
              </a:rPr>
              <a:t>{{LEVEL_1_NAME}}</a:t>
            </a:r>
          </a:p>
        </p:txBody>
      </p:sp>
      <p:sp>
        <p:nvSpPr>
          <p:cNvPr id="32" name="TextBox 31"/>
          <p:cNvSpPr txBox="1"/>
          <p:nvPr/>
        </p:nvSpPr>
        <p:spPr>
          <a:xfrm>
            <a:off x="4663440" y="3611879"/>
            <a:ext cx="3017520" cy="164592"/>
          </a:xfrm>
          <a:prstGeom prst="rect">
            <a:avLst/>
          </a:prstGeom>
          <a:noFill/>
        </p:spPr>
        <p:txBody>
          <a:bodyPr wrap="square" lIns="0" rIns="0" tIns="0" bIns="0" anchor="ctr">
            <a:spAutoFit/>
          </a:bodyPr>
          <a:lstStyle/>
          <a:p>
            <a:pPr algn="r"/>
            <a:r>
              <a:rPr sz="1050" b="1" i="0">
                <a:solidFill>
                  <a:srgbClr val="003D7A"/>
                </a:solidFill>
                <a:latin typeface="Calibri"/>
              </a:rPr>
              <a:t>{{LEVEL_1_PRICE}}</a:t>
            </a:r>
          </a:p>
        </p:txBody>
      </p:sp>
      <p:sp>
        <p:nvSpPr>
          <p:cNvPr id="33" name="TextBox 32"/>
          <p:cNvSpPr txBox="1"/>
          <p:nvPr/>
        </p:nvSpPr>
        <p:spPr>
          <a:xfrm>
            <a:off x="7863840" y="3611879"/>
            <a:ext cx="3749039" cy="164592"/>
          </a:xfrm>
          <a:prstGeom prst="rect">
            <a:avLst/>
          </a:prstGeom>
          <a:noFill/>
        </p:spPr>
        <p:txBody>
          <a:bodyPr wrap="square" lIns="0" rIns="0" tIns="0" bIns="0" anchor="ctr">
            <a:spAutoFit/>
          </a:bodyPr>
          <a:lstStyle/>
          <a:p>
            <a:pPr algn="r"/>
            <a:r>
              <a:rPr sz="1050" b="1" i="0">
                <a:solidFill>
                  <a:srgbClr val="1F2937"/>
                </a:solidFill>
                <a:latin typeface="Calibri"/>
              </a:rPr>
              <a:t>{{LEVEL_1_DELTA}}</a:t>
            </a:r>
          </a:p>
        </p:txBody>
      </p:sp>
      <p:sp>
        <p:nvSpPr>
          <p:cNvPr id="34" name="TextBox 33"/>
          <p:cNvSpPr txBox="1"/>
          <p:nvPr/>
        </p:nvSpPr>
        <p:spPr>
          <a:xfrm>
            <a:off x="548640" y="3867911"/>
            <a:ext cx="3931920" cy="164592"/>
          </a:xfrm>
          <a:prstGeom prst="rect">
            <a:avLst/>
          </a:prstGeom>
          <a:noFill/>
        </p:spPr>
        <p:txBody>
          <a:bodyPr wrap="square" lIns="0" rIns="0" tIns="0" bIns="0" anchor="ctr">
            <a:spAutoFit/>
          </a:bodyPr>
          <a:lstStyle/>
          <a:p>
            <a:pPr algn="l"/>
            <a:r>
              <a:rPr sz="1050" b="0" i="0">
                <a:solidFill>
                  <a:srgbClr val="1F2937"/>
                </a:solidFill>
                <a:latin typeface="Calibri"/>
              </a:rPr>
              <a:t>{{LEVEL_2_NAME}}</a:t>
            </a:r>
          </a:p>
        </p:txBody>
      </p:sp>
      <p:sp>
        <p:nvSpPr>
          <p:cNvPr id="35" name="TextBox 34"/>
          <p:cNvSpPr txBox="1"/>
          <p:nvPr/>
        </p:nvSpPr>
        <p:spPr>
          <a:xfrm>
            <a:off x="4663440" y="3867911"/>
            <a:ext cx="3017520" cy="164592"/>
          </a:xfrm>
          <a:prstGeom prst="rect">
            <a:avLst/>
          </a:prstGeom>
          <a:noFill/>
        </p:spPr>
        <p:txBody>
          <a:bodyPr wrap="square" lIns="0" rIns="0" tIns="0" bIns="0" anchor="ctr">
            <a:spAutoFit/>
          </a:bodyPr>
          <a:lstStyle/>
          <a:p>
            <a:pPr algn="r"/>
            <a:r>
              <a:rPr sz="1050" b="1" i="0">
                <a:solidFill>
                  <a:srgbClr val="003D7A"/>
                </a:solidFill>
                <a:latin typeface="Calibri"/>
              </a:rPr>
              <a:t>{{LEVEL_2_PRICE}}</a:t>
            </a:r>
          </a:p>
        </p:txBody>
      </p:sp>
      <p:sp>
        <p:nvSpPr>
          <p:cNvPr id="36" name="TextBox 35"/>
          <p:cNvSpPr txBox="1"/>
          <p:nvPr/>
        </p:nvSpPr>
        <p:spPr>
          <a:xfrm>
            <a:off x="7863840" y="3867911"/>
            <a:ext cx="3749039" cy="164592"/>
          </a:xfrm>
          <a:prstGeom prst="rect">
            <a:avLst/>
          </a:prstGeom>
          <a:noFill/>
        </p:spPr>
        <p:txBody>
          <a:bodyPr wrap="square" lIns="0" rIns="0" tIns="0" bIns="0" anchor="ctr">
            <a:spAutoFit/>
          </a:bodyPr>
          <a:lstStyle/>
          <a:p>
            <a:pPr algn="r"/>
            <a:r>
              <a:rPr sz="1050" b="1" i="0">
                <a:solidFill>
                  <a:srgbClr val="1F2937"/>
                </a:solidFill>
                <a:latin typeface="Calibri"/>
              </a:rPr>
              <a:t>{{LEVEL_2_DELTA}}</a:t>
            </a:r>
          </a:p>
        </p:txBody>
      </p:sp>
      <p:sp>
        <p:nvSpPr>
          <p:cNvPr id="37" name="Rectangle 36"/>
          <p:cNvSpPr/>
          <p:nvPr/>
        </p:nvSpPr>
        <p:spPr>
          <a:xfrm>
            <a:off x="457200" y="4078224"/>
            <a:ext cx="11247120" cy="256032"/>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8640" y="4123944"/>
            <a:ext cx="3931920" cy="164592"/>
          </a:xfrm>
          <a:prstGeom prst="rect">
            <a:avLst/>
          </a:prstGeom>
          <a:noFill/>
        </p:spPr>
        <p:txBody>
          <a:bodyPr wrap="square" lIns="0" rIns="0" tIns="0" bIns="0" anchor="ctr">
            <a:spAutoFit/>
          </a:bodyPr>
          <a:lstStyle/>
          <a:p>
            <a:pPr algn="l"/>
            <a:r>
              <a:rPr sz="1050" b="0" i="0">
                <a:solidFill>
                  <a:srgbClr val="1F2937"/>
                </a:solidFill>
                <a:latin typeface="Calibri"/>
              </a:rPr>
              <a:t>{{LEVEL_3_NAME}}</a:t>
            </a:r>
          </a:p>
        </p:txBody>
      </p:sp>
      <p:sp>
        <p:nvSpPr>
          <p:cNvPr id="39" name="TextBox 38"/>
          <p:cNvSpPr txBox="1"/>
          <p:nvPr/>
        </p:nvSpPr>
        <p:spPr>
          <a:xfrm>
            <a:off x="4663440" y="4123944"/>
            <a:ext cx="3017520" cy="164592"/>
          </a:xfrm>
          <a:prstGeom prst="rect">
            <a:avLst/>
          </a:prstGeom>
          <a:noFill/>
        </p:spPr>
        <p:txBody>
          <a:bodyPr wrap="square" lIns="0" rIns="0" tIns="0" bIns="0" anchor="ctr">
            <a:spAutoFit/>
          </a:bodyPr>
          <a:lstStyle/>
          <a:p>
            <a:pPr algn="r"/>
            <a:r>
              <a:rPr sz="1050" b="1" i="0">
                <a:solidFill>
                  <a:srgbClr val="003D7A"/>
                </a:solidFill>
                <a:latin typeface="Calibri"/>
              </a:rPr>
              <a:t>{{LEVEL_3_PRICE}}</a:t>
            </a:r>
          </a:p>
        </p:txBody>
      </p:sp>
      <p:sp>
        <p:nvSpPr>
          <p:cNvPr id="40" name="TextBox 39"/>
          <p:cNvSpPr txBox="1"/>
          <p:nvPr/>
        </p:nvSpPr>
        <p:spPr>
          <a:xfrm>
            <a:off x="7863840" y="4123944"/>
            <a:ext cx="3749039" cy="164592"/>
          </a:xfrm>
          <a:prstGeom prst="rect">
            <a:avLst/>
          </a:prstGeom>
          <a:noFill/>
        </p:spPr>
        <p:txBody>
          <a:bodyPr wrap="square" lIns="0" rIns="0" tIns="0" bIns="0" anchor="ctr">
            <a:spAutoFit/>
          </a:bodyPr>
          <a:lstStyle/>
          <a:p>
            <a:pPr algn="r"/>
            <a:r>
              <a:rPr sz="1050" b="1" i="0">
                <a:solidFill>
                  <a:srgbClr val="1F2937"/>
                </a:solidFill>
                <a:latin typeface="Calibri"/>
              </a:rPr>
              <a:t>{{LEVEL_3_DELTA}}</a:t>
            </a:r>
          </a:p>
        </p:txBody>
      </p:sp>
      <p:sp>
        <p:nvSpPr>
          <p:cNvPr id="41" name="TextBox 40"/>
          <p:cNvSpPr txBox="1"/>
          <p:nvPr/>
        </p:nvSpPr>
        <p:spPr>
          <a:xfrm>
            <a:off x="548640" y="4379976"/>
            <a:ext cx="3931920" cy="164592"/>
          </a:xfrm>
          <a:prstGeom prst="rect">
            <a:avLst/>
          </a:prstGeom>
          <a:noFill/>
        </p:spPr>
        <p:txBody>
          <a:bodyPr wrap="square" lIns="0" rIns="0" tIns="0" bIns="0" anchor="ctr">
            <a:spAutoFit/>
          </a:bodyPr>
          <a:lstStyle/>
          <a:p>
            <a:pPr algn="l"/>
            <a:r>
              <a:rPr sz="1050" b="0" i="0">
                <a:solidFill>
                  <a:srgbClr val="1F2937"/>
                </a:solidFill>
                <a:latin typeface="Calibri"/>
              </a:rPr>
              <a:t>{{LEVEL_4_NAME}}</a:t>
            </a:r>
          </a:p>
        </p:txBody>
      </p:sp>
      <p:sp>
        <p:nvSpPr>
          <p:cNvPr id="42" name="TextBox 41"/>
          <p:cNvSpPr txBox="1"/>
          <p:nvPr/>
        </p:nvSpPr>
        <p:spPr>
          <a:xfrm>
            <a:off x="4663440" y="4379976"/>
            <a:ext cx="3017520" cy="164592"/>
          </a:xfrm>
          <a:prstGeom prst="rect">
            <a:avLst/>
          </a:prstGeom>
          <a:noFill/>
        </p:spPr>
        <p:txBody>
          <a:bodyPr wrap="square" lIns="0" rIns="0" tIns="0" bIns="0" anchor="ctr">
            <a:spAutoFit/>
          </a:bodyPr>
          <a:lstStyle/>
          <a:p>
            <a:pPr algn="r"/>
            <a:r>
              <a:rPr sz="1050" b="1" i="0">
                <a:solidFill>
                  <a:srgbClr val="003D7A"/>
                </a:solidFill>
                <a:latin typeface="Calibri"/>
              </a:rPr>
              <a:t>{{LEVEL_4_PRICE}}</a:t>
            </a:r>
          </a:p>
        </p:txBody>
      </p:sp>
      <p:sp>
        <p:nvSpPr>
          <p:cNvPr id="43" name="TextBox 42"/>
          <p:cNvSpPr txBox="1"/>
          <p:nvPr/>
        </p:nvSpPr>
        <p:spPr>
          <a:xfrm>
            <a:off x="7863840" y="4379976"/>
            <a:ext cx="3749039" cy="164592"/>
          </a:xfrm>
          <a:prstGeom prst="rect">
            <a:avLst/>
          </a:prstGeom>
          <a:noFill/>
        </p:spPr>
        <p:txBody>
          <a:bodyPr wrap="square" lIns="0" rIns="0" tIns="0" bIns="0" anchor="ctr">
            <a:spAutoFit/>
          </a:bodyPr>
          <a:lstStyle/>
          <a:p>
            <a:pPr algn="r"/>
            <a:r>
              <a:rPr sz="1050" b="1" i="0">
                <a:solidFill>
                  <a:srgbClr val="1F2937"/>
                </a:solidFill>
                <a:latin typeface="Calibri"/>
              </a:rPr>
              <a:t>{{LEVEL_4_DELTA}}</a:t>
            </a:r>
          </a:p>
        </p:txBody>
      </p:sp>
      <p:sp>
        <p:nvSpPr>
          <p:cNvPr id="44" name="Rectangle 43"/>
          <p:cNvSpPr/>
          <p:nvPr/>
        </p:nvSpPr>
        <p:spPr>
          <a:xfrm>
            <a:off x="457200" y="4590288"/>
            <a:ext cx="11247120" cy="256032"/>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48640" y="4636008"/>
            <a:ext cx="3931920" cy="164592"/>
          </a:xfrm>
          <a:prstGeom prst="rect">
            <a:avLst/>
          </a:prstGeom>
          <a:noFill/>
        </p:spPr>
        <p:txBody>
          <a:bodyPr wrap="square" lIns="0" rIns="0" tIns="0" bIns="0" anchor="ctr">
            <a:spAutoFit/>
          </a:bodyPr>
          <a:lstStyle/>
          <a:p>
            <a:pPr algn="l"/>
            <a:r>
              <a:rPr sz="1050" b="0" i="0">
                <a:solidFill>
                  <a:srgbClr val="1F2937"/>
                </a:solidFill>
                <a:latin typeface="Calibri"/>
              </a:rPr>
              <a:t>{{LEVEL_5_NAME}}</a:t>
            </a:r>
          </a:p>
        </p:txBody>
      </p:sp>
      <p:sp>
        <p:nvSpPr>
          <p:cNvPr id="46" name="TextBox 45"/>
          <p:cNvSpPr txBox="1"/>
          <p:nvPr/>
        </p:nvSpPr>
        <p:spPr>
          <a:xfrm>
            <a:off x="4663440" y="4636008"/>
            <a:ext cx="3017520" cy="164592"/>
          </a:xfrm>
          <a:prstGeom prst="rect">
            <a:avLst/>
          </a:prstGeom>
          <a:noFill/>
        </p:spPr>
        <p:txBody>
          <a:bodyPr wrap="square" lIns="0" rIns="0" tIns="0" bIns="0" anchor="ctr">
            <a:spAutoFit/>
          </a:bodyPr>
          <a:lstStyle/>
          <a:p>
            <a:pPr algn="r"/>
            <a:r>
              <a:rPr sz="1050" b="1" i="0">
                <a:solidFill>
                  <a:srgbClr val="003D7A"/>
                </a:solidFill>
                <a:latin typeface="Calibri"/>
              </a:rPr>
              <a:t>{{LEVEL_5_PRICE}}</a:t>
            </a:r>
          </a:p>
        </p:txBody>
      </p:sp>
      <p:sp>
        <p:nvSpPr>
          <p:cNvPr id="47" name="TextBox 46"/>
          <p:cNvSpPr txBox="1"/>
          <p:nvPr/>
        </p:nvSpPr>
        <p:spPr>
          <a:xfrm>
            <a:off x="7863840" y="4636008"/>
            <a:ext cx="3749039" cy="164592"/>
          </a:xfrm>
          <a:prstGeom prst="rect">
            <a:avLst/>
          </a:prstGeom>
          <a:noFill/>
        </p:spPr>
        <p:txBody>
          <a:bodyPr wrap="square" lIns="0" rIns="0" tIns="0" bIns="0" anchor="ctr">
            <a:spAutoFit/>
          </a:bodyPr>
          <a:lstStyle/>
          <a:p>
            <a:pPr algn="r"/>
            <a:r>
              <a:rPr sz="1050" b="1" i="0">
                <a:solidFill>
                  <a:srgbClr val="1F2937"/>
                </a:solidFill>
                <a:latin typeface="Calibri"/>
              </a:rPr>
              <a:t>{{LEVEL_5_DELTA}}</a:t>
            </a:r>
          </a:p>
        </p:txBody>
      </p:sp>
      <p:sp>
        <p:nvSpPr>
          <p:cNvPr id="48" name="TextBox 47"/>
          <p:cNvSpPr txBox="1"/>
          <p:nvPr/>
        </p:nvSpPr>
        <p:spPr>
          <a:xfrm>
            <a:off x="548640" y="4892040"/>
            <a:ext cx="3931920" cy="164592"/>
          </a:xfrm>
          <a:prstGeom prst="rect">
            <a:avLst/>
          </a:prstGeom>
          <a:noFill/>
        </p:spPr>
        <p:txBody>
          <a:bodyPr wrap="square" lIns="0" rIns="0" tIns="0" bIns="0" anchor="ctr">
            <a:spAutoFit/>
          </a:bodyPr>
          <a:lstStyle/>
          <a:p>
            <a:pPr algn="l"/>
            <a:r>
              <a:rPr sz="1050" b="0" i="0">
                <a:solidFill>
                  <a:srgbClr val="1F2937"/>
                </a:solidFill>
                <a:latin typeface="Calibri"/>
              </a:rPr>
              <a:t>{{LEVEL_6_NAME}}</a:t>
            </a:r>
          </a:p>
        </p:txBody>
      </p:sp>
      <p:sp>
        <p:nvSpPr>
          <p:cNvPr id="49" name="TextBox 48"/>
          <p:cNvSpPr txBox="1"/>
          <p:nvPr/>
        </p:nvSpPr>
        <p:spPr>
          <a:xfrm>
            <a:off x="4663440" y="4892040"/>
            <a:ext cx="3017520" cy="164592"/>
          </a:xfrm>
          <a:prstGeom prst="rect">
            <a:avLst/>
          </a:prstGeom>
          <a:noFill/>
        </p:spPr>
        <p:txBody>
          <a:bodyPr wrap="square" lIns="0" rIns="0" tIns="0" bIns="0" anchor="ctr">
            <a:spAutoFit/>
          </a:bodyPr>
          <a:lstStyle/>
          <a:p>
            <a:pPr algn="r"/>
            <a:r>
              <a:rPr sz="1050" b="1" i="0">
                <a:solidFill>
                  <a:srgbClr val="003D7A"/>
                </a:solidFill>
                <a:latin typeface="Calibri"/>
              </a:rPr>
              <a:t>{{LEVEL_6_PRICE}}</a:t>
            </a:r>
          </a:p>
        </p:txBody>
      </p:sp>
      <p:sp>
        <p:nvSpPr>
          <p:cNvPr id="50" name="TextBox 49"/>
          <p:cNvSpPr txBox="1"/>
          <p:nvPr/>
        </p:nvSpPr>
        <p:spPr>
          <a:xfrm>
            <a:off x="7863840" y="4892040"/>
            <a:ext cx="3749039" cy="164592"/>
          </a:xfrm>
          <a:prstGeom prst="rect">
            <a:avLst/>
          </a:prstGeom>
          <a:noFill/>
        </p:spPr>
        <p:txBody>
          <a:bodyPr wrap="square" lIns="0" rIns="0" tIns="0" bIns="0" anchor="ctr">
            <a:spAutoFit/>
          </a:bodyPr>
          <a:lstStyle/>
          <a:p>
            <a:pPr algn="r"/>
            <a:r>
              <a:rPr sz="1050" b="1" i="0">
                <a:solidFill>
                  <a:srgbClr val="1F2937"/>
                </a:solidFill>
                <a:latin typeface="Calibri"/>
              </a:rPr>
              <a:t>{{LEVEL_6_DELTA}}</a:t>
            </a:r>
          </a:p>
        </p:txBody>
      </p:sp>
      <p:sp>
        <p:nvSpPr>
          <p:cNvPr id="51" name="Rectangle 50"/>
          <p:cNvSpPr/>
          <p:nvPr/>
        </p:nvSpPr>
        <p:spPr>
          <a:xfrm>
            <a:off x="457200" y="5102352"/>
            <a:ext cx="11247120" cy="256032"/>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8640" y="5148072"/>
            <a:ext cx="3931920" cy="164592"/>
          </a:xfrm>
          <a:prstGeom prst="rect">
            <a:avLst/>
          </a:prstGeom>
          <a:noFill/>
        </p:spPr>
        <p:txBody>
          <a:bodyPr wrap="square" lIns="0" rIns="0" tIns="0" bIns="0" anchor="ctr">
            <a:spAutoFit/>
          </a:bodyPr>
          <a:lstStyle/>
          <a:p>
            <a:pPr algn="l"/>
            <a:r>
              <a:rPr sz="1050" b="0" i="0">
                <a:solidFill>
                  <a:srgbClr val="1F2937"/>
                </a:solidFill>
                <a:latin typeface="Calibri"/>
              </a:rPr>
              <a:t>{{LEVEL_7_NAME}}</a:t>
            </a:r>
          </a:p>
        </p:txBody>
      </p:sp>
      <p:sp>
        <p:nvSpPr>
          <p:cNvPr id="53" name="TextBox 52"/>
          <p:cNvSpPr txBox="1"/>
          <p:nvPr/>
        </p:nvSpPr>
        <p:spPr>
          <a:xfrm>
            <a:off x="4663440" y="5148072"/>
            <a:ext cx="3017520" cy="164592"/>
          </a:xfrm>
          <a:prstGeom prst="rect">
            <a:avLst/>
          </a:prstGeom>
          <a:noFill/>
        </p:spPr>
        <p:txBody>
          <a:bodyPr wrap="square" lIns="0" rIns="0" tIns="0" bIns="0" anchor="ctr">
            <a:spAutoFit/>
          </a:bodyPr>
          <a:lstStyle/>
          <a:p>
            <a:pPr algn="r"/>
            <a:r>
              <a:rPr sz="1050" b="1" i="0">
                <a:solidFill>
                  <a:srgbClr val="003D7A"/>
                </a:solidFill>
                <a:latin typeface="Calibri"/>
              </a:rPr>
              <a:t>{{LEVEL_7_PRICE}}</a:t>
            </a:r>
          </a:p>
        </p:txBody>
      </p:sp>
      <p:sp>
        <p:nvSpPr>
          <p:cNvPr id="54" name="TextBox 53"/>
          <p:cNvSpPr txBox="1"/>
          <p:nvPr/>
        </p:nvSpPr>
        <p:spPr>
          <a:xfrm>
            <a:off x="7863840" y="5148072"/>
            <a:ext cx="3749039" cy="164592"/>
          </a:xfrm>
          <a:prstGeom prst="rect">
            <a:avLst/>
          </a:prstGeom>
          <a:noFill/>
        </p:spPr>
        <p:txBody>
          <a:bodyPr wrap="square" lIns="0" rIns="0" tIns="0" bIns="0" anchor="ctr">
            <a:spAutoFit/>
          </a:bodyPr>
          <a:lstStyle/>
          <a:p>
            <a:pPr algn="r"/>
            <a:r>
              <a:rPr sz="1050" b="1" i="0">
                <a:solidFill>
                  <a:srgbClr val="1F2937"/>
                </a:solidFill>
                <a:latin typeface="Calibri"/>
              </a:rPr>
              <a:t>{{LEVEL_7_DELTA}}</a:t>
            </a:r>
          </a:p>
        </p:txBody>
      </p:sp>
      <p:sp>
        <p:nvSpPr>
          <p:cNvPr id="55" name="TextBox 54"/>
          <p:cNvSpPr txBox="1"/>
          <p:nvPr/>
        </p:nvSpPr>
        <p:spPr>
          <a:xfrm>
            <a:off x="548640" y="5404104"/>
            <a:ext cx="3931920" cy="164592"/>
          </a:xfrm>
          <a:prstGeom prst="rect">
            <a:avLst/>
          </a:prstGeom>
          <a:noFill/>
        </p:spPr>
        <p:txBody>
          <a:bodyPr wrap="square" lIns="0" rIns="0" tIns="0" bIns="0" anchor="ctr">
            <a:spAutoFit/>
          </a:bodyPr>
          <a:lstStyle/>
          <a:p>
            <a:pPr algn="l"/>
            <a:r>
              <a:rPr sz="1050" b="0" i="0">
                <a:solidFill>
                  <a:srgbClr val="1F2937"/>
                </a:solidFill>
                <a:latin typeface="Calibri"/>
              </a:rPr>
              <a:t>{{LEVEL_8_NAME}}</a:t>
            </a:r>
          </a:p>
        </p:txBody>
      </p:sp>
      <p:sp>
        <p:nvSpPr>
          <p:cNvPr id="56" name="TextBox 55"/>
          <p:cNvSpPr txBox="1"/>
          <p:nvPr/>
        </p:nvSpPr>
        <p:spPr>
          <a:xfrm>
            <a:off x="4663440" y="5404104"/>
            <a:ext cx="3017520" cy="164592"/>
          </a:xfrm>
          <a:prstGeom prst="rect">
            <a:avLst/>
          </a:prstGeom>
          <a:noFill/>
        </p:spPr>
        <p:txBody>
          <a:bodyPr wrap="square" lIns="0" rIns="0" tIns="0" bIns="0" anchor="ctr">
            <a:spAutoFit/>
          </a:bodyPr>
          <a:lstStyle/>
          <a:p>
            <a:pPr algn="r"/>
            <a:r>
              <a:rPr sz="1050" b="1" i="0">
                <a:solidFill>
                  <a:srgbClr val="003D7A"/>
                </a:solidFill>
                <a:latin typeface="Calibri"/>
              </a:rPr>
              <a:t>{{LEVEL_8_PRICE}}</a:t>
            </a:r>
          </a:p>
        </p:txBody>
      </p:sp>
      <p:sp>
        <p:nvSpPr>
          <p:cNvPr id="57" name="TextBox 56"/>
          <p:cNvSpPr txBox="1"/>
          <p:nvPr/>
        </p:nvSpPr>
        <p:spPr>
          <a:xfrm>
            <a:off x="7863840" y="5404104"/>
            <a:ext cx="3749039" cy="164592"/>
          </a:xfrm>
          <a:prstGeom prst="rect">
            <a:avLst/>
          </a:prstGeom>
          <a:noFill/>
        </p:spPr>
        <p:txBody>
          <a:bodyPr wrap="square" lIns="0" rIns="0" tIns="0" bIns="0" anchor="ctr">
            <a:spAutoFit/>
          </a:bodyPr>
          <a:lstStyle/>
          <a:p>
            <a:pPr algn="r"/>
            <a:r>
              <a:rPr sz="1050" b="1" i="0">
                <a:solidFill>
                  <a:srgbClr val="1F2937"/>
                </a:solidFill>
                <a:latin typeface="Calibri"/>
              </a:rPr>
              <a:t>{{LEVEL_8_DELTA}}</a:t>
            </a:r>
          </a:p>
        </p:txBody>
      </p:sp>
      <p:sp>
        <p:nvSpPr>
          <p:cNvPr id="58" name="TextBox 57"/>
          <p:cNvSpPr txBox="1"/>
          <p:nvPr/>
        </p:nvSpPr>
        <p:spPr>
          <a:xfrm>
            <a:off x="457200" y="6537960"/>
            <a:ext cx="9144000" cy="274320"/>
          </a:xfrm>
          <a:prstGeom prst="rect">
            <a:avLst/>
          </a:prstGeom>
          <a:noFill/>
        </p:spPr>
        <p:txBody>
          <a:bodyPr wrap="square" lIns="0" rIns="0" tIns="0" bIns="0" anchor="t">
            <a:spAutoFit/>
          </a:bodyPr>
          <a:lstStyle/>
          <a:p>
            <a:pPr algn="l"/>
            <a:r>
              <a:rPr sz="900" b="0" i="0">
                <a:solidFill>
                  <a:srgbClr val="9CA3AF"/>
                </a:solidFill>
                <a:latin typeface="Calibri"/>
              </a:rPr>
              <a:t>{{FOOTER_LEFT}}</a:t>
            </a:r>
          </a:p>
        </p:txBody>
      </p:sp>
      <p:sp>
        <p:nvSpPr>
          <p:cNvPr id="59" name="TextBox 58"/>
          <p:cNvSpPr txBox="1"/>
          <p:nvPr/>
        </p:nvSpPr>
        <p:spPr>
          <a:xfrm>
            <a:off x="11247120" y="6537960"/>
            <a:ext cx="457200" cy="274320"/>
          </a:xfrm>
          <a:prstGeom prst="rect">
            <a:avLst/>
          </a:prstGeom>
          <a:noFill/>
        </p:spPr>
        <p:txBody>
          <a:bodyPr wrap="square" lIns="0" rIns="0" tIns="0" bIns="0" anchor="t">
            <a:spAutoFit/>
          </a:bodyPr>
          <a:lstStyle/>
          <a:p>
            <a:pPr algn="r"/>
            <a:r>
              <a:rPr sz="900" b="1" i="0">
                <a:solidFill>
                  <a:srgbClr val="003D7A"/>
                </a:solidFill>
                <a:latin typeface="Calibri"/>
              </a:rPr>
              <a:t>{{PAGE_NUM}}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DATA_TABLE_FULL">
    <p:spTree>
      <p:nvGrpSpPr>
        <p:cNvPr id="1" name=""/>
        <p:cNvGrpSpPr/>
        <p:nvPr/>
      </p:nvGrpSpPr>
      <p:grpSpPr/>
      <p:sp>
        <p:nvSpPr>
          <p:cNvPr id="2" name="Rectangle 1"/>
          <p:cNvSpPr/>
          <p:nvPr/>
        </p:nvSpPr>
        <p:spPr>
          <a:xfrm>
            <a:off x="457200" y="411480"/>
            <a:ext cx="73152" cy="64008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1064240" cy="502920"/>
          </a:xfrm>
          <a:prstGeom prst="rect">
            <a:avLst/>
          </a:prstGeom>
          <a:noFill/>
        </p:spPr>
        <p:txBody>
          <a:bodyPr wrap="square" lIns="0" rIns="0" tIns="0" bIns="0" anchor="ctr">
            <a:spAutoFit/>
          </a:bodyPr>
          <a:lstStyle/>
          <a:p>
            <a:pPr algn="l"/>
            <a:r>
              <a:rPr sz="2600" b="1" i="0">
                <a:solidFill>
                  <a:srgbClr val="003D7A"/>
                </a:solidFill>
                <a:latin typeface="Calibri"/>
              </a:rPr>
              <a:t>{{SECTION_TITLE}}</a:t>
            </a:r>
          </a:p>
        </p:txBody>
      </p:sp>
      <p:sp>
        <p:nvSpPr>
          <p:cNvPr id="4" name="TextBox 3"/>
          <p:cNvSpPr txBox="1"/>
          <p:nvPr/>
        </p:nvSpPr>
        <p:spPr>
          <a:xfrm>
            <a:off x="640080" y="868680"/>
            <a:ext cx="11064240" cy="274320"/>
          </a:xfrm>
          <a:prstGeom prst="rect">
            <a:avLst/>
          </a:prstGeom>
          <a:noFill/>
        </p:spPr>
        <p:txBody>
          <a:bodyPr wrap="square" lIns="0" rIns="0" tIns="0" bIns="0" anchor="t">
            <a:spAutoFit/>
          </a:bodyPr>
          <a:lstStyle/>
          <a:p>
            <a:pPr algn="l"/>
            <a:r>
              <a:rPr sz="1200" b="0" i="1">
                <a:solidFill>
                  <a:srgbClr val="4A5568"/>
                </a:solidFill>
                <a:latin typeface="Calibri"/>
              </a:rPr>
              <a:t>{{SECTION_SUB}}</a:t>
            </a:r>
          </a:p>
        </p:txBody>
      </p:sp>
      <p:sp>
        <p:nvSpPr>
          <p:cNvPr id="5" name="Rectangle 4"/>
          <p:cNvSpPr/>
          <p:nvPr/>
        </p:nvSpPr>
        <p:spPr>
          <a:xfrm>
            <a:off x="457200" y="1371600"/>
            <a:ext cx="11247120" cy="36576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17320"/>
            <a:ext cx="365759" cy="274320"/>
          </a:xfrm>
          <a:prstGeom prst="rect">
            <a:avLst/>
          </a:prstGeom>
          <a:noFill/>
        </p:spPr>
        <p:txBody>
          <a:bodyPr wrap="square" lIns="0" rIns="0" tIns="0" bIns="0" anchor="ctr">
            <a:spAutoFit/>
          </a:bodyPr>
          <a:lstStyle/>
          <a:p>
            <a:pPr algn="ctr"/>
            <a:r>
              <a:rPr sz="900" b="1" i="0">
                <a:solidFill>
                  <a:srgbClr val="FFFFFF"/>
                </a:solidFill>
                <a:latin typeface="Calibri"/>
              </a:rPr>
              <a:t>{{COL_1_HEAD}}</a:t>
            </a:r>
          </a:p>
        </p:txBody>
      </p:sp>
      <p:sp>
        <p:nvSpPr>
          <p:cNvPr id="7" name="TextBox 6"/>
          <p:cNvSpPr txBox="1"/>
          <p:nvPr/>
        </p:nvSpPr>
        <p:spPr>
          <a:xfrm>
            <a:off x="1097280" y="1417320"/>
            <a:ext cx="3017520" cy="274320"/>
          </a:xfrm>
          <a:prstGeom prst="rect">
            <a:avLst/>
          </a:prstGeom>
          <a:noFill/>
        </p:spPr>
        <p:txBody>
          <a:bodyPr wrap="square" lIns="0" rIns="0" tIns="0" bIns="0" anchor="ctr">
            <a:spAutoFit/>
          </a:bodyPr>
          <a:lstStyle/>
          <a:p>
            <a:pPr algn="l"/>
            <a:r>
              <a:rPr sz="900" b="1" i="0">
                <a:solidFill>
                  <a:srgbClr val="FFFFFF"/>
                </a:solidFill>
                <a:latin typeface="Calibri"/>
              </a:rPr>
              <a:t>{{COL_2_HEAD}}</a:t>
            </a:r>
          </a:p>
        </p:txBody>
      </p:sp>
      <p:sp>
        <p:nvSpPr>
          <p:cNvPr id="8" name="TextBox 7"/>
          <p:cNvSpPr txBox="1"/>
          <p:nvPr/>
        </p:nvSpPr>
        <p:spPr>
          <a:xfrm>
            <a:off x="4297679" y="1417320"/>
            <a:ext cx="1280160" cy="274320"/>
          </a:xfrm>
          <a:prstGeom prst="rect">
            <a:avLst/>
          </a:prstGeom>
          <a:noFill/>
        </p:spPr>
        <p:txBody>
          <a:bodyPr wrap="square" lIns="0" rIns="0" tIns="0" bIns="0" anchor="ctr">
            <a:spAutoFit/>
          </a:bodyPr>
          <a:lstStyle/>
          <a:p>
            <a:pPr algn="r"/>
            <a:r>
              <a:rPr sz="900" b="1" i="0">
                <a:solidFill>
                  <a:srgbClr val="FFFFFF"/>
                </a:solidFill>
                <a:latin typeface="Calibri"/>
              </a:rPr>
              <a:t>{{COL_3_HEAD}}</a:t>
            </a:r>
          </a:p>
        </p:txBody>
      </p:sp>
      <p:sp>
        <p:nvSpPr>
          <p:cNvPr id="9" name="TextBox 8"/>
          <p:cNvSpPr txBox="1"/>
          <p:nvPr/>
        </p:nvSpPr>
        <p:spPr>
          <a:xfrm>
            <a:off x="5760719" y="1417320"/>
            <a:ext cx="1280160" cy="274320"/>
          </a:xfrm>
          <a:prstGeom prst="rect">
            <a:avLst/>
          </a:prstGeom>
          <a:noFill/>
        </p:spPr>
        <p:txBody>
          <a:bodyPr wrap="square" lIns="0" rIns="0" tIns="0" bIns="0" anchor="ctr">
            <a:spAutoFit/>
          </a:bodyPr>
          <a:lstStyle/>
          <a:p>
            <a:pPr algn="r"/>
            <a:r>
              <a:rPr sz="900" b="1" i="0">
                <a:solidFill>
                  <a:srgbClr val="FFFFFF"/>
                </a:solidFill>
                <a:latin typeface="Calibri"/>
              </a:rPr>
              <a:t>{{COL_4_HEAD}}</a:t>
            </a:r>
          </a:p>
        </p:txBody>
      </p:sp>
      <p:sp>
        <p:nvSpPr>
          <p:cNvPr id="10" name="TextBox 9"/>
          <p:cNvSpPr txBox="1"/>
          <p:nvPr/>
        </p:nvSpPr>
        <p:spPr>
          <a:xfrm>
            <a:off x="7223759" y="1417320"/>
            <a:ext cx="1097280" cy="274320"/>
          </a:xfrm>
          <a:prstGeom prst="rect">
            <a:avLst/>
          </a:prstGeom>
          <a:noFill/>
        </p:spPr>
        <p:txBody>
          <a:bodyPr wrap="square" lIns="0" rIns="0" tIns="0" bIns="0" anchor="ctr">
            <a:spAutoFit/>
          </a:bodyPr>
          <a:lstStyle/>
          <a:p>
            <a:pPr algn="r"/>
            <a:r>
              <a:rPr sz="900" b="1" i="0">
                <a:solidFill>
                  <a:srgbClr val="FFFFFF"/>
                </a:solidFill>
                <a:latin typeface="Calibri"/>
              </a:rPr>
              <a:t>{{COL_5_HEAD}}</a:t>
            </a:r>
          </a:p>
        </p:txBody>
      </p:sp>
      <p:sp>
        <p:nvSpPr>
          <p:cNvPr id="11" name="TextBox 10"/>
          <p:cNvSpPr txBox="1"/>
          <p:nvPr/>
        </p:nvSpPr>
        <p:spPr>
          <a:xfrm>
            <a:off x="8503919" y="1417320"/>
            <a:ext cx="1097280" cy="274320"/>
          </a:xfrm>
          <a:prstGeom prst="rect">
            <a:avLst/>
          </a:prstGeom>
          <a:noFill/>
        </p:spPr>
        <p:txBody>
          <a:bodyPr wrap="square" lIns="0" rIns="0" tIns="0" bIns="0" anchor="ctr">
            <a:spAutoFit/>
          </a:bodyPr>
          <a:lstStyle/>
          <a:p>
            <a:pPr algn="r"/>
            <a:r>
              <a:rPr sz="900" b="1" i="0">
                <a:solidFill>
                  <a:srgbClr val="FFFFFF"/>
                </a:solidFill>
                <a:latin typeface="Calibri"/>
              </a:rPr>
              <a:t>{{COL_6_HEAD}}</a:t>
            </a:r>
          </a:p>
        </p:txBody>
      </p:sp>
      <p:sp>
        <p:nvSpPr>
          <p:cNvPr id="12" name="TextBox 11"/>
          <p:cNvSpPr txBox="1"/>
          <p:nvPr/>
        </p:nvSpPr>
        <p:spPr>
          <a:xfrm>
            <a:off x="9784080" y="1417320"/>
            <a:ext cx="914400" cy="274320"/>
          </a:xfrm>
          <a:prstGeom prst="rect">
            <a:avLst/>
          </a:prstGeom>
          <a:noFill/>
        </p:spPr>
        <p:txBody>
          <a:bodyPr wrap="square" lIns="0" rIns="0" tIns="0" bIns="0" anchor="ctr">
            <a:spAutoFit/>
          </a:bodyPr>
          <a:lstStyle/>
          <a:p>
            <a:pPr algn="r"/>
            <a:r>
              <a:rPr sz="900" b="1" i="0">
                <a:solidFill>
                  <a:srgbClr val="FFFFFF"/>
                </a:solidFill>
                <a:latin typeface="Calibri"/>
              </a:rPr>
              <a:t>{{COL_7_HEAD}}</a:t>
            </a:r>
          </a:p>
        </p:txBody>
      </p:sp>
      <p:sp>
        <p:nvSpPr>
          <p:cNvPr id="13" name="TextBox 12"/>
          <p:cNvSpPr txBox="1"/>
          <p:nvPr/>
        </p:nvSpPr>
        <p:spPr>
          <a:xfrm>
            <a:off x="10881359" y="1417320"/>
            <a:ext cx="731520" cy="274320"/>
          </a:xfrm>
          <a:prstGeom prst="rect">
            <a:avLst/>
          </a:prstGeom>
          <a:noFill/>
        </p:spPr>
        <p:txBody>
          <a:bodyPr wrap="square" lIns="0" rIns="0" tIns="0" bIns="0" anchor="ctr">
            <a:spAutoFit/>
          </a:bodyPr>
          <a:lstStyle/>
          <a:p>
            <a:pPr algn="r"/>
            <a:r>
              <a:rPr sz="900" b="1" i="0">
                <a:solidFill>
                  <a:srgbClr val="FFFFFF"/>
                </a:solidFill>
                <a:latin typeface="Calibri"/>
              </a:rPr>
              <a:t>{{COL_8_HEAD}}</a:t>
            </a:r>
          </a:p>
        </p:txBody>
      </p:sp>
      <p:sp>
        <p:nvSpPr>
          <p:cNvPr id="14" name="Rectangle 13"/>
          <p:cNvSpPr/>
          <p:nvPr/>
        </p:nvSpPr>
        <p:spPr>
          <a:xfrm>
            <a:off x="457200" y="1737360"/>
            <a:ext cx="11247120" cy="38404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1783080"/>
            <a:ext cx="365759" cy="292607"/>
          </a:xfrm>
          <a:prstGeom prst="rect">
            <a:avLst/>
          </a:prstGeom>
          <a:noFill/>
        </p:spPr>
        <p:txBody>
          <a:bodyPr wrap="square" lIns="0" rIns="0" tIns="0" bIns="0" anchor="ctr">
            <a:spAutoFit/>
          </a:bodyPr>
          <a:lstStyle/>
          <a:p>
            <a:pPr algn="ctr"/>
            <a:r>
              <a:rPr sz="1050" b="0" i="0">
                <a:solidFill>
                  <a:srgbClr val="4A5568"/>
                </a:solidFill>
                <a:latin typeface="Calibri"/>
              </a:rPr>
              <a:t>{{R1_C1}}</a:t>
            </a:r>
          </a:p>
        </p:txBody>
      </p:sp>
      <p:sp>
        <p:nvSpPr>
          <p:cNvPr id="16" name="TextBox 15"/>
          <p:cNvSpPr txBox="1"/>
          <p:nvPr/>
        </p:nvSpPr>
        <p:spPr>
          <a:xfrm>
            <a:off x="1097280" y="1783080"/>
            <a:ext cx="3017520" cy="292607"/>
          </a:xfrm>
          <a:prstGeom prst="rect">
            <a:avLst/>
          </a:prstGeom>
          <a:noFill/>
        </p:spPr>
        <p:txBody>
          <a:bodyPr wrap="square" lIns="0" rIns="0" tIns="0" bIns="0" anchor="ctr">
            <a:spAutoFit/>
          </a:bodyPr>
          <a:lstStyle/>
          <a:p>
            <a:pPr algn="l"/>
            <a:r>
              <a:rPr sz="1050" b="1" i="0">
                <a:solidFill>
                  <a:srgbClr val="1F2937"/>
                </a:solidFill>
                <a:latin typeface="Calibri"/>
              </a:rPr>
              <a:t>{{R1_C2}}</a:t>
            </a:r>
          </a:p>
        </p:txBody>
      </p:sp>
      <p:sp>
        <p:nvSpPr>
          <p:cNvPr id="17" name="TextBox 16"/>
          <p:cNvSpPr txBox="1"/>
          <p:nvPr/>
        </p:nvSpPr>
        <p:spPr>
          <a:xfrm>
            <a:off x="4297679" y="1783080"/>
            <a:ext cx="1280160" cy="292607"/>
          </a:xfrm>
          <a:prstGeom prst="rect">
            <a:avLst/>
          </a:prstGeom>
          <a:noFill/>
        </p:spPr>
        <p:txBody>
          <a:bodyPr wrap="square" lIns="0" rIns="0" tIns="0" bIns="0" anchor="ctr">
            <a:spAutoFit/>
          </a:bodyPr>
          <a:lstStyle/>
          <a:p>
            <a:pPr algn="r"/>
            <a:r>
              <a:rPr sz="1050" b="0" i="0">
                <a:solidFill>
                  <a:srgbClr val="1F2937"/>
                </a:solidFill>
                <a:latin typeface="Calibri"/>
              </a:rPr>
              <a:t>{{R1_C3}}</a:t>
            </a:r>
          </a:p>
        </p:txBody>
      </p:sp>
      <p:sp>
        <p:nvSpPr>
          <p:cNvPr id="18" name="TextBox 17"/>
          <p:cNvSpPr txBox="1"/>
          <p:nvPr/>
        </p:nvSpPr>
        <p:spPr>
          <a:xfrm>
            <a:off x="5760719" y="1783080"/>
            <a:ext cx="1280160" cy="292607"/>
          </a:xfrm>
          <a:prstGeom prst="rect">
            <a:avLst/>
          </a:prstGeom>
          <a:noFill/>
        </p:spPr>
        <p:txBody>
          <a:bodyPr wrap="square" lIns="0" rIns="0" tIns="0" bIns="0" anchor="ctr">
            <a:spAutoFit/>
          </a:bodyPr>
          <a:lstStyle/>
          <a:p>
            <a:pPr algn="r"/>
            <a:r>
              <a:rPr sz="1050" b="0" i="0">
                <a:solidFill>
                  <a:srgbClr val="1F2937"/>
                </a:solidFill>
                <a:latin typeface="Calibri"/>
              </a:rPr>
              <a:t>{{R1_C4}}</a:t>
            </a:r>
          </a:p>
        </p:txBody>
      </p:sp>
      <p:sp>
        <p:nvSpPr>
          <p:cNvPr id="19" name="TextBox 18"/>
          <p:cNvSpPr txBox="1"/>
          <p:nvPr/>
        </p:nvSpPr>
        <p:spPr>
          <a:xfrm>
            <a:off x="7223759" y="1783080"/>
            <a:ext cx="1097280" cy="292607"/>
          </a:xfrm>
          <a:prstGeom prst="rect">
            <a:avLst/>
          </a:prstGeom>
          <a:noFill/>
        </p:spPr>
        <p:txBody>
          <a:bodyPr wrap="square" lIns="0" rIns="0" tIns="0" bIns="0" anchor="ctr">
            <a:spAutoFit/>
          </a:bodyPr>
          <a:lstStyle/>
          <a:p>
            <a:pPr algn="r"/>
            <a:r>
              <a:rPr sz="1050" b="0" i="0">
                <a:solidFill>
                  <a:srgbClr val="1F2937"/>
                </a:solidFill>
                <a:latin typeface="Calibri"/>
              </a:rPr>
              <a:t>{{R1_C5}}</a:t>
            </a:r>
          </a:p>
        </p:txBody>
      </p:sp>
      <p:sp>
        <p:nvSpPr>
          <p:cNvPr id="20" name="TextBox 19"/>
          <p:cNvSpPr txBox="1"/>
          <p:nvPr/>
        </p:nvSpPr>
        <p:spPr>
          <a:xfrm>
            <a:off x="8503919" y="1783080"/>
            <a:ext cx="1097280" cy="292607"/>
          </a:xfrm>
          <a:prstGeom prst="rect">
            <a:avLst/>
          </a:prstGeom>
          <a:noFill/>
        </p:spPr>
        <p:txBody>
          <a:bodyPr wrap="square" lIns="0" rIns="0" tIns="0" bIns="0" anchor="ctr">
            <a:spAutoFit/>
          </a:bodyPr>
          <a:lstStyle/>
          <a:p>
            <a:pPr algn="r"/>
            <a:r>
              <a:rPr sz="1050" b="0" i="0">
                <a:solidFill>
                  <a:srgbClr val="1F2937"/>
                </a:solidFill>
                <a:latin typeface="Calibri"/>
              </a:rPr>
              <a:t>{{R1_C6}}</a:t>
            </a:r>
          </a:p>
        </p:txBody>
      </p:sp>
      <p:sp>
        <p:nvSpPr>
          <p:cNvPr id="21" name="TextBox 20"/>
          <p:cNvSpPr txBox="1"/>
          <p:nvPr/>
        </p:nvSpPr>
        <p:spPr>
          <a:xfrm>
            <a:off x="9784080" y="1783080"/>
            <a:ext cx="914400" cy="292607"/>
          </a:xfrm>
          <a:prstGeom prst="rect">
            <a:avLst/>
          </a:prstGeom>
          <a:noFill/>
        </p:spPr>
        <p:txBody>
          <a:bodyPr wrap="square" lIns="0" rIns="0" tIns="0" bIns="0" anchor="ctr">
            <a:spAutoFit/>
          </a:bodyPr>
          <a:lstStyle/>
          <a:p>
            <a:pPr algn="r"/>
            <a:r>
              <a:rPr sz="1050" b="0" i="0">
                <a:solidFill>
                  <a:srgbClr val="1F2937"/>
                </a:solidFill>
                <a:latin typeface="Calibri"/>
              </a:rPr>
              <a:t>{{R1_C7}}</a:t>
            </a:r>
          </a:p>
        </p:txBody>
      </p:sp>
      <p:sp>
        <p:nvSpPr>
          <p:cNvPr id="22" name="TextBox 21"/>
          <p:cNvSpPr txBox="1"/>
          <p:nvPr/>
        </p:nvSpPr>
        <p:spPr>
          <a:xfrm>
            <a:off x="10881359" y="1783080"/>
            <a:ext cx="731520" cy="292607"/>
          </a:xfrm>
          <a:prstGeom prst="rect">
            <a:avLst/>
          </a:prstGeom>
          <a:noFill/>
        </p:spPr>
        <p:txBody>
          <a:bodyPr wrap="square" lIns="0" rIns="0" tIns="0" bIns="0" anchor="ctr">
            <a:spAutoFit/>
          </a:bodyPr>
          <a:lstStyle/>
          <a:p>
            <a:pPr algn="r"/>
            <a:r>
              <a:rPr sz="1050" b="0" i="0">
                <a:solidFill>
                  <a:srgbClr val="1F2937"/>
                </a:solidFill>
                <a:latin typeface="Calibri"/>
              </a:rPr>
              <a:t>{{R1_C8}}</a:t>
            </a:r>
          </a:p>
        </p:txBody>
      </p:sp>
      <p:sp>
        <p:nvSpPr>
          <p:cNvPr id="23" name="TextBox 22"/>
          <p:cNvSpPr txBox="1"/>
          <p:nvPr/>
        </p:nvSpPr>
        <p:spPr>
          <a:xfrm>
            <a:off x="548640" y="2167127"/>
            <a:ext cx="365759" cy="292607"/>
          </a:xfrm>
          <a:prstGeom prst="rect">
            <a:avLst/>
          </a:prstGeom>
          <a:noFill/>
        </p:spPr>
        <p:txBody>
          <a:bodyPr wrap="square" lIns="0" rIns="0" tIns="0" bIns="0" anchor="ctr">
            <a:spAutoFit/>
          </a:bodyPr>
          <a:lstStyle/>
          <a:p>
            <a:pPr algn="ctr"/>
            <a:r>
              <a:rPr sz="1050" b="0" i="0">
                <a:solidFill>
                  <a:srgbClr val="4A5568"/>
                </a:solidFill>
                <a:latin typeface="Calibri"/>
              </a:rPr>
              <a:t>{{R2_C1}}</a:t>
            </a:r>
          </a:p>
        </p:txBody>
      </p:sp>
      <p:sp>
        <p:nvSpPr>
          <p:cNvPr id="24" name="TextBox 23"/>
          <p:cNvSpPr txBox="1"/>
          <p:nvPr/>
        </p:nvSpPr>
        <p:spPr>
          <a:xfrm>
            <a:off x="1097280" y="2167127"/>
            <a:ext cx="3017520" cy="292607"/>
          </a:xfrm>
          <a:prstGeom prst="rect">
            <a:avLst/>
          </a:prstGeom>
          <a:noFill/>
        </p:spPr>
        <p:txBody>
          <a:bodyPr wrap="square" lIns="0" rIns="0" tIns="0" bIns="0" anchor="ctr">
            <a:spAutoFit/>
          </a:bodyPr>
          <a:lstStyle/>
          <a:p>
            <a:pPr algn="l"/>
            <a:r>
              <a:rPr sz="1050" b="1" i="0">
                <a:solidFill>
                  <a:srgbClr val="1F2937"/>
                </a:solidFill>
                <a:latin typeface="Calibri"/>
              </a:rPr>
              <a:t>{{R2_C2}}</a:t>
            </a:r>
          </a:p>
        </p:txBody>
      </p:sp>
      <p:sp>
        <p:nvSpPr>
          <p:cNvPr id="25" name="TextBox 24"/>
          <p:cNvSpPr txBox="1"/>
          <p:nvPr/>
        </p:nvSpPr>
        <p:spPr>
          <a:xfrm>
            <a:off x="4297679" y="2167127"/>
            <a:ext cx="1280160" cy="292607"/>
          </a:xfrm>
          <a:prstGeom prst="rect">
            <a:avLst/>
          </a:prstGeom>
          <a:noFill/>
        </p:spPr>
        <p:txBody>
          <a:bodyPr wrap="square" lIns="0" rIns="0" tIns="0" bIns="0" anchor="ctr">
            <a:spAutoFit/>
          </a:bodyPr>
          <a:lstStyle/>
          <a:p>
            <a:pPr algn="r"/>
            <a:r>
              <a:rPr sz="1050" b="0" i="0">
                <a:solidFill>
                  <a:srgbClr val="1F2937"/>
                </a:solidFill>
                <a:latin typeface="Calibri"/>
              </a:rPr>
              <a:t>{{R2_C3}}</a:t>
            </a:r>
          </a:p>
        </p:txBody>
      </p:sp>
      <p:sp>
        <p:nvSpPr>
          <p:cNvPr id="26" name="TextBox 25"/>
          <p:cNvSpPr txBox="1"/>
          <p:nvPr/>
        </p:nvSpPr>
        <p:spPr>
          <a:xfrm>
            <a:off x="5760719" y="2167127"/>
            <a:ext cx="1280160" cy="292607"/>
          </a:xfrm>
          <a:prstGeom prst="rect">
            <a:avLst/>
          </a:prstGeom>
          <a:noFill/>
        </p:spPr>
        <p:txBody>
          <a:bodyPr wrap="square" lIns="0" rIns="0" tIns="0" bIns="0" anchor="ctr">
            <a:spAutoFit/>
          </a:bodyPr>
          <a:lstStyle/>
          <a:p>
            <a:pPr algn="r"/>
            <a:r>
              <a:rPr sz="1050" b="0" i="0">
                <a:solidFill>
                  <a:srgbClr val="1F2937"/>
                </a:solidFill>
                <a:latin typeface="Calibri"/>
              </a:rPr>
              <a:t>{{R2_C4}}</a:t>
            </a:r>
          </a:p>
        </p:txBody>
      </p:sp>
      <p:sp>
        <p:nvSpPr>
          <p:cNvPr id="27" name="TextBox 26"/>
          <p:cNvSpPr txBox="1"/>
          <p:nvPr/>
        </p:nvSpPr>
        <p:spPr>
          <a:xfrm>
            <a:off x="7223759" y="2167127"/>
            <a:ext cx="1097280" cy="292607"/>
          </a:xfrm>
          <a:prstGeom prst="rect">
            <a:avLst/>
          </a:prstGeom>
          <a:noFill/>
        </p:spPr>
        <p:txBody>
          <a:bodyPr wrap="square" lIns="0" rIns="0" tIns="0" bIns="0" anchor="ctr">
            <a:spAutoFit/>
          </a:bodyPr>
          <a:lstStyle/>
          <a:p>
            <a:pPr algn="r"/>
            <a:r>
              <a:rPr sz="1050" b="0" i="0">
                <a:solidFill>
                  <a:srgbClr val="1F2937"/>
                </a:solidFill>
                <a:latin typeface="Calibri"/>
              </a:rPr>
              <a:t>{{R2_C5}}</a:t>
            </a:r>
          </a:p>
        </p:txBody>
      </p:sp>
      <p:sp>
        <p:nvSpPr>
          <p:cNvPr id="28" name="TextBox 27"/>
          <p:cNvSpPr txBox="1"/>
          <p:nvPr/>
        </p:nvSpPr>
        <p:spPr>
          <a:xfrm>
            <a:off x="8503919" y="2167127"/>
            <a:ext cx="1097280" cy="292607"/>
          </a:xfrm>
          <a:prstGeom prst="rect">
            <a:avLst/>
          </a:prstGeom>
          <a:noFill/>
        </p:spPr>
        <p:txBody>
          <a:bodyPr wrap="square" lIns="0" rIns="0" tIns="0" bIns="0" anchor="ctr">
            <a:spAutoFit/>
          </a:bodyPr>
          <a:lstStyle/>
          <a:p>
            <a:pPr algn="r"/>
            <a:r>
              <a:rPr sz="1050" b="0" i="0">
                <a:solidFill>
                  <a:srgbClr val="1F2937"/>
                </a:solidFill>
                <a:latin typeface="Calibri"/>
              </a:rPr>
              <a:t>{{R2_C6}}</a:t>
            </a:r>
          </a:p>
        </p:txBody>
      </p:sp>
      <p:sp>
        <p:nvSpPr>
          <p:cNvPr id="29" name="TextBox 28"/>
          <p:cNvSpPr txBox="1"/>
          <p:nvPr/>
        </p:nvSpPr>
        <p:spPr>
          <a:xfrm>
            <a:off x="9784080" y="2167127"/>
            <a:ext cx="914400" cy="292607"/>
          </a:xfrm>
          <a:prstGeom prst="rect">
            <a:avLst/>
          </a:prstGeom>
          <a:noFill/>
        </p:spPr>
        <p:txBody>
          <a:bodyPr wrap="square" lIns="0" rIns="0" tIns="0" bIns="0" anchor="ctr">
            <a:spAutoFit/>
          </a:bodyPr>
          <a:lstStyle/>
          <a:p>
            <a:pPr algn="r"/>
            <a:r>
              <a:rPr sz="1050" b="0" i="0">
                <a:solidFill>
                  <a:srgbClr val="1F2937"/>
                </a:solidFill>
                <a:latin typeface="Calibri"/>
              </a:rPr>
              <a:t>{{R2_C7}}</a:t>
            </a:r>
          </a:p>
        </p:txBody>
      </p:sp>
      <p:sp>
        <p:nvSpPr>
          <p:cNvPr id="30" name="TextBox 29"/>
          <p:cNvSpPr txBox="1"/>
          <p:nvPr/>
        </p:nvSpPr>
        <p:spPr>
          <a:xfrm>
            <a:off x="10881359" y="2167127"/>
            <a:ext cx="731520" cy="292607"/>
          </a:xfrm>
          <a:prstGeom prst="rect">
            <a:avLst/>
          </a:prstGeom>
          <a:noFill/>
        </p:spPr>
        <p:txBody>
          <a:bodyPr wrap="square" lIns="0" rIns="0" tIns="0" bIns="0" anchor="ctr">
            <a:spAutoFit/>
          </a:bodyPr>
          <a:lstStyle/>
          <a:p>
            <a:pPr algn="r"/>
            <a:r>
              <a:rPr sz="1050" b="0" i="0">
                <a:solidFill>
                  <a:srgbClr val="1F2937"/>
                </a:solidFill>
                <a:latin typeface="Calibri"/>
              </a:rPr>
              <a:t>{{R2_C8}}</a:t>
            </a:r>
          </a:p>
        </p:txBody>
      </p:sp>
      <p:sp>
        <p:nvSpPr>
          <p:cNvPr id="31" name="Rectangle 30"/>
          <p:cNvSpPr/>
          <p:nvPr/>
        </p:nvSpPr>
        <p:spPr>
          <a:xfrm>
            <a:off x="457200" y="2505456"/>
            <a:ext cx="11247120" cy="38404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2551175"/>
            <a:ext cx="365759" cy="292607"/>
          </a:xfrm>
          <a:prstGeom prst="rect">
            <a:avLst/>
          </a:prstGeom>
          <a:noFill/>
        </p:spPr>
        <p:txBody>
          <a:bodyPr wrap="square" lIns="0" rIns="0" tIns="0" bIns="0" anchor="ctr">
            <a:spAutoFit/>
          </a:bodyPr>
          <a:lstStyle/>
          <a:p>
            <a:pPr algn="ctr"/>
            <a:r>
              <a:rPr sz="1050" b="0" i="0">
                <a:solidFill>
                  <a:srgbClr val="4A5568"/>
                </a:solidFill>
                <a:latin typeface="Calibri"/>
              </a:rPr>
              <a:t>{{R3_C1}}</a:t>
            </a:r>
          </a:p>
        </p:txBody>
      </p:sp>
      <p:sp>
        <p:nvSpPr>
          <p:cNvPr id="33" name="TextBox 32"/>
          <p:cNvSpPr txBox="1"/>
          <p:nvPr/>
        </p:nvSpPr>
        <p:spPr>
          <a:xfrm>
            <a:off x="1097280" y="2551175"/>
            <a:ext cx="3017520" cy="292607"/>
          </a:xfrm>
          <a:prstGeom prst="rect">
            <a:avLst/>
          </a:prstGeom>
          <a:noFill/>
        </p:spPr>
        <p:txBody>
          <a:bodyPr wrap="square" lIns="0" rIns="0" tIns="0" bIns="0" anchor="ctr">
            <a:spAutoFit/>
          </a:bodyPr>
          <a:lstStyle/>
          <a:p>
            <a:pPr algn="l"/>
            <a:r>
              <a:rPr sz="1050" b="1" i="0">
                <a:solidFill>
                  <a:srgbClr val="1F2937"/>
                </a:solidFill>
                <a:latin typeface="Calibri"/>
              </a:rPr>
              <a:t>{{R3_C2}}</a:t>
            </a:r>
          </a:p>
        </p:txBody>
      </p:sp>
      <p:sp>
        <p:nvSpPr>
          <p:cNvPr id="34" name="TextBox 33"/>
          <p:cNvSpPr txBox="1"/>
          <p:nvPr/>
        </p:nvSpPr>
        <p:spPr>
          <a:xfrm>
            <a:off x="4297679" y="2551175"/>
            <a:ext cx="1280160" cy="292607"/>
          </a:xfrm>
          <a:prstGeom prst="rect">
            <a:avLst/>
          </a:prstGeom>
          <a:noFill/>
        </p:spPr>
        <p:txBody>
          <a:bodyPr wrap="square" lIns="0" rIns="0" tIns="0" bIns="0" anchor="ctr">
            <a:spAutoFit/>
          </a:bodyPr>
          <a:lstStyle/>
          <a:p>
            <a:pPr algn="r"/>
            <a:r>
              <a:rPr sz="1050" b="0" i="0">
                <a:solidFill>
                  <a:srgbClr val="1F2937"/>
                </a:solidFill>
                <a:latin typeface="Calibri"/>
              </a:rPr>
              <a:t>{{R3_C3}}</a:t>
            </a:r>
          </a:p>
        </p:txBody>
      </p:sp>
      <p:sp>
        <p:nvSpPr>
          <p:cNvPr id="35" name="TextBox 34"/>
          <p:cNvSpPr txBox="1"/>
          <p:nvPr/>
        </p:nvSpPr>
        <p:spPr>
          <a:xfrm>
            <a:off x="5760719" y="2551175"/>
            <a:ext cx="1280160" cy="292607"/>
          </a:xfrm>
          <a:prstGeom prst="rect">
            <a:avLst/>
          </a:prstGeom>
          <a:noFill/>
        </p:spPr>
        <p:txBody>
          <a:bodyPr wrap="square" lIns="0" rIns="0" tIns="0" bIns="0" anchor="ctr">
            <a:spAutoFit/>
          </a:bodyPr>
          <a:lstStyle/>
          <a:p>
            <a:pPr algn="r"/>
            <a:r>
              <a:rPr sz="1050" b="0" i="0">
                <a:solidFill>
                  <a:srgbClr val="1F2937"/>
                </a:solidFill>
                <a:latin typeface="Calibri"/>
              </a:rPr>
              <a:t>{{R3_C4}}</a:t>
            </a:r>
          </a:p>
        </p:txBody>
      </p:sp>
      <p:sp>
        <p:nvSpPr>
          <p:cNvPr id="36" name="TextBox 35"/>
          <p:cNvSpPr txBox="1"/>
          <p:nvPr/>
        </p:nvSpPr>
        <p:spPr>
          <a:xfrm>
            <a:off x="7223759" y="2551175"/>
            <a:ext cx="1097280" cy="292607"/>
          </a:xfrm>
          <a:prstGeom prst="rect">
            <a:avLst/>
          </a:prstGeom>
          <a:noFill/>
        </p:spPr>
        <p:txBody>
          <a:bodyPr wrap="square" lIns="0" rIns="0" tIns="0" bIns="0" anchor="ctr">
            <a:spAutoFit/>
          </a:bodyPr>
          <a:lstStyle/>
          <a:p>
            <a:pPr algn="r"/>
            <a:r>
              <a:rPr sz="1050" b="0" i="0">
                <a:solidFill>
                  <a:srgbClr val="1F2937"/>
                </a:solidFill>
                <a:latin typeface="Calibri"/>
              </a:rPr>
              <a:t>{{R3_C5}}</a:t>
            </a:r>
          </a:p>
        </p:txBody>
      </p:sp>
      <p:sp>
        <p:nvSpPr>
          <p:cNvPr id="37" name="TextBox 36"/>
          <p:cNvSpPr txBox="1"/>
          <p:nvPr/>
        </p:nvSpPr>
        <p:spPr>
          <a:xfrm>
            <a:off x="8503919" y="2551175"/>
            <a:ext cx="1097280" cy="292607"/>
          </a:xfrm>
          <a:prstGeom prst="rect">
            <a:avLst/>
          </a:prstGeom>
          <a:noFill/>
        </p:spPr>
        <p:txBody>
          <a:bodyPr wrap="square" lIns="0" rIns="0" tIns="0" bIns="0" anchor="ctr">
            <a:spAutoFit/>
          </a:bodyPr>
          <a:lstStyle/>
          <a:p>
            <a:pPr algn="r"/>
            <a:r>
              <a:rPr sz="1050" b="0" i="0">
                <a:solidFill>
                  <a:srgbClr val="1F2937"/>
                </a:solidFill>
                <a:latin typeface="Calibri"/>
              </a:rPr>
              <a:t>{{R3_C6}}</a:t>
            </a:r>
          </a:p>
        </p:txBody>
      </p:sp>
      <p:sp>
        <p:nvSpPr>
          <p:cNvPr id="38" name="TextBox 37"/>
          <p:cNvSpPr txBox="1"/>
          <p:nvPr/>
        </p:nvSpPr>
        <p:spPr>
          <a:xfrm>
            <a:off x="9784080" y="2551175"/>
            <a:ext cx="914400" cy="292607"/>
          </a:xfrm>
          <a:prstGeom prst="rect">
            <a:avLst/>
          </a:prstGeom>
          <a:noFill/>
        </p:spPr>
        <p:txBody>
          <a:bodyPr wrap="square" lIns="0" rIns="0" tIns="0" bIns="0" anchor="ctr">
            <a:spAutoFit/>
          </a:bodyPr>
          <a:lstStyle/>
          <a:p>
            <a:pPr algn="r"/>
            <a:r>
              <a:rPr sz="1050" b="0" i="0">
                <a:solidFill>
                  <a:srgbClr val="1F2937"/>
                </a:solidFill>
                <a:latin typeface="Calibri"/>
              </a:rPr>
              <a:t>{{R3_C7}}</a:t>
            </a:r>
          </a:p>
        </p:txBody>
      </p:sp>
      <p:sp>
        <p:nvSpPr>
          <p:cNvPr id="39" name="TextBox 38"/>
          <p:cNvSpPr txBox="1"/>
          <p:nvPr/>
        </p:nvSpPr>
        <p:spPr>
          <a:xfrm>
            <a:off x="10881359" y="2551175"/>
            <a:ext cx="731520" cy="292607"/>
          </a:xfrm>
          <a:prstGeom prst="rect">
            <a:avLst/>
          </a:prstGeom>
          <a:noFill/>
        </p:spPr>
        <p:txBody>
          <a:bodyPr wrap="square" lIns="0" rIns="0" tIns="0" bIns="0" anchor="ctr">
            <a:spAutoFit/>
          </a:bodyPr>
          <a:lstStyle/>
          <a:p>
            <a:pPr algn="r"/>
            <a:r>
              <a:rPr sz="1050" b="0" i="0">
                <a:solidFill>
                  <a:srgbClr val="1F2937"/>
                </a:solidFill>
                <a:latin typeface="Calibri"/>
              </a:rPr>
              <a:t>{{R3_C8}}</a:t>
            </a:r>
          </a:p>
        </p:txBody>
      </p:sp>
      <p:sp>
        <p:nvSpPr>
          <p:cNvPr id="40" name="TextBox 39"/>
          <p:cNvSpPr txBox="1"/>
          <p:nvPr/>
        </p:nvSpPr>
        <p:spPr>
          <a:xfrm>
            <a:off x="548640" y="2935223"/>
            <a:ext cx="365759" cy="292607"/>
          </a:xfrm>
          <a:prstGeom prst="rect">
            <a:avLst/>
          </a:prstGeom>
          <a:noFill/>
        </p:spPr>
        <p:txBody>
          <a:bodyPr wrap="square" lIns="0" rIns="0" tIns="0" bIns="0" anchor="ctr">
            <a:spAutoFit/>
          </a:bodyPr>
          <a:lstStyle/>
          <a:p>
            <a:pPr algn="ctr"/>
            <a:r>
              <a:rPr sz="1050" b="0" i="0">
                <a:solidFill>
                  <a:srgbClr val="4A5568"/>
                </a:solidFill>
                <a:latin typeface="Calibri"/>
              </a:rPr>
              <a:t>{{R4_C1}}</a:t>
            </a:r>
          </a:p>
        </p:txBody>
      </p:sp>
      <p:sp>
        <p:nvSpPr>
          <p:cNvPr id="41" name="TextBox 40"/>
          <p:cNvSpPr txBox="1"/>
          <p:nvPr/>
        </p:nvSpPr>
        <p:spPr>
          <a:xfrm>
            <a:off x="1097280" y="2935223"/>
            <a:ext cx="3017520" cy="292607"/>
          </a:xfrm>
          <a:prstGeom prst="rect">
            <a:avLst/>
          </a:prstGeom>
          <a:noFill/>
        </p:spPr>
        <p:txBody>
          <a:bodyPr wrap="square" lIns="0" rIns="0" tIns="0" bIns="0" anchor="ctr">
            <a:spAutoFit/>
          </a:bodyPr>
          <a:lstStyle/>
          <a:p>
            <a:pPr algn="l"/>
            <a:r>
              <a:rPr sz="1050" b="1" i="0">
                <a:solidFill>
                  <a:srgbClr val="1F2937"/>
                </a:solidFill>
                <a:latin typeface="Calibri"/>
              </a:rPr>
              <a:t>{{R4_C2}}</a:t>
            </a:r>
          </a:p>
        </p:txBody>
      </p:sp>
      <p:sp>
        <p:nvSpPr>
          <p:cNvPr id="42" name="TextBox 41"/>
          <p:cNvSpPr txBox="1"/>
          <p:nvPr/>
        </p:nvSpPr>
        <p:spPr>
          <a:xfrm>
            <a:off x="4297679" y="2935223"/>
            <a:ext cx="1280160" cy="292607"/>
          </a:xfrm>
          <a:prstGeom prst="rect">
            <a:avLst/>
          </a:prstGeom>
          <a:noFill/>
        </p:spPr>
        <p:txBody>
          <a:bodyPr wrap="square" lIns="0" rIns="0" tIns="0" bIns="0" anchor="ctr">
            <a:spAutoFit/>
          </a:bodyPr>
          <a:lstStyle/>
          <a:p>
            <a:pPr algn="r"/>
            <a:r>
              <a:rPr sz="1050" b="0" i="0">
                <a:solidFill>
                  <a:srgbClr val="1F2937"/>
                </a:solidFill>
                <a:latin typeface="Calibri"/>
              </a:rPr>
              <a:t>{{R4_C3}}</a:t>
            </a:r>
          </a:p>
        </p:txBody>
      </p:sp>
      <p:sp>
        <p:nvSpPr>
          <p:cNvPr id="43" name="TextBox 42"/>
          <p:cNvSpPr txBox="1"/>
          <p:nvPr/>
        </p:nvSpPr>
        <p:spPr>
          <a:xfrm>
            <a:off x="5760719" y="2935223"/>
            <a:ext cx="1280160" cy="292607"/>
          </a:xfrm>
          <a:prstGeom prst="rect">
            <a:avLst/>
          </a:prstGeom>
          <a:noFill/>
        </p:spPr>
        <p:txBody>
          <a:bodyPr wrap="square" lIns="0" rIns="0" tIns="0" bIns="0" anchor="ctr">
            <a:spAutoFit/>
          </a:bodyPr>
          <a:lstStyle/>
          <a:p>
            <a:pPr algn="r"/>
            <a:r>
              <a:rPr sz="1050" b="0" i="0">
                <a:solidFill>
                  <a:srgbClr val="1F2937"/>
                </a:solidFill>
                <a:latin typeface="Calibri"/>
              </a:rPr>
              <a:t>{{R4_C4}}</a:t>
            </a:r>
          </a:p>
        </p:txBody>
      </p:sp>
      <p:sp>
        <p:nvSpPr>
          <p:cNvPr id="44" name="TextBox 43"/>
          <p:cNvSpPr txBox="1"/>
          <p:nvPr/>
        </p:nvSpPr>
        <p:spPr>
          <a:xfrm>
            <a:off x="7223759" y="2935223"/>
            <a:ext cx="1097280" cy="292607"/>
          </a:xfrm>
          <a:prstGeom prst="rect">
            <a:avLst/>
          </a:prstGeom>
          <a:noFill/>
        </p:spPr>
        <p:txBody>
          <a:bodyPr wrap="square" lIns="0" rIns="0" tIns="0" bIns="0" anchor="ctr">
            <a:spAutoFit/>
          </a:bodyPr>
          <a:lstStyle/>
          <a:p>
            <a:pPr algn="r"/>
            <a:r>
              <a:rPr sz="1050" b="0" i="0">
                <a:solidFill>
                  <a:srgbClr val="1F2937"/>
                </a:solidFill>
                <a:latin typeface="Calibri"/>
              </a:rPr>
              <a:t>{{R4_C5}}</a:t>
            </a:r>
          </a:p>
        </p:txBody>
      </p:sp>
      <p:sp>
        <p:nvSpPr>
          <p:cNvPr id="45" name="TextBox 44"/>
          <p:cNvSpPr txBox="1"/>
          <p:nvPr/>
        </p:nvSpPr>
        <p:spPr>
          <a:xfrm>
            <a:off x="8503919" y="2935223"/>
            <a:ext cx="1097280" cy="292607"/>
          </a:xfrm>
          <a:prstGeom prst="rect">
            <a:avLst/>
          </a:prstGeom>
          <a:noFill/>
        </p:spPr>
        <p:txBody>
          <a:bodyPr wrap="square" lIns="0" rIns="0" tIns="0" bIns="0" anchor="ctr">
            <a:spAutoFit/>
          </a:bodyPr>
          <a:lstStyle/>
          <a:p>
            <a:pPr algn="r"/>
            <a:r>
              <a:rPr sz="1050" b="0" i="0">
                <a:solidFill>
                  <a:srgbClr val="1F2937"/>
                </a:solidFill>
                <a:latin typeface="Calibri"/>
              </a:rPr>
              <a:t>{{R4_C6}}</a:t>
            </a:r>
          </a:p>
        </p:txBody>
      </p:sp>
      <p:sp>
        <p:nvSpPr>
          <p:cNvPr id="46" name="TextBox 45"/>
          <p:cNvSpPr txBox="1"/>
          <p:nvPr/>
        </p:nvSpPr>
        <p:spPr>
          <a:xfrm>
            <a:off x="9784080" y="2935223"/>
            <a:ext cx="914400" cy="292607"/>
          </a:xfrm>
          <a:prstGeom prst="rect">
            <a:avLst/>
          </a:prstGeom>
          <a:noFill/>
        </p:spPr>
        <p:txBody>
          <a:bodyPr wrap="square" lIns="0" rIns="0" tIns="0" bIns="0" anchor="ctr">
            <a:spAutoFit/>
          </a:bodyPr>
          <a:lstStyle/>
          <a:p>
            <a:pPr algn="r"/>
            <a:r>
              <a:rPr sz="1050" b="0" i="0">
                <a:solidFill>
                  <a:srgbClr val="1F2937"/>
                </a:solidFill>
                <a:latin typeface="Calibri"/>
              </a:rPr>
              <a:t>{{R4_C7}}</a:t>
            </a:r>
          </a:p>
        </p:txBody>
      </p:sp>
      <p:sp>
        <p:nvSpPr>
          <p:cNvPr id="47" name="TextBox 46"/>
          <p:cNvSpPr txBox="1"/>
          <p:nvPr/>
        </p:nvSpPr>
        <p:spPr>
          <a:xfrm>
            <a:off x="10881359" y="2935223"/>
            <a:ext cx="731520" cy="292607"/>
          </a:xfrm>
          <a:prstGeom prst="rect">
            <a:avLst/>
          </a:prstGeom>
          <a:noFill/>
        </p:spPr>
        <p:txBody>
          <a:bodyPr wrap="square" lIns="0" rIns="0" tIns="0" bIns="0" anchor="ctr">
            <a:spAutoFit/>
          </a:bodyPr>
          <a:lstStyle/>
          <a:p>
            <a:pPr algn="r"/>
            <a:r>
              <a:rPr sz="1050" b="0" i="0">
                <a:solidFill>
                  <a:srgbClr val="1F2937"/>
                </a:solidFill>
                <a:latin typeface="Calibri"/>
              </a:rPr>
              <a:t>{{R4_C8}}</a:t>
            </a:r>
          </a:p>
        </p:txBody>
      </p:sp>
      <p:sp>
        <p:nvSpPr>
          <p:cNvPr id="48" name="Rectangle 47"/>
          <p:cNvSpPr/>
          <p:nvPr/>
        </p:nvSpPr>
        <p:spPr>
          <a:xfrm>
            <a:off x="457200" y="3273551"/>
            <a:ext cx="11247120" cy="38404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 y="3319271"/>
            <a:ext cx="365759" cy="292607"/>
          </a:xfrm>
          <a:prstGeom prst="rect">
            <a:avLst/>
          </a:prstGeom>
          <a:noFill/>
        </p:spPr>
        <p:txBody>
          <a:bodyPr wrap="square" lIns="0" rIns="0" tIns="0" bIns="0" anchor="ctr">
            <a:spAutoFit/>
          </a:bodyPr>
          <a:lstStyle/>
          <a:p>
            <a:pPr algn="ctr"/>
            <a:r>
              <a:rPr sz="1050" b="0" i="0">
                <a:solidFill>
                  <a:srgbClr val="4A5568"/>
                </a:solidFill>
                <a:latin typeface="Calibri"/>
              </a:rPr>
              <a:t>{{R5_C1}}</a:t>
            </a:r>
          </a:p>
        </p:txBody>
      </p:sp>
      <p:sp>
        <p:nvSpPr>
          <p:cNvPr id="50" name="TextBox 49"/>
          <p:cNvSpPr txBox="1"/>
          <p:nvPr/>
        </p:nvSpPr>
        <p:spPr>
          <a:xfrm>
            <a:off x="1097280" y="3319271"/>
            <a:ext cx="3017520" cy="292607"/>
          </a:xfrm>
          <a:prstGeom prst="rect">
            <a:avLst/>
          </a:prstGeom>
          <a:noFill/>
        </p:spPr>
        <p:txBody>
          <a:bodyPr wrap="square" lIns="0" rIns="0" tIns="0" bIns="0" anchor="ctr">
            <a:spAutoFit/>
          </a:bodyPr>
          <a:lstStyle/>
          <a:p>
            <a:pPr algn="l"/>
            <a:r>
              <a:rPr sz="1050" b="1" i="0">
                <a:solidFill>
                  <a:srgbClr val="1F2937"/>
                </a:solidFill>
                <a:latin typeface="Calibri"/>
              </a:rPr>
              <a:t>{{R5_C2}}</a:t>
            </a:r>
          </a:p>
        </p:txBody>
      </p:sp>
      <p:sp>
        <p:nvSpPr>
          <p:cNvPr id="51" name="TextBox 50"/>
          <p:cNvSpPr txBox="1"/>
          <p:nvPr/>
        </p:nvSpPr>
        <p:spPr>
          <a:xfrm>
            <a:off x="4297679" y="3319271"/>
            <a:ext cx="1280160" cy="292607"/>
          </a:xfrm>
          <a:prstGeom prst="rect">
            <a:avLst/>
          </a:prstGeom>
          <a:noFill/>
        </p:spPr>
        <p:txBody>
          <a:bodyPr wrap="square" lIns="0" rIns="0" tIns="0" bIns="0" anchor="ctr">
            <a:spAutoFit/>
          </a:bodyPr>
          <a:lstStyle/>
          <a:p>
            <a:pPr algn="r"/>
            <a:r>
              <a:rPr sz="1050" b="0" i="0">
                <a:solidFill>
                  <a:srgbClr val="1F2937"/>
                </a:solidFill>
                <a:latin typeface="Calibri"/>
              </a:rPr>
              <a:t>{{R5_C3}}</a:t>
            </a:r>
          </a:p>
        </p:txBody>
      </p:sp>
      <p:sp>
        <p:nvSpPr>
          <p:cNvPr id="52" name="TextBox 51"/>
          <p:cNvSpPr txBox="1"/>
          <p:nvPr/>
        </p:nvSpPr>
        <p:spPr>
          <a:xfrm>
            <a:off x="5760719" y="3319271"/>
            <a:ext cx="1280160" cy="292607"/>
          </a:xfrm>
          <a:prstGeom prst="rect">
            <a:avLst/>
          </a:prstGeom>
          <a:noFill/>
        </p:spPr>
        <p:txBody>
          <a:bodyPr wrap="square" lIns="0" rIns="0" tIns="0" bIns="0" anchor="ctr">
            <a:spAutoFit/>
          </a:bodyPr>
          <a:lstStyle/>
          <a:p>
            <a:pPr algn="r"/>
            <a:r>
              <a:rPr sz="1050" b="0" i="0">
                <a:solidFill>
                  <a:srgbClr val="1F2937"/>
                </a:solidFill>
                <a:latin typeface="Calibri"/>
              </a:rPr>
              <a:t>{{R5_C4}}</a:t>
            </a:r>
          </a:p>
        </p:txBody>
      </p:sp>
      <p:sp>
        <p:nvSpPr>
          <p:cNvPr id="53" name="TextBox 52"/>
          <p:cNvSpPr txBox="1"/>
          <p:nvPr/>
        </p:nvSpPr>
        <p:spPr>
          <a:xfrm>
            <a:off x="7223759" y="3319271"/>
            <a:ext cx="1097280" cy="292607"/>
          </a:xfrm>
          <a:prstGeom prst="rect">
            <a:avLst/>
          </a:prstGeom>
          <a:noFill/>
        </p:spPr>
        <p:txBody>
          <a:bodyPr wrap="square" lIns="0" rIns="0" tIns="0" bIns="0" anchor="ctr">
            <a:spAutoFit/>
          </a:bodyPr>
          <a:lstStyle/>
          <a:p>
            <a:pPr algn="r"/>
            <a:r>
              <a:rPr sz="1050" b="0" i="0">
                <a:solidFill>
                  <a:srgbClr val="1F2937"/>
                </a:solidFill>
                <a:latin typeface="Calibri"/>
              </a:rPr>
              <a:t>{{R5_C5}}</a:t>
            </a:r>
          </a:p>
        </p:txBody>
      </p:sp>
      <p:sp>
        <p:nvSpPr>
          <p:cNvPr id="54" name="TextBox 53"/>
          <p:cNvSpPr txBox="1"/>
          <p:nvPr/>
        </p:nvSpPr>
        <p:spPr>
          <a:xfrm>
            <a:off x="8503919" y="3319271"/>
            <a:ext cx="1097280" cy="292607"/>
          </a:xfrm>
          <a:prstGeom prst="rect">
            <a:avLst/>
          </a:prstGeom>
          <a:noFill/>
        </p:spPr>
        <p:txBody>
          <a:bodyPr wrap="square" lIns="0" rIns="0" tIns="0" bIns="0" anchor="ctr">
            <a:spAutoFit/>
          </a:bodyPr>
          <a:lstStyle/>
          <a:p>
            <a:pPr algn="r"/>
            <a:r>
              <a:rPr sz="1050" b="0" i="0">
                <a:solidFill>
                  <a:srgbClr val="1F2937"/>
                </a:solidFill>
                <a:latin typeface="Calibri"/>
              </a:rPr>
              <a:t>{{R5_C6}}</a:t>
            </a:r>
          </a:p>
        </p:txBody>
      </p:sp>
      <p:sp>
        <p:nvSpPr>
          <p:cNvPr id="55" name="TextBox 54"/>
          <p:cNvSpPr txBox="1"/>
          <p:nvPr/>
        </p:nvSpPr>
        <p:spPr>
          <a:xfrm>
            <a:off x="9784080" y="3319271"/>
            <a:ext cx="914400" cy="292607"/>
          </a:xfrm>
          <a:prstGeom prst="rect">
            <a:avLst/>
          </a:prstGeom>
          <a:noFill/>
        </p:spPr>
        <p:txBody>
          <a:bodyPr wrap="square" lIns="0" rIns="0" tIns="0" bIns="0" anchor="ctr">
            <a:spAutoFit/>
          </a:bodyPr>
          <a:lstStyle/>
          <a:p>
            <a:pPr algn="r"/>
            <a:r>
              <a:rPr sz="1050" b="0" i="0">
                <a:solidFill>
                  <a:srgbClr val="1F2937"/>
                </a:solidFill>
                <a:latin typeface="Calibri"/>
              </a:rPr>
              <a:t>{{R5_C7}}</a:t>
            </a:r>
          </a:p>
        </p:txBody>
      </p:sp>
      <p:sp>
        <p:nvSpPr>
          <p:cNvPr id="56" name="TextBox 55"/>
          <p:cNvSpPr txBox="1"/>
          <p:nvPr/>
        </p:nvSpPr>
        <p:spPr>
          <a:xfrm>
            <a:off x="10881359" y="3319271"/>
            <a:ext cx="731520" cy="292607"/>
          </a:xfrm>
          <a:prstGeom prst="rect">
            <a:avLst/>
          </a:prstGeom>
          <a:noFill/>
        </p:spPr>
        <p:txBody>
          <a:bodyPr wrap="square" lIns="0" rIns="0" tIns="0" bIns="0" anchor="ctr">
            <a:spAutoFit/>
          </a:bodyPr>
          <a:lstStyle/>
          <a:p>
            <a:pPr algn="r"/>
            <a:r>
              <a:rPr sz="1050" b="0" i="0">
                <a:solidFill>
                  <a:srgbClr val="1F2937"/>
                </a:solidFill>
                <a:latin typeface="Calibri"/>
              </a:rPr>
              <a:t>{{R5_C8}}</a:t>
            </a:r>
          </a:p>
        </p:txBody>
      </p:sp>
      <p:sp>
        <p:nvSpPr>
          <p:cNvPr id="57" name="TextBox 56"/>
          <p:cNvSpPr txBox="1"/>
          <p:nvPr/>
        </p:nvSpPr>
        <p:spPr>
          <a:xfrm>
            <a:off x="548640" y="3703320"/>
            <a:ext cx="365759" cy="292607"/>
          </a:xfrm>
          <a:prstGeom prst="rect">
            <a:avLst/>
          </a:prstGeom>
          <a:noFill/>
        </p:spPr>
        <p:txBody>
          <a:bodyPr wrap="square" lIns="0" rIns="0" tIns="0" bIns="0" anchor="ctr">
            <a:spAutoFit/>
          </a:bodyPr>
          <a:lstStyle/>
          <a:p>
            <a:pPr algn="ctr"/>
            <a:r>
              <a:rPr sz="1050" b="0" i="0">
                <a:solidFill>
                  <a:srgbClr val="4A5568"/>
                </a:solidFill>
                <a:latin typeface="Calibri"/>
              </a:rPr>
              <a:t>{{R6_C1}}</a:t>
            </a:r>
          </a:p>
        </p:txBody>
      </p:sp>
      <p:sp>
        <p:nvSpPr>
          <p:cNvPr id="58" name="TextBox 57"/>
          <p:cNvSpPr txBox="1"/>
          <p:nvPr/>
        </p:nvSpPr>
        <p:spPr>
          <a:xfrm>
            <a:off x="1097280" y="3703320"/>
            <a:ext cx="3017520" cy="292607"/>
          </a:xfrm>
          <a:prstGeom prst="rect">
            <a:avLst/>
          </a:prstGeom>
          <a:noFill/>
        </p:spPr>
        <p:txBody>
          <a:bodyPr wrap="square" lIns="0" rIns="0" tIns="0" bIns="0" anchor="ctr">
            <a:spAutoFit/>
          </a:bodyPr>
          <a:lstStyle/>
          <a:p>
            <a:pPr algn="l"/>
            <a:r>
              <a:rPr sz="1050" b="1" i="0">
                <a:solidFill>
                  <a:srgbClr val="1F2937"/>
                </a:solidFill>
                <a:latin typeface="Calibri"/>
              </a:rPr>
              <a:t>{{R6_C2}}</a:t>
            </a:r>
          </a:p>
        </p:txBody>
      </p:sp>
      <p:sp>
        <p:nvSpPr>
          <p:cNvPr id="59" name="TextBox 58"/>
          <p:cNvSpPr txBox="1"/>
          <p:nvPr/>
        </p:nvSpPr>
        <p:spPr>
          <a:xfrm>
            <a:off x="4297679" y="3703320"/>
            <a:ext cx="1280160" cy="292607"/>
          </a:xfrm>
          <a:prstGeom prst="rect">
            <a:avLst/>
          </a:prstGeom>
          <a:noFill/>
        </p:spPr>
        <p:txBody>
          <a:bodyPr wrap="square" lIns="0" rIns="0" tIns="0" bIns="0" anchor="ctr">
            <a:spAutoFit/>
          </a:bodyPr>
          <a:lstStyle/>
          <a:p>
            <a:pPr algn="r"/>
            <a:r>
              <a:rPr sz="1050" b="0" i="0">
                <a:solidFill>
                  <a:srgbClr val="1F2937"/>
                </a:solidFill>
                <a:latin typeface="Calibri"/>
              </a:rPr>
              <a:t>{{R6_C3}}</a:t>
            </a:r>
          </a:p>
        </p:txBody>
      </p:sp>
      <p:sp>
        <p:nvSpPr>
          <p:cNvPr id="60" name="TextBox 59"/>
          <p:cNvSpPr txBox="1"/>
          <p:nvPr/>
        </p:nvSpPr>
        <p:spPr>
          <a:xfrm>
            <a:off x="5760719" y="3703320"/>
            <a:ext cx="1280160" cy="292607"/>
          </a:xfrm>
          <a:prstGeom prst="rect">
            <a:avLst/>
          </a:prstGeom>
          <a:noFill/>
        </p:spPr>
        <p:txBody>
          <a:bodyPr wrap="square" lIns="0" rIns="0" tIns="0" bIns="0" anchor="ctr">
            <a:spAutoFit/>
          </a:bodyPr>
          <a:lstStyle/>
          <a:p>
            <a:pPr algn="r"/>
            <a:r>
              <a:rPr sz="1050" b="0" i="0">
                <a:solidFill>
                  <a:srgbClr val="1F2937"/>
                </a:solidFill>
                <a:latin typeface="Calibri"/>
              </a:rPr>
              <a:t>{{R6_C4}}</a:t>
            </a:r>
          </a:p>
        </p:txBody>
      </p:sp>
      <p:sp>
        <p:nvSpPr>
          <p:cNvPr id="61" name="TextBox 60"/>
          <p:cNvSpPr txBox="1"/>
          <p:nvPr/>
        </p:nvSpPr>
        <p:spPr>
          <a:xfrm>
            <a:off x="7223759" y="3703320"/>
            <a:ext cx="1097280" cy="292607"/>
          </a:xfrm>
          <a:prstGeom prst="rect">
            <a:avLst/>
          </a:prstGeom>
          <a:noFill/>
        </p:spPr>
        <p:txBody>
          <a:bodyPr wrap="square" lIns="0" rIns="0" tIns="0" bIns="0" anchor="ctr">
            <a:spAutoFit/>
          </a:bodyPr>
          <a:lstStyle/>
          <a:p>
            <a:pPr algn="r"/>
            <a:r>
              <a:rPr sz="1050" b="0" i="0">
                <a:solidFill>
                  <a:srgbClr val="1F2937"/>
                </a:solidFill>
                <a:latin typeface="Calibri"/>
              </a:rPr>
              <a:t>{{R6_C5}}</a:t>
            </a:r>
          </a:p>
        </p:txBody>
      </p:sp>
      <p:sp>
        <p:nvSpPr>
          <p:cNvPr id="62" name="TextBox 61"/>
          <p:cNvSpPr txBox="1"/>
          <p:nvPr/>
        </p:nvSpPr>
        <p:spPr>
          <a:xfrm>
            <a:off x="8503919" y="3703320"/>
            <a:ext cx="1097280" cy="292607"/>
          </a:xfrm>
          <a:prstGeom prst="rect">
            <a:avLst/>
          </a:prstGeom>
          <a:noFill/>
        </p:spPr>
        <p:txBody>
          <a:bodyPr wrap="square" lIns="0" rIns="0" tIns="0" bIns="0" anchor="ctr">
            <a:spAutoFit/>
          </a:bodyPr>
          <a:lstStyle/>
          <a:p>
            <a:pPr algn="r"/>
            <a:r>
              <a:rPr sz="1050" b="0" i="0">
                <a:solidFill>
                  <a:srgbClr val="1F2937"/>
                </a:solidFill>
                <a:latin typeface="Calibri"/>
              </a:rPr>
              <a:t>{{R6_C6}}</a:t>
            </a:r>
          </a:p>
        </p:txBody>
      </p:sp>
      <p:sp>
        <p:nvSpPr>
          <p:cNvPr id="63" name="TextBox 62"/>
          <p:cNvSpPr txBox="1"/>
          <p:nvPr/>
        </p:nvSpPr>
        <p:spPr>
          <a:xfrm>
            <a:off x="9784080" y="3703320"/>
            <a:ext cx="914400" cy="292607"/>
          </a:xfrm>
          <a:prstGeom prst="rect">
            <a:avLst/>
          </a:prstGeom>
          <a:noFill/>
        </p:spPr>
        <p:txBody>
          <a:bodyPr wrap="square" lIns="0" rIns="0" tIns="0" bIns="0" anchor="ctr">
            <a:spAutoFit/>
          </a:bodyPr>
          <a:lstStyle/>
          <a:p>
            <a:pPr algn="r"/>
            <a:r>
              <a:rPr sz="1050" b="0" i="0">
                <a:solidFill>
                  <a:srgbClr val="1F2937"/>
                </a:solidFill>
                <a:latin typeface="Calibri"/>
              </a:rPr>
              <a:t>{{R6_C7}}</a:t>
            </a:r>
          </a:p>
        </p:txBody>
      </p:sp>
      <p:sp>
        <p:nvSpPr>
          <p:cNvPr id="64" name="TextBox 63"/>
          <p:cNvSpPr txBox="1"/>
          <p:nvPr/>
        </p:nvSpPr>
        <p:spPr>
          <a:xfrm>
            <a:off x="10881359" y="3703320"/>
            <a:ext cx="731520" cy="292607"/>
          </a:xfrm>
          <a:prstGeom prst="rect">
            <a:avLst/>
          </a:prstGeom>
          <a:noFill/>
        </p:spPr>
        <p:txBody>
          <a:bodyPr wrap="square" lIns="0" rIns="0" tIns="0" bIns="0" anchor="ctr">
            <a:spAutoFit/>
          </a:bodyPr>
          <a:lstStyle/>
          <a:p>
            <a:pPr algn="r"/>
            <a:r>
              <a:rPr sz="1050" b="0" i="0">
                <a:solidFill>
                  <a:srgbClr val="1F2937"/>
                </a:solidFill>
                <a:latin typeface="Calibri"/>
              </a:rPr>
              <a:t>{{R6_C8}}</a:t>
            </a:r>
          </a:p>
        </p:txBody>
      </p:sp>
      <p:sp>
        <p:nvSpPr>
          <p:cNvPr id="65" name="Rectangle 64"/>
          <p:cNvSpPr/>
          <p:nvPr/>
        </p:nvSpPr>
        <p:spPr>
          <a:xfrm>
            <a:off x="457200" y="4041648"/>
            <a:ext cx="11247120" cy="38404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8640" y="4087368"/>
            <a:ext cx="365759" cy="292607"/>
          </a:xfrm>
          <a:prstGeom prst="rect">
            <a:avLst/>
          </a:prstGeom>
          <a:noFill/>
        </p:spPr>
        <p:txBody>
          <a:bodyPr wrap="square" lIns="0" rIns="0" tIns="0" bIns="0" anchor="ctr">
            <a:spAutoFit/>
          </a:bodyPr>
          <a:lstStyle/>
          <a:p>
            <a:pPr algn="ctr"/>
            <a:r>
              <a:rPr sz="1050" b="0" i="0">
                <a:solidFill>
                  <a:srgbClr val="4A5568"/>
                </a:solidFill>
                <a:latin typeface="Calibri"/>
              </a:rPr>
              <a:t>{{R7_C1}}</a:t>
            </a:r>
          </a:p>
        </p:txBody>
      </p:sp>
      <p:sp>
        <p:nvSpPr>
          <p:cNvPr id="67" name="TextBox 66"/>
          <p:cNvSpPr txBox="1"/>
          <p:nvPr/>
        </p:nvSpPr>
        <p:spPr>
          <a:xfrm>
            <a:off x="1097280" y="4087368"/>
            <a:ext cx="3017520" cy="292607"/>
          </a:xfrm>
          <a:prstGeom prst="rect">
            <a:avLst/>
          </a:prstGeom>
          <a:noFill/>
        </p:spPr>
        <p:txBody>
          <a:bodyPr wrap="square" lIns="0" rIns="0" tIns="0" bIns="0" anchor="ctr">
            <a:spAutoFit/>
          </a:bodyPr>
          <a:lstStyle/>
          <a:p>
            <a:pPr algn="l"/>
            <a:r>
              <a:rPr sz="1050" b="1" i="0">
                <a:solidFill>
                  <a:srgbClr val="1F2937"/>
                </a:solidFill>
                <a:latin typeface="Calibri"/>
              </a:rPr>
              <a:t>{{R7_C2}}</a:t>
            </a:r>
          </a:p>
        </p:txBody>
      </p:sp>
      <p:sp>
        <p:nvSpPr>
          <p:cNvPr id="68" name="TextBox 67"/>
          <p:cNvSpPr txBox="1"/>
          <p:nvPr/>
        </p:nvSpPr>
        <p:spPr>
          <a:xfrm>
            <a:off x="4297679" y="4087368"/>
            <a:ext cx="1280160" cy="292607"/>
          </a:xfrm>
          <a:prstGeom prst="rect">
            <a:avLst/>
          </a:prstGeom>
          <a:noFill/>
        </p:spPr>
        <p:txBody>
          <a:bodyPr wrap="square" lIns="0" rIns="0" tIns="0" bIns="0" anchor="ctr">
            <a:spAutoFit/>
          </a:bodyPr>
          <a:lstStyle/>
          <a:p>
            <a:pPr algn="r"/>
            <a:r>
              <a:rPr sz="1050" b="0" i="0">
                <a:solidFill>
                  <a:srgbClr val="1F2937"/>
                </a:solidFill>
                <a:latin typeface="Calibri"/>
              </a:rPr>
              <a:t>{{R7_C3}}</a:t>
            </a:r>
          </a:p>
        </p:txBody>
      </p:sp>
      <p:sp>
        <p:nvSpPr>
          <p:cNvPr id="69" name="TextBox 68"/>
          <p:cNvSpPr txBox="1"/>
          <p:nvPr/>
        </p:nvSpPr>
        <p:spPr>
          <a:xfrm>
            <a:off x="5760719" y="4087368"/>
            <a:ext cx="1280160" cy="292607"/>
          </a:xfrm>
          <a:prstGeom prst="rect">
            <a:avLst/>
          </a:prstGeom>
          <a:noFill/>
        </p:spPr>
        <p:txBody>
          <a:bodyPr wrap="square" lIns="0" rIns="0" tIns="0" bIns="0" anchor="ctr">
            <a:spAutoFit/>
          </a:bodyPr>
          <a:lstStyle/>
          <a:p>
            <a:pPr algn="r"/>
            <a:r>
              <a:rPr sz="1050" b="0" i="0">
                <a:solidFill>
                  <a:srgbClr val="1F2937"/>
                </a:solidFill>
                <a:latin typeface="Calibri"/>
              </a:rPr>
              <a:t>{{R7_C4}}</a:t>
            </a:r>
          </a:p>
        </p:txBody>
      </p:sp>
      <p:sp>
        <p:nvSpPr>
          <p:cNvPr id="70" name="TextBox 69"/>
          <p:cNvSpPr txBox="1"/>
          <p:nvPr/>
        </p:nvSpPr>
        <p:spPr>
          <a:xfrm>
            <a:off x="7223759" y="4087368"/>
            <a:ext cx="1097280" cy="292607"/>
          </a:xfrm>
          <a:prstGeom prst="rect">
            <a:avLst/>
          </a:prstGeom>
          <a:noFill/>
        </p:spPr>
        <p:txBody>
          <a:bodyPr wrap="square" lIns="0" rIns="0" tIns="0" bIns="0" anchor="ctr">
            <a:spAutoFit/>
          </a:bodyPr>
          <a:lstStyle/>
          <a:p>
            <a:pPr algn="r"/>
            <a:r>
              <a:rPr sz="1050" b="0" i="0">
                <a:solidFill>
                  <a:srgbClr val="1F2937"/>
                </a:solidFill>
                <a:latin typeface="Calibri"/>
              </a:rPr>
              <a:t>{{R7_C5}}</a:t>
            </a:r>
          </a:p>
        </p:txBody>
      </p:sp>
      <p:sp>
        <p:nvSpPr>
          <p:cNvPr id="71" name="TextBox 70"/>
          <p:cNvSpPr txBox="1"/>
          <p:nvPr/>
        </p:nvSpPr>
        <p:spPr>
          <a:xfrm>
            <a:off x="8503919" y="4087368"/>
            <a:ext cx="1097280" cy="292607"/>
          </a:xfrm>
          <a:prstGeom prst="rect">
            <a:avLst/>
          </a:prstGeom>
          <a:noFill/>
        </p:spPr>
        <p:txBody>
          <a:bodyPr wrap="square" lIns="0" rIns="0" tIns="0" bIns="0" anchor="ctr">
            <a:spAutoFit/>
          </a:bodyPr>
          <a:lstStyle/>
          <a:p>
            <a:pPr algn="r"/>
            <a:r>
              <a:rPr sz="1050" b="0" i="0">
                <a:solidFill>
                  <a:srgbClr val="1F2937"/>
                </a:solidFill>
                <a:latin typeface="Calibri"/>
              </a:rPr>
              <a:t>{{R7_C6}}</a:t>
            </a:r>
          </a:p>
        </p:txBody>
      </p:sp>
      <p:sp>
        <p:nvSpPr>
          <p:cNvPr id="72" name="TextBox 71"/>
          <p:cNvSpPr txBox="1"/>
          <p:nvPr/>
        </p:nvSpPr>
        <p:spPr>
          <a:xfrm>
            <a:off x="9784080" y="4087368"/>
            <a:ext cx="914400" cy="292607"/>
          </a:xfrm>
          <a:prstGeom prst="rect">
            <a:avLst/>
          </a:prstGeom>
          <a:noFill/>
        </p:spPr>
        <p:txBody>
          <a:bodyPr wrap="square" lIns="0" rIns="0" tIns="0" bIns="0" anchor="ctr">
            <a:spAutoFit/>
          </a:bodyPr>
          <a:lstStyle/>
          <a:p>
            <a:pPr algn="r"/>
            <a:r>
              <a:rPr sz="1050" b="0" i="0">
                <a:solidFill>
                  <a:srgbClr val="1F2937"/>
                </a:solidFill>
                <a:latin typeface="Calibri"/>
              </a:rPr>
              <a:t>{{R7_C7}}</a:t>
            </a:r>
          </a:p>
        </p:txBody>
      </p:sp>
      <p:sp>
        <p:nvSpPr>
          <p:cNvPr id="73" name="TextBox 72"/>
          <p:cNvSpPr txBox="1"/>
          <p:nvPr/>
        </p:nvSpPr>
        <p:spPr>
          <a:xfrm>
            <a:off x="10881359" y="4087368"/>
            <a:ext cx="731520" cy="292607"/>
          </a:xfrm>
          <a:prstGeom prst="rect">
            <a:avLst/>
          </a:prstGeom>
          <a:noFill/>
        </p:spPr>
        <p:txBody>
          <a:bodyPr wrap="square" lIns="0" rIns="0" tIns="0" bIns="0" anchor="ctr">
            <a:spAutoFit/>
          </a:bodyPr>
          <a:lstStyle/>
          <a:p>
            <a:pPr algn="r"/>
            <a:r>
              <a:rPr sz="1050" b="0" i="0">
                <a:solidFill>
                  <a:srgbClr val="1F2937"/>
                </a:solidFill>
                <a:latin typeface="Calibri"/>
              </a:rPr>
              <a:t>{{R7_C8}}</a:t>
            </a:r>
          </a:p>
        </p:txBody>
      </p:sp>
      <p:sp>
        <p:nvSpPr>
          <p:cNvPr id="74" name="TextBox 73"/>
          <p:cNvSpPr txBox="1"/>
          <p:nvPr/>
        </p:nvSpPr>
        <p:spPr>
          <a:xfrm>
            <a:off x="548640" y="4471416"/>
            <a:ext cx="365759" cy="292607"/>
          </a:xfrm>
          <a:prstGeom prst="rect">
            <a:avLst/>
          </a:prstGeom>
          <a:noFill/>
        </p:spPr>
        <p:txBody>
          <a:bodyPr wrap="square" lIns="0" rIns="0" tIns="0" bIns="0" anchor="ctr">
            <a:spAutoFit/>
          </a:bodyPr>
          <a:lstStyle/>
          <a:p>
            <a:pPr algn="ctr"/>
            <a:r>
              <a:rPr sz="1050" b="0" i="0">
                <a:solidFill>
                  <a:srgbClr val="4A5568"/>
                </a:solidFill>
                <a:latin typeface="Calibri"/>
              </a:rPr>
              <a:t>{{R8_C1}}</a:t>
            </a:r>
          </a:p>
        </p:txBody>
      </p:sp>
      <p:sp>
        <p:nvSpPr>
          <p:cNvPr id="75" name="TextBox 74"/>
          <p:cNvSpPr txBox="1"/>
          <p:nvPr/>
        </p:nvSpPr>
        <p:spPr>
          <a:xfrm>
            <a:off x="1097280" y="4471416"/>
            <a:ext cx="3017520" cy="292607"/>
          </a:xfrm>
          <a:prstGeom prst="rect">
            <a:avLst/>
          </a:prstGeom>
          <a:noFill/>
        </p:spPr>
        <p:txBody>
          <a:bodyPr wrap="square" lIns="0" rIns="0" tIns="0" bIns="0" anchor="ctr">
            <a:spAutoFit/>
          </a:bodyPr>
          <a:lstStyle/>
          <a:p>
            <a:pPr algn="l"/>
            <a:r>
              <a:rPr sz="1050" b="1" i="0">
                <a:solidFill>
                  <a:srgbClr val="1F2937"/>
                </a:solidFill>
                <a:latin typeface="Calibri"/>
              </a:rPr>
              <a:t>{{R8_C2}}</a:t>
            </a:r>
          </a:p>
        </p:txBody>
      </p:sp>
      <p:sp>
        <p:nvSpPr>
          <p:cNvPr id="76" name="TextBox 75"/>
          <p:cNvSpPr txBox="1"/>
          <p:nvPr/>
        </p:nvSpPr>
        <p:spPr>
          <a:xfrm>
            <a:off x="4297679" y="4471416"/>
            <a:ext cx="1280160" cy="292607"/>
          </a:xfrm>
          <a:prstGeom prst="rect">
            <a:avLst/>
          </a:prstGeom>
          <a:noFill/>
        </p:spPr>
        <p:txBody>
          <a:bodyPr wrap="square" lIns="0" rIns="0" tIns="0" bIns="0" anchor="ctr">
            <a:spAutoFit/>
          </a:bodyPr>
          <a:lstStyle/>
          <a:p>
            <a:pPr algn="r"/>
            <a:r>
              <a:rPr sz="1050" b="0" i="0">
                <a:solidFill>
                  <a:srgbClr val="1F2937"/>
                </a:solidFill>
                <a:latin typeface="Calibri"/>
              </a:rPr>
              <a:t>{{R8_C3}}</a:t>
            </a:r>
          </a:p>
        </p:txBody>
      </p:sp>
      <p:sp>
        <p:nvSpPr>
          <p:cNvPr id="77" name="TextBox 76"/>
          <p:cNvSpPr txBox="1"/>
          <p:nvPr/>
        </p:nvSpPr>
        <p:spPr>
          <a:xfrm>
            <a:off x="5760719" y="4471416"/>
            <a:ext cx="1280160" cy="292607"/>
          </a:xfrm>
          <a:prstGeom prst="rect">
            <a:avLst/>
          </a:prstGeom>
          <a:noFill/>
        </p:spPr>
        <p:txBody>
          <a:bodyPr wrap="square" lIns="0" rIns="0" tIns="0" bIns="0" anchor="ctr">
            <a:spAutoFit/>
          </a:bodyPr>
          <a:lstStyle/>
          <a:p>
            <a:pPr algn="r"/>
            <a:r>
              <a:rPr sz="1050" b="0" i="0">
                <a:solidFill>
                  <a:srgbClr val="1F2937"/>
                </a:solidFill>
                <a:latin typeface="Calibri"/>
              </a:rPr>
              <a:t>{{R8_C4}}</a:t>
            </a:r>
          </a:p>
        </p:txBody>
      </p:sp>
      <p:sp>
        <p:nvSpPr>
          <p:cNvPr id="78" name="TextBox 77"/>
          <p:cNvSpPr txBox="1"/>
          <p:nvPr/>
        </p:nvSpPr>
        <p:spPr>
          <a:xfrm>
            <a:off x="7223759" y="4471416"/>
            <a:ext cx="1097280" cy="292607"/>
          </a:xfrm>
          <a:prstGeom prst="rect">
            <a:avLst/>
          </a:prstGeom>
          <a:noFill/>
        </p:spPr>
        <p:txBody>
          <a:bodyPr wrap="square" lIns="0" rIns="0" tIns="0" bIns="0" anchor="ctr">
            <a:spAutoFit/>
          </a:bodyPr>
          <a:lstStyle/>
          <a:p>
            <a:pPr algn="r"/>
            <a:r>
              <a:rPr sz="1050" b="0" i="0">
                <a:solidFill>
                  <a:srgbClr val="1F2937"/>
                </a:solidFill>
                <a:latin typeface="Calibri"/>
              </a:rPr>
              <a:t>{{R8_C5}}</a:t>
            </a:r>
          </a:p>
        </p:txBody>
      </p:sp>
      <p:sp>
        <p:nvSpPr>
          <p:cNvPr id="79" name="TextBox 78"/>
          <p:cNvSpPr txBox="1"/>
          <p:nvPr/>
        </p:nvSpPr>
        <p:spPr>
          <a:xfrm>
            <a:off x="8503919" y="4471416"/>
            <a:ext cx="1097280" cy="292607"/>
          </a:xfrm>
          <a:prstGeom prst="rect">
            <a:avLst/>
          </a:prstGeom>
          <a:noFill/>
        </p:spPr>
        <p:txBody>
          <a:bodyPr wrap="square" lIns="0" rIns="0" tIns="0" bIns="0" anchor="ctr">
            <a:spAutoFit/>
          </a:bodyPr>
          <a:lstStyle/>
          <a:p>
            <a:pPr algn="r"/>
            <a:r>
              <a:rPr sz="1050" b="0" i="0">
                <a:solidFill>
                  <a:srgbClr val="1F2937"/>
                </a:solidFill>
                <a:latin typeface="Calibri"/>
              </a:rPr>
              <a:t>{{R8_C6}}</a:t>
            </a:r>
          </a:p>
        </p:txBody>
      </p:sp>
      <p:sp>
        <p:nvSpPr>
          <p:cNvPr id="80" name="TextBox 79"/>
          <p:cNvSpPr txBox="1"/>
          <p:nvPr/>
        </p:nvSpPr>
        <p:spPr>
          <a:xfrm>
            <a:off x="9784080" y="4471416"/>
            <a:ext cx="914400" cy="292607"/>
          </a:xfrm>
          <a:prstGeom prst="rect">
            <a:avLst/>
          </a:prstGeom>
          <a:noFill/>
        </p:spPr>
        <p:txBody>
          <a:bodyPr wrap="square" lIns="0" rIns="0" tIns="0" bIns="0" anchor="ctr">
            <a:spAutoFit/>
          </a:bodyPr>
          <a:lstStyle/>
          <a:p>
            <a:pPr algn="r"/>
            <a:r>
              <a:rPr sz="1050" b="0" i="0">
                <a:solidFill>
                  <a:srgbClr val="1F2937"/>
                </a:solidFill>
                <a:latin typeface="Calibri"/>
              </a:rPr>
              <a:t>{{R8_C7}}</a:t>
            </a:r>
          </a:p>
        </p:txBody>
      </p:sp>
      <p:sp>
        <p:nvSpPr>
          <p:cNvPr id="81" name="TextBox 80"/>
          <p:cNvSpPr txBox="1"/>
          <p:nvPr/>
        </p:nvSpPr>
        <p:spPr>
          <a:xfrm>
            <a:off x="10881359" y="4471416"/>
            <a:ext cx="731520" cy="292607"/>
          </a:xfrm>
          <a:prstGeom prst="rect">
            <a:avLst/>
          </a:prstGeom>
          <a:noFill/>
        </p:spPr>
        <p:txBody>
          <a:bodyPr wrap="square" lIns="0" rIns="0" tIns="0" bIns="0" anchor="ctr">
            <a:spAutoFit/>
          </a:bodyPr>
          <a:lstStyle/>
          <a:p>
            <a:pPr algn="r"/>
            <a:r>
              <a:rPr sz="1050" b="0" i="0">
                <a:solidFill>
                  <a:srgbClr val="1F2937"/>
                </a:solidFill>
                <a:latin typeface="Calibri"/>
              </a:rPr>
              <a:t>{{R8_C8}}</a:t>
            </a:r>
          </a:p>
        </p:txBody>
      </p:sp>
      <p:sp>
        <p:nvSpPr>
          <p:cNvPr id="82" name="TextBox 81"/>
          <p:cNvSpPr txBox="1"/>
          <p:nvPr/>
        </p:nvSpPr>
        <p:spPr>
          <a:xfrm>
            <a:off x="457200" y="4992624"/>
            <a:ext cx="11247120" cy="274320"/>
          </a:xfrm>
          <a:prstGeom prst="rect">
            <a:avLst/>
          </a:prstGeom>
          <a:noFill/>
        </p:spPr>
        <p:txBody>
          <a:bodyPr wrap="square" lIns="0" rIns="0" tIns="0" bIns="0" anchor="t">
            <a:spAutoFit/>
          </a:bodyPr>
          <a:lstStyle/>
          <a:p>
            <a:pPr algn="l"/>
            <a:r>
              <a:rPr sz="900" b="0" i="1">
                <a:solidFill>
                  <a:srgbClr val="9CA3AF"/>
                </a:solidFill>
                <a:latin typeface="Calibri"/>
              </a:rPr>
              <a:t>{{TABLE_NOTE}}</a:t>
            </a:r>
          </a:p>
        </p:txBody>
      </p:sp>
      <p:sp>
        <p:nvSpPr>
          <p:cNvPr id="83" name="TextBox 82"/>
          <p:cNvSpPr txBox="1"/>
          <p:nvPr/>
        </p:nvSpPr>
        <p:spPr>
          <a:xfrm>
            <a:off x="457200" y="6537960"/>
            <a:ext cx="9144000" cy="274320"/>
          </a:xfrm>
          <a:prstGeom prst="rect">
            <a:avLst/>
          </a:prstGeom>
          <a:noFill/>
        </p:spPr>
        <p:txBody>
          <a:bodyPr wrap="square" lIns="0" rIns="0" tIns="0" bIns="0" anchor="t">
            <a:spAutoFit/>
          </a:bodyPr>
          <a:lstStyle/>
          <a:p>
            <a:pPr algn="l"/>
            <a:r>
              <a:rPr sz="900" b="0" i="0">
                <a:solidFill>
                  <a:srgbClr val="9CA3AF"/>
                </a:solidFill>
                <a:latin typeface="Calibri"/>
              </a:rPr>
              <a:t>{{FOOTER_LEFT}}</a:t>
            </a:r>
          </a:p>
        </p:txBody>
      </p:sp>
      <p:sp>
        <p:nvSpPr>
          <p:cNvPr id="84" name="TextBox 83"/>
          <p:cNvSpPr txBox="1"/>
          <p:nvPr/>
        </p:nvSpPr>
        <p:spPr>
          <a:xfrm>
            <a:off x="11247120" y="6537960"/>
            <a:ext cx="457200" cy="274320"/>
          </a:xfrm>
          <a:prstGeom prst="rect">
            <a:avLst/>
          </a:prstGeom>
          <a:noFill/>
        </p:spPr>
        <p:txBody>
          <a:bodyPr wrap="square" lIns="0" rIns="0" tIns="0" bIns="0" anchor="t">
            <a:spAutoFit/>
          </a:bodyPr>
          <a:lstStyle/>
          <a:p>
            <a:pPr algn="r"/>
            <a:r>
              <a:rPr sz="900" b="1" i="0">
                <a:solidFill>
                  <a:srgbClr val="003D7A"/>
                </a:solidFill>
                <a:latin typeface="Calibri"/>
              </a:rPr>
              <a:t>{{PAGE_NUM}}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TIMELINE_NEWS">
    <p:spTree>
      <p:nvGrpSpPr>
        <p:cNvPr id="1" name=""/>
        <p:cNvGrpSpPr/>
        <p:nvPr/>
      </p:nvGrpSpPr>
      <p:grpSpPr/>
      <p:sp>
        <p:nvSpPr>
          <p:cNvPr id="2" name="Rectangle 1"/>
          <p:cNvSpPr/>
          <p:nvPr/>
        </p:nvSpPr>
        <p:spPr>
          <a:xfrm>
            <a:off x="457200" y="411480"/>
            <a:ext cx="73152" cy="64008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1064240" cy="502920"/>
          </a:xfrm>
          <a:prstGeom prst="rect">
            <a:avLst/>
          </a:prstGeom>
          <a:noFill/>
        </p:spPr>
        <p:txBody>
          <a:bodyPr wrap="square" lIns="0" rIns="0" tIns="0" bIns="0" anchor="ctr">
            <a:spAutoFit/>
          </a:bodyPr>
          <a:lstStyle/>
          <a:p>
            <a:pPr algn="l"/>
            <a:r>
              <a:rPr sz="2600" b="1" i="0">
                <a:solidFill>
                  <a:srgbClr val="003D7A"/>
                </a:solidFill>
                <a:latin typeface="Calibri"/>
              </a:rPr>
              <a:t>{{SECTION_TITLE}}</a:t>
            </a:r>
          </a:p>
        </p:txBody>
      </p:sp>
      <p:sp>
        <p:nvSpPr>
          <p:cNvPr id="4" name="TextBox 3"/>
          <p:cNvSpPr txBox="1"/>
          <p:nvPr/>
        </p:nvSpPr>
        <p:spPr>
          <a:xfrm>
            <a:off x="640080" y="868680"/>
            <a:ext cx="11064240" cy="274320"/>
          </a:xfrm>
          <a:prstGeom prst="rect">
            <a:avLst/>
          </a:prstGeom>
          <a:noFill/>
        </p:spPr>
        <p:txBody>
          <a:bodyPr wrap="square" lIns="0" rIns="0" tIns="0" bIns="0" anchor="t">
            <a:spAutoFit/>
          </a:bodyPr>
          <a:lstStyle/>
          <a:p>
            <a:pPr algn="l"/>
            <a:r>
              <a:rPr sz="1200" b="0" i="1">
                <a:solidFill>
                  <a:srgbClr val="4A5568"/>
                </a:solidFill>
                <a:latin typeface="Calibri"/>
              </a:rPr>
              <a:t>{{SECTION_SUB}}</a:t>
            </a:r>
          </a:p>
        </p:txBody>
      </p:sp>
      <p:sp>
        <p:nvSpPr>
          <p:cNvPr id="5" name="Rectangle 4"/>
          <p:cNvSpPr/>
          <p:nvPr/>
        </p:nvSpPr>
        <p:spPr>
          <a:xfrm>
            <a:off x="1901952" y="1371600"/>
            <a:ext cx="36576" cy="4846320"/>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280160" cy="365760"/>
          </a:xfrm>
          <a:prstGeom prst="rect">
            <a:avLst/>
          </a:prstGeom>
          <a:noFill/>
        </p:spPr>
        <p:txBody>
          <a:bodyPr wrap="square" lIns="0" rIns="0" tIns="0" bIns="0" anchor="t">
            <a:spAutoFit/>
          </a:bodyPr>
          <a:lstStyle/>
          <a:p>
            <a:pPr algn="r"/>
            <a:r>
              <a:rPr sz="1300" b="1" i="0">
                <a:solidFill>
                  <a:srgbClr val="003D7A"/>
                </a:solidFill>
                <a:latin typeface="Calibri"/>
              </a:rPr>
              <a:t>{{EVENT_1_DATE}}</a:t>
            </a:r>
          </a:p>
        </p:txBody>
      </p:sp>
      <p:sp>
        <p:nvSpPr>
          <p:cNvPr id="7" name="Rectangle 6"/>
          <p:cNvSpPr/>
          <p:nvPr/>
        </p:nvSpPr>
        <p:spPr>
          <a:xfrm>
            <a:off x="1828800" y="1554480"/>
            <a:ext cx="182880" cy="18288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194560" y="1371600"/>
            <a:ext cx="9509760" cy="1188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194560" y="1371600"/>
            <a:ext cx="45720" cy="118872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1463040"/>
            <a:ext cx="9235440" cy="320040"/>
          </a:xfrm>
          <a:prstGeom prst="rect">
            <a:avLst/>
          </a:prstGeom>
          <a:noFill/>
        </p:spPr>
        <p:txBody>
          <a:bodyPr wrap="square" lIns="0" rIns="0" tIns="0" bIns="0" anchor="t">
            <a:spAutoFit/>
          </a:bodyPr>
          <a:lstStyle/>
          <a:p>
            <a:pPr algn="l"/>
            <a:r>
              <a:rPr sz="1300" b="1" i="0">
                <a:solidFill>
                  <a:srgbClr val="003D7A"/>
                </a:solidFill>
                <a:latin typeface="Calibri"/>
              </a:rPr>
              <a:t>{{EVENT_1_TITLE}}</a:t>
            </a:r>
          </a:p>
        </p:txBody>
      </p:sp>
      <p:sp>
        <p:nvSpPr>
          <p:cNvPr id="11" name="TextBox 10"/>
          <p:cNvSpPr txBox="1"/>
          <p:nvPr/>
        </p:nvSpPr>
        <p:spPr>
          <a:xfrm>
            <a:off x="2377440" y="1783080"/>
            <a:ext cx="9235440" cy="457200"/>
          </a:xfrm>
          <a:prstGeom prst="rect">
            <a:avLst/>
          </a:prstGeom>
          <a:noFill/>
        </p:spPr>
        <p:txBody>
          <a:bodyPr wrap="square" lIns="0" rIns="0" tIns="0" bIns="0" anchor="t">
            <a:spAutoFit/>
          </a:bodyPr>
          <a:lstStyle/>
          <a:p>
            <a:pPr algn="l"/>
            <a:r>
              <a:rPr sz="1050" b="0" i="0">
                <a:solidFill>
                  <a:srgbClr val="1F2937"/>
                </a:solidFill>
                <a:latin typeface="Calibri"/>
              </a:rPr>
              <a:t>{{EVENT_1_BODY}}</a:t>
            </a:r>
          </a:p>
        </p:txBody>
      </p:sp>
      <p:sp>
        <p:nvSpPr>
          <p:cNvPr id="12" name="TextBox 11"/>
          <p:cNvSpPr txBox="1"/>
          <p:nvPr/>
        </p:nvSpPr>
        <p:spPr>
          <a:xfrm>
            <a:off x="2377440" y="2240280"/>
            <a:ext cx="9235440" cy="274320"/>
          </a:xfrm>
          <a:prstGeom prst="rect">
            <a:avLst/>
          </a:prstGeom>
          <a:noFill/>
        </p:spPr>
        <p:txBody>
          <a:bodyPr wrap="square" lIns="0" rIns="0" tIns="0" bIns="0" anchor="t">
            <a:spAutoFit/>
          </a:bodyPr>
          <a:lstStyle/>
          <a:p>
            <a:pPr algn="l"/>
            <a:r>
              <a:rPr sz="900" b="1" i="1">
                <a:solidFill>
                  <a:srgbClr val="059669"/>
                </a:solidFill>
                <a:latin typeface="Calibri"/>
              </a:rPr>
              <a:t>{{EVENT_1_TAG}}</a:t>
            </a:r>
          </a:p>
        </p:txBody>
      </p:sp>
      <p:sp>
        <p:nvSpPr>
          <p:cNvPr id="13" name="TextBox 12"/>
          <p:cNvSpPr txBox="1"/>
          <p:nvPr/>
        </p:nvSpPr>
        <p:spPr>
          <a:xfrm>
            <a:off x="457200" y="2697480"/>
            <a:ext cx="1280160" cy="365760"/>
          </a:xfrm>
          <a:prstGeom prst="rect">
            <a:avLst/>
          </a:prstGeom>
          <a:noFill/>
        </p:spPr>
        <p:txBody>
          <a:bodyPr wrap="square" lIns="0" rIns="0" tIns="0" bIns="0" anchor="t">
            <a:spAutoFit/>
          </a:bodyPr>
          <a:lstStyle/>
          <a:p>
            <a:pPr algn="r"/>
            <a:r>
              <a:rPr sz="1300" b="1" i="0">
                <a:solidFill>
                  <a:srgbClr val="003D7A"/>
                </a:solidFill>
                <a:latin typeface="Calibri"/>
              </a:rPr>
              <a:t>{{EVENT_2_DATE}}</a:t>
            </a:r>
          </a:p>
        </p:txBody>
      </p:sp>
      <p:sp>
        <p:nvSpPr>
          <p:cNvPr id="14" name="Rectangle 13"/>
          <p:cNvSpPr/>
          <p:nvPr/>
        </p:nvSpPr>
        <p:spPr>
          <a:xfrm>
            <a:off x="1828800" y="2788920"/>
            <a:ext cx="182880" cy="18288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194560" y="2606040"/>
            <a:ext cx="9509760" cy="1188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94560" y="2606040"/>
            <a:ext cx="45720" cy="118872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77440" y="2697480"/>
            <a:ext cx="9235440" cy="320040"/>
          </a:xfrm>
          <a:prstGeom prst="rect">
            <a:avLst/>
          </a:prstGeom>
          <a:noFill/>
        </p:spPr>
        <p:txBody>
          <a:bodyPr wrap="square" lIns="0" rIns="0" tIns="0" bIns="0" anchor="t">
            <a:spAutoFit/>
          </a:bodyPr>
          <a:lstStyle/>
          <a:p>
            <a:pPr algn="l"/>
            <a:r>
              <a:rPr sz="1300" b="1" i="0">
                <a:solidFill>
                  <a:srgbClr val="003D7A"/>
                </a:solidFill>
                <a:latin typeface="Calibri"/>
              </a:rPr>
              <a:t>{{EVENT_2_TITLE}}</a:t>
            </a:r>
          </a:p>
        </p:txBody>
      </p:sp>
      <p:sp>
        <p:nvSpPr>
          <p:cNvPr id="18" name="TextBox 17"/>
          <p:cNvSpPr txBox="1"/>
          <p:nvPr/>
        </p:nvSpPr>
        <p:spPr>
          <a:xfrm>
            <a:off x="2377440" y="3017520"/>
            <a:ext cx="9235440" cy="457200"/>
          </a:xfrm>
          <a:prstGeom prst="rect">
            <a:avLst/>
          </a:prstGeom>
          <a:noFill/>
        </p:spPr>
        <p:txBody>
          <a:bodyPr wrap="square" lIns="0" rIns="0" tIns="0" bIns="0" anchor="t">
            <a:spAutoFit/>
          </a:bodyPr>
          <a:lstStyle/>
          <a:p>
            <a:pPr algn="l"/>
            <a:r>
              <a:rPr sz="1050" b="0" i="0">
                <a:solidFill>
                  <a:srgbClr val="1F2937"/>
                </a:solidFill>
                <a:latin typeface="Calibri"/>
              </a:rPr>
              <a:t>{{EVENT_2_BODY}}</a:t>
            </a:r>
          </a:p>
        </p:txBody>
      </p:sp>
      <p:sp>
        <p:nvSpPr>
          <p:cNvPr id="19" name="TextBox 18"/>
          <p:cNvSpPr txBox="1"/>
          <p:nvPr/>
        </p:nvSpPr>
        <p:spPr>
          <a:xfrm>
            <a:off x="2377440" y="3474720"/>
            <a:ext cx="9235440" cy="274320"/>
          </a:xfrm>
          <a:prstGeom prst="rect">
            <a:avLst/>
          </a:prstGeom>
          <a:noFill/>
        </p:spPr>
        <p:txBody>
          <a:bodyPr wrap="square" lIns="0" rIns="0" tIns="0" bIns="0" anchor="t">
            <a:spAutoFit/>
          </a:bodyPr>
          <a:lstStyle/>
          <a:p>
            <a:pPr algn="l"/>
            <a:r>
              <a:rPr sz="900" b="1" i="1">
                <a:solidFill>
                  <a:srgbClr val="059669"/>
                </a:solidFill>
                <a:latin typeface="Calibri"/>
              </a:rPr>
              <a:t>{{EVENT_2_TAG}}</a:t>
            </a:r>
          </a:p>
        </p:txBody>
      </p:sp>
      <p:sp>
        <p:nvSpPr>
          <p:cNvPr id="20" name="TextBox 19"/>
          <p:cNvSpPr txBox="1"/>
          <p:nvPr/>
        </p:nvSpPr>
        <p:spPr>
          <a:xfrm>
            <a:off x="457200" y="3931920"/>
            <a:ext cx="1280160" cy="365760"/>
          </a:xfrm>
          <a:prstGeom prst="rect">
            <a:avLst/>
          </a:prstGeom>
          <a:noFill/>
        </p:spPr>
        <p:txBody>
          <a:bodyPr wrap="square" lIns="0" rIns="0" tIns="0" bIns="0" anchor="t">
            <a:spAutoFit/>
          </a:bodyPr>
          <a:lstStyle/>
          <a:p>
            <a:pPr algn="r"/>
            <a:r>
              <a:rPr sz="1300" b="1" i="0">
                <a:solidFill>
                  <a:srgbClr val="003D7A"/>
                </a:solidFill>
                <a:latin typeface="Calibri"/>
              </a:rPr>
              <a:t>{{EVENT_3_DATE}}</a:t>
            </a:r>
          </a:p>
        </p:txBody>
      </p:sp>
      <p:sp>
        <p:nvSpPr>
          <p:cNvPr id="21" name="Rectangle 20"/>
          <p:cNvSpPr/>
          <p:nvPr/>
        </p:nvSpPr>
        <p:spPr>
          <a:xfrm>
            <a:off x="1828800" y="4023360"/>
            <a:ext cx="182880" cy="18288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194560" y="3840480"/>
            <a:ext cx="9509760" cy="1188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194560" y="3840480"/>
            <a:ext cx="45720" cy="118872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377440" y="3931920"/>
            <a:ext cx="9235440" cy="320040"/>
          </a:xfrm>
          <a:prstGeom prst="rect">
            <a:avLst/>
          </a:prstGeom>
          <a:noFill/>
        </p:spPr>
        <p:txBody>
          <a:bodyPr wrap="square" lIns="0" rIns="0" tIns="0" bIns="0" anchor="t">
            <a:spAutoFit/>
          </a:bodyPr>
          <a:lstStyle/>
          <a:p>
            <a:pPr algn="l"/>
            <a:r>
              <a:rPr sz="1300" b="1" i="0">
                <a:solidFill>
                  <a:srgbClr val="003D7A"/>
                </a:solidFill>
                <a:latin typeface="Calibri"/>
              </a:rPr>
              <a:t>{{EVENT_3_TITLE}}</a:t>
            </a:r>
          </a:p>
        </p:txBody>
      </p:sp>
      <p:sp>
        <p:nvSpPr>
          <p:cNvPr id="25" name="TextBox 24"/>
          <p:cNvSpPr txBox="1"/>
          <p:nvPr/>
        </p:nvSpPr>
        <p:spPr>
          <a:xfrm>
            <a:off x="2377440" y="4251960"/>
            <a:ext cx="9235440" cy="457200"/>
          </a:xfrm>
          <a:prstGeom prst="rect">
            <a:avLst/>
          </a:prstGeom>
          <a:noFill/>
        </p:spPr>
        <p:txBody>
          <a:bodyPr wrap="square" lIns="0" rIns="0" tIns="0" bIns="0" anchor="t">
            <a:spAutoFit/>
          </a:bodyPr>
          <a:lstStyle/>
          <a:p>
            <a:pPr algn="l"/>
            <a:r>
              <a:rPr sz="1050" b="0" i="0">
                <a:solidFill>
                  <a:srgbClr val="1F2937"/>
                </a:solidFill>
                <a:latin typeface="Calibri"/>
              </a:rPr>
              <a:t>{{EVENT_3_BODY}}</a:t>
            </a:r>
          </a:p>
        </p:txBody>
      </p:sp>
      <p:sp>
        <p:nvSpPr>
          <p:cNvPr id="26" name="TextBox 25"/>
          <p:cNvSpPr txBox="1"/>
          <p:nvPr/>
        </p:nvSpPr>
        <p:spPr>
          <a:xfrm>
            <a:off x="2377440" y="4709160"/>
            <a:ext cx="9235440" cy="274320"/>
          </a:xfrm>
          <a:prstGeom prst="rect">
            <a:avLst/>
          </a:prstGeom>
          <a:noFill/>
        </p:spPr>
        <p:txBody>
          <a:bodyPr wrap="square" lIns="0" rIns="0" tIns="0" bIns="0" anchor="t">
            <a:spAutoFit/>
          </a:bodyPr>
          <a:lstStyle/>
          <a:p>
            <a:pPr algn="l"/>
            <a:r>
              <a:rPr sz="900" b="1" i="1">
                <a:solidFill>
                  <a:srgbClr val="059669"/>
                </a:solidFill>
                <a:latin typeface="Calibri"/>
              </a:rPr>
              <a:t>{{EVENT_3_TAG}}</a:t>
            </a:r>
          </a:p>
        </p:txBody>
      </p:sp>
      <p:sp>
        <p:nvSpPr>
          <p:cNvPr id="27" name="TextBox 26"/>
          <p:cNvSpPr txBox="1"/>
          <p:nvPr/>
        </p:nvSpPr>
        <p:spPr>
          <a:xfrm>
            <a:off x="457200" y="5166360"/>
            <a:ext cx="1280160" cy="365760"/>
          </a:xfrm>
          <a:prstGeom prst="rect">
            <a:avLst/>
          </a:prstGeom>
          <a:noFill/>
        </p:spPr>
        <p:txBody>
          <a:bodyPr wrap="square" lIns="0" rIns="0" tIns="0" bIns="0" anchor="t">
            <a:spAutoFit/>
          </a:bodyPr>
          <a:lstStyle/>
          <a:p>
            <a:pPr algn="r"/>
            <a:r>
              <a:rPr sz="1300" b="1" i="0">
                <a:solidFill>
                  <a:srgbClr val="003D7A"/>
                </a:solidFill>
                <a:latin typeface="Calibri"/>
              </a:rPr>
              <a:t>{{EVENT_4_DATE}}</a:t>
            </a:r>
          </a:p>
        </p:txBody>
      </p:sp>
      <p:sp>
        <p:nvSpPr>
          <p:cNvPr id="28" name="Rectangle 27"/>
          <p:cNvSpPr/>
          <p:nvPr/>
        </p:nvSpPr>
        <p:spPr>
          <a:xfrm>
            <a:off x="1828800" y="5257800"/>
            <a:ext cx="182880" cy="18288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194560" y="5074920"/>
            <a:ext cx="9509760" cy="1188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194560" y="5074920"/>
            <a:ext cx="45720" cy="118872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77440" y="5166360"/>
            <a:ext cx="9235440" cy="320040"/>
          </a:xfrm>
          <a:prstGeom prst="rect">
            <a:avLst/>
          </a:prstGeom>
          <a:noFill/>
        </p:spPr>
        <p:txBody>
          <a:bodyPr wrap="square" lIns="0" rIns="0" tIns="0" bIns="0" anchor="t">
            <a:spAutoFit/>
          </a:bodyPr>
          <a:lstStyle/>
          <a:p>
            <a:pPr algn="l"/>
            <a:r>
              <a:rPr sz="1300" b="1" i="0">
                <a:solidFill>
                  <a:srgbClr val="003D7A"/>
                </a:solidFill>
                <a:latin typeface="Calibri"/>
              </a:rPr>
              <a:t>{{EVENT_4_TITLE}}</a:t>
            </a:r>
          </a:p>
        </p:txBody>
      </p:sp>
      <p:sp>
        <p:nvSpPr>
          <p:cNvPr id="32" name="TextBox 31"/>
          <p:cNvSpPr txBox="1"/>
          <p:nvPr/>
        </p:nvSpPr>
        <p:spPr>
          <a:xfrm>
            <a:off x="2377440" y="5486400"/>
            <a:ext cx="9235440" cy="457200"/>
          </a:xfrm>
          <a:prstGeom prst="rect">
            <a:avLst/>
          </a:prstGeom>
          <a:noFill/>
        </p:spPr>
        <p:txBody>
          <a:bodyPr wrap="square" lIns="0" rIns="0" tIns="0" bIns="0" anchor="t">
            <a:spAutoFit/>
          </a:bodyPr>
          <a:lstStyle/>
          <a:p>
            <a:pPr algn="l"/>
            <a:r>
              <a:rPr sz="1050" b="0" i="0">
                <a:solidFill>
                  <a:srgbClr val="1F2937"/>
                </a:solidFill>
                <a:latin typeface="Calibri"/>
              </a:rPr>
              <a:t>{{EVENT_4_BODY}}</a:t>
            </a:r>
          </a:p>
        </p:txBody>
      </p:sp>
      <p:sp>
        <p:nvSpPr>
          <p:cNvPr id="33" name="TextBox 32"/>
          <p:cNvSpPr txBox="1"/>
          <p:nvPr/>
        </p:nvSpPr>
        <p:spPr>
          <a:xfrm>
            <a:off x="2377440" y="5943600"/>
            <a:ext cx="9235440" cy="274320"/>
          </a:xfrm>
          <a:prstGeom prst="rect">
            <a:avLst/>
          </a:prstGeom>
          <a:noFill/>
        </p:spPr>
        <p:txBody>
          <a:bodyPr wrap="square" lIns="0" rIns="0" tIns="0" bIns="0" anchor="t">
            <a:spAutoFit/>
          </a:bodyPr>
          <a:lstStyle/>
          <a:p>
            <a:pPr algn="l"/>
            <a:r>
              <a:rPr sz="900" b="1" i="1">
                <a:solidFill>
                  <a:srgbClr val="059669"/>
                </a:solidFill>
                <a:latin typeface="Calibri"/>
              </a:rPr>
              <a:t>{{EVENT_4_TAG}}</a:t>
            </a:r>
          </a:p>
        </p:txBody>
      </p:sp>
      <p:sp>
        <p:nvSpPr>
          <p:cNvPr id="34" name="TextBox 33"/>
          <p:cNvSpPr txBox="1"/>
          <p:nvPr/>
        </p:nvSpPr>
        <p:spPr>
          <a:xfrm>
            <a:off x="457200" y="6537960"/>
            <a:ext cx="9144000" cy="274320"/>
          </a:xfrm>
          <a:prstGeom prst="rect">
            <a:avLst/>
          </a:prstGeom>
          <a:noFill/>
        </p:spPr>
        <p:txBody>
          <a:bodyPr wrap="square" lIns="0" rIns="0" tIns="0" bIns="0" anchor="t">
            <a:spAutoFit/>
          </a:bodyPr>
          <a:lstStyle/>
          <a:p>
            <a:pPr algn="l"/>
            <a:r>
              <a:rPr sz="900" b="0" i="0">
                <a:solidFill>
                  <a:srgbClr val="9CA3AF"/>
                </a:solidFill>
                <a:latin typeface="Calibri"/>
              </a:rPr>
              <a:t>{{FOOTER_LEFT}}</a:t>
            </a:r>
          </a:p>
        </p:txBody>
      </p:sp>
      <p:sp>
        <p:nvSpPr>
          <p:cNvPr id="35" name="TextBox 34"/>
          <p:cNvSpPr txBox="1"/>
          <p:nvPr/>
        </p:nvSpPr>
        <p:spPr>
          <a:xfrm>
            <a:off x="11247120" y="6537960"/>
            <a:ext cx="457200" cy="274320"/>
          </a:xfrm>
          <a:prstGeom prst="rect">
            <a:avLst/>
          </a:prstGeom>
          <a:noFill/>
        </p:spPr>
        <p:txBody>
          <a:bodyPr wrap="square" lIns="0" rIns="0" tIns="0" bIns="0" anchor="t">
            <a:spAutoFit/>
          </a:bodyPr>
          <a:lstStyle/>
          <a:p>
            <a:pPr algn="r"/>
            <a:r>
              <a:rPr sz="900" b="1" i="0">
                <a:solidFill>
                  <a:srgbClr val="003D7A"/>
                </a:solidFill>
                <a:latin typeface="Calibri"/>
              </a:rPr>
              <a:t>{{PAGE_NUM}}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RISK_GRID_STEELMAN">
    <p:spTree>
      <p:nvGrpSpPr>
        <p:cNvPr id="1" name=""/>
        <p:cNvGrpSpPr/>
        <p:nvPr/>
      </p:nvGrpSpPr>
      <p:grpSpPr/>
      <p:sp>
        <p:nvSpPr>
          <p:cNvPr id="2" name="Rectangle 1"/>
          <p:cNvSpPr/>
          <p:nvPr/>
        </p:nvSpPr>
        <p:spPr>
          <a:xfrm>
            <a:off x="457200" y="411480"/>
            <a:ext cx="73152" cy="64008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1064240" cy="502920"/>
          </a:xfrm>
          <a:prstGeom prst="rect">
            <a:avLst/>
          </a:prstGeom>
          <a:noFill/>
        </p:spPr>
        <p:txBody>
          <a:bodyPr wrap="square" lIns="0" rIns="0" tIns="0" bIns="0" anchor="ctr">
            <a:spAutoFit/>
          </a:bodyPr>
          <a:lstStyle/>
          <a:p>
            <a:pPr algn="l"/>
            <a:r>
              <a:rPr sz="2600" b="1" i="0">
                <a:solidFill>
                  <a:srgbClr val="003D7A"/>
                </a:solidFill>
                <a:latin typeface="Calibri"/>
              </a:rPr>
              <a:t>{{SECTION_TITLE}}</a:t>
            </a:r>
          </a:p>
        </p:txBody>
      </p:sp>
      <p:sp>
        <p:nvSpPr>
          <p:cNvPr id="4" name="TextBox 3"/>
          <p:cNvSpPr txBox="1"/>
          <p:nvPr/>
        </p:nvSpPr>
        <p:spPr>
          <a:xfrm>
            <a:off x="640080" y="868680"/>
            <a:ext cx="11064240" cy="274320"/>
          </a:xfrm>
          <a:prstGeom prst="rect">
            <a:avLst/>
          </a:prstGeom>
          <a:noFill/>
        </p:spPr>
        <p:txBody>
          <a:bodyPr wrap="square" lIns="0" rIns="0" tIns="0" bIns="0" anchor="t">
            <a:spAutoFit/>
          </a:bodyPr>
          <a:lstStyle/>
          <a:p>
            <a:pPr algn="l"/>
            <a:r>
              <a:rPr sz="1200" b="0" i="1">
                <a:solidFill>
                  <a:srgbClr val="4A5568"/>
                </a:solidFill>
                <a:latin typeface="Calibri"/>
              </a:rPr>
              <a:t>{{SECTION_SUB}}</a:t>
            </a:r>
          </a:p>
        </p:txBody>
      </p:sp>
      <p:sp>
        <p:nvSpPr>
          <p:cNvPr id="5" name="Rectangle 4"/>
          <p:cNvSpPr/>
          <p:nvPr/>
        </p:nvSpPr>
        <p:spPr>
          <a:xfrm>
            <a:off x="457200" y="1371600"/>
            <a:ext cx="5532120" cy="1508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71600"/>
            <a:ext cx="73152" cy="150876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371600"/>
            <a:ext cx="2103120" cy="150876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73152" cy="150876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508760"/>
            <a:ext cx="1828799" cy="228600"/>
          </a:xfrm>
          <a:prstGeom prst="rect">
            <a:avLst/>
          </a:prstGeom>
          <a:noFill/>
        </p:spPr>
        <p:txBody>
          <a:bodyPr wrap="square" lIns="0" rIns="0" tIns="0" bIns="0" anchor="t">
            <a:spAutoFit/>
          </a:bodyPr>
          <a:lstStyle/>
          <a:p>
            <a:pPr algn="l"/>
            <a:r>
              <a:rPr sz="900" b="1" i="0">
                <a:solidFill>
                  <a:srgbClr val="D71249"/>
                </a:solidFill>
                <a:latin typeface="Calibri"/>
              </a:rPr>
              <a:t>LO NGẠI</a:t>
            </a:r>
          </a:p>
        </p:txBody>
      </p:sp>
      <p:sp>
        <p:nvSpPr>
          <p:cNvPr id="10" name="TextBox 9"/>
          <p:cNvSpPr txBox="1"/>
          <p:nvPr/>
        </p:nvSpPr>
        <p:spPr>
          <a:xfrm>
            <a:off x="640080" y="1783080"/>
            <a:ext cx="1828799" cy="1005839"/>
          </a:xfrm>
          <a:prstGeom prst="rect">
            <a:avLst/>
          </a:prstGeom>
          <a:noFill/>
        </p:spPr>
        <p:txBody>
          <a:bodyPr wrap="square" lIns="0" rIns="0" tIns="0" bIns="0" anchor="t">
            <a:spAutoFit/>
          </a:bodyPr>
          <a:lstStyle/>
          <a:p>
            <a:pPr algn="l"/>
            <a:r>
              <a:rPr sz="1100" b="1" i="0">
                <a:solidFill>
                  <a:srgbClr val="1F2937"/>
                </a:solidFill>
                <a:latin typeface="Calibri"/>
              </a:rPr>
              <a:t>{{CONCERN_1}}</a:t>
            </a:r>
          </a:p>
        </p:txBody>
      </p:sp>
      <p:sp>
        <p:nvSpPr>
          <p:cNvPr id="11" name="TextBox 10"/>
          <p:cNvSpPr txBox="1"/>
          <p:nvPr/>
        </p:nvSpPr>
        <p:spPr>
          <a:xfrm>
            <a:off x="2743200" y="1508760"/>
            <a:ext cx="3154680" cy="228600"/>
          </a:xfrm>
          <a:prstGeom prst="rect">
            <a:avLst/>
          </a:prstGeom>
          <a:noFill/>
        </p:spPr>
        <p:txBody>
          <a:bodyPr wrap="square" lIns="0" rIns="0" tIns="0" bIns="0" anchor="t">
            <a:spAutoFit/>
          </a:bodyPr>
          <a:lstStyle/>
          <a:p>
            <a:pPr algn="l"/>
            <a:r>
              <a:rPr sz="900" b="1" i="0">
                <a:solidFill>
                  <a:srgbClr val="059669"/>
                </a:solidFill>
                <a:latin typeface="Calibri"/>
              </a:rPr>
              <a:t>PHẢN BIỆN</a:t>
            </a:r>
          </a:p>
        </p:txBody>
      </p:sp>
      <p:sp>
        <p:nvSpPr>
          <p:cNvPr id="12" name="TextBox 11"/>
          <p:cNvSpPr txBox="1"/>
          <p:nvPr/>
        </p:nvSpPr>
        <p:spPr>
          <a:xfrm>
            <a:off x="2743200" y="1783080"/>
            <a:ext cx="3154680" cy="1005839"/>
          </a:xfrm>
          <a:prstGeom prst="rect">
            <a:avLst/>
          </a:prstGeom>
          <a:noFill/>
        </p:spPr>
        <p:txBody>
          <a:bodyPr wrap="square" lIns="0" rIns="0" tIns="0" bIns="0" anchor="t">
            <a:spAutoFit/>
          </a:bodyPr>
          <a:lstStyle/>
          <a:p>
            <a:pPr algn="l"/>
            <a:r>
              <a:rPr sz="1050" b="0" i="0">
                <a:solidFill>
                  <a:srgbClr val="1F2937"/>
                </a:solidFill>
                <a:latin typeface="Calibri"/>
              </a:rPr>
              <a:t>{{REBUT_1}}</a:t>
            </a:r>
          </a:p>
        </p:txBody>
      </p:sp>
      <p:sp>
        <p:nvSpPr>
          <p:cNvPr id="13" name="Rectangle 12"/>
          <p:cNvSpPr/>
          <p:nvPr/>
        </p:nvSpPr>
        <p:spPr>
          <a:xfrm>
            <a:off x="6172200" y="1371600"/>
            <a:ext cx="5532120" cy="1508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1371600"/>
            <a:ext cx="73152" cy="150876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1371600"/>
            <a:ext cx="2103120" cy="150876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1371600"/>
            <a:ext cx="73152" cy="150876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1508760"/>
            <a:ext cx="1828799" cy="228600"/>
          </a:xfrm>
          <a:prstGeom prst="rect">
            <a:avLst/>
          </a:prstGeom>
          <a:noFill/>
        </p:spPr>
        <p:txBody>
          <a:bodyPr wrap="square" lIns="0" rIns="0" tIns="0" bIns="0" anchor="t">
            <a:spAutoFit/>
          </a:bodyPr>
          <a:lstStyle/>
          <a:p>
            <a:pPr algn="l"/>
            <a:r>
              <a:rPr sz="900" b="1" i="0">
                <a:solidFill>
                  <a:srgbClr val="D71249"/>
                </a:solidFill>
                <a:latin typeface="Calibri"/>
              </a:rPr>
              <a:t>LO NGẠI</a:t>
            </a:r>
          </a:p>
        </p:txBody>
      </p:sp>
      <p:sp>
        <p:nvSpPr>
          <p:cNvPr id="18" name="TextBox 17"/>
          <p:cNvSpPr txBox="1"/>
          <p:nvPr/>
        </p:nvSpPr>
        <p:spPr>
          <a:xfrm>
            <a:off x="6355080" y="1783080"/>
            <a:ext cx="1828799" cy="1005839"/>
          </a:xfrm>
          <a:prstGeom prst="rect">
            <a:avLst/>
          </a:prstGeom>
          <a:noFill/>
        </p:spPr>
        <p:txBody>
          <a:bodyPr wrap="square" lIns="0" rIns="0" tIns="0" bIns="0" anchor="t">
            <a:spAutoFit/>
          </a:bodyPr>
          <a:lstStyle/>
          <a:p>
            <a:pPr algn="l"/>
            <a:r>
              <a:rPr sz="1100" b="1" i="0">
                <a:solidFill>
                  <a:srgbClr val="1F2937"/>
                </a:solidFill>
                <a:latin typeface="Calibri"/>
              </a:rPr>
              <a:t>{{CONCERN_2}}</a:t>
            </a:r>
          </a:p>
        </p:txBody>
      </p:sp>
      <p:sp>
        <p:nvSpPr>
          <p:cNvPr id="19" name="TextBox 18"/>
          <p:cNvSpPr txBox="1"/>
          <p:nvPr/>
        </p:nvSpPr>
        <p:spPr>
          <a:xfrm>
            <a:off x="8458200" y="1508760"/>
            <a:ext cx="3154680" cy="228600"/>
          </a:xfrm>
          <a:prstGeom prst="rect">
            <a:avLst/>
          </a:prstGeom>
          <a:noFill/>
        </p:spPr>
        <p:txBody>
          <a:bodyPr wrap="square" lIns="0" rIns="0" tIns="0" bIns="0" anchor="t">
            <a:spAutoFit/>
          </a:bodyPr>
          <a:lstStyle/>
          <a:p>
            <a:pPr algn="l"/>
            <a:r>
              <a:rPr sz="900" b="1" i="0">
                <a:solidFill>
                  <a:srgbClr val="059669"/>
                </a:solidFill>
                <a:latin typeface="Calibri"/>
              </a:rPr>
              <a:t>PHẢN BIỆN</a:t>
            </a:r>
          </a:p>
        </p:txBody>
      </p:sp>
      <p:sp>
        <p:nvSpPr>
          <p:cNvPr id="20" name="TextBox 19"/>
          <p:cNvSpPr txBox="1"/>
          <p:nvPr/>
        </p:nvSpPr>
        <p:spPr>
          <a:xfrm>
            <a:off x="8458200" y="1783080"/>
            <a:ext cx="3154680" cy="1005839"/>
          </a:xfrm>
          <a:prstGeom prst="rect">
            <a:avLst/>
          </a:prstGeom>
          <a:noFill/>
        </p:spPr>
        <p:txBody>
          <a:bodyPr wrap="square" lIns="0" rIns="0" tIns="0" bIns="0" anchor="t">
            <a:spAutoFit/>
          </a:bodyPr>
          <a:lstStyle/>
          <a:p>
            <a:pPr algn="l"/>
            <a:r>
              <a:rPr sz="1050" b="0" i="0">
                <a:solidFill>
                  <a:srgbClr val="1F2937"/>
                </a:solidFill>
                <a:latin typeface="Calibri"/>
              </a:rPr>
              <a:t>{{REBUT_2}}</a:t>
            </a:r>
          </a:p>
        </p:txBody>
      </p:sp>
      <p:sp>
        <p:nvSpPr>
          <p:cNvPr id="21" name="Rectangle 20"/>
          <p:cNvSpPr/>
          <p:nvPr/>
        </p:nvSpPr>
        <p:spPr>
          <a:xfrm>
            <a:off x="457200" y="3017520"/>
            <a:ext cx="5532120" cy="1508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3017520"/>
            <a:ext cx="73152" cy="150876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3017520"/>
            <a:ext cx="2103120" cy="150876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3017520"/>
            <a:ext cx="73152" cy="150876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3154679"/>
            <a:ext cx="1828799" cy="228600"/>
          </a:xfrm>
          <a:prstGeom prst="rect">
            <a:avLst/>
          </a:prstGeom>
          <a:noFill/>
        </p:spPr>
        <p:txBody>
          <a:bodyPr wrap="square" lIns="0" rIns="0" tIns="0" bIns="0" anchor="t">
            <a:spAutoFit/>
          </a:bodyPr>
          <a:lstStyle/>
          <a:p>
            <a:pPr algn="l"/>
            <a:r>
              <a:rPr sz="900" b="1" i="0">
                <a:solidFill>
                  <a:srgbClr val="D71249"/>
                </a:solidFill>
                <a:latin typeface="Calibri"/>
              </a:rPr>
              <a:t>LO NGẠI</a:t>
            </a:r>
          </a:p>
        </p:txBody>
      </p:sp>
      <p:sp>
        <p:nvSpPr>
          <p:cNvPr id="26" name="TextBox 25"/>
          <p:cNvSpPr txBox="1"/>
          <p:nvPr/>
        </p:nvSpPr>
        <p:spPr>
          <a:xfrm>
            <a:off x="640080" y="3429000"/>
            <a:ext cx="1828799" cy="1005839"/>
          </a:xfrm>
          <a:prstGeom prst="rect">
            <a:avLst/>
          </a:prstGeom>
          <a:noFill/>
        </p:spPr>
        <p:txBody>
          <a:bodyPr wrap="square" lIns="0" rIns="0" tIns="0" bIns="0" anchor="t">
            <a:spAutoFit/>
          </a:bodyPr>
          <a:lstStyle/>
          <a:p>
            <a:pPr algn="l"/>
            <a:r>
              <a:rPr sz="1100" b="1" i="0">
                <a:solidFill>
                  <a:srgbClr val="1F2937"/>
                </a:solidFill>
                <a:latin typeface="Calibri"/>
              </a:rPr>
              <a:t>{{CONCERN_3}}</a:t>
            </a:r>
          </a:p>
        </p:txBody>
      </p:sp>
      <p:sp>
        <p:nvSpPr>
          <p:cNvPr id="27" name="TextBox 26"/>
          <p:cNvSpPr txBox="1"/>
          <p:nvPr/>
        </p:nvSpPr>
        <p:spPr>
          <a:xfrm>
            <a:off x="2743200" y="3154679"/>
            <a:ext cx="3154680" cy="228600"/>
          </a:xfrm>
          <a:prstGeom prst="rect">
            <a:avLst/>
          </a:prstGeom>
          <a:noFill/>
        </p:spPr>
        <p:txBody>
          <a:bodyPr wrap="square" lIns="0" rIns="0" tIns="0" bIns="0" anchor="t">
            <a:spAutoFit/>
          </a:bodyPr>
          <a:lstStyle/>
          <a:p>
            <a:pPr algn="l"/>
            <a:r>
              <a:rPr sz="900" b="1" i="0">
                <a:solidFill>
                  <a:srgbClr val="059669"/>
                </a:solidFill>
                <a:latin typeface="Calibri"/>
              </a:rPr>
              <a:t>PHẢN BIỆN</a:t>
            </a:r>
          </a:p>
        </p:txBody>
      </p:sp>
      <p:sp>
        <p:nvSpPr>
          <p:cNvPr id="28" name="TextBox 27"/>
          <p:cNvSpPr txBox="1"/>
          <p:nvPr/>
        </p:nvSpPr>
        <p:spPr>
          <a:xfrm>
            <a:off x="2743200" y="3429000"/>
            <a:ext cx="3154680" cy="1005839"/>
          </a:xfrm>
          <a:prstGeom prst="rect">
            <a:avLst/>
          </a:prstGeom>
          <a:noFill/>
        </p:spPr>
        <p:txBody>
          <a:bodyPr wrap="square" lIns="0" rIns="0" tIns="0" bIns="0" anchor="t">
            <a:spAutoFit/>
          </a:bodyPr>
          <a:lstStyle/>
          <a:p>
            <a:pPr algn="l"/>
            <a:r>
              <a:rPr sz="1050" b="0" i="0">
                <a:solidFill>
                  <a:srgbClr val="1F2937"/>
                </a:solidFill>
                <a:latin typeface="Calibri"/>
              </a:rPr>
              <a:t>{{REBUT_3}}</a:t>
            </a:r>
          </a:p>
        </p:txBody>
      </p:sp>
      <p:sp>
        <p:nvSpPr>
          <p:cNvPr id="29" name="Rectangle 28"/>
          <p:cNvSpPr/>
          <p:nvPr/>
        </p:nvSpPr>
        <p:spPr>
          <a:xfrm>
            <a:off x="6172200" y="3017520"/>
            <a:ext cx="5532120" cy="1508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72200" y="3017520"/>
            <a:ext cx="73152" cy="150876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72200" y="3017520"/>
            <a:ext cx="2103120" cy="150876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72200" y="3017520"/>
            <a:ext cx="73152" cy="150876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55080" y="3154679"/>
            <a:ext cx="1828799" cy="228600"/>
          </a:xfrm>
          <a:prstGeom prst="rect">
            <a:avLst/>
          </a:prstGeom>
          <a:noFill/>
        </p:spPr>
        <p:txBody>
          <a:bodyPr wrap="square" lIns="0" rIns="0" tIns="0" bIns="0" anchor="t">
            <a:spAutoFit/>
          </a:bodyPr>
          <a:lstStyle/>
          <a:p>
            <a:pPr algn="l"/>
            <a:r>
              <a:rPr sz="900" b="1" i="0">
                <a:solidFill>
                  <a:srgbClr val="D71249"/>
                </a:solidFill>
                <a:latin typeface="Calibri"/>
              </a:rPr>
              <a:t>LO NGẠI</a:t>
            </a:r>
          </a:p>
        </p:txBody>
      </p:sp>
      <p:sp>
        <p:nvSpPr>
          <p:cNvPr id="34" name="TextBox 33"/>
          <p:cNvSpPr txBox="1"/>
          <p:nvPr/>
        </p:nvSpPr>
        <p:spPr>
          <a:xfrm>
            <a:off x="6355080" y="3429000"/>
            <a:ext cx="1828799" cy="1005839"/>
          </a:xfrm>
          <a:prstGeom prst="rect">
            <a:avLst/>
          </a:prstGeom>
          <a:noFill/>
        </p:spPr>
        <p:txBody>
          <a:bodyPr wrap="square" lIns="0" rIns="0" tIns="0" bIns="0" anchor="t">
            <a:spAutoFit/>
          </a:bodyPr>
          <a:lstStyle/>
          <a:p>
            <a:pPr algn="l"/>
            <a:r>
              <a:rPr sz="1100" b="1" i="0">
                <a:solidFill>
                  <a:srgbClr val="1F2937"/>
                </a:solidFill>
                <a:latin typeface="Calibri"/>
              </a:rPr>
              <a:t>{{CONCERN_4}}</a:t>
            </a:r>
          </a:p>
        </p:txBody>
      </p:sp>
      <p:sp>
        <p:nvSpPr>
          <p:cNvPr id="35" name="TextBox 34"/>
          <p:cNvSpPr txBox="1"/>
          <p:nvPr/>
        </p:nvSpPr>
        <p:spPr>
          <a:xfrm>
            <a:off x="8458200" y="3154679"/>
            <a:ext cx="3154680" cy="228600"/>
          </a:xfrm>
          <a:prstGeom prst="rect">
            <a:avLst/>
          </a:prstGeom>
          <a:noFill/>
        </p:spPr>
        <p:txBody>
          <a:bodyPr wrap="square" lIns="0" rIns="0" tIns="0" bIns="0" anchor="t">
            <a:spAutoFit/>
          </a:bodyPr>
          <a:lstStyle/>
          <a:p>
            <a:pPr algn="l"/>
            <a:r>
              <a:rPr sz="900" b="1" i="0">
                <a:solidFill>
                  <a:srgbClr val="059669"/>
                </a:solidFill>
                <a:latin typeface="Calibri"/>
              </a:rPr>
              <a:t>PHẢN BIỆN</a:t>
            </a:r>
          </a:p>
        </p:txBody>
      </p:sp>
      <p:sp>
        <p:nvSpPr>
          <p:cNvPr id="36" name="TextBox 35"/>
          <p:cNvSpPr txBox="1"/>
          <p:nvPr/>
        </p:nvSpPr>
        <p:spPr>
          <a:xfrm>
            <a:off x="8458200" y="3429000"/>
            <a:ext cx="3154680" cy="1005839"/>
          </a:xfrm>
          <a:prstGeom prst="rect">
            <a:avLst/>
          </a:prstGeom>
          <a:noFill/>
        </p:spPr>
        <p:txBody>
          <a:bodyPr wrap="square" lIns="0" rIns="0" tIns="0" bIns="0" anchor="t">
            <a:spAutoFit/>
          </a:bodyPr>
          <a:lstStyle/>
          <a:p>
            <a:pPr algn="l"/>
            <a:r>
              <a:rPr sz="1050" b="0" i="0">
                <a:solidFill>
                  <a:srgbClr val="1F2937"/>
                </a:solidFill>
                <a:latin typeface="Calibri"/>
              </a:rPr>
              <a:t>{{REBUT_4}}</a:t>
            </a:r>
          </a:p>
        </p:txBody>
      </p:sp>
      <p:sp>
        <p:nvSpPr>
          <p:cNvPr id="37" name="Rectangle 36"/>
          <p:cNvSpPr/>
          <p:nvPr/>
        </p:nvSpPr>
        <p:spPr>
          <a:xfrm>
            <a:off x="457200" y="4663440"/>
            <a:ext cx="5532120" cy="1508760"/>
          </a:xfrm>
          <a:prstGeom prst="rect">
            <a:avLst/>
          </a:prstGeom>
          <a:solidFill>
            <a:srgbClr val="F5D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57200" y="4663440"/>
            <a:ext cx="109728" cy="150876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4800600"/>
            <a:ext cx="1828799" cy="228600"/>
          </a:xfrm>
          <a:prstGeom prst="rect">
            <a:avLst/>
          </a:prstGeom>
          <a:noFill/>
        </p:spPr>
        <p:txBody>
          <a:bodyPr wrap="square" lIns="0" rIns="0" tIns="0" bIns="0" anchor="t">
            <a:spAutoFit/>
          </a:bodyPr>
          <a:lstStyle/>
          <a:p>
            <a:pPr algn="l"/>
            <a:r>
              <a:rPr sz="900" b="1" i="0">
                <a:solidFill>
                  <a:srgbClr val="D71249"/>
                </a:solidFill>
                <a:latin typeface="Calibri"/>
              </a:rPr>
              <a:t>LO NGẠI CÒN YẾU</a:t>
            </a:r>
          </a:p>
        </p:txBody>
      </p:sp>
      <p:sp>
        <p:nvSpPr>
          <p:cNvPr id="40" name="TextBox 39"/>
          <p:cNvSpPr txBox="1"/>
          <p:nvPr/>
        </p:nvSpPr>
        <p:spPr>
          <a:xfrm>
            <a:off x="640080" y="5074920"/>
            <a:ext cx="1828799" cy="1005839"/>
          </a:xfrm>
          <a:prstGeom prst="rect">
            <a:avLst/>
          </a:prstGeom>
          <a:noFill/>
        </p:spPr>
        <p:txBody>
          <a:bodyPr wrap="square" lIns="0" rIns="0" tIns="0" bIns="0" anchor="t">
            <a:spAutoFit/>
          </a:bodyPr>
          <a:lstStyle/>
          <a:p>
            <a:pPr algn="l"/>
            <a:r>
              <a:rPr sz="1100" b="1" i="0">
                <a:solidFill>
                  <a:srgbClr val="1F2937"/>
                </a:solidFill>
                <a:latin typeface="Calibri"/>
              </a:rPr>
              <a:t>{{CONCERN_5}}</a:t>
            </a:r>
          </a:p>
        </p:txBody>
      </p:sp>
      <p:sp>
        <p:nvSpPr>
          <p:cNvPr id="41" name="TextBox 40"/>
          <p:cNvSpPr txBox="1"/>
          <p:nvPr/>
        </p:nvSpPr>
        <p:spPr>
          <a:xfrm>
            <a:off x="2743200" y="4800600"/>
            <a:ext cx="3154680" cy="228600"/>
          </a:xfrm>
          <a:prstGeom prst="rect">
            <a:avLst/>
          </a:prstGeom>
          <a:noFill/>
        </p:spPr>
        <p:txBody>
          <a:bodyPr wrap="square" lIns="0" rIns="0" tIns="0" bIns="0" anchor="t">
            <a:spAutoFit/>
          </a:bodyPr>
          <a:lstStyle/>
          <a:p>
            <a:pPr algn="l"/>
            <a:r>
              <a:rPr sz="900" b="1" i="0">
                <a:solidFill>
                  <a:srgbClr val="D71249"/>
                </a:solidFill>
                <a:latin typeface="Calibri"/>
              </a:rPr>
              <a:t>PHẢN BIỆN</a:t>
            </a:r>
          </a:p>
        </p:txBody>
      </p:sp>
      <p:sp>
        <p:nvSpPr>
          <p:cNvPr id="42" name="TextBox 41"/>
          <p:cNvSpPr txBox="1"/>
          <p:nvPr/>
        </p:nvSpPr>
        <p:spPr>
          <a:xfrm>
            <a:off x="2743200" y="5074920"/>
            <a:ext cx="3154680" cy="1005839"/>
          </a:xfrm>
          <a:prstGeom prst="rect">
            <a:avLst/>
          </a:prstGeom>
          <a:noFill/>
        </p:spPr>
        <p:txBody>
          <a:bodyPr wrap="square" lIns="0" rIns="0" tIns="0" bIns="0" anchor="t">
            <a:spAutoFit/>
          </a:bodyPr>
          <a:lstStyle/>
          <a:p>
            <a:pPr algn="l"/>
            <a:r>
              <a:rPr sz="1050" b="0" i="0">
                <a:solidFill>
                  <a:srgbClr val="1F2937"/>
                </a:solidFill>
                <a:latin typeface="Calibri"/>
              </a:rPr>
              <a:t>{{REBUT_5}}</a:t>
            </a:r>
          </a:p>
        </p:txBody>
      </p:sp>
      <p:sp>
        <p:nvSpPr>
          <p:cNvPr id="43" name="Rectangle 42"/>
          <p:cNvSpPr/>
          <p:nvPr/>
        </p:nvSpPr>
        <p:spPr>
          <a:xfrm>
            <a:off x="6172200" y="4663440"/>
            <a:ext cx="5532120" cy="1508760"/>
          </a:xfrm>
          <a:prstGeom prst="rect">
            <a:avLst/>
          </a:prstGeom>
          <a:solidFill>
            <a:srgbClr val="F5D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72200" y="4663440"/>
            <a:ext cx="109728" cy="150876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55080" y="4800600"/>
            <a:ext cx="1828799" cy="228600"/>
          </a:xfrm>
          <a:prstGeom prst="rect">
            <a:avLst/>
          </a:prstGeom>
          <a:noFill/>
        </p:spPr>
        <p:txBody>
          <a:bodyPr wrap="square" lIns="0" rIns="0" tIns="0" bIns="0" anchor="t">
            <a:spAutoFit/>
          </a:bodyPr>
          <a:lstStyle/>
          <a:p>
            <a:pPr algn="l"/>
            <a:r>
              <a:rPr sz="900" b="1" i="0">
                <a:solidFill>
                  <a:srgbClr val="D71249"/>
                </a:solidFill>
                <a:latin typeface="Calibri"/>
              </a:rPr>
              <a:t>LO NGẠI CÒN YẾU</a:t>
            </a:r>
          </a:p>
        </p:txBody>
      </p:sp>
      <p:sp>
        <p:nvSpPr>
          <p:cNvPr id="46" name="TextBox 45"/>
          <p:cNvSpPr txBox="1"/>
          <p:nvPr/>
        </p:nvSpPr>
        <p:spPr>
          <a:xfrm>
            <a:off x="6355080" y="5074920"/>
            <a:ext cx="1828799" cy="1005839"/>
          </a:xfrm>
          <a:prstGeom prst="rect">
            <a:avLst/>
          </a:prstGeom>
          <a:noFill/>
        </p:spPr>
        <p:txBody>
          <a:bodyPr wrap="square" lIns="0" rIns="0" tIns="0" bIns="0" anchor="t">
            <a:spAutoFit/>
          </a:bodyPr>
          <a:lstStyle/>
          <a:p>
            <a:pPr algn="l"/>
            <a:r>
              <a:rPr sz="1100" b="1" i="0">
                <a:solidFill>
                  <a:srgbClr val="1F2937"/>
                </a:solidFill>
                <a:latin typeface="Calibri"/>
              </a:rPr>
              <a:t>{{CONCERN_6}}</a:t>
            </a:r>
          </a:p>
        </p:txBody>
      </p:sp>
      <p:sp>
        <p:nvSpPr>
          <p:cNvPr id="47" name="TextBox 46"/>
          <p:cNvSpPr txBox="1"/>
          <p:nvPr/>
        </p:nvSpPr>
        <p:spPr>
          <a:xfrm>
            <a:off x="8458200" y="4800600"/>
            <a:ext cx="3154680" cy="228600"/>
          </a:xfrm>
          <a:prstGeom prst="rect">
            <a:avLst/>
          </a:prstGeom>
          <a:noFill/>
        </p:spPr>
        <p:txBody>
          <a:bodyPr wrap="square" lIns="0" rIns="0" tIns="0" bIns="0" anchor="t">
            <a:spAutoFit/>
          </a:bodyPr>
          <a:lstStyle/>
          <a:p>
            <a:pPr algn="l"/>
            <a:r>
              <a:rPr sz="900" b="1" i="0">
                <a:solidFill>
                  <a:srgbClr val="D71249"/>
                </a:solidFill>
                <a:latin typeface="Calibri"/>
              </a:rPr>
              <a:t>PHẢN BIỆN</a:t>
            </a:r>
          </a:p>
        </p:txBody>
      </p:sp>
      <p:sp>
        <p:nvSpPr>
          <p:cNvPr id="48" name="TextBox 47"/>
          <p:cNvSpPr txBox="1"/>
          <p:nvPr/>
        </p:nvSpPr>
        <p:spPr>
          <a:xfrm>
            <a:off x="8458200" y="5074920"/>
            <a:ext cx="3154680" cy="1005839"/>
          </a:xfrm>
          <a:prstGeom prst="rect">
            <a:avLst/>
          </a:prstGeom>
          <a:noFill/>
        </p:spPr>
        <p:txBody>
          <a:bodyPr wrap="square" lIns="0" rIns="0" tIns="0" bIns="0" anchor="t">
            <a:spAutoFit/>
          </a:bodyPr>
          <a:lstStyle/>
          <a:p>
            <a:pPr algn="l"/>
            <a:r>
              <a:rPr sz="1050" b="0" i="0">
                <a:solidFill>
                  <a:srgbClr val="1F2937"/>
                </a:solidFill>
                <a:latin typeface="Calibri"/>
              </a:rPr>
              <a:t>{{REBUT_6}}</a:t>
            </a:r>
          </a:p>
        </p:txBody>
      </p:sp>
      <p:sp>
        <p:nvSpPr>
          <p:cNvPr id="49" name="TextBox 48"/>
          <p:cNvSpPr txBox="1"/>
          <p:nvPr/>
        </p:nvSpPr>
        <p:spPr>
          <a:xfrm>
            <a:off x="457200" y="6537960"/>
            <a:ext cx="9144000" cy="274320"/>
          </a:xfrm>
          <a:prstGeom prst="rect">
            <a:avLst/>
          </a:prstGeom>
          <a:noFill/>
        </p:spPr>
        <p:txBody>
          <a:bodyPr wrap="square" lIns="0" rIns="0" tIns="0" bIns="0" anchor="t">
            <a:spAutoFit/>
          </a:bodyPr>
          <a:lstStyle/>
          <a:p>
            <a:pPr algn="l"/>
            <a:r>
              <a:rPr sz="900" b="0" i="0">
                <a:solidFill>
                  <a:srgbClr val="9CA3AF"/>
                </a:solidFill>
                <a:latin typeface="Calibri"/>
              </a:rPr>
              <a:t>{{FOOTER_LEFT}}</a:t>
            </a:r>
          </a:p>
        </p:txBody>
      </p:sp>
      <p:sp>
        <p:nvSpPr>
          <p:cNvPr id="50" name="TextBox 49"/>
          <p:cNvSpPr txBox="1"/>
          <p:nvPr/>
        </p:nvSpPr>
        <p:spPr>
          <a:xfrm>
            <a:off x="11247120" y="6537960"/>
            <a:ext cx="457200" cy="274320"/>
          </a:xfrm>
          <a:prstGeom prst="rect">
            <a:avLst/>
          </a:prstGeom>
          <a:noFill/>
        </p:spPr>
        <p:txBody>
          <a:bodyPr wrap="square" lIns="0" rIns="0" tIns="0" bIns="0" anchor="t">
            <a:spAutoFit/>
          </a:bodyPr>
          <a:lstStyle/>
          <a:p>
            <a:pPr algn="r"/>
            <a:r>
              <a:rPr sz="900" b="1" i="0">
                <a:solidFill>
                  <a:srgbClr val="003D7A"/>
                </a:solidFill>
                <a:latin typeface="Calibri"/>
              </a:rPr>
              <a:t>{{PAGE_NUM}}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name="VARIANT_PERCEPTION">
    <p:spTree>
      <p:nvGrpSpPr>
        <p:cNvPr id="1" name=""/>
        <p:cNvGrpSpPr/>
        <p:nvPr/>
      </p:nvGrpSpPr>
      <p:grpSpPr/>
      <p:sp>
        <p:nvSpPr>
          <p:cNvPr id="2" name="Rectangle 1"/>
          <p:cNvSpPr/>
          <p:nvPr/>
        </p:nvSpPr>
        <p:spPr>
          <a:xfrm>
            <a:off x="457200" y="411480"/>
            <a:ext cx="73152" cy="64008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1064240" cy="502920"/>
          </a:xfrm>
          <a:prstGeom prst="rect">
            <a:avLst/>
          </a:prstGeom>
          <a:noFill/>
        </p:spPr>
        <p:txBody>
          <a:bodyPr wrap="square" lIns="0" rIns="0" tIns="0" bIns="0" anchor="ctr">
            <a:spAutoFit/>
          </a:bodyPr>
          <a:lstStyle/>
          <a:p>
            <a:pPr algn="l"/>
            <a:r>
              <a:rPr sz="2600" b="1" i="0">
                <a:solidFill>
                  <a:srgbClr val="003D7A"/>
                </a:solidFill>
                <a:latin typeface="Calibri"/>
              </a:rPr>
              <a:t>{{SECTION_TITLE}}</a:t>
            </a:r>
          </a:p>
        </p:txBody>
      </p:sp>
      <p:sp>
        <p:nvSpPr>
          <p:cNvPr id="4" name="TextBox 3"/>
          <p:cNvSpPr txBox="1"/>
          <p:nvPr/>
        </p:nvSpPr>
        <p:spPr>
          <a:xfrm>
            <a:off x="640080" y="868680"/>
            <a:ext cx="11064240" cy="274320"/>
          </a:xfrm>
          <a:prstGeom prst="rect">
            <a:avLst/>
          </a:prstGeom>
          <a:noFill/>
        </p:spPr>
        <p:txBody>
          <a:bodyPr wrap="square" lIns="0" rIns="0" tIns="0" bIns="0" anchor="t">
            <a:spAutoFit/>
          </a:bodyPr>
          <a:lstStyle/>
          <a:p>
            <a:pPr algn="l"/>
            <a:r>
              <a:rPr sz="1200" b="0" i="1">
                <a:solidFill>
                  <a:srgbClr val="4A5568"/>
                </a:solidFill>
                <a:latin typeface="Calibri"/>
              </a:rPr>
              <a:t>{{SECTION_SUB}}</a:t>
            </a:r>
          </a:p>
        </p:txBody>
      </p:sp>
      <p:sp>
        <p:nvSpPr>
          <p:cNvPr id="5" name="Rectangle 4"/>
          <p:cNvSpPr/>
          <p:nvPr/>
        </p:nvSpPr>
        <p:spPr>
          <a:xfrm>
            <a:off x="457200" y="1371600"/>
            <a:ext cx="11247120" cy="192024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63040"/>
            <a:ext cx="914400" cy="914400"/>
          </a:xfrm>
          <a:prstGeom prst="rect">
            <a:avLst/>
          </a:prstGeom>
          <a:noFill/>
        </p:spPr>
        <p:txBody>
          <a:bodyPr wrap="square" lIns="0" rIns="0" tIns="0" bIns="0" anchor="t">
            <a:spAutoFit/>
          </a:bodyPr>
          <a:lstStyle/>
          <a:p>
            <a:pPr algn="l"/>
            <a:r>
              <a:rPr sz="7200" b="1" i="0">
                <a:solidFill>
                  <a:srgbClr val="D71249"/>
                </a:solidFill>
                <a:latin typeface="Calibri"/>
              </a:rPr>
              <a:t>❝</a:t>
            </a:r>
          </a:p>
        </p:txBody>
      </p:sp>
      <p:sp>
        <p:nvSpPr>
          <p:cNvPr id="7" name="TextBox 6"/>
          <p:cNvSpPr txBox="1"/>
          <p:nvPr/>
        </p:nvSpPr>
        <p:spPr>
          <a:xfrm>
            <a:off x="1737360" y="1737360"/>
            <a:ext cx="9601200" cy="1188720"/>
          </a:xfrm>
          <a:prstGeom prst="rect">
            <a:avLst/>
          </a:prstGeom>
          <a:noFill/>
        </p:spPr>
        <p:txBody>
          <a:bodyPr wrap="square" lIns="0" rIns="0" tIns="0" bIns="0" anchor="ctr">
            <a:spAutoFit/>
          </a:bodyPr>
          <a:lstStyle/>
          <a:p>
            <a:pPr algn="l"/>
            <a:r>
              <a:rPr sz="2000" b="0" i="1">
                <a:solidFill>
                  <a:srgbClr val="FFFFFF"/>
                </a:solidFill>
                <a:latin typeface="Calibri"/>
              </a:rPr>
              <a:t>{{INSIGHT_KEY}}</a:t>
            </a:r>
          </a:p>
        </p:txBody>
      </p:sp>
      <p:sp>
        <p:nvSpPr>
          <p:cNvPr id="8" name="Rectangle 7"/>
          <p:cNvSpPr/>
          <p:nvPr/>
        </p:nvSpPr>
        <p:spPr>
          <a:xfrm>
            <a:off x="457200" y="3566160"/>
            <a:ext cx="3627120" cy="411480"/>
          </a:xfrm>
          <a:prstGeom prst="rect">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3566160"/>
            <a:ext cx="3352800" cy="411480"/>
          </a:xfrm>
          <a:prstGeom prst="rect">
            <a:avLst/>
          </a:prstGeom>
          <a:noFill/>
        </p:spPr>
        <p:txBody>
          <a:bodyPr wrap="square" lIns="0" rIns="0" tIns="0" bIns="0" anchor="ctr">
            <a:spAutoFit/>
          </a:bodyPr>
          <a:lstStyle/>
          <a:p>
            <a:pPr algn="l"/>
            <a:r>
              <a:rPr sz="1000" b="1" i="0">
                <a:solidFill>
                  <a:srgbClr val="FFFFFF"/>
                </a:solidFill>
                <a:latin typeface="Calibri"/>
              </a:rPr>
              <a:t>ĐỒNG THUẬN THỊ TRƯỜNG</a:t>
            </a:r>
          </a:p>
        </p:txBody>
      </p:sp>
      <p:sp>
        <p:nvSpPr>
          <p:cNvPr id="10" name="Rectangle 9"/>
          <p:cNvSpPr/>
          <p:nvPr/>
        </p:nvSpPr>
        <p:spPr>
          <a:xfrm>
            <a:off x="457200" y="3977639"/>
            <a:ext cx="3627120" cy="178308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4114800"/>
            <a:ext cx="3261360" cy="1508760"/>
          </a:xfrm>
          <a:prstGeom prst="rect">
            <a:avLst/>
          </a:prstGeom>
          <a:noFill/>
        </p:spPr>
        <p:txBody>
          <a:bodyPr wrap="square" lIns="0" rIns="0" tIns="0" bIns="0" anchor="t">
            <a:spAutoFit/>
          </a:bodyPr>
          <a:lstStyle/>
          <a:p>
            <a:pPr algn="l"/>
            <a:r>
              <a:rPr sz="1050" b="0" i="0">
                <a:solidFill>
                  <a:srgbClr val="1F2937"/>
                </a:solidFill>
                <a:latin typeface="Calibri"/>
              </a:rPr>
              <a:t>{{CONSENSUS_VIEW}}</a:t>
            </a:r>
          </a:p>
        </p:txBody>
      </p:sp>
      <p:sp>
        <p:nvSpPr>
          <p:cNvPr id="12" name="Rectangle 11"/>
          <p:cNvSpPr/>
          <p:nvPr/>
        </p:nvSpPr>
        <p:spPr>
          <a:xfrm>
            <a:off x="4267200" y="3566160"/>
            <a:ext cx="3627120" cy="411480"/>
          </a:xfrm>
          <a:prstGeom prst="rect">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04360" y="3566160"/>
            <a:ext cx="3352800" cy="411480"/>
          </a:xfrm>
          <a:prstGeom prst="rect">
            <a:avLst/>
          </a:prstGeom>
          <a:noFill/>
        </p:spPr>
        <p:txBody>
          <a:bodyPr wrap="square" lIns="0" rIns="0" tIns="0" bIns="0" anchor="ctr">
            <a:spAutoFit/>
          </a:bodyPr>
          <a:lstStyle/>
          <a:p>
            <a:pPr algn="l"/>
            <a:r>
              <a:rPr sz="1000" b="1" i="0">
                <a:solidFill>
                  <a:srgbClr val="FFFFFF"/>
                </a:solidFill>
                <a:latin typeface="Calibri"/>
              </a:rPr>
              <a:t>TÂM LÝ NHÀ ĐẦU TƯ CÁ NHÂN</a:t>
            </a:r>
          </a:p>
        </p:txBody>
      </p:sp>
      <p:sp>
        <p:nvSpPr>
          <p:cNvPr id="14" name="Rectangle 13"/>
          <p:cNvSpPr/>
          <p:nvPr/>
        </p:nvSpPr>
        <p:spPr>
          <a:xfrm>
            <a:off x="4267200" y="3977639"/>
            <a:ext cx="3627120" cy="178308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0080" y="4114800"/>
            <a:ext cx="3261360" cy="1508760"/>
          </a:xfrm>
          <a:prstGeom prst="rect">
            <a:avLst/>
          </a:prstGeom>
          <a:noFill/>
        </p:spPr>
        <p:txBody>
          <a:bodyPr wrap="square" lIns="0" rIns="0" tIns="0" bIns="0" anchor="t">
            <a:spAutoFit/>
          </a:bodyPr>
          <a:lstStyle/>
          <a:p>
            <a:pPr algn="l"/>
            <a:r>
              <a:rPr sz="1050" b="0" i="0">
                <a:solidFill>
                  <a:srgbClr val="1F2937"/>
                </a:solidFill>
                <a:latin typeface="Calibri"/>
              </a:rPr>
              <a:t>{{RETAIL_VIEW}}</a:t>
            </a:r>
          </a:p>
        </p:txBody>
      </p:sp>
      <p:sp>
        <p:nvSpPr>
          <p:cNvPr id="16" name="Rectangle 15"/>
          <p:cNvSpPr/>
          <p:nvPr/>
        </p:nvSpPr>
        <p:spPr>
          <a:xfrm>
            <a:off x="8077200" y="3566160"/>
            <a:ext cx="3627120" cy="41148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4360" y="3566160"/>
            <a:ext cx="3352800" cy="411480"/>
          </a:xfrm>
          <a:prstGeom prst="rect">
            <a:avLst/>
          </a:prstGeom>
          <a:noFill/>
        </p:spPr>
        <p:txBody>
          <a:bodyPr wrap="square" lIns="0" rIns="0" tIns="0" bIns="0" anchor="ctr">
            <a:spAutoFit/>
          </a:bodyPr>
          <a:lstStyle/>
          <a:p>
            <a:pPr algn="l"/>
            <a:r>
              <a:rPr sz="1000" b="1" i="0">
                <a:solidFill>
                  <a:srgbClr val="FFFFFF"/>
                </a:solidFill>
                <a:latin typeface="Calibri"/>
              </a:rPr>
              <a:t>GÓC NHÌN KHÁC ĐỒNG THUẬN</a:t>
            </a:r>
          </a:p>
        </p:txBody>
      </p:sp>
      <p:sp>
        <p:nvSpPr>
          <p:cNvPr id="18" name="Rectangle 17"/>
          <p:cNvSpPr/>
          <p:nvPr/>
        </p:nvSpPr>
        <p:spPr>
          <a:xfrm>
            <a:off x="8077200" y="3977639"/>
            <a:ext cx="3627120" cy="178308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60080" y="4114800"/>
            <a:ext cx="3261360" cy="1508760"/>
          </a:xfrm>
          <a:prstGeom prst="rect">
            <a:avLst/>
          </a:prstGeom>
          <a:noFill/>
        </p:spPr>
        <p:txBody>
          <a:bodyPr wrap="square" lIns="0" rIns="0" tIns="0" bIns="0" anchor="t">
            <a:spAutoFit/>
          </a:bodyPr>
          <a:lstStyle/>
          <a:p>
            <a:pPr algn="l"/>
            <a:r>
              <a:rPr sz="1050" b="0" i="0">
                <a:solidFill>
                  <a:srgbClr val="1F2937"/>
                </a:solidFill>
                <a:latin typeface="Calibri"/>
              </a:rPr>
              <a:t>{{DIFFERENT_VIEW}}</a:t>
            </a:r>
          </a:p>
        </p:txBody>
      </p:sp>
      <p:sp>
        <p:nvSpPr>
          <p:cNvPr id="20" name="TextBox 19"/>
          <p:cNvSpPr txBox="1"/>
          <p:nvPr/>
        </p:nvSpPr>
        <p:spPr>
          <a:xfrm>
            <a:off x="457200" y="6537960"/>
            <a:ext cx="9144000" cy="274320"/>
          </a:xfrm>
          <a:prstGeom prst="rect">
            <a:avLst/>
          </a:prstGeom>
          <a:noFill/>
        </p:spPr>
        <p:txBody>
          <a:bodyPr wrap="square" lIns="0" rIns="0" tIns="0" bIns="0" anchor="t">
            <a:spAutoFit/>
          </a:bodyPr>
          <a:lstStyle/>
          <a:p>
            <a:pPr algn="l"/>
            <a:r>
              <a:rPr sz="900" b="0" i="0">
                <a:solidFill>
                  <a:srgbClr val="9CA3AF"/>
                </a:solidFill>
                <a:latin typeface="Calibri"/>
              </a:rPr>
              <a:t>{{FOOTER_LEFT}}</a:t>
            </a:r>
          </a:p>
        </p:txBody>
      </p:sp>
      <p:sp>
        <p:nvSpPr>
          <p:cNvPr id="21" name="TextBox 20"/>
          <p:cNvSpPr txBox="1"/>
          <p:nvPr/>
        </p:nvSpPr>
        <p:spPr>
          <a:xfrm>
            <a:off x="11247120" y="6537960"/>
            <a:ext cx="457200" cy="274320"/>
          </a:xfrm>
          <a:prstGeom prst="rect">
            <a:avLst/>
          </a:prstGeom>
          <a:noFill/>
        </p:spPr>
        <p:txBody>
          <a:bodyPr wrap="square" lIns="0" rIns="0" tIns="0" bIns="0" anchor="t">
            <a:spAutoFit/>
          </a:bodyPr>
          <a:lstStyle/>
          <a:p>
            <a:pPr algn="r"/>
            <a:r>
              <a:rPr sz="900" b="1" i="0">
                <a:solidFill>
                  <a:srgbClr val="003D7A"/>
                </a:solidFill>
                <a:latin typeface="Calibri"/>
              </a:rPr>
              <a:t>{{PAGE_NUM}}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name="BUY_STRUCTURE_FLEX">
    <p:spTree>
      <p:nvGrpSpPr>
        <p:cNvPr id="1" name=""/>
        <p:cNvGrpSpPr/>
        <p:nvPr/>
      </p:nvGrpSpPr>
      <p:grpSpPr/>
      <p:sp>
        <p:nvSpPr>
          <p:cNvPr id="2" name="Rectangle 1"/>
          <p:cNvSpPr/>
          <p:nvPr/>
        </p:nvSpPr>
        <p:spPr>
          <a:xfrm>
            <a:off x="457200" y="411480"/>
            <a:ext cx="73152" cy="64008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1064240" cy="502920"/>
          </a:xfrm>
          <a:prstGeom prst="rect">
            <a:avLst/>
          </a:prstGeom>
          <a:noFill/>
        </p:spPr>
        <p:txBody>
          <a:bodyPr wrap="square" lIns="0" rIns="0" tIns="0" bIns="0" anchor="ctr">
            <a:spAutoFit/>
          </a:bodyPr>
          <a:lstStyle/>
          <a:p>
            <a:pPr algn="l"/>
            <a:r>
              <a:rPr sz="2600" b="1" i="0">
                <a:solidFill>
                  <a:srgbClr val="003D7A"/>
                </a:solidFill>
                <a:latin typeface="Calibri"/>
              </a:rPr>
              <a:t>{{SECTION_TITLE}}</a:t>
            </a:r>
          </a:p>
        </p:txBody>
      </p:sp>
      <p:sp>
        <p:nvSpPr>
          <p:cNvPr id="4" name="TextBox 3"/>
          <p:cNvSpPr txBox="1"/>
          <p:nvPr/>
        </p:nvSpPr>
        <p:spPr>
          <a:xfrm>
            <a:off x="640080" y="868680"/>
            <a:ext cx="11064240" cy="274320"/>
          </a:xfrm>
          <a:prstGeom prst="rect">
            <a:avLst/>
          </a:prstGeom>
          <a:noFill/>
        </p:spPr>
        <p:txBody>
          <a:bodyPr wrap="square" lIns="0" rIns="0" tIns="0" bIns="0" anchor="t">
            <a:spAutoFit/>
          </a:bodyPr>
          <a:lstStyle/>
          <a:p>
            <a:pPr algn="l"/>
            <a:r>
              <a:rPr sz="1200" b="0" i="1">
                <a:solidFill>
                  <a:srgbClr val="4A5568"/>
                </a:solidFill>
                <a:latin typeface="Calibri"/>
              </a:rPr>
              <a:t>{{SECTION_SUB}}</a:t>
            </a:r>
          </a:p>
        </p:txBody>
      </p:sp>
      <p:sp>
        <p:nvSpPr>
          <p:cNvPr id="5" name="Rectangle 4"/>
          <p:cNvSpPr/>
          <p:nvPr/>
        </p:nvSpPr>
        <p:spPr>
          <a:xfrm>
            <a:off x="457200" y="1371600"/>
            <a:ext cx="11247120" cy="64008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4572000" cy="274320"/>
          </a:xfrm>
          <a:prstGeom prst="rect">
            <a:avLst/>
          </a:prstGeom>
          <a:noFill/>
        </p:spPr>
        <p:txBody>
          <a:bodyPr wrap="square" lIns="0" rIns="0" tIns="0" bIns="0" anchor="t">
            <a:spAutoFit/>
          </a:bodyPr>
          <a:lstStyle/>
          <a:p>
            <a:pPr algn="l"/>
            <a:r>
              <a:rPr sz="1300" b="1" i="0">
                <a:solidFill>
                  <a:srgbClr val="003D7A"/>
                </a:solidFill>
                <a:latin typeface="Calibri"/>
              </a:rPr>
              <a:t>CẤU TRÚC MUA {{LAYER_COUNT}} LỚP</a:t>
            </a:r>
          </a:p>
        </p:txBody>
      </p:sp>
      <p:sp>
        <p:nvSpPr>
          <p:cNvPr id="7" name="TextBox 6"/>
          <p:cNvSpPr txBox="1"/>
          <p:nvPr/>
        </p:nvSpPr>
        <p:spPr>
          <a:xfrm>
            <a:off x="640080" y="1691640"/>
            <a:ext cx="10881360" cy="274320"/>
          </a:xfrm>
          <a:prstGeom prst="rect">
            <a:avLst/>
          </a:prstGeom>
          <a:noFill/>
        </p:spPr>
        <p:txBody>
          <a:bodyPr wrap="square" lIns="0" rIns="0" tIns="0" bIns="0" anchor="t">
            <a:spAutoFit/>
          </a:bodyPr>
          <a:lstStyle/>
          <a:p>
            <a:pPr algn="l"/>
            <a:r>
              <a:rPr sz="1050" b="0" i="1">
                <a:solidFill>
                  <a:srgbClr val="1F2937"/>
                </a:solidFill>
                <a:latin typeface="Calibri"/>
              </a:rPr>
              <a:t>{{STRUCTURE_NOTE}}</a:t>
            </a:r>
          </a:p>
        </p:txBody>
      </p:sp>
      <p:sp>
        <p:nvSpPr>
          <p:cNvPr id="8" name="Rectangle 7"/>
          <p:cNvSpPr/>
          <p:nvPr/>
        </p:nvSpPr>
        <p:spPr>
          <a:xfrm>
            <a:off x="457200" y="2194560"/>
            <a:ext cx="2176272" cy="2834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194560"/>
            <a:ext cx="2176272" cy="73152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267712"/>
            <a:ext cx="1901952" cy="228600"/>
          </a:xfrm>
          <a:prstGeom prst="rect">
            <a:avLst/>
          </a:prstGeom>
          <a:noFill/>
        </p:spPr>
        <p:txBody>
          <a:bodyPr wrap="square" lIns="0" rIns="0" tIns="0" bIns="0" anchor="t">
            <a:spAutoFit/>
          </a:bodyPr>
          <a:lstStyle/>
          <a:p>
            <a:pPr algn="l"/>
            <a:r>
              <a:rPr sz="900" b="1" i="0">
                <a:solidFill>
                  <a:srgbClr val="D71249"/>
                </a:solidFill>
                <a:latin typeface="Calibri"/>
              </a:rPr>
              <a:t>{{LAYER_1_LABEL}}</a:t>
            </a:r>
          </a:p>
        </p:txBody>
      </p:sp>
      <p:sp>
        <p:nvSpPr>
          <p:cNvPr id="11" name="TextBox 10"/>
          <p:cNvSpPr txBox="1"/>
          <p:nvPr/>
        </p:nvSpPr>
        <p:spPr>
          <a:xfrm>
            <a:off x="594360" y="2496312"/>
            <a:ext cx="1901952" cy="365760"/>
          </a:xfrm>
          <a:prstGeom prst="rect">
            <a:avLst/>
          </a:prstGeom>
          <a:noFill/>
        </p:spPr>
        <p:txBody>
          <a:bodyPr wrap="square" lIns="0" rIns="0" tIns="0" bIns="0" anchor="t">
            <a:spAutoFit/>
          </a:bodyPr>
          <a:lstStyle/>
          <a:p>
            <a:pPr algn="l"/>
            <a:r>
              <a:rPr sz="1300" b="1" i="0">
                <a:solidFill>
                  <a:srgbClr val="FFFFFF"/>
                </a:solidFill>
                <a:latin typeface="Calibri"/>
              </a:rPr>
              <a:t>{{LAYER_1_ACTION}}</a:t>
            </a:r>
          </a:p>
        </p:txBody>
      </p:sp>
      <p:sp>
        <p:nvSpPr>
          <p:cNvPr id="12" name="TextBox 11"/>
          <p:cNvSpPr txBox="1"/>
          <p:nvPr/>
        </p:nvSpPr>
        <p:spPr>
          <a:xfrm>
            <a:off x="594360" y="3063240"/>
            <a:ext cx="1901952" cy="228600"/>
          </a:xfrm>
          <a:prstGeom prst="rect">
            <a:avLst/>
          </a:prstGeom>
          <a:noFill/>
        </p:spPr>
        <p:txBody>
          <a:bodyPr wrap="square" lIns="0" rIns="0" tIns="0" bIns="0" anchor="t">
            <a:spAutoFit/>
          </a:bodyPr>
          <a:lstStyle/>
          <a:p>
            <a:pPr algn="l"/>
            <a:r>
              <a:rPr sz="900" b="0" i="0">
                <a:solidFill>
                  <a:srgbClr val="4A5568"/>
                </a:solidFill>
                <a:latin typeface="Calibri"/>
              </a:rPr>
              <a:t>Vùng giá</a:t>
            </a:r>
          </a:p>
        </p:txBody>
      </p:sp>
      <p:sp>
        <p:nvSpPr>
          <p:cNvPr id="13" name="TextBox 12"/>
          <p:cNvSpPr txBox="1"/>
          <p:nvPr/>
        </p:nvSpPr>
        <p:spPr>
          <a:xfrm>
            <a:off x="594360" y="3291840"/>
            <a:ext cx="1901952" cy="274320"/>
          </a:xfrm>
          <a:prstGeom prst="rect">
            <a:avLst/>
          </a:prstGeom>
          <a:noFill/>
        </p:spPr>
        <p:txBody>
          <a:bodyPr wrap="square" lIns="0" rIns="0" tIns="0" bIns="0" anchor="t">
            <a:spAutoFit/>
          </a:bodyPr>
          <a:lstStyle/>
          <a:p>
            <a:pPr algn="l"/>
            <a:r>
              <a:rPr sz="1300" b="1" i="0">
                <a:solidFill>
                  <a:srgbClr val="003D7A"/>
                </a:solidFill>
                <a:latin typeface="Calibri"/>
              </a:rPr>
              <a:t>{{LAYER_1_PRICE_ZONE}}</a:t>
            </a:r>
          </a:p>
        </p:txBody>
      </p:sp>
      <p:sp>
        <p:nvSpPr>
          <p:cNvPr id="14" name="TextBox 13"/>
          <p:cNvSpPr txBox="1"/>
          <p:nvPr/>
        </p:nvSpPr>
        <p:spPr>
          <a:xfrm>
            <a:off x="594360" y="3657600"/>
            <a:ext cx="1901952" cy="228600"/>
          </a:xfrm>
          <a:prstGeom prst="rect">
            <a:avLst/>
          </a:prstGeom>
          <a:noFill/>
        </p:spPr>
        <p:txBody>
          <a:bodyPr wrap="square" lIns="0" rIns="0" tIns="0" bIns="0" anchor="t">
            <a:spAutoFit/>
          </a:bodyPr>
          <a:lstStyle/>
          <a:p>
            <a:pPr algn="l"/>
            <a:r>
              <a:rPr sz="900" b="0" i="0">
                <a:solidFill>
                  <a:srgbClr val="4A5568"/>
                </a:solidFill>
                <a:latin typeface="Calibri"/>
              </a:rPr>
              <a:t>Tỷ trọng vị thế</a:t>
            </a:r>
          </a:p>
        </p:txBody>
      </p:sp>
      <p:sp>
        <p:nvSpPr>
          <p:cNvPr id="15" name="TextBox 14"/>
          <p:cNvSpPr txBox="1"/>
          <p:nvPr/>
        </p:nvSpPr>
        <p:spPr>
          <a:xfrm>
            <a:off x="594360" y="3886200"/>
            <a:ext cx="1901952" cy="274320"/>
          </a:xfrm>
          <a:prstGeom prst="rect">
            <a:avLst/>
          </a:prstGeom>
          <a:noFill/>
        </p:spPr>
        <p:txBody>
          <a:bodyPr wrap="square" lIns="0" rIns="0" tIns="0" bIns="0" anchor="t">
            <a:spAutoFit/>
          </a:bodyPr>
          <a:lstStyle/>
          <a:p>
            <a:pPr algn="l"/>
            <a:r>
              <a:rPr sz="1300" b="1" i="0">
                <a:solidFill>
                  <a:srgbClr val="D71249"/>
                </a:solidFill>
                <a:latin typeface="Calibri"/>
              </a:rPr>
              <a:t>{{LAYER_1_ALLOCATION}}</a:t>
            </a:r>
          </a:p>
        </p:txBody>
      </p:sp>
      <p:sp>
        <p:nvSpPr>
          <p:cNvPr id="16" name="Rectangle 15"/>
          <p:cNvSpPr/>
          <p:nvPr/>
        </p:nvSpPr>
        <p:spPr>
          <a:xfrm>
            <a:off x="594360" y="4251960"/>
            <a:ext cx="1901952" cy="10972"/>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4343400"/>
            <a:ext cx="1901952" cy="594360"/>
          </a:xfrm>
          <a:prstGeom prst="rect">
            <a:avLst/>
          </a:prstGeom>
          <a:noFill/>
        </p:spPr>
        <p:txBody>
          <a:bodyPr wrap="square" lIns="0" rIns="0" tIns="0" bIns="0" anchor="t">
            <a:spAutoFit/>
          </a:bodyPr>
          <a:lstStyle/>
          <a:p>
            <a:pPr algn="l"/>
            <a:r>
              <a:rPr sz="1050" b="0" i="0">
                <a:solidFill>
                  <a:srgbClr val="1F2937"/>
                </a:solidFill>
                <a:latin typeface="Calibri"/>
              </a:rPr>
              <a:t>{{LAYER_1_TRIGGER}}</a:t>
            </a:r>
          </a:p>
        </p:txBody>
      </p:sp>
      <p:sp>
        <p:nvSpPr>
          <p:cNvPr id="18" name="Rectangle 17"/>
          <p:cNvSpPr/>
          <p:nvPr/>
        </p:nvSpPr>
        <p:spPr>
          <a:xfrm>
            <a:off x="2724912" y="2194560"/>
            <a:ext cx="2176272" cy="2834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24912" y="2194560"/>
            <a:ext cx="2176272" cy="73152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62072" y="2267712"/>
            <a:ext cx="1901952" cy="228600"/>
          </a:xfrm>
          <a:prstGeom prst="rect">
            <a:avLst/>
          </a:prstGeom>
          <a:noFill/>
        </p:spPr>
        <p:txBody>
          <a:bodyPr wrap="square" lIns="0" rIns="0" tIns="0" bIns="0" anchor="t">
            <a:spAutoFit/>
          </a:bodyPr>
          <a:lstStyle/>
          <a:p>
            <a:pPr algn="l"/>
            <a:r>
              <a:rPr sz="900" b="1" i="0">
                <a:solidFill>
                  <a:srgbClr val="D71249"/>
                </a:solidFill>
                <a:latin typeface="Calibri"/>
              </a:rPr>
              <a:t>{{LAYER_2_LABEL}}</a:t>
            </a:r>
          </a:p>
        </p:txBody>
      </p:sp>
      <p:sp>
        <p:nvSpPr>
          <p:cNvPr id="21" name="TextBox 20"/>
          <p:cNvSpPr txBox="1"/>
          <p:nvPr/>
        </p:nvSpPr>
        <p:spPr>
          <a:xfrm>
            <a:off x="2862072" y="2496312"/>
            <a:ext cx="1901952" cy="365760"/>
          </a:xfrm>
          <a:prstGeom prst="rect">
            <a:avLst/>
          </a:prstGeom>
          <a:noFill/>
        </p:spPr>
        <p:txBody>
          <a:bodyPr wrap="square" lIns="0" rIns="0" tIns="0" bIns="0" anchor="t">
            <a:spAutoFit/>
          </a:bodyPr>
          <a:lstStyle/>
          <a:p>
            <a:pPr algn="l"/>
            <a:r>
              <a:rPr sz="1300" b="1" i="0">
                <a:solidFill>
                  <a:srgbClr val="FFFFFF"/>
                </a:solidFill>
                <a:latin typeface="Calibri"/>
              </a:rPr>
              <a:t>{{LAYER_2_ACTION}}</a:t>
            </a:r>
          </a:p>
        </p:txBody>
      </p:sp>
      <p:sp>
        <p:nvSpPr>
          <p:cNvPr id="22" name="TextBox 21"/>
          <p:cNvSpPr txBox="1"/>
          <p:nvPr/>
        </p:nvSpPr>
        <p:spPr>
          <a:xfrm>
            <a:off x="2862072" y="3063240"/>
            <a:ext cx="1901952" cy="228600"/>
          </a:xfrm>
          <a:prstGeom prst="rect">
            <a:avLst/>
          </a:prstGeom>
          <a:noFill/>
        </p:spPr>
        <p:txBody>
          <a:bodyPr wrap="square" lIns="0" rIns="0" tIns="0" bIns="0" anchor="t">
            <a:spAutoFit/>
          </a:bodyPr>
          <a:lstStyle/>
          <a:p>
            <a:pPr algn="l"/>
            <a:r>
              <a:rPr sz="900" b="0" i="0">
                <a:solidFill>
                  <a:srgbClr val="4A5568"/>
                </a:solidFill>
                <a:latin typeface="Calibri"/>
              </a:rPr>
              <a:t>Vùng giá</a:t>
            </a:r>
          </a:p>
        </p:txBody>
      </p:sp>
      <p:sp>
        <p:nvSpPr>
          <p:cNvPr id="23" name="TextBox 22"/>
          <p:cNvSpPr txBox="1"/>
          <p:nvPr/>
        </p:nvSpPr>
        <p:spPr>
          <a:xfrm>
            <a:off x="2862072" y="3291840"/>
            <a:ext cx="1901952" cy="274320"/>
          </a:xfrm>
          <a:prstGeom prst="rect">
            <a:avLst/>
          </a:prstGeom>
          <a:noFill/>
        </p:spPr>
        <p:txBody>
          <a:bodyPr wrap="square" lIns="0" rIns="0" tIns="0" bIns="0" anchor="t">
            <a:spAutoFit/>
          </a:bodyPr>
          <a:lstStyle/>
          <a:p>
            <a:pPr algn="l"/>
            <a:r>
              <a:rPr sz="1300" b="1" i="0">
                <a:solidFill>
                  <a:srgbClr val="003D7A"/>
                </a:solidFill>
                <a:latin typeface="Calibri"/>
              </a:rPr>
              <a:t>{{LAYER_2_PRICE_ZONE}}</a:t>
            </a:r>
          </a:p>
        </p:txBody>
      </p:sp>
      <p:sp>
        <p:nvSpPr>
          <p:cNvPr id="24" name="TextBox 23"/>
          <p:cNvSpPr txBox="1"/>
          <p:nvPr/>
        </p:nvSpPr>
        <p:spPr>
          <a:xfrm>
            <a:off x="2862072" y="3657600"/>
            <a:ext cx="1901952" cy="228600"/>
          </a:xfrm>
          <a:prstGeom prst="rect">
            <a:avLst/>
          </a:prstGeom>
          <a:noFill/>
        </p:spPr>
        <p:txBody>
          <a:bodyPr wrap="square" lIns="0" rIns="0" tIns="0" bIns="0" anchor="t">
            <a:spAutoFit/>
          </a:bodyPr>
          <a:lstStyle/>
          <a:p>
            <a:pPr algn="l"/>
            <a:r>
              <a:rPr sz="900" b="0" i="0">
                <a:solidFill>
                  <a:srgbClr val="4A5568"/>
                </a:solidFill>
                <a:latin typeface="Calibri"/>
              </a:rPr>
              <a:t>Tỷ trọng vị thế</a:t>
            </a:r>
          </a:p>
        </p:txBody>
      </p:sp>
      <p:sp>
        <p:nvSpPr>
          <p:cNvPr id="25" name="TextBox 24"/>
          <p:cNvSpPr txBox="1"/>
          <p:nvPr/>
        </p:nvSpPr>
        <p:spPr>
          <a:xfrm>
            <a:off x="2862072" y="3886200"/>
            <a:ext cx="1901952" cy="274320"/>
          </a:xfrm>
          <a:prstGeom prst="rect">
            <a:avLst/>
          </a:prstGeom>
          <a:noFill/>
        </p:spPr>
        <p:txBody>
          <a:bodyPr wrap="square" lIns="0" rIns="0" tIns="0" bIns="0" anchor="t">
            <a:spAutoFit/>
          </a:bodyPr>
          <a:lstStyle/>
          <a:p>
            <a:pPr algn="l"/>
            <a:r>
              <a:rPr sz="1300" b="1" i="0">
                <a:solidFill>
                  <a:srgbClr val="D71249"/>
                </a:solidFill>
                <a:latin typeface="Calibri"/>
              </a:rPr>
              <a:t>{{LAYER_2_ALLOCATION}}</a:t>
            </a:r>
          </a:p>
        </p:txBody>
      </p:sp>
      <p:sp>
        <p:nvSpPr>
          <p:cNvPr id="26" name="Rectangle 25"/>
          <p:cNvSpPr/>
          <p:nvPr/>
        </p:nvSpPr>
        <p:spPr>
          <a:xfrm>
            <a:off x="2862072" y="4251960"/>
            <a:ext cx="1901952" cy="10972"/>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62072" y="4343400"/>
            <a:ext cx="1901952" cy="594360"/>
          </a:xfrm>
          <a:prstGeom prst="rect">
            <a:avLst/>
          </a:prstGeom>
          <a:noFill/>
        </p:spPr>
        <p:txBody>
          <a:bodyPr wrap="square" lIns="0" rIns="0" tIns="0" bIns="0" anchor="t">
            <a:spAutoFit/>
          </a:bodyPr>
          <a:lstStyle/>
          <a:p>
            <a:pPr algn="l"/>
            <a:r>
              <a:rPr sz="1050" b="0" i="0">
                <a:solidFill>
                  <a:srgbClr val="1F2937"/>
                </a:solidFill>
                <a:latin typeface="Calibri"/>
              </a:rPr>
              <a:t>{{LAYER_2_TRIGGER}}</a:t>
            </a:r>
          </a:p>
        </p:txBody>
      </p:sp>
      <p:sp>
        <p:nvSpPr>
          <p:cNvPr id="28" name="Rectangle 27"/>
          <p:cNvSpPr/>
          <p:nvPr/>
        </p:nvSpPr>
        <p:spPr>
          <a:xfrm>
            <a:off x="4992624" y="2194560"/>
            <a:ext cx="2176272" cy="2834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992624" y="2194560"/>
            <a:ext cx="2176272" cy="73152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29784" y="2267712"/>
            <a:ext cx="1901952" cy="228600"/>
          </a:xfrm>
          <a:prstGeom prst="rect">
            <a:avLst/>
          </a:prstGeom>
          <a:noFill/>
        </p:spPr>
        <p:txBody>
          <a:bodyPr wrap="square" lIns="0" rIns="0" tIns="0" bIns="0" anchor="t">
            <a:spAutoFit/>
          </a:bodyPr>
          <a:lstStyle/>
          <a:p>
            <a:pPr algn="l"/>
            <a:r>
              <a:rPr sz="900" b="1" i="0">
                <a:solidFill>
                  <a:srgbClr val="D71249"/>
                </a:solidFill>
                <a:latin typeface="Calibri"/>
              </a:rPr>
              <a:t>{{LAYER_3_LABEL}}</a:t>
            </a:r>
          </a:p>
        </p:txBody>
      </p:sp>
      <p:sp>
        <p:nvSpPr>
          <p:cNvPr id="31" name="TextBox 30"/>
          <p:cNvSpPr txBox="1"/>
          <p:nvPr/>
        </p:nvSpPr>
        <p:spPr>
          <a:xfrm>
            <a:off x="5129784" y="2496312"/>
            <a:ext cx="1901952" cy="365760"/>
          </a:xfrm>
          <a:prstGeom prst="rect">
            <a:avLst/>
          </a:prstGeom>
          <a:noFill/>
        </p:spPr>
        <p:txBody>
          <a:bodyPr wrap="square" lIns="0" rIns="0" tIns="0" bIns="0" anchor="t">
            <a:spAutoFit/>
          </a:bodyPr>
          <a:lstStyle/>
          <a:p>
            <a:pPr algn="l"/>
            <a:r>
              <a:rPr sz="1300" b="1" i="0">
                <a:solidFill>
                  <a:srgbClr val="FFFFFF"/>
                </a:solidFill>
                <a:latin typeface="Calibri"/>
              </a:rPr>
              <a:t>{{LAYER_3_ACTION}}</a:t>
            </a:r>
          </a:p>
        </p:txBody>
      </p:sp>
      <p:sp>
        <p:nvSpPr>
          <p:cNvPr id="32" name="TextBox 31"/>
          <p:cNvSpPr txBox="1"/>
          <p:nvPr/>
        </p:nvSpPr>
        <p:spPr>
          <a:xfrm>
            <a:off x="5129784" y="3063240"/>
            <a:ext cx="1901952" cy="228600"/>
          </a:xfrm>
          <a:prstGeom prst="rect">
            <a:avLst/>
          </a:prstGeom>
          <a:noFill/>
        </p:spPr>
        <p:txBody>
          <a:bodyPr wrap="square" lIns="0" rIns="0" tIns="0" bIns="0" anchor="t">
            <a:spAutoFit/>
          </a:bodyPr>
          <a:lstStyle/>
          <a:p>
            <a:pPr algn="l"/>
            <a:r>
              <a:rPr sz="900" b="0" i="0">
                <a:solidFill>
                  <a:srgbClr val="4A5568"/>
                </a:solidFill>
                <a:latin typeface="Calibri"/>
              </a:rPr>
              <a:t>Vùng giá</a:t>
            </a:r>
          </a:p>
        </p:txBody>
      </p:sp>
      <p:sp>
        <p:nvSpPr>
          <p:cNvPr id="33" name="TextBox 32"/>
          <p:cNvSpPr txBox="1"/>
          <p:nvPr/>
        </p:nvSpPr>
        <p:spPr>
          <a:xfrm>
            <a:off x="5129784" y="3291840"/>
            <a:ext cx="1901952" cy="274320"/>
          </a:xfrm>
          <a:prstGeom prst="rect">
            <a:avLst/>
          </a:prstGeom>
          <a:noFill/>
        </p:spPr>
        <p:txBody>
          <a:bodyPr wrap="square" lIns="0" rIns="0" tIns="0" bIns="0" anchor="t">
            <a:spAutoFit/>
          </a:bodyPr>
          <a:lstStyle/>
          <a:p>
            <a:pPr algn="l"/>
            <a:r>
              <a:rPr sz="1300" b="1" i="0">
                <a:solidFill>
                  <a:srgbClr val="003D7A"/>
                </a:solidFill>
                <a:latin typeface="Calibri"/>
              </a:rPr>
              <a:t>{{LAYER_3_PRICE_ZONE}}</a:t>
            </a:r>
          </a:p>
        </p:txBody>
      </p:sp>
      <p:sp>
        <p:nvSpPr>
          <p:cNvPr id="34" name="TextBox 33"/>
          <p:cNvSpPr txBox="1"/>
          <p:nvPr/>
        </p:nvSpPr>
        <p:spPr>
          <a:xfrm>
            <a:off x="5129784" y="3657600"/>
            <a:ext cx="1901952" cy="228600"/>
          </a:xfrm>
          <a:prstGeom prst="rect">
            <a:avLst/>
          </a:prstGeom>
          <a:noFill/>
        </p:spPr>
        <p:txBody>
          <a:bodyPr wrap="square" lIns="0" rIns="0" tIns="0" bIns="0" anchor="t">
            <a:spAutoFit/>
          </a:bodyPr>
          <a:lstStyle/>
          <a:p>
            <a:pPr algn="l"/>
            <a:r>
              <a:rPr sz="900" b="0" i="0">
                <a:solidFill>
                  <a:srgbClr val="4A5568"/>
                </a:solidFill>
                <a:latin typeface="Calibri"/>
              </a:rPr>
              <a:t>Tỷ trọng vị thế</a:t>
            </a:r>
          </a:p>
        </p:txBody>
      </p:sp>
      <p:sp>
        <p:nvSpPr>
          <p:cNvPr id="35" name="TextBox 34"/>
          <p:cNvSpPr txBox="1"/>
          <p:nvPr/>
        </p:nvSpPr>
        <p:spPr>
          <a:xfrm>
            <a:off x="5129784" y="3886200"/>
            <a:ext cx="1901952" cy="274320"/>
          </a:xfrm>
          <a:prstGeom prst="rect">
            <a:avLst/>
          </a:prstGeom>
          <a:noFill/>
        </p:spPr>
        <p:txBody>
          <a:bodyPr wrap="square" lIns="0" rIns="0" tIns="0" bIns="0" anchor="t">
            <a:spAutoFit/>
          </a:bodyPr>
          <a:lstStyle/>
          <a:p>
            <a:pPr algn="l"/>
            <a:r>
              <a:rPr sz="1300" b="1" i="0">
                <a:solidFill>
                  <a:srgbClr val="D71249"/>
                </a:solidFill>
                <a:latin typeface="Calibri"/>
              </a:rPr>
              <a:t>{{LAYER_3_ALLOCATION}}</a:t>
            </a:r>
          </a:p>
        </p:txBody>
      </p:sp>
      <p:sp>
        <p:nvSpPr>
          <p:cNvPr id="36" name="Rectangle 35"/>
          <p:cNvSpPr/>
          <p:nvPr/>
        </p:nvSpPr>
        <p:spPr>
          <a:xfrm>
            <a:off x="5129784" y="4251960"/>
            <a:ext cx="1901952" cy="10972"/>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29784" y="4343400"/>
            <a:ext cx="1901952" cy="594360"/>
          </a:xfrm>
          <a:prstGeom prst="rect">
            <a:avLst/>
          </a:prstGeom>
          <a:noFill/>
        </p:spPr>
        <p:txBody>
          <a:bodyPr wrap="square" lIns="0" rIns="0" tIns="0" bIns="0" anchor="t">
            <a:spAutoFit/>
          </a:bodyPr>
          <a:lstStyle/>
          <a:p>
            <a:pPr algn="l"/>
            <a:r>
              <a:rPr sz="1050" b="0" i="0">
                <a:solidFill>
                  <a:srgbClr val="1F2937"/>
                </a:solidFill>
                <a:latin typeface="Calibri"/>
              </a:rPr>
              <a:t>{{LAYER_3_TRIGGER}}</a:t>
            </a:r>
          </a:p>
        </p:txBody>
      </p:sp>
      <p:sp>
        <p:nvSpPr>
          <p:cNvPr id="38" name="Rectangle 37"/>
          <p:cNvSpPr/>
          <p:nvPr/>
        </p:nvSpPr>
        <p:spPr>
          <a:xfrm>
            <a:off x="7260336" y="2194560"/>
            <a:ext cx="2176272" cy="2834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260336" y="2194560"/>
            <a:ext cx="2176272" cy="73152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97496" y="2267712"/>
            <a:ext cx="1901952" cy="228600"/>
          </a:xfrm>
          <a:prstGeom prst="rect">
            <a:avLst/>
          </a:prstGeom>
          <a:noFill/>
        </p:spPr>
        <p:txBody>
          <a:bodyPr wrap="square" lIns="0" rIns="0" tIns="0" bIns="0" anchor="t">
            <a:spAutoFit/>
          </a:bodyPr>
          <a:lstStyle/>
          <a:p>
            <a:pPr algn="l"/>
            <a:r>
              <a:rPr sz="900" b="1" i="0">
                <a:solidFill>
                  <a:srgbClr val="D71249"/>
                </a:solidFill>
                <a:latin typeface="Calibri"/>
              </a:rPr>
              <a:t>{{LAYER_4_LABEL}}</a:t>
            </a:r>
          </a:p>
        </p:txBody>
      </p:sp>
      <p:sp>
        <p:nvSpPr>
          <p:cNvPr id="41" name="TextBox 40"/>
          <p:cNvSpPr txBox="1"/>
          <p:nvPr/>
        </p:nvSpPr>
        <p:spPr>
          <a:xfrm>
            <a:off x="7397496" y="2496312"/>
            <a:ext cx="1901952" cy="365760"/>
          </a:xfrm>
          <a:prstGeom prst="rect">
            <a:avLst/>
          </a:prstGeom>
          <a:noFill/>
        </p:spPr>
        <p:txBody>
          <a:bodyPr wrap="square" lIns="0" rIns="0" tIns="0" bIns="0" anchor="t">
            <a:spAutoFit/>
          </a:bodyPr>
          <a:lstStyle/>
          <a:p>
            <a:pPr algn="l"/>
            <a:r>
              <a:rPr sz="1300" b="1" i="0">
                <a:solidFill>
                  <a:srgbClr val="FFFFFF"/>
                </a:solidFill>
                <a:latin typeface="Calibri"/>
              </a:rPr>
              <a:t>{{LAYER_4_ACTION}}</a:t>
            </a:r>
          </a:p>
        </p:txBody>
      </p:sp>
      <p:sp>
        <p:nvSpPr>
          <p:cNvPr id="42" name="TextBox 41"/>
          <p:cNvSpPr txBox="1"/>
          <p:nvPr/>
        </p:nvSpPr>
        <p:spPr>
          <a:xfrm>
            <a:off x="7397496" y="3063240"/>
            <a:ext cx="1901952" cy="228600"/>
          </a:xfrm>
          <a:prstGeom prst="rect">
            <a:avLst/>
          </a:prstGeom>
          <a:noFill/>
        </p:spPr>
        <p:txBody>
          <a:bodyPr wrap="square" lIns="0" rIns="0" tIns="0" bIns="0" anchor="t">
            <a:spAutoFit/>
          </a:bodyPr>
          <a:lstStyle/>
          <a:p>
            <a:pPr algn="l"/>
            <a:r>
              <a:rPr sz="900" b="0" i="0">
                <a:solidFill>
                  <a:srgbClr val="4A5568"/>
                </a:solidFill>
                <a:latin typeface="Calibri"/>
              </a:rPr>
              <a:t>Vùng giá</a:t>
            </a:r>
          </a:p>
        </p:txBody>
      </p:sp>
      <p:sp>
        <p:nvSpPr>
          <p:cNvPr id="43" name="TextBox 42"/>
          <p:cNvSpPr txBox="1"/>
          <p:nvPr/>
        </p:nvSpPr>
        <p:spPr>
          <a:xfrm>
            <a:off x="7397496" y="3291840"/>
            <a:ext cx="1901952" cy="274320"/>
          </a:xfrm>
          <a:prstGeom prst="rect">
            <a:avLst/>
          </a:prstGeom>
          <a:noFill/>
        </p:spPr>
        <p:txBody>
          <a:bodyPr wrap="square" lIns="0" rIns="0" tIns="0" bIns="0" anchor="t">
            <a:spAutoFit/>
          </a:bodyPr>
          <a:lstStyle/>
          <a:p>
            <a:pPr algn="l"/>
            <a:r>
              <a:rPr sz="1300" b="1" i="0">
                <a:solidFill>
                  <a:srgbClr val="003D7A"/>
                </a:solidFill>
                <a:latin typeface="Calibri"/>
              </a:rPr>
              <a:t>{{LAYER_4_PRICE_ZONE}}</a:t>
            </a:r>
          </a:p>
        </p:txBody>
      </p:sp>
      <p:sp>
        <p:nvSpPr>
          <p:cNvPr id="44" name="TextBox 43"/>
          <p:cNvSpPr txBox="1"/>
          <p:nvPr/>
        </p:nvSpPr>
        <p:spPr>
          <a:xfrm>
            <a:off x="7397496" y="3657600"/>
            <a:ext cx="1901952" cy="228600"/>
          </a:xfrm>
          <a:prstGeom prst="rect">
            <a:avLst/>
          </a:prstGeom>
          <a:noFill/>
        </p:spPr>
        <p:txBody>
          <a:bodyPr wrap="square" lIns="0" rIns="0" tIns="0" bIns="0" anchor="t">
            <a:spAutoFit/>
          </a:bodyPr>
          <a:lstStyle/>
          <a:p>
            <a:pPr algn="l"/>
            <a:r>
              <a:rPr sz="900" b="0" i="0">
                <a:solidFill>
                  <a:srgbClr val="4A5568"/>
                </a:solidFill>
                <a:latin typeface="Calibri"/>
              </a:rPr>
              <a:t>Tỷ trọng vị thế</a:t>
            </a:r>
          </a:p>
        </p:txBody>
      </p:sp>
      <p:sp>
        <p:nvSpPr>
          <p:cNvPr id="45" name="TextBox 44"/>
          <p:cNvSpPr txBox="1"/>
          <p:nvPr/>
        </p:nvSpPr>
        <p:spPr>
          <a:xfrm>
            <a:off x="7397496" y="3886200"/>
            <a:ext cx="1901952" cy="274320"/>
          </a:xfrm>
          <a:prstGeom prst="rect">
            <a:avLst/>
          </a:prstGeom>
          <a:noFill/>
        </p:spPr>
        <p:txBody>
          <a:bodyPr wrap="square" lIns="0" rIns="0" tIns="0" bIns="0" anchor="t">
            <a:spAutoFit/>
          </a:bodyPr>
          <a:lstStyle/>
          <a:p>
            <a:pPr algn="l"/>
            <a:r>
              <a:rPr sz="1300" b="1" i="0">
                <a:solidFill>
                  <a:srgbClr val="D71249"/>
                </a:solidFill>
                <a:latin typeface="Calibri"/>
              </a:rPr>
              <a:t>{{LAYER_4_ALLOCATION}}</a:t>
            </a:r>
          </a:p>
        </p:txBody>
      </p:sp>
      <p:sp>
        <p:nvSpPr>
          <p:cNvPr id="46" name="Rectangle 45"/>
          <p:cNvSpPr/>
          <p:nvPr/>
        </p:nvSpPr>
        <p:spPr>
          <a:xfrm>
            <a:off x="7397496" y="4251960"/>
            <a:ext cx="1901952" cy="10972"/>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397496" y="4343400"/>
            <a:ext cx="1901952" cy="594360"/>
          </a:xfrm>
          <a:prstGeom prst="rect">
            <a:avLst/>
          </a:prstGeom>
          <a:noFill/>
        </p:spPr>
        <p:txBody>
          <a:bodyPr wrap="square" lIns="0" rIns="0" tIns="0" bIns="0" anchor="t">
            <a:spAutoFit/>
          </a:bodyPr>
          <a:lstStyle/>
          <a:p>
            <a:pPr algn="l"/>
            <a:r>
              <a:rPr sz="1050" b="0" i="0">
                <a:solidFill>
                  <a:srgbClr val="1F2937"/>
                </a:solidFill>
                <a:latin typeface="Calibri"/>
              </a:rPr>
              <a:t>{{LAYER_4_TRIGGER}}</a:t>
            </a:r>
          </a:p>
        </p:txBody>
      </p:sp>
      <p:sp>
        <p:nvSpPr>
          <p:cNvPr id="48" name="Rectangle 47"/>
          <p:cNvSpPr/>
          <p:nvPr/>
        </p:nvSpPr>
        <p:spPr>
          <a:xfrm>
            <a:off x="9528048" y="2194560"/>
            <a:ext cx="2176272" cy="2834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528048" y="2194560"/>
            <a:ext cx="2176272" cy="73152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665208" y="2267712"/>
            <a:ext cx="1901952" cy="228600"/>
          </a:xfrm>
          <a:prstGeom prst="rect">
            <a:avLst/>
          </a:prstGeom>
          <a:noFill/>
        </p:spPr>
        <p:txBody>
          <a:bodyPr wrap="square" lIns="0" rIns="0" tIns="0" bIns="0" anchor="t">
            <a:spAutoFit/>
          </a:bodyPr>
          <a:lstStyle/>
          <a:p>
            <a:pPr algn="l"/>
            <a:r>
              <a:rPr sz="900" b="1" i="0">
                <a:solidFill>
                  <a:srgbClr val="D71249"/>
                </a:solidFill>
                <a:latin typeface="Calibri"/>
              </a:rPr>
              <a:t>{{LAYER_5_LABEL}}</a:t>
            </a:r>
          </a:p>
        </p:txBody>
      </p:sp>
      <p:sp>
        <p:nvSpPr>
          <p:cNvPr id="51" name="TextBox 50"/>
          <p:cNvSpPr txBox="1"/>
          <p:nvPr/>
        </p:nvSpPr>
        <p:spPr>
          <a:xfrm>
            <a:off x="9665208" y="2496312"/>
            <a:ext cx="1901952" cy="365760"/>
          </a:xfrm>
          <a:prstGeom prst="rect">
            <a:avLst/>
          </a:prstGeom>
          <a:noFill/>
        </p:spPr>
        <p:txBody>
          <a:bodyPr wrap="square" lIns="0" rIns="0" tIns="0" bIns="0" anchor="t">
            <a:spAutoFit/>
          </a:bodyPr>
          <a:lstStyle/>
          <a:p>
            <a:pPr algn="l"/>
            <a:r>
              <a:rPr sz="1300" b="1" i="0">
                <a:solidFill>
                  <a:srgbClr val="FFFFFF"/>
                </a:solidFill>
                <a:latin typeface="Calibri"/>
              </a:rPr>
              <a:t>{{LAYER_5_ACTION}}</a:t>
            </a:r>
          </a:p>
        </p:txBody>
      </p:sp>
      <p:sp>
        <p:nvSpPr>
          <p:cNvPr id="52" name="TextBox 51"/>
          <p:cNvSpPr txBox="1"/>
          <p:nvPr/>
        </p:nvSpPr>
        <p:spPr>
          <a:xfrm>
            <a:off x="9665208" y="3063240"/>
            <a:ext cx="1901952" cy="228600"/>
          </a:xfrm>
          <a:prstGeom prst="rect">
            <a:avLst/>
          </a:prstGeom>
          <a:noFill/>
        </p:spPr>
        <p:txBody>
          <a:bodyPr wrap="square" lIns="0" rIns="0" tIns="0" bIns="0" anchor="t">
            <a:spAutoFit/>
          </a:bodyPr>
          <a:lstStyle/>
          <a:p>
            <a:pPr algn="l"/>
            <a:r>
              <a:rPr sz="900" b="0" i="0">
                <a:solidFill>
                  <a:srgbClr val="4A5568"/>
                </a:solidFill>
                <a:latin typeface="Calibri"/>
              </a:rPr>
              <a:t>Vùng giá</a:t>
            </a:r>
          </a:p>
        </p:txBody>
      </p:sp>
      <p:sp>
        <p:nvSpPr>
          <p:cNvPr id="53" name="TextBox 52"/>
          <p:cNvSpPr txBox="1"/>
          <p:nvPr/>
        </p:nvSpPr>
        <p:spPr>
          <a:xfrm>
            <a:off x="9665208" y="3291840"/>
            <a:ext cx="1901952" cy="274320"/>
          </a:xfrm>
          <a:prstGeom prst="rect">
            <a:avLst/>
          </a:prstGeom>
          <a:noFill/>
        </p:spPr>
        <p:txBody>
          <a:bodyPr wrap="square" lIns="0" rIns="0" tIns="0" bIns="0" anchor="t">
            <a:spAutoFit/>
          </a:bodyPr>
          <a:lstStyle/>
          <a:p>
            <a:pPr algn="l"/>
            <a:r>
              <a:rPr sz="1300" b="1" i="0">
                <a:solidFill>
                  <a:srgbClr val="003D7A"/>
                </a:solidFill>
                <a:latin typeface="Calibri"/>
              </a:rPr>
              <a:t>{{LAYER_5_PRICE_ZONE}}</a:t>
            </a:r>
          </a:p>
        </p:txBody>
      </p:sp>
      <p:sp>
        <p:nvSpPr>
          <p:cNvPr id="54" name="TextBox 53"/>
          <p:cNvSpPr txBox="1"/>
          <p:nvPr/>
        </p:nvSpPr>
        <p:spPr>
          <a:xfrm>
            <a:off x="9665208" y="3657600"/>
            <a:ext cx="1901952" cy="228600"/>
          </a:xfrm>
          <a:prstGeom prst="rect">
            <a:avLst/>
          </a:prstGeom>
          <a:noFill/>
        </p:spPr>
        <p:txBody>
          <a:bodyPr wrap="square" lIns="0" rIns="0" tIns="0" bIns="0" anchor="t">
            <a:spAutoFit/>
          </a:bodyPr>
          <a:lstStyle/>
          <a:p>
            <a:pPr algn="l"/>
            <a:r>
              <a:rPr sz="900" b="0" i="0">
                <a:solidFill>
                  <a:srgbClr val="4A5568"/>
                </a:solidFill>
                <a:latin typeface="Calibri"/>
              </a:rPr>
              <a:t>Tỷ trọng vị thế</a:t>
            </a:r>
          </a:p>
        </p:txBody>
      </p:sp>
      <p:sp>
        <p:nvSpPr>
          <p:cNvPr id="55" name="TextBox 54"/>
          <p:cNvSpPr txBox="1"/>
          <p:nvPr/>
        </p:nvSpPr>
        <p:spPr>
          <a:xfrm>
            <a:off x="9665208" y="3886200"/>
            <a:ext cx="1901952" cy="274320"/>
          </a:xfrm>
          <a:prstGeom prst="rect">
            <a:avLst/>
          </a:prstGeom>
          <a:noFill/>
        </p:spPr>
        <p:txBody>
          <a:bodyPr wrap="square" lIns="0" rIns="0" tIns="0" bIns="0" anchor="t">
            <a:spAutoFit/>
          </a:bodyPr>
          <a:lstStyle/>
          <a:p>
            <a:pPr algn="l"/>
            <a:r>
              <a:rPr sz="1300" b="1" i="0">
                <a:solidFill>
                  <a:srgbClr val="D71249"/>
                </a:solidFill>
                <a:latin typeface="Calibri"/>
              </a:rPr>
              <a:t>{{LAYER_5_ALLOCATION}}</a:t>
            </a:r>
          </a:p>
        </p:txBody>
      </p:sp>
      <p:sp>
        <p:nvSpPr>
          <p:cNvPr id="56" name="Rectangle 55"/>
          <p:cNvSpPr/>
          <p:nvPr/>
        </p:nvSpPr>
        <p:spPr>
          <a:xfrm>
            <a:off x="9665208" y="4251960"/>
            <a:ext cx="1901952" cy="10972"/>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665208" y="4343400"/>
            <a:ext cx="1901952" cy="594360"/>
          </a:xfrm>
          <a:prstGeom prst="rect">
            <a:avLst/>
          </a:prstGeom>
          <a:noFill/>
        </p:spPr>
        <p:txBody>
          <a:bodyPr wrap="square" lIns="0" rIns="0" tIns="0" bIns="0" anchor="t">
            <a:spAutoFit/>
          </a:bodyPr>
          <a:lstStyle/>
          <a:p>
            <a:pPr algn="l"/>
            <a:r>
              <a:rPr sz="1050" b="0" i="0">
                <a:solidFill>
                  <a:srgbClr val="1F2937"/>
                </a:solidFill>
                <a:latin typeface="Calibri"/>
              </a:rPr>
              <a:t>{{LAYER_5_TRIGGER}}</a:t>
            </a:r>
          </a:p>
        </p:txBody>
      </p:sp>
      <p:sp>
        <p:nvSpPr>
          <p:cNvPr id="58" name="Rectangle 57"/>
          <p:cNvSpPr/>
          <p:nvPr/>
        </p:nvSpPr>
        <p:spPr>
          <a:xfrm>
            <a:off x="457200" y="5212080"/>
            <a:ext cx="11247120" cy="32004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40080" y="5257800"/>
            <a:ext cx="10881360" cy="228600"/>
          </a:xfrm>
          <a:prstGeom prst="rect">
            <a:avLst/>
          </a:prstGeom>
          <a:noFill/>
        </p:spPr>
        <p:txBody>
          <a:bodyPr wrap="square" lIns="0" rIns="0" tIns="0" bIns="0" anchor="t">
            <a:spAutoFit/>
          </a:bodyPr>
          <a:lstStyle/>
          <a:p>
            <a:pPr algn="l"/>
            <a:r>
              <a:rPr sz="1000" b="1" i="0">
                <a:solidFill>
                  <a:srgbClr val="003D7A"/>
                </a:solidFill>
                <a:latin typeface="Calibri"/>
              </a:rPr>
              <a:t>QUẢN TRỊ RỦI RO</a:t>
            </a:r>
          </a:p>
        </p:txBody>
      </p:sp>
      <p:sp>
        <p:nvSpPr>
          <p:cNvPr id="60" name="TextBox 59"/>
          <p:cNvSpPr txBox="1"/>
          <p:nvPr/>
        </p:nvSpPr>
        <p:spPr>
          <a:xfrm>
            <a:off x="640080" y="5577840"/>
            <a:ext cx="3383280" cy="182880"/>
          </a:xfrm>
          <a:prstGeom prst="rect">
            <a:avLst/>
          </a:prstGeom>
          <a:noFill/>
        </p:spPr>
        <p:txBody>
          <a:bodyPr wrap="square" lIns="0" rIns="0" tIns="0" bIns="0" anchor="t">
            <a:spAutoFit/>
          </a:bodyPr>
          <a:lstStyle/>
          <a:p>
            <a:pPr algn="l"/>
            <a:r>
              <a:rPr sz="900" b="1" i="0">
                <a:solidFill>
                  <a:srgbClr val="4A5568"/>
                </a:solidFill>
                <a:latin typeface="Calibri"/>
              </a:rPr>
              <a:t>CẮT LỖ CỨNG</a:t>
            </a:r>
          </a:p>
        </p:txBody>
      </p:sp>
      <p:sp>
        <p:nvSpPr>
          <p:cNvPr id="61" name="TextBox 60"/>
          <p:cNvSpPr txBox="1"/>
          <p:nvPr/>
        </p:nvSpPr>
        <p:spPr>
          <a:xfrm>
            <a:off x="640080" y="5779008"/>
            <a:ext cx="1504188" cy="274320"/>
          </a:xfrm>
          <a:prstGeom prst="rect">
            <a:avLst/>
          </a:prstGeom>
          <a:noFill/>
        </p:spPr>
        <p:txBody>
          <a:bodyPr wrap="square" lIns="0" rIns="0" tIns="0" bIns="0" anchor="t">
            <a:spAutoFit/>
          </a:bodyPr>
          <a:lstStyle/>
          <a:p>
            <a:pPr algn="l"/>
            <a:r>
              <a:rPr sz="1300" b="1" i="0">
                <a:solidFill>
                  <a:srgbClr val="003D7A"/>
                </a:solidFill>
                <a:latin typeface="Calibri"/>
              </a:rPr>
              <a:t>{{STOP_HARD_PRICE}}</a:t>
            </a:r>
          </a:p>
        </p:txBody>
      </p:sp>
      <p:sp>
        <p:nvSpPr>
          <p:cNvPr id="62" name="TextBox 61"/>
          <p:cNvSpPr txBox="1"/>
          <p:nvPr/>
        </p:nvSpPr>
        <p:spPr>
          <a:xfrm>
            <a:off x="2144268" y="5779008"/>
            <a:ext cx="1879092" cy="274320"/>
          </a:xfrm>
          <a:prstGeom prst="rect">
            <a:avLst/>
          </a:prstGeom>
          <a:noFill/>
        </p:spPr>
        <p:txBody>
          <a:bodyPr wrap="square" lIns="0" rIns="0" tIns="0" bIns="0" anchor="t">
            <a:spAutoFit/>
          </a:bodyPr>
          <a:lstStyle/>
          <a:p>
            <a:pPr algn="l"/>
            <a:r>
              <a:rPr sz="1050" b="0" i="1">
                <a:solidFill>
                  <a:srgbClr val="4A5568"/>
                </a:solidFill>
                <a:latin typeface="Calibri"/>
              </a:rPr>
              <a:t>{{STOP_HARD_NOTE}}</a:t>
            </a:r>
          </a:p>
        </p:txBody>
      </p:sp>
      <p:sp>
        <p:nvSpPr>
          <p:cNvPr id="63" name="TextBox 62"/>
          <p:cNvSpPr txBox="1"/>
          <p:nvPr/>
        </p:nvSpPr>
        <p:spPr>
          <a:xfrm>
            <a:off x="4389120" y="5577840"/>
            <a:ext cx="3383280" cy="182880"/>
          </a:xfrm>
          <a:prstGeom prst="rect">
            <a:avLst/>
          </a:prstGeom>
          <a:noFill/>
        </p:spPr>
        <p:txBody>
          <a:bodyPr wrap="square" lIns="0" rIns="0" tIns="0" bIns="0" anchor="t">
            <a:spAutoFit/>
          </a:bodyPr>
          <a:lstStyle/>
          <a:p>
            <a:pPr algn="l"/>
            <a:r>
              <a:rPr sz="900" b="1" i="0">
                <a:solidFill>
                  <a:srgbClr val="4A5568"/>
                </a:solidFill>
                <a:latin typeface="Calibri"/>
              </a:rPr>
              <a:t>CẮT LỖ DỰ PHÒNG</a:t>
            </a:r>
          </a:p>
        </p:txBody>
      </p:sp>
      <p:sp>
        <p:nvSpPr>
          <p:cNvPr id="64" name="TextBox 63"/>
          <p:cNvSpPr txBox="1"/>
          <p:nvPr/>
        </p:nvSpPr>
        <p:spPr>
          <a:xfrm>
            <a:off x="4389120" y="5779008"/>
            <a:ext cx="1504188" cy="274320"/>
          </a:xfrm>
          <a:prstGeom prst="rect">
            <a:avLst/>
          </a:prstGeom>
          <a:noFill/>
        </p:spPr>
        <p:txBody>
          <a:bodyPr wrap="square" lIns="0" rIns="0" tIns="0" bIns="0" anchor="t">
            <a:spAutoFit/>
          </a:bodyPr>
          <a:lstStyle/>
          <a:p>
            <a:pPr algn="l"/>
            <a:r>
              <a:rPr sz="1300" b="1" i="0">
                <a:solidFill>
                  <a:srgbClr val="003D7A"/>
                </a:solidFill>
                <a:latin typeface="Calibri"/>
              </a:rPr>
              <a:t>{{STOP_SOFT_PRICE}}</a:t>
            </a:r>
          </a:p>
        </p:txBody>
      </p:sp>
      <p:sp>
        <p:nvSpPr>
          <p:cNvPr id="65" name="TextBox 64"/>
          <p:cNvSpPr txBox="1"/>
          <p:nvPr/>
        </p:nvSpPr>
        <p:spPr>
          <a:xfrm>
            <a:off x="5893308" y="5779008"/>
            <a:ext cx="1879092" cy="274320"/>
          </a:xfrm>
          <a:prstGeom prst="rect">
            <a:avLst/>
          </a:prstGeom>
          <a:noFill/>
        </p:spPr>
        <p:txBody>
          <a:bodyPr wrap="square" lIns="0" rIns="0" tIns="0" bIns="0" anchor="t">
            <a:spAutoFit/>
          </a:bodyPr>
          <a:lstStyle/>
          <a:p>
            <a:pPr algn="l"/>
            <a:r>
              <a:rPr sz="1050" b="0" i="1">
                <a:solidFill>
                  <a:srgbClr val="4A5568"/>
                </a:solidFill>
                <a:latin typeface="Calibri"/>
              </a:rPr>
              <a:t>{{STOP_SOFT_NOTE}}</a:t>
            </a:r>
          </a:p>
        </p:txBody>
      </p:sp>
      <p:sp>
        <p:nvSpPr>
          <p:cNvPr id="66" name="TextBox 65"/>
          <p:cNvSpPr txBox="1"/>
          <p:nvPr/>
        </p:nvSpPr>
        <p:spPr>
          <a:xfrm>
            <a:off x="8138160" y="5577840"/>
            <a:ext cx="3383280" cy="182880"/>
          </a:xfrm>
          <a:prstGeom prst="rect">
            <a:avLst/>
          </a:prstGeom>
          <a:noFill/>
        </p:spPr>
        <p:txBody>
          <a:bodyPr wrap="square" lIns="0" rIns="0" tIns="0" bIns="0" anchor="t">
            <a:spAutoFit/>
          </a:bodyPr>
          <a:lstStyle/>
          <a:p>
            <a:pPr algn="l"/>
            <a:r>
              <a:rPr sz="900" b="1" i="0">
                <a:solidFill>
                  <a:srgbClr val="4A5568"/>
                </a:solidFill>
                <a:latin typeface="Calibri"/>
              </a:rPr>
              <a:t>KHUNG THỜI GIAN</a:t>
            </a:r>
          </a:p>
        </p:txBody>
      </p:sp>
      <p:sp>
        <p:nvSpPr>
          <p:cNvPr id="67" name="TextBox 66"/>
          <p:cNvSpPr txBox="1"/>
          <p:nvPr/>
        </p:nvSpPr>
        <p:spPr>
          <a:xfrm>
            <a:off x="8138160" y="5779008"/>
            <a:ext cx="1504188" cy="274320"/>
          </a:xfrm>
          <a:prstGeom prst="rect">
            <a:avLst/>
          </a:prstGeom>
          <a:noFill/>
        </p:spPr>
        <p:txBody>
          <a:bodyPr wrap="square" lIns="0" rIns="0" tIns="0" bIns="0" anchor="t">
            <a:spAutoFit/>
          </a:bodyPr>
          <a:lstStyle/>
          <a:p>
            <a:pPr algn="l"/>
            <a:r>
              <a:rPr sz="1300" b="1" i="0">
                <a:solidFill>
                  <a:srgbClr val="003D7A"/>
                </a:solidFill>
                <a:latin typeface="Calibri"/>
              </a:rPr>
              <a:t>{{HOLD_PERIOD}}</a:t>
            </a:r>
          </a:p>
        </p:txBody>
      </p:sp>
      <p:sp>
        <p:nvSpPr>
          <p:cNvPr id="68" name="TextBox 67"/>
          <p:cNvSpPr txBox="1"/>
          <p:nvPr/>
        </p:nvSpPr>
        <p:spPr>
          <a:xfrm>
            <a:off x="9642348" y="5779008"/>
            <a:ext cx="1879092" cy="274320"/>
          </a:xfrm>
          <a:prstGeom prst="rect">
            <a:avLst/>
          </a:prstGeom>
          <a:noFill/>
        </p:spPr>
        <p:txBody>
          <a:bodyPr wrap="square" lIns="0" rIns="0" tIns="0" bIns="0" anchor="t">
            <a:spAutoFit/>
          </a:bodyPr>
          <a:lstStyle/>
          <a:p>
            <a:pPr algn="l"/>
            <a:r>
              <a:rPr sz="1050" b="0" i="1">
                <a:solidFill>
                  <a:srgbClr val="4A5568"/>
                </a:solidFill>
                <a:latin typeface="Calibri"/>
              </a:rPr>
              <a:t>{{HOLD_NOTE}}</a:t>
            </a:r>
          </a:p>
        </p:txBody>
      </p:sp>
      <p:sp>
        <p:nvSpPr>
          <p:cNvPr id="69" name="TextBox 68"/>
          <p:cNvSpPr txBox="1"/>
          <p:nvPr/>
        </p:nvSpPr>
        <p:spPr>
          <a:xfrm>
            <a:off x="457200" y="6537960"/>
            <a:ext cx="9144000" cy="274320"/>
          </a:xfrm>
          <a:prstGeom prst="rect">
            <a:avLst/>
          </a:prstGeom>
          <a:noFill/>
        </p:spPr>
        <p:txBody>
          <a:bodyPr wrap="square" lIns="0" rIns="0" tIns="0" bIns="0" anchor="t">
            <a:spAutoFit/>
          </a:bodyPr>
          <a:lstStyle/>
          <a:p>
            <a:pPr algn="l"/>
            <a:r>
              <a:rPr sz="900" b="0" i="0">
                <a:solidFill>
                  <a:srgbClr val="9CA3AF"/>
                </a:solidFill>
                <a:latin typeface="Calibri"/>
              </a:rPr>
              <a:t>{{FOOTER_LEFT}}</a:t>
            </a:r>
          </a:p>
        </p:txBody>
      </p:sp>
      <p:sp>
        <p:nvSpPr>
          <p:cNvPr id="70" name="TextBox 69"/>
          <p:cNvSpPr txBox="1"/>
          <p:nvPr/>
        </p:nvSpPr>
        <p:spPr>
          <a:xfrm>
            <a:off x="11247120" y="6537960"/>
            <a:ext cx="457200" cy="274320"/>
          </a:xfrm>
          <a:prstGeom prst="rect">
            <a:avLst/>
          </a:prstGeom>
          <a:noFill/>
        </p:spPr>
        <p:txBody>
          <a:bodyPr wrap="square" lIns="0" rIns="0" tIns="0" bIns="0" anchor="t">
            <a:spAutoFit/>
          </a:bodyPr>
          <a:lstStyle/>
          <a:p>
            <a:pPr algn="r"/>
            <a:r>
              <a:rPr sz="900" b="1" i="0">
                <a:solidFill>
                  <a:srgbClr val="003D7A"/>
                </a:solidFill>
                <a:latin typeface="Calibri"/>
              </a:rPr>
              <a:t>{{PAGE_NUM}}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name="TAKE_PROFIT_TARGETS">
    <p:spTree>
      <p:nvGrpSpPr>
        <p:cNvPr id="1" name=""/>
        <p:cNvGrpSpPr/>
        <p:nvPr/>
      </p:nvGrpSpPr>
      <p:grpSpPr/>
      <p:sp>
        <p:nvSpPr>
          <p:cNvPr id="2" name="Rectangle 1"/>
          <p:cNvSpPr/>
          <p:nvPr/>
        </p:nvSpPr>
        <p:spPr>
          <a:xfrm>
            <a:off x="457200" y="411480"/>
            <a:ext cx="73152" cy="64008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1064240" cy="502920"/>
          </a:xfrm>
          <a:prstGeom prst="rect">
            <a:avLst/>
          </a:prstGeom>
          <a:noFill/>
        </p:spPr>
        <p:txBody>
          <a:bodyPr wrap="square" lIns="0" rIns="0" tIns="0" bIns="0" anchor="ctr">
            <a:spAutoFit/>
          </a:bodyPr>
          <a:lstStyle/>
          <a:p>
            <a:pPr algn="l"/>
            <a:r>
              <a:rPr sz="2600" b="1" i="0">
                <a:solidFill>
                  <a:srgbClr val="003D7A"/>
                </a:solidFill>
                <a:latin typeface="Calibri"/>
              </a:rPr>
              <a:t>{{SECTION_TITLE}}</a:t>
            </a:r>
          </a:p>
        </p:txBody>
      </p:sp>
      <p:sp>
        <p:nvSpPr>
          <p:cNvPr id="4" name="TextBox 3"/>
          <p:cNvSpPr txBox="1"/>
          <p:nvPr/>
        </p:nvSpPr>
        <p:spPr>
          <a:xfrm>
            <a:off x="640080" y="868680"/>
            <a:ext cx="11064240" cy="274320"/>
          </a:xfrm>
          <a:prstGeom prst="rect">
            <a:avLst/>
          </a:prstGeom>
          <a:noFill/>
        </p:spPr>
        <p:txBody>
          <a:bodyPr wrap="square" lIns="0" rIns="0" tIns="0" bIns="0" anchor="t">
            <a:spAutoFit/>
          </a:bodyPr>
          <a:lstStyle/>
          <a:p>
            <a:pPr algn="l"/>
            <a:r>
              <a:rPr sz="1200" b="0" i="1">
                <a:solidFill>
                  <a:srgbClr val="4A5568"/>
                </a:solidFill>
                <a:latin typeface="Calibri"/>
              </a:rPr>
              <a:t>{{SECTION_SUB}}</a:t>
            </a:r>
          </a:p>
        </p:txBody>
      </p:sp>
      <p:sp>
        <p:nvSpPr>
          <p:cNvPr id="5" name="Rectangle 4"/>
          <p:cNvSpPr/>
          <p:nvPr/>
        </p:nvSpPr>
        <p:spPr>
          <a:xfrm>
            <a:off x="457200" y="1371600"/>
            <a:ext cx="2708910" cy="3749039"/>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71600"/>
            <a:ext cx="2708910" cy="45720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71600"/>
            <a:ext cx="2708910" cy="457200"/>
          </a:xfrm>
          <a:prstGeom prst="rect">
            <a:avLst/>
          </a:prstGeom>
          <a:noFill/>
        </p:spPr>
        <p:txBody>
          <a:bodyPr wrap="square" lIns="0" rIns="0" tIns="0" bIns="0" anchor="ctr">
            <a:spAutoFit/>
          </a:bodyPr>
          <a:lstStyle/>
          <a:p>
            <a:pPr algn="ctr"/>
            <a:r>
              <a:rPr sz="1500" b="1" i="0">
                <a:solidFill>
                  <a:srgbClr val="FFFFFF"/>
                </a:solidFill>
                <a:latin typeface="Calibri"/>
              </a:rPr>
              <a:t>MỐC {{M1_NUM}}</a:t>
            </a:r>
          </a:p>
        </p:txBody>
      </p:sp>
      <p:sp>
        <p:nvSpPr>
          <p:cNvPr id="8" name="TextBox 7"/>
          <p:cNvSpPr txBox="1"/>
          <p:nvPr/>
        </p:nvSpPr>
        <p:spPr>
          <a:xfrm>
            <a:off x="594360" y="2011680"/>
            <a:ext cx="2434590" cy="822960"/>
          </a:xfrm>
          <a:prstGeom prst="rect">
            <a:avLst/>
          </a:prstGeom>
          <a:noFill/>
        </p:spPr>
        <p:txBody>
          <a:bodyPr wrap="square" lIns="0" rIns="0" tIns="0" bIns="0" anchor="t">
            <a:spAutoFit/>
          </a:bodyPr>
          <a:lstStyle/>
          <a:p>
            <a:pPr algn="ctr"/>
            <a:r>
              <a:rPr sz="3600" b="1" i="0">
                <a:solidFill>
                  <a:srgbClr val="003D7A"/>
                </a:solidFill>
                <a:latin typeface="Calibri"/>
              </a:rPr>
              <a:t>{{M1_PRICE}}</a:t>
            </a:r>
          </a:p>
        </p:txBody>
      </p:sp>
      <p:sp>
        <p:nvSpPr>
          <p:cNvPr id="9" name="TextBox 8"/>
          <p:cNvSpPr txBox="1"/>
          <p:nvPr/>
        </p:nvSpPr>
        <p:spPr>
          <a:xfrm>
            <a:off x="594360" y="2834640"/>
            <a:ext cx="2434590" cy="274320"/>
          </a:xfrm>
          <a:prstGeom prst="rect">
            <a:avLst/>
          </a:prstGeom>
          <a:noFill/>
        </p:spPr>
        <p:txBody>
          <a:bodyPr wrap="square" lIns="0" rIns="0" tIns="0" bIns="0" anchor="t">
            <a:spAutoFit/>
          </a:bodyPr>
          <a:lstStyle/>
          <a:p>
            <a:pPr algn="ctr"/>
            <a:r>
              <a:rPr sz="1000" b="0" i="0">
                <a:solidFill>
                  <a:srgbClr val="4A5568"/>
                </a:solidFill>
                <a:latin typeface="Calibri"/>
              </a:rPr>
              <a:t>đồng</a:t>
            </a:r>
          </a:p>
        </p:txBody>
      </p:sp>
      <p:sp>
        <p:nvSpPr>
          <p:cNvPr id="10" name="TextBox 9"/>
          <p:cNvSpPr txBox="1"/>
          <p:nvPr/>
        </p:nvSpPr>
        <p:spPr>
          <a:xfrm>
            <a:off x="594360" y="3200400"/>
            <a:ext cx="2434590" cy="548640"/>
          </a:xfrm>
          <a:prstGeom prst="rect">
            <a:avLst/>
          </a:prstGeom>
          <a:noFill/>
        </p:spPr>
        <p:txBody>
          <a:bodyPr wrap="square" lIns="0" rIns="0" tIns="0" bIns="0" anchor="t">
            <a:spAutoFit/>
          </a:bodyPr>
          <a:lstStyle/>
          <a:p>
            <a:pPr algn="ctr"/>
            <a:r>
              <a:rPr sz="2800" b="1" i="0">
                <a:solidFill>
                  <a:srgbClr val="059669"/>
                </a:solidFill>
                <a:latin typeface="Calibri"/>
              </a:rPr>
              <a:t>{{M1_PROFIT_PCT}}</a:t>
            </a:r>
          </a:p>
        </p:txBody>
      </p:sp>
      <p:sp>
        <p:nvSpPr>
          <p:cNvPr id="11" name="Rectangle 10"/>
          <p:cNvSpPr/>
          <p:nvPr/>
        </p:nvSpPr>
        <p:spPr>
          <a:xfrm>
            <a:off x="731520" y="3840480"/>
            <a:ext cx="2160270" cy="10972"/>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3931920"/>
            <a:ext cx="2434590" cy="228600"/>
          </a:xfrm>
          <a:prstGeom prst="rect">
            <a:avLst/>
          </a:prstGeom>
          <a:noFill/>
        </p:spPr>
        <p:txBody>
          <a:bodyPr wrap="square" lIns="0" rIns="0" tIns="0" bIns="0" anchor="t">
            <a:spAutoFit/>
          </a:bodyPr>
          <a:lstStyle/>
          <a:p>
            <a:pPr algn="ctr"/>
            <a:r>
              <a:rPr sz="900" b="0" i="0">
                <a:solidFill>
                  <a:srgbClr val="4A5568"/>
                </a:solidFill>
                <a:latin typeface="Calibri"/>
              </a:rPr>
              <a:t>Tỷ lệ chốt</a:t>
            </a:r>
          </a:p>
        </p:txBody>
      </p:sp>
      <p:sp>
        <p:nvSpPr>
          <p:cNvPr id="13" name="TextBox 12"/>
          <p:cNvSpPr txBox="1"/>
          <p:nvPr/>
        </p:nvSpPr>
        <p:spPr>
          <a:xfrm>
            <a:off x="594360" y="4160520"/>
            <a:ext cx="2434590" cy="365760"/>
          </a:xfrm>
          <a:prstGeom prst="rect">
            <a:avLst/>
          </a:prstGeom>
          <a:noFill/>
        </p:spPr>
        <p:txBody>
          <a:bodyPr wrap="square" lIns="0" rIns="0" tIns="0" bIns="0" anchor="t">
            <a:spAutoFit/>
          </a:bodyPr>
          <a:lstStyle/>
          <a:p>
            <a:pPr algn="ctr"/>
            <a:r>
              <a:rPr sz="1500" b="1" i="0">
                <a:solidFill>
                  <a:srgbClr val="003D7A"/>
                </a:solidFill>
                <a:latin typeface="Calibri"/>
              </a:rPr>
              <a:t>{{M1_RATIO}}</a:t>
            </a:r>
          </a:p>
        </p:txBody>
      </p:sp>
      <p:sp>
        <p:nvSpPr>
          <p:cNvPr id="14" name="TextBox 13"/>
          <p:cNvSpPr txBox="1"/>
          <p:nvPr/>
        </p:nvSpPr>
        <p:spPr>
          <a:xfrm>
            <a:off x="594360" y="4572000"/>
            <a:ext cx="2434590" cy="457200"/>
          </a:xfrm>
          <a:prstGeom prst="rect">
            <a:avLst/>
          </a:prstGeom>
          <a:noFill/>
        </p:spPr>
        <p:txBody>
          <a:bodyPr wrap="square" lIns="0" rIns="0" tIns="0" bIns="0" anchor="t">
            <a:spAutoFit/>
          </a:bodyPr>
          <a:lstStyle/>
          <a:p>
            <a:pPr algn="ctr"/>
            <a:r>
              <a:rPr sz="1050" b="0" i="1">
                <a:solidFill>
                  <a:srgbClr val="1F2937"/>
                </a:solidFill>
                <a:latin typeface="Calibri"/>
              </a:rPr>
              <a:t>{{M1_BASIS}}</a:t>
            </a:r>
          </a:p>
        </p:txBody>
      </p:sp>
      <p:sp>
        <p:nvSpPr>
          <p:cNvPr id="15" name="Rectangle 14"/>
          <p:cNvSpPr/>
          <p:nvPr/>
        </p:nvSpPr>
        <p:spPr>
          <a:xfrm>
            <a:off x="3303270" y="1371600"/>
            <a:ext cx="2708910" cy="3749039"/>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03270" y="1371600"/>
            <a:ext cx="2708910" cy="45720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03270" y="1371600"/>
            <a:ext cx="2708910" cy="457200"/>
          </a:xfrm>
          <a:prstGeom prst="rect">
            <a:avLst/>
          </a:prstGeom>
          <a:noFill/>
        </p:spPr>
        <p:txBody>
          <a:bodyPr wrap="square" lIns="0" rIns="0" tIns="0" bIns="0" anchor="ctr">
            <a:spAutoFit/>
          </a:bodyPr>
          <a:lstStyle/>
          <a:p>
            <a:pPr algn="ctr"/>
            <a:r>
              <a:rPr sz="1500" b="1" i="0">
                <a:solidFill>
                  <a:srgbClr val="FFFFFF"/>
                </a:solidFill>
                <a:latin typeface="Calibri"/>
              </a:rPr>
              <a:t>MỐC {{M2_NUM}}</a:t>
            </a:r>
          </a:p>
        </p:txBody>
      </p:sp>
      <p:sp>
        <p:nvSpPr>
          <p:cNvPr id="18" name="TextBox 17"/>
          <p:cNvSpPr txBox="1"/>
          <p:nvPr/>
        </p:nvSpPr>
        <p:spPr>
          <a:xfrm>
            <a:off x="3440430" y="2011680"/>
            <a:ext cx="2434590" cy="822960"/>
          </a:xfrm>
          <a:prstGeom prst="rect">
            <a:avLst/>
          </a:prstGeom>
          <a:noFill/>
        </p:spPr>
        <p:txBody>
          <a:bodyPr wrap="square" lIns="0" rIns="0" tIns="0" bIns="0" anchor="t">
            <a:spAutoFit/>
          </a:bodyPr>
          <a:lstStyle/>
          <a:p>
            <a:pPr algn="ctr"/>
            <a:r>
              <a:rPr sz="3600" b="1" i="0">
                <a:solidFill>
                  <a:srgbClr val="003D7A"/>
                </a:solidFill>
                <a:latin typeface="Calibri"/>
              </a:rPr>
              <a:t>{{M2_PRICE}}</a:t>
            </a:r>
          </a:p>
        </p:txBody>
      </p:sp>
      <p:sp>
        <p:nvSpPr>
          <p:cNvPr id="19" name="TextBox 18"/>
          <p:cNvSpPr txBox="1"/>
          <p:nvPr/>
        </p:nvSpPr>
        <p:spPr>
          <a:xfrm>
            <a:off x="3440430" y="2834640"/>
            <a:ext cx="2434590" cy="274320"/>
          </a:xfrm>
          <a:prstGeom prst="rect">
            <a:avLst/>
          </a:prstGeom>
          <a:noFill/>
        </p:spPr>
        <p:txBody>
          <a:bodyPr wrap="square" lIns="0" rIns="0" tIns="0" bIns="0" anchor="t">
            <a:spAutoFit/>
          </a:bodyPr>
          <a:lstStyle/>
          <a:p>
            <a:pPr algn="ctr"/>
            <a:r>
              <a:rPr sz="1000" b="0" i="0">
                <a:solidFill>
                  <a:srgbClr val="4A5568"/>
                </a:solidFill>
                <a:latin typeface="Calibri"/>
              </a:rPr>
              <a:t>đồng</a:t>
            </a:r>
          </a:p>
        </p:txBody>
      </p:sp>
      <p:sp>
        <p:nvSpPr>
          <p:cNvPr id="20" name="TextBox 19"/>
          <p:cNvSpPr txBox="1"/>
          <p:nvPr/>
        </p:nvSpPr>
        <p:spPr>
          <a:xfrm>
            <a:off x="3440430" y="3200400"/>
            <a:ext cx="2434590" cy="548640"/>
          </a:xfrm>
          <a:prstGeom prst="rect">
            <a:avLst/>
          </a:prstGeom>
          <a:noFill/>
        </p:spPr>
        <p:txBody>
          <a:bodyPr wrap="square" lIns="0" rIns="0" tIns="0" bIns="0" anchor="t">
            <a:spAutoFit/>
          </a:bodyPr>
          <a:lstStyle/>
          <a:p>
            <a:pPr algn="ctr"/>
            <a:r>
              <a:rPr sz="2800" b="1" i="0">
                <a:solidFill>
                  <a:srgbClr val="059669"/>
                </a:solidFill>
                <a:latin typeface="Calibri"/>
              </a:rPr>
              <a:t>{{M2_PROFIT_PCT}}</a:t>
            </a:r>
          </a:p>
        </p:txBody>
      </p:sp>
      <p:sp>
        <p:nvSpPr>
          <p:cNvPr id="21" name="Rectangle 20"/>
          <p:cNvSpPr/>
          <p:nvPr/>
        </p:nvSpPr>
        <p:spPr>
          <a:xfrm>
            <a:off x="3577590" y="3840480"/>
            <a:ext cx="2160270" cy="10972"/>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40430" y="3931920"/>
            <a:ext cx="2434590" cy="228600"/>
          </a:xfrm>
          <a:prstGeom prst="rect">
            <a:avLst/>
          </a:prstGeom>
          <a:noFill/>
        </p:spPr>
        <p:txBody>
          <a:bodyPr wrap="square" lIns="0" rIns="0" tIns="0" bIns="0" anchor="t">
            <a:spAutoFit/>
          </a:bodyPr>
          <a:lstStyle/>
          <a:p>
            <a:pPr algn="ctr"/>
            <a:r>
              <a:rPr sz="900" b="0" i="0">
                <a:solidFill>
                  <a:srgbClr val="4A5568"/>
                </a:solidFill>
                <a:latin typeface="Calibri"/>
              </a:rPr>
              <a:t>Tỷ lệ chốt</a:t>
            </a:r>
          </a:p>
        </p:txBody>
      </p:sp>
      <p:sp>
        <p:nvSpPr>
          <p:cNvPr id="23" name="TextBox 22"/>
          <p:cNvSpPr txBox="1"/>
          <p:nvPr/>
        </p:nvSpPr>
        <p:spPr>
          <a:xfrm>
            <a:off x="3440430" y="4160520"/>
            <a:ext cx="2434590" cy="365760"/>
          </a:xfrm>
          <a:prstGeom prst="rect">
            <a:avLst/>
          </a:prstGeom>
          <a:noFill/>
        </p:spPr>
        <p:txBody>
          <a:bodyPr wrap="square" lIns="0" rIns="0" tIns="0" bIns="0" anchor="t">
            <a:spAutoFit/>
          </a:bodyPr>
          <a:lstStyle/>
          <a:p>
            <a:pPr algn="ctr"/>
            <a:r>
              <a:rPr sz="1500" b="1" i="0">
                <a:solidFill>
                  <a:srgbClr val="003D7A"/>
                </a:solidFill>
                <a:latin typeface="Calibri"/>
              </a:rPr>
              <a:t>{{M2_RATIO}}</a:t>
            </a:r>
          </a:p>
        </p:txBody>
      </p:sp>
      <p:sp>
        <p:nvSpPr>
          <p:cNvPr id="24" name="TextBox 23"/>
          <p:cNvSpPr txBox="1"/>
          <p:nvPr/>
        </p:nvSpPr>
        <p:spPr>
          <a:xfrm>
            <a:off x="3440430" y="4572000"/>
            <a:ext cx="2434590" cy="457200"/>
          </a:xfrm>
          <a:prstGeom prst="rect">
            <a:avLst/>
          </a:prstGeom>
          <a:noFill/>
        </p:spPr>
        <p:txBody>
          <a:bodyPr wrap="square" lIns="0" rIns="0" tIns="0" bIns="0" anchor="t">
            <a:spAutoFit/>
          </a:bodyPr>
          <a:lstStyle/>
          <a:p>
            <a:pPr algn="ctr"/>
            <a:r>
              <a:rPr sz="1050" b="0" i="1">
                <a:solidFill>
                  <a:srgbClr val="1F2937"/>
                </a:solidFill>
                <a:latin typeface="Calibri"/>
              </a:rPr>
              <a:t>{{M2_BASIS}}</a:t>
            </a:r>
          </a:p>
        </p:txBody>
      </p:sp>
      <p:sp>
        <p:nvSpPr>
          <p:cNvPr id="25" name="Rectangle 24"/>
          <p:cNvSpPr/>
          <p:nvPr/>
        </p:nvSpPr>
        <p:spPr>
          <a:xfrm>
            <a:off x="6149340" y="1371600"/>
            <a:ext cx="2708910" cy="3749039"/>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49340" y="1371600"/>
            <a:ext cx="2708910" cy="45720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49340" y="1371600"/>
            <a:ext cx="2708910" cy="457200"/>
          </a:xfrm>
          <a:prstGeom prst="rect">
            <a:avLst/>
          </a:prstGeom>
          <a:noFill/>
        </p:spPr>
        <p:txBody>
          <a:bodyPr wrap="square" lIns="0" rIns="0" tIns="0" bIns="0" anchor="ctr">
            <a:spAutoFit/>
          </a:bodyPr>
          <a:lstStyle/>
          <a:p>
            <a:pPr algn="ctr"/>
            <a:r>
              <a:rPr sz="1500" b="1" i="0">
                <a:solidFill>
                  <a:srgbClr val="FFFFFF"/>
                </a:solidFill>
                <a:latin typeface="Calibri"/>
              </a:rPr>
              <a:t>MỐC {{M3_NUM}}</a:t>
            </a:r>
          </a:p>
        </p:txBody>
      </p:sp>
      <p:sp>
        <p:nvSpPr>
          <p:cNvPr id="28" name="TextBox 27"/>
          <p:cNvSpPr txBox="1"/>
          <p:nvPr/>
        </p:nvSpPr>
        <p:spPr>
          <a:xfrm>
            <a:off x="6286500" y="2011680"/>
            <a:ext cx="2434590" cy="822960"/>
          </a:xfrm>
          <a:prstGeom prst="rect">
            <a:avLst/>
          </a:prstGeom>
          <a:noFill/>
        </p:spPr>
        <p:txBody>
          <a:bodyPr wrap="square" lIns="0" rIns="0" tIns="0" bIns="0" anchor="t">
            <a:spAutoFit/>
          </a:bodyPr>
          <a:lstStyle/>
          <a:p>
            <a:pPr algn="ctr"/>
            <a:r>
              <a:rPr sz="3600" b="1" i="0">
                <a:solidFill>
                  <a:srgbClr val="003D7A"/>
                </a:solidFill>
                <a:latin typeface="Calibri"/>
              </a:rPr>
              <a:t>{{M3_PRICE}}</a:t>
            </a:r>
          </a:p>
        </p:txBody>
      </p:sp>
      <p:sp>
        <p:nvSpPr>
          <p:cNvPr id="29" name="TextBox 28"/>
          <p:cNvSpPr txBox="1"/>
          <p:nvPr/>
        </p:nvSpPr>
        <p:spPr>
          <a:xfrm>
            <a:off x="6286500" y="2834640"/>
            <a:ext cx="2434590" cy="274320"/>
          </a:xfrm>
          <a:prstGeom prst="rect">
            <a:avLst/>
          </a:prstGeom>
          <a:noFill/>
        </p:spPr>
        <p:txBody>
          <a:bodyPr wrap="square" lIns="0" rIns="0" tIns="0" bIns="0" anchor="t">
            <a:spAutoFit/>
          </a:bodyPr>
          <a:lstStyle/>
          <a:p>
            <a:pPr algn="ctr"/>
            <a:r>
              <a:rPr sz="1000" b="0" i="0">
                <a:solidFill>
                  <a:srgbClr val="4A5568"/>
                </a:solidFill>
                <a:latin typeface="Calibri"/>
              </a:rPr>
              <a:t>đồng</a:t>
            </a:r>
          </a:p>
        </p:txBody>
      </p:sp>
      <p:sp>
        <p:nvSpPr>
          <p:cNvPr id="30" name="TextBox 29"/>
          <p:cNvSpPr txBox="1"/>
          <p:nvPr/>
        </p:nvSpPr>
        <p:spPr>
          <a:xfrm>
            <a:off x="6286500" y="3200400"/>
            <a:ext cx="2434590" cy="548640"/>
          </a:xfrm>
          <a:prstGeom prst="rect">
            <a:avLst/>
          </a:prstGeom>
          <a:noFill/>
        </p:spPr>
        <p:txBody>
          <a:bodyPr wrap="square" lIns="0" rIns="0" tIns="0" bIns="0" anchor="t">
            <a:spAutoFit/>
          </a:bodyPr>
          <a:lstStyle/>
          <a:p>
            <a:pPr algn="ctr"/>
            <a:r>
              <a:rPr sz="2800" b="1" i="0">
                <a:solidFill>
                  <a:srgbClr val="059669"/>
                </a:solidFill>
                <a:latin typeface="Calibri"/>
              </a:rPr>
              <a:t>{{M3_PROFIT_PCT}}</a:t>
            </a:r>
          </a:p>
        </p:txBody>
      </p:sp>
      <p:sp>
        <p:nvSpPr>
          <p:cNvPr id="31" name="Rectangle 30"/>
          <p:cNvSpPr/>
          <p:nvPr/>
        </p:nvSpPr>
        <p:spPr>
          <a:xfrm>
            <a:off x="6423660" y="3840480"/>
            <a:ext cx="2160270" cy="10972"/>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86500" y="3931920"/>
            <a:ext cx="2434590" cy="228600"/>
          </a:xfrm>
          <a:prstGeom prst="rect">
            <a:avLst/>
          </a:prstGeom>
          <a:noFill/>
        </p:spPr>
        <p:txBody>
          <a:bodyPr wrap="square" lIns="0" rIns="0" tIns="0" bIns="0" anchor="t">
            <a:spAutoFit/>
          </a:bodyPr>
          <a:lstStyle/>
          <a:p>
            <a:pPr algn="ctr"/>
            <a:r>
              <a:rPr sz="900" b="0" i="0">
                <a:solidFill>
                  <a:srgbClr val="4A5568"/>
                </a:solidFill>
                <a:latin typeface="Calibri"/>
              </a:rPr>
              <a:t>Tỷ lệ chốt</a:t>
            </a:r>
          </a:p>
        </p:txBody>
      </p:sp>
      <p:sp>
        <p:nvSpPr>
          <p:cNvPr id="33" name="TextBox 32"/>
          <p:cNvSpPr txBox="1"/>
          <p:nvPr/>
        </p:nvSpPr>
        <p:spPr>
          <a:xfrm>
            <a:off x="6286500" y="4160520"/>
            <a:ext cx="2434590" cy="365760"/>
          </a:xfrm>
          <a:prstGeom prst="rect">
            <a:avLst/>
          </a:prstGeom>
          <a:noFill/>
        </p:spPr>
        <p:txBody>
          <a:bodyPr wrap="square" lIns="0" rIns="0" tIns="0" bIns="0" anchor="t">
            <a:spAutoFit/>
          </a:bodyPr>
          <a:lstStyle/>
          <a:p>
            <a:pPr algn="ctr"/>
            <a:r>
              <a:rPr sz="1500" b="1" i="0">
                <a:solidFill>
                  <a:srgbClr val="003D7A"/>
                </a:solidFill>
                <a:latin typeface="Calibri"/>
              </a:rPr>
              <a:t>{{M3_RATIO}}</a:t>
            </a:r>
          </a:p>
        </p:txBody>
      </p:sp>
      <p:sp>
        <p:nvSpPr>
          <p:cNvPr id="34" name="TextBox 33"/>
          <p:cNvSpPr txBox="1"/>
          <p:nvPr/>
        </p:nvSpPr>
        <p:spPr>
          <a:xfrm>
            <a:off x="6286500" y="4572000"/>
            <a:ext cx="2434590" cy="457200"/>
          </a:xfrm>
          <a:prstGeom prst="rect">
            <a:avLst/>
          </a:prstGeom>
          <a:noFill/>
        </p:spPr>
        <p:txBody>
          <a:bodyPr wrap="square" lIns="0" rIns="0" tIns="0" bIns="0" anchor="t">
            <a:spAutoFit/>
          </a:bodyPr>
          <a:lstStyle/>
          <a:p>
            <a:pPr algn="ctr"/>
            <a:r>
              <a:rPr sz="1050" b="0" i="1">
                <a:solidFill>
                  <a:srgbClr val="1F2937"/>
                </a:solidFill>
                <a:latin typeface="Calibri"/>
              </a:rPr>
              <a:t>{{M3_BASIS}}</a:t>
            </a:r>
          </a:p>
        </p:txBody>
      </p:sp>
      <p:sp>
        <p:nvSpPr>
          <p:cNvPr id="35" name="Rectangle 34"/>
          <p:cNvSpPr/>
          <p:nvPr/>
        </p:nvSpPr>
        <p:spPr>
          <a:xfrm>
            <a:off x="8995410" y="1371600"/>
            <a:ext cx="2708910" cy="3749039"/>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995410" y="1371600"/>
            <a:ext cx="2708910" cy="45720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995410" y="1371600"/>
            <a:ext cx="2708910" cy="457200"/>
          </a:xfrm>
          <a:prstGeom prst="rect">
            <a:avLst/>
          </a:prstGeom>
          <a:noFill/>
        </p:spPr>
        <p:txBody>
          <a:bodyPr wrap="square" lIns="0" rIns="0" tIns="0" bIns="0" anchor="ctr">
            <a:spAutoFit/>
          </a:bodyPr>
          <a:lstStyle/>
          <a:p>
            <a:pPr algn="ctr"/>
            <a:r>
              <a:rPr sz="1500" b="1" i="0">
                <a:solidFill>
                  <a:srgbClr val="FFFFFF"/>
                </a:solidFill>
                <a:latin typeface="Calibri"/>
              </a:rPr>
              <a:t>MỐC {{M4_NUM}}</a:t>
            </a:r>
          </a:p>
        </p:txBody>
      </p:sp>
      <p:sp>
        <p:nvSpPr>
          <p:cNvPr id="38" name="TextBox 37"/>
          <p:cNvSpPr txBox="1"/>
          <p:nvPr/>
        </p:nvSpPr>
        <p:spPr>
          <a:xfrm>
            <a:off x="9132570" y="2011680"/>
            <a:ext cx="2434590" cy="822960"/>
          </a:xfrm>
          <a:prstGeom prst="rect">
            <a:avLst/>
          </a:prstGeom>
          <a:noFill/>
        </p:spPr>
        <p:txBody>
          <a:bodyPr wrap="square" lIns="0" rIns="0" tIns="0" bIns="0" anchor="t">
            <a:spAutoFit/>
          </a:bodyPr>
          <a:lstStyle/>
          <a:p>
            <a:pPr algn="ctr"/>
            <a:r>
              <a:rPr sz="3600" b="1" i="0">
                <a:solidFill>
                  <a:srgbClr val="003D7A"/>
                </a:solidFill>
                <a:latin typeface="Calibri"/>
              </a:rPr>
              <a:t>{{M4_PRICE}}</a:t>
            </a:r>
          </a:p>
        </p:txBody>
      </p:sp>
      <p:sp>
        <p:nvSpPr>
          <p:cNvPr id="39" name="TextBox 38"/>
          <p:cNvSpPr txBox="1"/>
          <p:nvPr/>
        </p:nvSpPr>
        <p:spPr>
          <a:xfrm>
            <a:off x="9132570" y="2834640"/>
            <a:ext cx="2434590" cy="274320"/>
          </a:xfrm>
          <a:prstGeom prst="rect">
            <a:avLst/>
          </a:prstGeom>
          <a:noFill/>
        </p:spPr>
        <p:txBody>
          <a:bodyPr wrap="square" lIns="0" rIns="0" tIns="0" bIns="0" anchor="t">
            <a:spAutoFit/>
          </a:bodyPr>
          <a:lstStyle/>
          <a:p>
            <a:pPr algn="ctr"/>
            <a:r>
              <a:rPr sz="1000" b="0" i="0">
                <a:solidFill>
                  <a:srgbClr val="4A5568"/>
                </a:solidFill>
                <a:latin typeface="Calibri"/>
              </a:rPr>
              <a:t>đồng</a:t>
            </a:r>
          </a:p>
        </p:txBody>
      </p:sp>
      <p:sp>
        <p:nvSpPr>
          <p:cNvPr id="40" name="TextBox 39"/>
          <p:cNvSpPr txBox="1"/>
          <p:nvPr/>
        </p:nvSpPr>
        <p:spPr>
          <a:xfrm>
            <a:off x="9132570" y="3200400"/>
            <a:ext cx="2434590" cy="548640"/>
          </a:xfrm>
          <a:prstGeom prst="rect">
            <a:avLst/>
          </a:prstGeom>
          <a:noFill/>
        </p:spPr>
        <p:txBody>
          <a:bodyPr wrap="square" lIns="0" rIns="0" tIns="0" bIns="0" anchor="t">
            <a:spAutoFit/>
          </a:bodyPr>
          <a:lstStyle/>
          <a:p>
            <a:pPr algn="ctr"/>
            <a:r>
              <a:rPr sz="2800" b="1" i="0">
                <a:solidFill>
                  <a:srgbClr val="059669"/>
                </a:solidFill>
                <a:latin typeface="Calibri"/>
              </a:rPr>
              <a:t>{{M4_PROFIT_PCT}}</a:t>
            </a:r>
          </a:p>
        </p:txBody>
      </p:sp>
      <p:sp>
        <p:nvSpPr>
          <p:cNvPr id="41" name="Rectangle 40"/>
          <p:cNvSpPr/>
          <p:nvPr/>
        </p:nvSpPr>
        <p:spPr>
          <a:xfrm>
            <a:off x="9269730" y="3840480"/>
            <a:ext cx="2160270" cy="10972"/>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32570" y="3931920"/>
            <a:ext cx="2434590" cy="228600"/>
          </a:xfrm>
          <a:prstGeom prst="rect">
            <a:avLst/>
          </a:prstGeom>
          <a:noFill/>
        </p:spPr>
        <p:txBody>
          <a:bodyPr wrap="square" lIns="0" rIns="0" tIns="0" bIns="0" anchor="t">
            <a:spAutoFit/>
          </a:bodyPr>
          <a:lstStyle/>
          <a:p>
            <a:pPr algn="ctr"/>
            <a:r>
              <a:rPr sz="900" b="0" i="0">
                <a:solidFill>
                  <a:srgbClr val="4A5568"/>
                </a:solidFill>
                <a:latin typeface="Calibri"/>
              </a:rPr>
              <a:t>Tỷ lệ chốt</a:t>
            </a:r>
          </a:p>
        </p:txBody>
      </p:sp>
      <p:sp>
        <p:nvSpPr>
          <p:cNvPr id="43" name="TextBox 42"/>
          <p:cNvSpPr txBox="1"/>
          <p:nvPr/>
        </p:nvSpPr>
        <p:spPr>
          <a:xfrm>
            <a:off x="9132570" y="4160520"/>
            <a:ext cx="2434590" cy="365760"/>
          </a:xfrm>
          <a:prstGeom prst="rect">
            <a:avLst/>
          </a:prstGeom>
          <a:noFill/>
        </p:spPr>
        <p:txBody>
          <a:bodyPr wrap="square" lIns="0" rIns="0" tIns="0" bIns="0" anchor="t">
            <a:spAutoFit/>
          </a:bodyPr>
          <a:lstStyle/>
          <a:p>
            <a:pPr algn="ctr"/>
            <a:r>
              <a:rPr sz="1500" b="1" i="0">
                <a:solidFill>
                  <a:srgbClr val="003D7A"/>
                </a:solidFill>
                <a:latin typeface="Calibri"/>
              </a:rPr>
              <a:t>{{M4_RATIO}}</a:t>
            </a:r>
          </a:p>
        </p:txBody>
      </p:sp>
      <p:sp>
        <p:nvSpPr>
          <p:cNvPr id="44" name="TextBox 43"/>
          <p:cNvSpPr txBox="1"/>
          <p:nvPr/>
        </p:nvSpPr>
        <p:spPr>
          <a:xfrm>
            <a:off x="9132570" y="4572000"/>
            <a:ext cx="2434590" cy="457200"/>
          </a:xfrm>
          <a:prstGeom prst="rect">
            <a:avLst/>
          </a:prstGeom>
          <a:noFill/>
        </p:spPr>
        <p:txBody>
          <a:bodyPr wrap="square" lIns="0" rIns="0" tIns="0" bIns="0" anchor="t">
            <a:spAutoFit/>
          </a:bodyPr>
          <a:lstStyle/>
          <a:p>
            <a:pPr algn="ctr"/>
            <a:r>
              <a:rPr sz="1050" b="0" i="1">
                <a:solidFill>
                  <a:srgbClr val="1F2937"/>
                </a:solidFill>
                <a:latin typeface="Calibri"/>
              </a:rPr>
              <a:t>{{M4_BASIS}}</a:t>
            </a:r>
          </a:p>
        </p:txBody>
      </p:sp>
      <p:sp>
        <p:nvSpPr>
          <p:cNvPr id="45" name="Rectangle 44"/>
          <p:cNvSpPr/>
          <p:nvPr/>
        </p:nvSpPr>
        <p:spPr>
          <a:xfrm>
            <a:off x="457200" y="5303520"/>
            <a:ext cx="11247120" cy="73152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080" y="5394959"/>
            <a:ext cx="10881360" cy="274320"/>
          </a:xfrm>
          <a:prstGeom prst="rect">
            <a:avLst/>
          </a:prstGeom>
          <a:noFill/>
        </p:spPr>
        <p:txBody>
          <a:bodyPr wrap="square" lIns="0" rIns="0" tIns="0" bIns="0" anchor="t">
            <a:spAutoFit/>
          </a:bodyPr>
          <a:lstStyle/>
          <a:p>
            <a:pPr algn="l"/>
            <a:r>
              <a:rPr sz="900" b="1" i="0">
                <a:solidFill>
                  <a:srgbClr val="D71249"/>
                </a:solidFill>
                <a:latin typeface="Calibri"/>
              </a:rPr>
              <a:t>TÓM TẮT LỢI NHUẬN / RỦI RO</a:t>
            </a:r>
          </a:p>
        </p:txBody>
      </p:sp>
      <p:sp>
        <p:nvSpPr>
          <p:cNvPr id="47" name="TextBox 46"/>
          <p:cNvSpPr txBox="1"/>
          <p:nvPr/>
        </p:nvSpPr>
        <p:spPr>
          <a:xfrm>
            <a:off x="640080" y="5669280"/>
            <a:ext cx="2537460" cy="182880"/>
          </a:xfrm>
          <a:prstGeom prst="rect">
            <a:avLst/>
          </a:prstGeom>
          <a:noFill/>
        </p:spPr>
        <p:txBody>
          <a:bodyPr wrap="square" lIns="0" rIns="0" tIns="0" bIns="0" anchor="t">
            <a:spAutoFit/>
          </a:bodyPr>
          <a:lstStyle/>
          <a:p>
            <a:pPr algn="l"/>
            <a:r>
              <a:rPr sz="900" b="0" i="0">
                <a:solidFill>
                  <a:srgbClr val="FFFFFF"/>
                </a:solidFill>
                <a:latin typeface="Calibri"/>
              </a:rPr>
              <a:t>Lợi nhuận TB 3 mốc đầu</a:t>
            </a:r>
          </a:p>
        </p:txBody>
      </p:sp>
      <p:sp>
        <p:nvSpPr>
          <p:cNvPr id="48" name="TextBox 47"/>
          <p:cNvSpPr txBox="1"/>
          <p:nvPr/>
        </p:nvSpPr>
        <p:spPr>
          <a:xfrm>
            <a:off x="640080" y="5806440"/>
            <a:ext cx="2537460" cy="228600"/>
          </a:xfrm>
          <a:prstGeom prst="rect">
            <a:avLst/>
          </a:prstGeom>
          <a:noFill/>
        </p:spPr>
        <p:txBody>
          <a:bodyPr wrap="square" lIns="0" rIns="0" tIns="0" bIns="0" anchor="t">
            <a:spAutoFit/>
          </a:bodyPr>
          <a:lstStyle/>
          <a:p>
            <a:pPr algn="l"/>
            <a:r>
              <a:rPr sz="1300" b="1" i="0">
                <a:solidFill>
                  <a:srgbClr val="FFFFFF"/>
                </a:solidFill>
                <a:latin typeface="Calibri"/>
              </a:rPr>
              <a:t>{{AVG_PROFIT}}</a:t>
            </a:r>
          </a:p>
        </p:txBody>
      </p:sp>
      <p:sp>
        <p:nvSpPr>
          <p:cNvPr id="49" name="TextBox 48"/>
          <p:cNvSpPr txBox="1"/>
          <p:nvPr/>
        </p:nvSpPr>
        <p:spPr>
          <a:xfrm>
            <a:off x="3360420" y="5669280"/>
            <a:ext cx="2537460" cy="182880"/>
          </a:xfrm>
          <a:prstGeom prst="rect">
            <a:avLst/>
          </a:prstGeom>
          <a:noFill/>
        </p:spPr>
        <p:txBody>
          <a:bodyPr wrap="square" lIns="0" rIns="0" tIns="0" bIns="0" anchor="t">
            <a:spAutoFit/>
          </a:bodyPr>
          <a:lstStyle/>
          <a:p>
            <a:pPr algn="l"/>
            <a:r>
              <a:rPr sz="900" b="0" i="0">
                <a:solidFill>
                  <a:srgbClr val="FFFFFF"/>
                </a:solidFill>
                <a:latin typeface="Calibri"/>
              </a:rPr>
              <a:t>Rủi ro tới điểm cắt lỗ</a:t>
            </a:r>
          </a:p>
        </p:txBody>
      </p:sp>
      <p:sp>
        <p:nvSpPr>
          <p:cNvPr id="50" name="TextBox 49"/>
          <p:cNvSpPr txBox="1"/>
          <p:nvPr/>
        </p:nvSpPr>
        <p:spPr>
          <a:xfrm>
            <a:off x="3360420" y="5806440"/>
            <a:ext cx="2537460" cy="228600"/>
          </a:xfrm>
          <a:prstGeom prst="rect">
            <a:avLst/>
          </a:prstGeom>
          <a:noFill/>
        </p:spPr>
        <p:txBody>
          <a:bodyPr wrap="square" lIns="0" rIns="0" tIns="0" bIns="0" anchor="t">
            <a:spAutoFit/>
          </a:bodyPr>
          <a:lstStyle/>
          <a:p>
            <a:pPr algn="l"/>
            <a:r>
              <a:rPr sz="1300" b="1" i="0">
                <a:solidFill>
                  <a:srgbClr val="FFFFFF"/>
                </a:solidFill>
                <a:latin typeface="Calibri"/>
              </a:rPr>
              <a:t>{{MAX_RISK}}</a:t>
            </a:r>
          </a:p>
        </p:txBody>
      </p:sp>
      <p:sp>
        <p:nvSpPr>
          <p:cNvPr id="51" name="TextBox 50"/>
          <p:cNvSpPr txBox="1"/>
          <p:nvPr/>
        </p:nvSpPr>
        <p:spPr>
          <a:xfrm>
            <a:off x="6080760" y="5669280"/>
            <a:ext cx="2537460" cy="182880"/>
          </a:xfrm>
          <a:prstGeom prst="rect">
            <a:avLst/>
          </a:prstGeom>
          <a:noFill/>
        </p:spPr>
        <p:txBody>
          <a:bodyPr wrap="square" lIns="0" rIns="0" tIns="0" bIns="0" anchor="t">
            <a:spAutoFit/>
          </a:bodyPr>
          <a:lstStyle/>
          <a:p>
            <a:pPr algn="l"/>
            <a:r>
              <a:rPr sz="900" b="0" i="0">
                <a:solidFill>
                  <a:srgbClr val="FFFFFF"/>
                </a:solidFill>
                <a:latin typeface="Calibri"/>
              </a:rPr>
              <a:t>Tỷ lệ R/R</a:t>
            </a:r>
          </a:p>
        </p:txBody>
      </p:sp>
      <p:sp>
        <p:nvSpPr>
          <p:cNvPr id="52" name="TextBox 51"/>
          <p:cNvSpPr txBox="1"/>
          <p:nvPr/>
        </p:nvSpPr>
        <p:spPr>
          <a:xfrm>
            <a:off x="6080760" y="5806440"/>
            <a:ext cx="2537460" cy="228600"/>
          </a:xfrm>
          <a:prstGeom prst="rect">
            <a:avLst/>
          </a:prstGeom>
          <a:noFill/>
        </p:spPr>
        <p:txBody>
          <a:bodyPr wrap="square" lIns="0" rIns="0" tIns="0" bIns="0" anchor="t">
            <a:spAutoFit/>
          </a:bodyPr>
          <a:lstStyle/>
          <a:p>
            <a:pPr algn="l"/>
            <a:r>
              <a:rPr sz="1300" b="1" i="0">
                <a:solidFill>
                  <a:srgbClr val="FFFFFF"/>
                </a:solidFill>
                <a:latin typeface="Calibri"/>
              </a:rPr>
              <a:t>{{RR_RATIO}}</a:t>
            </a:r>
          </a:p>
        </p:txBody>
      </p:sp>
      <p:sp>
        <p:nvSpPr>
          <p:cNvPr id="53" name="TextBox 52"/>
          <p:cNvSpPr txBox="1"/>
          <p:nvPr/>
        </p:nvSpPr>
        <p:spPr>
          <a:xfrm>
            <a:off x="8801100" y="5669280"/>
            <a:ext cx="2537460" cy="182880"/>
          </a:xfrm>
          <a:prstGeom prst="rect">
            <a:avLst/>
          </a:prstGeom>
          <a:noFill/>
        </p:spPr>
        <p:txBody>
          <a:bodyPr wrap="square" lIns="0" rIns="0" tIns="0" bIns="0" anchor="t">
            <a:spAutoFit/>
          </a:bodyPr>
          <a:lstStyle/>
          <a:p>
            <a:pPr algn="l"/>
            <a:r>
              <a:rPr sz="900" b="0" i="0">
                <a:solidFill>
                  <a:srgbClr val="FFFFFF"/>
                </a:solidFill>
                <a:latin typeface="Calibri"/>
              </a:rPr>
              <a:t>Mục tiêu cao nhất</a:t>
            </a:r>
          </a:p>
        </p:txBody>
      </p:sp>
      <p:sp>
        <p:nvSpPr>
          <p:cNvPr id="54" name="TextBox 53"/>
          <p:cNvSpPr txBox="1"/>
          <p:nvPr/>
        </p:nvSpPr>
        <p:spPr>
          <a:xfrm>
            <a:off x="8801100" y="5806440"/>
            <a:ext cx="2537460" cy="228600"/>
          </a:xfrm>
          <a:prstGeom prst="rect">
            <a:avLst/>
          </a:prstGeom>
          <a:noFill/>
        </p:spPr>
        <p:txBody>
          <a:bodyPr wrap="square" lIns="0" rIns="0" tIns="0" bIns="0" anchor="t">
            <a:spAutoFit/>
          </a:bodyPr>
          <a:lstStyle/>
          <a:p>
            <a:pPr algn="l"/>
            <a:r>
              <a:rPr sz="1300" b="1" i="0">
                <a:solidFill>
                  <a:srgbClr val="FFFFFF"/>
                </a:solidFill>
                <a:latin typeface="Calibri"/>
              </a:rPr>
              <a:t>{{MAX_TARGET}}</a:t>
            </a:r>
          </a:p>
        </p:txBody>
      </p:sp>
      <p:sp>
        <p:nvSpPr>
          <p:cNvPr id="55" name="TextBox 54"/>
          <p:cNvSpPr txBox="1"/>
          <p:nvPr/>
        </p:nvSpPr>
        <p:spPr>
          <a:xfrm>
            <a:off x="457200" y="6537960"/>
            <a:ext cx="9144000" cy="274320"/>
          </a:xfrm>
          <a:prstGeom prst="rect">
            <a:avLst/>
          </a:prstGeom>
          <a:noFill/>
        </p:spPr>
        <p:txBody>
          <a:bodyPr wrap="square" lIns="0" rIns="0" tIns="0" bIns="0" anchor="t">
            <a:spAutoFit/>
          </a:bodyPr>
          <a:lstStyle/>
          <a:p>
            <a:pPr algn="l"/>
            <a:r>
              <a:rPr sz="900" b="0" i="0">
                <a:solidFill>
                  <a:srgbClr val="9CA3AF"/>
                </a:solidFill>
                <a:latin typeface="Calibri"/>
              </a:rPr>
              <a:t>{{FOOTER_LEFT}}</a:t>
            </a:r>
          </a:p>
        </p:txBody>
      </p:sp>
      <p:sp>
        <p:nvSpPr>
          <p:cNvPr id="56" name="TextBox 55"/>
          <p:cNvSpPr txBox="1"/>
          <p:nvPr/>
        </p:nvSpPr>
        <p:spPr>
          <a:xfrm>
            <a:off x="11247120" y="6537960"/>
            <a:ext cx="457200" cy="274320"/>
          </a:xfrm>
          <a:prstGeom prst="rect">
            <a:avLst/>
          </a:prstGeom>
          <a:noFill/>
        </p:spPr>
        <p:txBody>
          <a:bodyPr wrap="square" lIns="0" rIns="0" tIns="0" bIns="0" anchor="t">
            <a:spAutoFit/>
          </a:bodyPr>
          <a:lstStyle/>
          <a:p>
            <a:pPr algn="r"/>
            <a:r>
              <a:rPr sz="900" b="1" i="0">
                <a:solidFill>
                  <a:srgbClr val="003D7A"/>
                </a:solidFill>
                <a:latin typeface="Calibri"/>
              </a:rPr>
              <a:t>{{PAGE_NUM}}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name="THESIS_B_PANEL_RIGHT">
    <p:spTree>
      <p:nvGrpSpPr>
        <p:cNvPr id="1" name=""/>
        <p:cNvGrpSpPr/>
        <p:nvPr/>
      </p:nvGrpSpPr>
      <p:grpSpPr/>
      <p:sp>
        <p:nvSpPr>
          <p:cNvPr id="2" name="Rectangle 1"/>
          <p:cNvSpPr/>
          <p:nvPr/>
        </p:nvSpPr>
        <p:spPr>
          <a:xfrm>
            <a:off x="457200" y="411480"/>
            <a:ext cx="73152" cy="64008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1064240" cy="502920"/>
          </a:xfrm>
          <a:prstGeom prst="rect">
            <a:avLst/>
          </a:prstGeom>
          <a:noFill/>
        </p:spPr>
        <p:txBody>
          <a:bodyPr wrap="square" lIns="0" rIns="0" tIns="0" bIns="0" anchor="ctr">
            <a:spAutoFit/>
          </a:bodyPr>
          <a:lstStyle/>
          <a:p>
            <a:pPr algn="l"/>
            <a:r>
              <a:rPr sz="2600" b="1" i="0">
                <a:solidFill>
                  <a:srgbClr val="003D7A"/>
                </a:solidFill>
                <a:latin typeface="Calibri"/>
              </a:rPr>
              <a:t>{{LUANDIEM_TITLE}}</a:t>
            </a:r>
          </a:p>
        </p:txBody>
      </p:sp>
      <p:sp>
        <p:nvSpPr>
          <p:cNvPr id="4" name="TextBox 3"/>
          <p:cNvSpPr txBox="1"/>
          <p:nvPr/>
        </p:nvSpPr>
        <p:spPr>
          <a:xfrm>
            <a:off x="640080" y="868680"/>
            <a:ext cx="11064240" cy="274320"/>
          </a:xfrm>
          <a:prstGeom prst="rect">
            <a:avLst/>
          </a:prstGeom>
          <a:noFill/>
        </p:spPr>
        <p:txBody>
          <a:bodyPr wrap="square" lIns="0" rIns="0" tIns="0" bIns="0" anchor="t">
            <a:spAutoFit/>
          </a:bodyPr>
          <a:lstStyle/>
          <a:p>
            <a:pPr algn="l"/>
            <a:r>
              <a:rPr sz="1200" b="0" i="1">
                <a:solidFill>
                  <a:srgbClr val="4A5568"/>
                </a:solidFill>
                <a:latin typeface="Calibri"/>
              </a:rPr>
              <a:t>{{LUANDIEM_SUB}}</a:t>
            </a:r>
          </a:p>
        </p:txBody>
      </p:sp>
      <p:sp>
        <p:nvSpPr>
          <p:cNvPr id="5" name="Rectangle 4"/>
          <p:cNvSpPr/>
          <p:nvPr/>
        </p:nvSpPr>
        <p:spPr>
          <a:xfrm>
            <a:off x="457200" y="1371600"/>
            <a:ext cx="3749040" cy="2286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71600"/>
            <a:ext cx="73152" cy="228600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54480"/>
            <a:ext cx="594360" cy="59436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Calibri"/>
              </a:rPr>
              <a:t>01</a:t>
            </a:r>
          </a:p>
        </p:txBody>
      </p:sp>
      <p:sp>
        <p:nvSpPr>
          <p:cNvPr id="8" name="TextBox 7"/>
          <p:cNvSpPr txBox="1"/>
          <p:nvPr/>
        </p:nvSpPr>
        <p:spPr>
          <a:xfrm>
            <a:off x="1371600" y="1554480"/>
            <a:ext cx="2697480" cy="365760"/>
          </a:xfrm>
          <a:prstGeom prst="rect">
            <a:avLst/>
          </a:prstGeom>
          <a:noFill/>
        </p:spPr>
        <p:txBody>
          <a:bodyPr wrap="square" lIns="0" rIns="0" tIns="0" bIns="0" anchor="t">
            <a:spAutoFit/>
          </a:bodyPr>
          <a:lstStyle/>
          <a:p>
            <a:pPr algn="l"/>
            <a:r>
              <a:rPr sz="1300" b="1" i="0">
                <a:solidFill>
                  <a:srgbClr val="003D7A"/>
                </a:solidFill>
                <a:latin typeface="Calibri"/>
              </a:rPr>
              <a:t>{{SUBPOINT_1_TITLE}}</a:t>
            </a:r>
          </a:p>
        </p:txBody>
      </p:sp>
      <p:sp>
        <p:nvSpPr>
          <p:cNvPr id="9" name="TextBox 8"/>
          <p:cNvSpPr txBox="1"/>
          <p:nvPr/>
        </p:nvSpPr>
        <p:spPr>
          <a:xfrm>
            <a:off x="1371600" y="1965960"/>
            <a:ext cx="2697480" cy="1508760"/>
          </a:xfrm>
          <a:prstGeom prst="rect">
            <a:avLst/>
          </a:prstGeom>
          <a:noFill/>
        </p:spPr>
        <p:txBody>
          <a:bodyPr wrap="square" lIns="0" rIns="0" tIns="0" bIns="0" anchor="t">
            <a:spAutoFit/>
          </a:bodyPr>
          <a:lstStyle/>
          <a:p>
            <a:pPr algn="l"/>
            <a:r>
              <a:rPr sz="1050" b="0" i="0">
                <a:solidFill>
                  <a:srgbClr val="1F2937"/>
                </a:solidFill>
                <a:latin typeface="Calibri"/>
              </a:rPr>
              <a:t>{{SUBPOINT_1_BODY}}</a:t>
            </a:r>
          </a:p>
        </p:txBody>
      </p:sp>
      <p:sp>
        <p:nvSpPr>
          <p:cNvPr id="10" name="Rectangle 9"/>
          <p:cNvSpPr/>
          <p:nvPr/>
        </p:nvSpPr>
        <p:spPr>
          <a:xfrm>
            <a:off x="4297680" y="1371600"/>
            <a:ext cx="3749040" cy="2286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97680" y="1371600"/>
            <a:ext cx="73152" cy="228600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80560" y="1554480"/>
            <a:ext cx="594360" cy="59436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Calibri"/>
              </a:rPr>
              <a:t>02</a:t>
            </a:r>
          </a:p>
        </p:txBody>
      </p:sp>
      <p:sp>
        <p:nvSpPr>
          <p:cNvPr id="13" name="TextBox 12"/>
          <p:cNvSpPr txBox="1"/>
          <p:nvPr/>
        </p:nvSpPr>
        <p:spPr>
          <a:xfrm>
            <a:off x="5212080" y="1554480"/>
            <a:ext cx="2697479" cy="365760"/>
          </a:xfrm>
          <a:prstGeom prst="rect">
            <a:avLst/>
          </a:prstGeom>
          <a:noFill/>
        </p:spPr>
        <p:txBody>
          <a:bodyPr wrap="square" lIns="0" rIns="0" tIns="0" bIns="0" anchor="t">
            <a:spAutoFit/>
          </a:bodyPr>
          <a:lstStyle/>
          <a:p>
            <a:pPr algn="l"/>
            <a:r>
              <a:rPr sz="1300" b="1" i="0">
                <a:solidFill>
                  <a:srgbClr val="003D7A"/>
                </a:solidFill>
                <a:latin typeface="Calibri"/>
              </a:rPr>
              <a:t>{{SUBPOINT_2_TITLE}}</a:t>
            </a:r>
          </a:p>
        </p:txBody>
      </p:sp>
      <p:sp>
        <p:nvSpPr>
          <p:cNvPr id="14" name="TextBox 13"/>
          <p:cNvSpPr txBox="1"/>
          <p:nvPr/>
        </p:nvSpPr>
        <p:spPr>
          <a:xfrm>
            <a:off x="5212080" y="1965960"/>
            <a:ext cx="2697479" cy="1508760"/>
          </a:xfrm>
          <a:prstGeom prst="rect">
            <a:avLst/>
          </a:prstGeom>
          <a:noFill/>
        </p:spPr>
        <p:txBody>
          <a:bodyPr wrap="square" lIns="0" rIns="0" tIns="0" bIns="0" anchor="t">
            <a:spAutoFit/>
          </a:bodyPr>
          <a:lstStyle/>
          <a:p>
            <a:pPr algn="l"/>
            <a:r>
              <a:rPr sz="1050" b="0" i="0">
                <a:solidFill>
                  <a:srgbClr val="1F2937"/>
                </a:solidFill>
                <a:latin typeface="Calibri"/>
              </a:rPr>
              <a:t>{{SUBPOINT_2_BODY}}</a:t>
            </a:r>
          </a:p>
        </p:txBody>
      </p:sp>
      <p:sp>
        <p:nvSpPr>
          <p:cNvPr id="15" name="Rectangle 14"/>
          <p:cNvSpPr/>
          <p:nvPr/>
        </p:nvSpPr>
        <p:spPr>
          <a:xfrm>
            <a:off x="457200" y="3794760"/>
            <a:ext cx="3749040" cy="2286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794760"/>
            <a:ext cx="73152" cy="228600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3977640"/>
            <a:ext cx="594360" cy="59436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Calibri"/>
              </a:rPr>
              <a:t>03</a:t>
            </a:r>
          </a:p>
        </p:txBody>
      </p:sp>
      <p:sp>
        <p:nvSpPr>
          <p:cNvPr id="18" name="TextBox 17"/>
          <p:cNvSpPr txBox="1"/>
          <p:nvPr/>
        </p:nvSpPr>
        <p:spPr>
          <a:xfrm>
            <a:off x="1371600" y="3977640"/>
            <a:ext cx="2697480" cy="365760"/>
          </a:xfrm>
          <a:prstGeom prst="rect">
            <a:avLst/>
          </a:prstGeom>
          <a:noFill/>
        </p:spPr>
        <p:txBody>
          <a:bodyPr wrap="square" lIns="0" rIns="0" tIns="0" bIns="0" anchor="t">
            <a:spAutoFit/>
          </a:bodyPr>
          <a:lstStyle/>
          <a:p>
            <a:pPr algn="l"/>
            <a:r>
              <a:rPr sz="1300" b="1" i="0">
                <a:solidFill>
                  <a:srgbClr val="003D7A"/>
                </a:solidFill>
                <a:latin typeface="Calibri"/>
              </a:rPr>
              <a:t>{{SUBPOINT_3_TITLE}}</a:t>
            </a:r>
          </a:p>
        </p:txBody>
      </p:sp>
      <p:sp>
        <p:nvSpPr>
          <p:cNvPr id="19" name="TextBox 18"/>
          <p:cNvSpPr txBox="1"/>
          <p:nvPr/>
        </p:nvSpPr>
        <p:spPr>
          <a:xfrm>
            <a:off x="1371600" y="4389120"/>
            <a:ext cx="2697480" cy="1508760"/>
          </a:xfrm>
          <a:prstGeom prst="rect">
            <a:avLst/>
          </a:prstGeom>
          <a:noFill/>
        </p:spPr>
        <p:txBody>
          <a:bodyPr wrap="square" lIns="0" rIns="0" tIns="0" bIns="0" anchor="t">
            <a:spAutoFit/>
          </a:bodyPr>
          <a:lstStyle/>
          <a:p>
            <a:pPr algn="l"/>
            <a:r>
              <a:rPr sz="1050" b="0" i="0">
                <a:solidFill>
                  <a:srgbClr val="1F2937"/>
                </a:solidFill>
                <a:latin typeface="Calibri"/>
              </a:rPr>
              <a:t>{{SUBPOINT_3_BODY}}</a:t>
            </a:r>
          </a:p>
        </p:txBody>
      </p:sp>
      <p:sp>
        <p:nvSpPr>
          <p:cNvPr id="20" name="Rectangle 19"/>
          <p:cNvSpPr/>
          <p:nvPr/>
        </p:nvSpPr>
        <p:spPr>
          <a:xfrm>
            <a:off x="4297680" y="3794760"/>
            <a:ext cx="3749040" cy="2286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97680" y="3794760"/>
            <a:ext cx="73152" cy="228600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80560" y="3977640"/>
            <a:ext cx="594360" cy="59436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Calibri"/>
              </a:rPr>
              <a:t>04</a:t>
            </a:r>
          </a:p>
        </p:txBody>
      </p:sp>
      <p:sp>
        <p:nvSpPr>
          <p:cNvPr id="23" name="TextBox 22"/>
          <p:cNvSpPr txBox="1"/>
          <p:nvPr/>
        </p:nvSpPr>
        <p:spPr>
          <a:xfrm>
            <a:off x="5212080" y="3977640"/>
            <a:ext cx="2697479" cy="365760"/>
          </a:xfrm>
          <a:prstGeom prst="rect">
            <a:avLst/>
          </a:prstGeom>
          <a:noFill/>
        </p:spPr>
        <p:txBody>
          <a:bodyPr wrap="square" lIns="0" rIns="0" tIns="0" bIns="0" anchor="t">
            <a:spAutoFit/>
          </a:bodyPr>
          <a:lstStyle/>
          <a:p>
            <a:pPr algn="l"/>
            <a:r>
              <a:rPr sz="1300" b="1" i="0">
                <a:solidFill>
                  <a:srgbClr val="003D7A"/>
                </a:solidFill>
                <a:latin typeface="Calibri"/>
              </a:rPr>
              <a:t>{{SUBPOINT_4_TITLE}}</a:t>
            </a:r>
          </a:p>
        </p:txBody>
      </p:sp>
      <p:sp>
        <p:nvSpPr>
          <p:cNvPr id="24" name="TextBox 23"/>
          <p:cNvSpPr txBox="1"/>
          <p:nvPr/>
        </p:nvSpPr>
        <p:spPr>
          <a:xfrm>
            <a:off x="5212080" y="4389120"/>
            <a:ext cx="2697479" cy="1508760"/>
          </a:xfrm>
          <a:prstGeom prst="rect">
            <a:avLst/>
          </a:prstGeom>
          <a:noFill/>
        </p:spPr>
        <p:txBody>
          <a:bodyPr wrap="square" lIns="0" rIns="0" tIns="0" bIns="0" anchor="t">
            <a:spAutoFit/>
          </a:bodyPr>
          <a:lstStyle/>
          <a:p>
            <a:pPr algn="l"/>
            <a:r>
              <a:rPr sz="1050" b="0" i="0">
                <a:solidFill>
                  <a:srgbClr val="1F2937"/>
                </a:solidFill>
                <a:latin typeface="Calibri"/>
              </a:rPr>
              <a:t>{{SUBPOINT_4_BODY}}</a:t>
            </a:r>
          </a:p>
        </p:txBody>
      </p:sp>
      <p:sp>
        <p:nvSpPr>
          <p:cNvPr id="25" name="Rectangle 24"/>
          <p:cNvSpPr/>
          <p:nvPr/>
        </p:nvSpPr>
        <p:spPr>
          <a:xfrm>
            <a:off x="8229600" y="1371600"/>
            <a:ext cx="3474720" cy="470916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0" y="1645920"/>
            <a:ext cx="3108960" cy="457200"/>
          </a:xfrm>
          <a:prstGeom prst="rect">
            <a:avLst/>
          </a:prstGeom>
          <a:noFill/>
        </p:spPr>
        <p:txBody>
          <a:bodyPr wrap="square" lIns="0" rIns="0" tIns="0" bIns="0" anchor="t">
            <a:spAutoFit/>
          </a:bodyPr>
          <a:lstStyle/>
          <a:p>
            <a:pPr algn="l"/>
            <a:r>
              <a:rPr sz="1800" b="1" i="0">
                <a:solidFill>
                  <a:srgbClr val="FFFFFF"/>
                </a:solidFill>
                <a:latin typeface="Calibri"/>
              </a:rPr>
              <a:t>{{KPI_LABEL}}</a:t>
            </a:r>
          </a:p>
        </p:txBody>
      </p:sp>
      <p:sp>
        <p:nvSpPr>
          <p:cNvPr id="27" name="TextBox 26"/>
          <p:cNvSpPr txBox="1"/>
          <p:nvPr/>
        </p:nvSpPr>
        <p:spPr>
          <a:xfrm>
            <a:off x="8412480" y="2286000"/>
            <a:ext cx="3108960" cy="1645920"/>
          </a:xfrm>
          <a:prstGeom prst="rect">
            <a:avLst/>
          </a:prstGeom>
          <a:noFill/>
        </p:spPr>
        <p:txBody>
          <a:bodyPr wrap="square" lIns="0" rIns="0" tIns="0" bIns="0" anchor="ctr">
            <a:spAutoFit/>
          </a:bodyPr>
          <a:lstStyle/>
          <a:p>
            <a:pPr algn="ctr"/>
            <a:r>
              <a:rPr sz="5600" b="1" i="0">
                <a:solidFill>
                  <a:srgbClr val="FFFFFF"/>
                </a:solidFill>
                <a:latin typeface="Calibri"/>
              </a:rPr>
              <a:t>{{KPI_VALUE}}</a:t>
            </a:r>
          </a:p>
        </p:txBody>
      </p:sp>
      <p:sp>
        <p:nvSpPr>
          <p:cNvPr id="28" name="Rectangle 27"/>
          <p:cNvSpPr/>
          <p:nvPr/>
        </p:nvSpPr>
        <p:spPr>
          <a:xfrm>
            <a:off x="8686800" y="4114800"/>
            <a:ext cx="2560320" cy="10972"/>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80" y="4297680"/>
            <a:ext cx="3108960" cy="457200"/>
          </a:xfrm>
          <a:prstGeom prst="rect">
            <a:avLst/>
          </a:prstGeom>
          <a:noFill/>
        </p:spPr>
        <p:txBody>
          <a:bodyPr wrap="square" lIns="0" rIns="0" tIns="0" bIns="0" anchor="t">
            <a:spAutoFit/>
          </a:bodyPr>
          <a:lstStyle/>
          <a:p>
            <a:pPr algn="ctr"/>
            <a:r>
              <a:rPr sz="1300" b="0" i="1">
                <a:solidFill>
                  <a:srgbClr val="FFFFFF"/>
                </a:solidFill>
                <a:latin typeface="Calibri"/>
              </a:rPr>
              <a:t>{{KPI_NOTE}}</a:t>
            </a:r>
          </a:p>
        </p:txBody>
      </p:sp>
      <p:sp>
        <p:nvSpPr>
          <p:cNvPr id="30" name="TextBox 29"/>
          <p:cNvSpPr txBox="1"/>
          <p:nvPr/>
        </p:nvSpPr>
        <p:spPr>
          <a:xfrm>
            <a:off x="8412480" y="4846320"/>
            <a:ext cx="3108960" cy="1097280"/>
          </a:xfrm>
          <a:prstGeom prst="rect">
            <a:avLst/>
          </a:prstGeom>
          <a:noFill/>
        </p:spPr>
        <p:txBody>
          <a:bodyPr wrap="square" lIns="0" rIns="0" tIns="0" bIns="0" anchor="t">
            <a:spAutoFit/>
          </a:bodyPr>
          <a:lstStyle/>
          <a:p>
            <a:pPr algn="ctr"/>
            <a:r>
              <a:rPr sz="1100" b="0" i="0">
                <a:solidFill>
                  <a:srgbClr val="FFFFFF"/>
                </a:solidFill>
                <a:latin typeface="Calibri"/>
              </a:rPr>
              <a:t>{{KPI_LONG_BODY}}</a:t>
            </a:r>
          </a:p>
        </p:txBody>
      </p:sp>
      <p:sp>
        <p:nvSpPr>
          <p:cNvPr id="31" name="TextBox 30"/>
          <p:cNvSpPr txBox="1"/>
          <p:nvPr/>
        </p:nvSpPr>
        <p:spPr>
          <a:xfrm>
            <a:off x="457200" y="6537960"/>
            <a:ext cx="9144000" cy="274320"/>
          </a:xfrm>
          <a:prstGeom prst="rect">
            <a:avLst/>
          </a:prstGeom>
          <a:noFill/>
        </p:spPr>
        <p:txBody>
          <a:bodyPr wrap="square" lIns="0" rIns="0" tIns="0" bIns="0" anchor="t">
            <a:spAutoFit/>
          </a:bodyPr>
          <a:lstStyle/>
          <a:p>
            <a:pPr algn="l"/>
            <a:r>
              <a:rPr sz="900" b="0" i="0">
                <a:solidFill>
                  <a:srgbClr val="9CA3AF"/>
                </a:solidFill>
                <a:latin typeface="Calibri"/>
              </a:rPr>
              <a:t>{{FOOTER_LEFT}}</a:t>
            </a:r>
          </a:p>
        </p:txBody>
      </p:sp>
      <p:sp>
        <p:nvSpPr>
          <p:cNvPr id="32" name="TextBox 31"/>
          <p:cNvSpPr txBox="1"/>
          <p:nvPr/>
        </p:nvSpPr>
        <p:spPr>
          <a:xfrm>
            <a:off x="11247120" y="6537960"/>
            <a:ext cx="457200" cy="274320"/>
          </a:xfrm>
          <a:prstGeom prst="rect">
            <a:avLst/>
          </a:prstGeom>
          <a:noFill/>
        </p:spPr>
        <p:txBody>
          <a:bodyPr wrap="square" lIns="0" rIns="0" tIns="0" bIns="0" anchor="t">
            <a:spAutoFit/>
          </a:bodyPr>
          <a:lstStyle/>
          <a:p>
            <a:pPr algn="r"/>
            <a:r>
              <a:rPr sz="900" b="1" i="0">
                <a:solidFill>
                  <a:srgbClr val="003D7A"/>
                </a:solidFill>
                <a:latin typeface="Calibri"/>
              </a:rPr>
              <a:t>{{PAGE_NUM}}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name="HEATMAP_INDUSTRY">
    <p:spTree>
      <p:nvGrpSpPr>
        <p:cNvPr id="1" name=""/>
        <p:cNvGrpSpPr/>
        <p:nvPr/>
      </p:nvGrpSpPr>
      <p:grpSpPr/>
      <p:sp>
        <p:nvSpPr>
          <p:cNvPr id="2" name="Rectangle 1"/>
          <p:cNvSpPr/>
          <p:nvPr/>
        </p:nvSpPr>
        <p:spPr>
          <a:xfrm>
            <a:off x="457200" y="411480"/>
            <a:ext cx="73152" cy="64008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1064240" cy="502920"/>
          </a:xfrm>
          <a:prstGeom prst="rect">
            <a:avLst/>
          </a:prstGeom>
          <a:noFill/>
        </p:spPr>
        <p:txBody>
          <a:bodyPr wrap="square" lIns="0" rIns="0" tIns="0" bIns="0" anchor="ctr">
            <a:spAutoFit/>
          </a:bodyPr>
          <a:lstStyle/>
          <a:p>
            <a:pPr algn="l"/>
            <a:r>
              <a:rPr sz="2600" b="1" i="0">
                <a:solidFill>
                  <a:srgbClr val="003D7A"/>
                </a:solidFill>
                <a:latin typeface="Calibri"/>
              </a:rPr>
              <a:t>{{SECTION_TITLE}}</a:t>
            </a:r>
          </a:p>
        </p:txBody>
      </p:sp>
      <p:sp>
        <p:nvSpPr>
          <p:cNvPr id="4" name="TextBox 3"/>
          <p:cNvSpPr txBox="1"/>
          <p:nvPr/>
        </p:nvSpPr>
        <p:spPr>
          <a:xfrm>
            <a:off x="640080" y="868680"/>
            <a:ext cx="11064240" cy="274320"/>
          </a:xfrm>
          <a:prstGeom prst="rect">
            <a:avLst/>
          </a:prstGeom>
          <a:noFill/>
        </p:spPr>
        <p:txBody>
          <a:bodyPr wrap="square" lIns="0" rIns="0" tIns="0" bIns="0" anchor="t">
            <a:spAutoFit/>
          </a:bodyPr>
          <a:lstStyle/>
          <a:p>
            <a:pPr algn="l"/>
            <a:r>
              <a:rPr sz="1200" b="0" i="1">
                <a:solidFill>
                  <a:srgbClr val="4A5568"/>
                </a:solidFill>
                <a:latin typeface="Calibri"/>
              </a:rPr>
              <a:t>{{SECTION_SUB}}</a:t>
            </a:r>
          </a:p>
        </p:txBody>
      </p:sp>
      <p:sp>
        <p:nvSpPr>
          <p:cNvPr id="5" name="TextBox 4"/>
          <p:cNvSpPr txBox="1"/>
          <p:nvPr/>
        </p:nvSpPr>
        <p:spPr>
          <a:xfrm>
            <a:off x="8503920" y="1371600"/>
            <a:ext cx="2743200" cy="274320"/>
          </a:xfrm>
          <a:prstGeom prst="rect">
            <a:avLst/>
          </a:prstGeom>
          <a:noFill/>
        </p:spPr>
        <p:txBody>
          <a:bodyPr wrap="square" lIns="0" rIns="0" tIns="0" bIns="0" anchor="t">
            <a:spAutoFit/>
          </a:bodyPr>
          <a:lstStyle/>
          <a:p>
            <a:pPr algn="l"/>
            <a:r>
              <a:rPr sz="900" b="1" i="0">
                <a:solidFill>
                  <a:srgbClr val="4A5568"/>
                </a:solidFill>
                <a:latin typeface="Calibri"/>
              </a:rPr>
              <a:t>THANG MÀU</a:t>
            </a:r>
          </a:p>
        </p:txBody>
      </p:sp>
      <p:sp>
        <p:nvSpPr>
          <p:cNvPr id="6" name="Rectangle 5"/>
          <p:cNvSpPr/>
          <p:nvPr/>
        </p:nvSpPr>
        <p:spPr>
          <a:xfrm>
            <a:off x="8503920" y="1645920"/>
            <a:ext cx="502920" cy="27432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052560" y="1645920"/>
            <a:ext cx="502920" cy="274320"/>
          </a:xfrm>
          <a:prstGeom prst="rect">
            <a:avLst/>
          </a:prstGeom>
          <a:solidFill>
            <a:srgbClr val="F5D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601200" y="1645920"/>
            <a:ext cx="502920" cy="27432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149840" y="1645920"/>
            <a:ext cx="502920" cy="2743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698480" y="1645920"/>
            <a:ext cx="502920" cy="27432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0" y="1965960"/>
            <a:ext cx="2743200" cy="182880"/>
          </a:xfrm>
          <a:prstGeom prst="rect">
            <a:avLst/>
          </a:prstGeom>
          <a:noFill/>
        </p:spPr>
        <p:txBody>
          <a:bodyPr wrap="square" lIns="0" rIns="0" tIns="0" bIns="0" anchor="t">
            <a:spAutoFit/>
          </a:bodyPr>
          <a:lstStyle/>
          <a:p>
            <a:pPr algn="l"/>
            <a:r>
              <a:rPr sz="900" b="0" i="0">
                <a:solidFill>
                  <a:srgbClr val="4A5568"/>
                </a:solidFill>
                <a:latin typeface="Calibri"/>
              </a:rPr>
              <a:t>Giảm   ←  →   Tăng</a:t>
            </a:r>
          </a:p>
        </p:txBody>
      </p:sp>
      <p:sp>
        <p:nvSpPr>
          <p:cNvPr id="12" name="Rectangle 11"/>
          <p:cNvSpPr/>
          <p:nvPr/>
        </p:nvSpPr>
        <p:spPr>
          <a:xfrm>
            <a:off x="457200" y="2377440"/>
            <a:ext cx="1813560" cy="1042415"/>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468880"/>
            <a:ext cx="1630680" cy="320040"/>
          </a:xfrm>
          <a:prstGeom prst="rect">
            <a:avLst/>
          </a:prstGeom>
          <a:noFill/>
        </p:spPr>
        <p:txBody>
          <a:bodyPr wrap="square" lIns="0" rIns="0" tIns="0" bIns="0" anchor="t">
            <a:spAutoFit/>
          </a:bodyPr>
          <a:lstStyle/>
          <a:p>
            <a:pPr algn="l"/>
            <a:r>
              <a:rPr sz="900" b="1" i="0">
                <a:solidFill>
                  <a:srgbClr val="1F2937"/>
                </a:solidFill>
                <a:latin typeface="Calibri"/>
              </a:rPr>
              <a:t>{{IND_1_NAME}}</a:t>
            </a:r>
          </a:p>
        </p:txBody>
      </p:sp>
      <p:sp>
        <p:nvSpPr>
          <p:cNvPr id="14" name="TextBox 13"/>
          <p:cNvSpPr txBox="1"/>
          <p:nvPr/>
        </p:nvSpPr>
        <p:spPr>
          <a:xfrm>
            <a:off x="548640" y="2834640"/>
            <a:ext cx="1630680" cy="411480"/>
          </a:xfrm>
          <a:prstGeom prst="rect">
            <a:avLst/>
          </a:prstGeom>
          <a:noFill/>
        </p:spPr>
        <p:txBody>
          <a:bodyPr wrap="square" lIns="0" rIns="0" tIns="0" bIns="0" anchor="t">
            <a:spAutoFit/>
          </a:bodyPr>
          <a:lstStyle/>
          <a:p>
            <a:pPr algn="l"/>
            <a:r>
              <a:rPr sz="1800" b="1" i="0">
                <a:solidFill>
                  <a:srgbClr val="003D7A"/>
                </a:solidFill>
                <a:latin typeface="Calibri"/>
              </a:rPr>
              <a:t>{{IND_1_PCT}}</a:t>
            </a:r>
          </a:p>
        </p:txBody>
      </p:sp>
      <p:sp>
        <p:nvSpPr>
          <p:cNvPr id="15" name="TextBox 14"/>
          <p:cNvSpPr txBox="1"/>
          <p:nvPr/>
        </p:nvSpPr>
        <p:spPr>
          <a:xfrm>
            <a:off x="548640" y="3246120"/>
            <a:ext cx="1630680" cy="182880"/>
          </a:xfrm>
          <a:prstGeom prst="rect">
            <a:avLst/>
          </a:prstGeom>
          <a:noFill/>
        </p:spPr>
        <p:txBody>
          <a:bodyPr wrap="square" lIns="0" rIns="0" tIns="0" bIns="0" anchor="t">
            <a:spAutoFit/>
          </a:bodyPr>
          <a:lstStyle/>
          <a:p>
            <a:pPr algn="l"/>
            <a:r>
              <a:rPr sz="700" b="0" i="1">
                <a:solidFill>
                  <a:srgbClr val="4A5568"/>
                </a:solidFill>
                <a:latin typeface="Calibri"/>
              </a:rPr>
              <a:t>{{IND_1_NOTE}}</a:t>
            </a:r>
          </a:p>
        </p:txBody>
      </p:sp>
      <p:sp>
        <p:nvSpPr>
          <p:cNvPr id="16" name="Rectangle 15"/>
          <p:cNvSpPr/>
          <p:nvPr/>
        </p:nvSpPr>
        <p:spPr>
          <a:xfrm>
            <a:off x="2343912" y="2377440"/>
            <a:ext cx="1813560" cy="1042415"/>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35352" y="2468880"/>
            <a:ext cx="1630680" cy="320040"/>
          </a:xfrm>
          <a:prstGeom prst="rect">
            <a:avLst/>
          </a:prstGeom>
          <a:noFill/>
        </p:spPr>
        <p:txBody>
          <a:bodyPr wrap="square" lIns="0" rIns="0" tIns="0" bIns="0" anchor="t">
            <a:spAutoFit/>
          </a:bodyPr>
          <a:lstStyle/>
          <a:p>
            <a:pPr algn="l"/>
            <a:r>
              <a:rPr sz="900" b="1" i="0">
                <a:solidFill>
                  <a:srgbClr val="1F2937"/>
                </a:solidFill>
                <a:latin typeface="Calibri"/>
              </a:rPr>
              <a:t>{{IND_2_NAME}}</a:t>
            </a:r>
          </a:p>
        </p:txBody>
      </p:sp>
      <p:sp>
        <p:nvSpPr>
          <p:cNvPr id="18" name="TextBox 17"/>
          <p:cNvSpPr txBox="1"/>
          <p:nvPr/>
        </p:nvSpPr>
        <p:spPr>
          <a:xfrm>
            <a:off x="2435352" y="2834640"/>
            <a:ext cx="1630680" cy="411480"/>
          </a:xfrm>
          <a:prstGeom prst="rect">
            <a:avLst/>
          </a:prstGeom>
          <a:noFill/>
        </p:spPr>
        <p:txBody>
          <a:bodyPr wrap="square" lIns="0" rIns="0" tIns="0" bIns="0" anchor="t">
            <a:spAutoFit/>
          </a:bodyPr>
          <a:lstStyle/>
          <a:p>
            <a:pPr algn="l"/>
            <a:r>
              <a:rPr sz="1800" b="1" i="0">
                <a:solidFill>
                  <a:srgbClr val="003D7A"/>
                </a:solidFill>
                <a:latin typeface="Calibri"/>
              </a:rPr>
              <a:t>{{IND_2_PCT}}</a:t>
            </a:r>
          </a:p>
        </p:txBody>
      </p:sp>
      <p:sp>
        <p:nvSpPr>
          <p:cNvPr id="19" name="TextBox 18"/>
          <p:cNvSpPr txBox="1"/>
          <p:nvPr/>
        </p:nvSpPr>
        <p:spPr>
          <a:xfrm>
            <a:off x="2435352" y="3246120"/>
            <a:ext cx="1630680" cy="182880"/>
          </a:xfrm>
          <a:prstGeom prst="rect">
            <a:avLst/>
          </a:prstGeom>
          <a:noFill/>
        </p:spPr>
        <p:txBody>
          <a:bodyPr wrap="square" lIns="0" rIns="0" tIns="0" bIns="0" anchor="t">
            <a:spAutoFit/>
          </a:bodyPr>
          <a:lstStyle/>
          <a:p>
            <a:pPr algn="l"/>
            <a:r>
              <a:rPr sz="700" b="0" i="1">
                <a:solidFill>
                  <a:srgbClr val="4A5568"/>
                </a:solidFill>
                <a:latin typeface="Calibri"/>
              </a:rPr>
              <a:t>{{IND_2_NOTE}}</a:t>
            </a:r>
          </a:p>
        </p:txBody>
      </p:sp>
      <p:sp>
        <p:nvSpPr>
          <p:cNvPr id="20" name="Rectangle 19"/>
          <p:cNvSpPr/>
          <p:nvPr/>
        </p:nvSpPr>
        <p:spPr>
          <a:xfrm>
            <a:off x="4230624" y="2377440"/>
            <a:ext cx="1813560" cy="1042415"/>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22064" y="2468880"/>
            <a:ext cx="1630680" cy="320040"/>
          </a:xfrm>
          <a:prstGeom prst="rect">
            <a:avLst/>
          </a:prstGeom>
          <a:noFill/>
        </p:spPr>
        <p:txBody>
          <a:bodyPr wrap="square" lIns="0" rIns="0" tIns="0" bIns="0" anchor="t">
            <a:spAutoFit/>
          </a:bodyPr>
          <a:lstStyle/>
          <a:p>
            <a:pPr algn="l"/>
            <a:r>
              <a:rPr sz="900" b="1" i="0">
                <a:solidFill>
                  <a:srgbClr val="1F2937"/>
                </a:solidFill>
                <a:latin typeface="Calibri"/>
              </a:rPr>
              <a:t>{{IND_3_NAME}}</a:t>
            </a:r>
          </a:p>
        </p:txBody>
      </p:sp>
      <p:sp>
        <p:nvSpPr>
          <p:cNvPr id="22" name="TextBox 21"/>
          <p:cNvSpPr txBox="1"/>
          <p:nvPr/>
        </p:nvSpPr>
        <p:spPr>
          <a:xfrm>
            <a:off x="4322064" y="2834640"/>
            <a:ext cx="1630680" cy="411480"/>
          </a:xfrm>
          <a:prstGeom prst="rect">
            <a:avLst/>
          </a:prstGeom>
          <a:noFill/>
        </p:spPr>
        <p:txBody>
          <a:bodyPr wrap="square" lIns="0" rIns="0" tIns="0" bIns="0" anchor="t">
            <a:spAutoFit/>
          </a:bodyPr>
          <a:lstStyle/>
          <a:p>
            <a:pPr algn="l"/>
            <a:r>
              <a:rPr sz="1800" b="1" i="0">
                <a:solidFill>
                  <a:srgbClr val="003D7A"/>
                </a:solidFill>
                <a:latin typeface="Calibri"/>
              </a:rPr>
              <a:t>{{IND_3_PCT}}</a:t>
            </a:r>
          </a:p>
        </p:txBody>
      </p:sp>
      <p:sp>
        <p:nvSpPr>
          <p:cNvPr id="23" name="TextBox 22"/>
          <p:cNvSpPr txBox="1"/>
          <p:nvPr/>
        </p:nvSpPr>
        <p:spPr>
          <a:xfrm>
            <a:off x="4322064" y="3246120"/>
            <a:ext cx="1630680" cy="182880"/>
          </a:xfrm>
          <a:prstGeom prst="rect">
            <a:avLst/>
          </a:prstGeom>
          <a:noFill/>
        </p:spPr>
        <p:txBody>
          <a:bodyPr wrap="square" lIns="0" rIns="0" tIns="0" bIns="0" anchor="t">
            <a:spAutoFit/>
          </a:bodyPr>
          <a:lstStyle/>
          <a:p>
            <a:pPr algn="l"/>
            <a:r>
              <a:rPr sz="700" b="0" i="1">
                <a:solidFill>
                  <a:srgbClr val="4A5568"/>
                </a:solidFill>
                <a:latin typeface="Calibri"/>
              </a:rPr>
              <a:t>{{IND_3_NOTE}}</a:t>
            </a:r>
          </a:p>
        </p:txBody>
      </p:sp>
      <p:sp>
        <p:nvSpPr>
          <p:cNvPr id="24" name="Rectangle 23"/>
          <p:cNvSpPr/>
          <p:nvPr/>
        </p:nvSpPr>
        <p:spPr>
          <a:xfrm>
            <a:off x="6117336" y="2377440"/>
            <a:ext cx="1813560" cy="1042415"/>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08776" y="2468880"/>
            <a:ext cx="1630680" cy="320040"/>
          </a:xfrm>
          <a:prstGeom prst="rect">
            <a:avLst/>
          </a:prstGeom>
          <a:noFill/>
        </p:spPr>
        <p:txBody>
          <a:bodyPr wrap="square" lIns="0" rIns="0" tIns="0" bIns="0" anchor="t">
            <a:spAutoFit/>
          </a:bodyPr>
          <a:lstStyle/>
          <a:p>
            <a:pPr algn="l"/>
            <a:r>
              <a:rPr sz="900" b="1" i="0">
                <a:solidFill>
                  <a:srgbClr val="1F2937"/>
                </a:solidFill>
                <a:latin typeface="Calibri"/>
              </a:rPr>
              <a:t>{{IND_4_NAME}}</a:t>
            </a:r>
          </a:p>
        </p:txBody>
      </p:sp>
      <p:sp>
        <p:nvSpPr>
          <p:cNvPr id="26" name="TextBox 25"/>
          <p:cNvSpPr txBox="1"/>
          <p:nvPr/>
        </p:nvSpPr>
        <p:spPr>
          <a:xfrm>
            <a:off x="6208776" y="2834640"/>
            <a:ext cx="1630680" cy="411480"/>
          </a:xfrm>
          <a:prstGeom prst="rect">
            <a:avLst/>
          </a:prstGeom>
          <a:noFill/>
        </p:spPr>
        <p:txBody>
          <a:bodyPr wrap="square" lIns="0" rIns="0" tIns="0" bIns="0" anchor="t">
            <a:spAutoFit/>
          </a:bodyPr>
          <a:lstStyle/>
          <a:p>
            <a:pPr algn="l"/>
            <a:r>
              <a:rPr sz="1800" b="1" i="0">
                <a:solidFill>
                  <a:srgbClr val="003D7A"/>
                </a:solidFill>
                <a:latin typeface="Calibri"/>
              </a:rPr>
              <a:t>{{IND_4_PCT}}</a:t>
            </a:r>
          </a:p>
        </p:txBody>
      </p:sp>
      <p:sp>
        <p:nvSpPr>
          <p:cNvPr id="27" name="TextBox 26"/>
          <p:cNvSpPr txBox="1"/>
          <p:nvPr/>
        </p:nvSpPr>
        <p:spPr>
          <a:xfrm>
            <a:off x="6208776" y="3246120"/>
            <a:ext cx="1630680" cy="182880"/>
          </a:xfrm>
          <a:prstGeom prst="rect">
            <a:avLst/>
          </a:prstGeom>
          <a:noFill/>
        </p:spPr>
        <p:txBody>
          <a:bodyPr wrap="square" lIns="0" rIns="0" tIns="0" bIns="0" anchor="t">
            <a:spAutoFit/>
          </a:bodyPr>
          <a:lstStyle/>
          <a:p>
            <a:pPr algn="l"/>
            <a:r>
              <a:rPr sz="700" b="0" i="1">
                <a:solidFill>
                  <a:srgbClr val="4A5568"/>
                </a:solidFill>
                <a:latin typeface="Calibri"/>
              </a:rPr>
              <a:t>{{IND_4_NOTE}}</a:t>
            </a:r>
          </a:p>
        </p:txBody>
      </p:sp>
      <p:sp>
        <p:nvSpPr>
          <p:cNvPr id="28" name="Rectangle 27"/>
          <p:cNvSpPr/>
          <p:nvPr/>
        </p:nvSpPr>
        <p:spPr>
          <a:xfrm>
            <a:off x="8004048" y="2377440"/>
            <a:ext cx="1813560" cy="1042415"/>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95488" y="2468880"/>
            <a:ext cx="1630680" cy="320040"/>
          </a:xfrm>
          <a:prstGeom prst="rect">
            <a:avLst/>
          </a:prstGeom>
          <a:noFill/>
        </p:spPr>
        <p:txBody>
          <a:bodyPr wrap="square" lIns="0" rIns="0" tIns="0" bIns="0" anchor="t">
            <a:spAutoFit/>
          </a:bodyPr>
          <a:lstStyle/>
          <a:p>
            <a:pPr algn="l"/>
            <a:r>
              <a:rPr sz="900" b="1" i="0">
                <a:solidFill>
                  <a:srgbClr val="1F2937"/>
                </a:solidFill>
                <a:latin typeface="Calibri"/>
              </a:rPr>
              <a:t>{{IND_5_NAME}}</a:t>
            </a:r>
          </a:p>
        </p:txBody>
      </p:sp>
      <p:sp>
        <p:nvSpPr>
          <p:cNvPr id="30" name="TextBox 29"/>
          <p:cNvSpPr txBox="1"/>
          <p:nvPr/>
        </p:nvSpPr>
        <p:spPr>
          <a:xfrm>
            <a:off x="8095488" y="2834640"/>
            <a:ext cx="1630680" cy="411480"/>
          </a:xfrm>
          <a:prstGeom prst="rect">
            <a:avLst/>
          </a:prstGeom>
          <a:noFill/>
        </p:spPr>
        <p:txBody>
          <a:bodyPr wrap="square" lIns="0" rIns="0" tIns="0" bIns="0" anchor="t">
            <a:spAutoFit/>
          </a:bodyPr>
          <a:lstStyle/>
          <a:p>
            <a:pPr algn="l"/>
            <a:r>
              <a:rPr sz="1800" b="1" i="0">
                <a:solidFill>
                  <a:srgbClr val="003D7A"/>
                </a:solidFill>
                <a:latin typeface="Calibri"/>
              </a:rPr>
              <a:t>{{IND_5_PCT}}</a:t>
            </a:r>
          </a:p>
        </p:txBody>
      </p:sp>
      <p:sp>
        <p:nvSpPr>
          <p:cNvPr id="31" name="TextBox 30"/>
          <p:cNvSpPr txBox="1"/>
          <p:nvPr/>
        </p:nvSpPr>
        <p:spPr>
          <a:xfrm>
            <a:off x="8095488" y="3246120"/>
            <a:ext cx="1630680" cy="182880"/>
          </a:xfrm>
          <a:prstGeom prst="rect">
            <a:avLst/>
          </a:prstGeom>
          <a:noFill/>
        </p:spPr>
        <p:txBody>
          <a:bodyPr wrap="square" lIns="0" rIns="0" tIns="0" bIns="0" anchor="t">
            <a:spAutoFit/>
          </a:bodyPr>
          <a:lstStyle/>
          <a:p>
            <a:pPr algn="l"/>
            <a:r>
              <a:rPr sz="700" b="0" i="1">
                <a:solidFill>
                  <a:srgbClr val="4A5568"/>
                </a:solidFill>
                <a:latin typeface="Calibri"/>
              </a:rPr>
              <a:t>{{IND_5_NOTE}}</a:t>
            </a:r>
          </a:p>
        </p:txBody>
      </p:sp>
      <p:sp>
        <p:nvSpPr>
          <p:cNvPr id="32" name="Rectangle 31"/>
          <p:cNvSpPr/>
          <p:nvPr/>
        </p:nvSpPr>
        <p:spPr>
          <a:xfrm>
            <a:off x="9890760" y="2377440"/>
            <a:ext cx="1813560" cy="1042415"/>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982200" y="2468880"/>
            <a:ext cx="1630680" cy="320040"/>
          </a:xfrm>
          <a:prstGeom prst="rect">
            <a:avLst/>
          </a:prstGeom>
          <a:noFill/>
        </p:spPr>
        <p:txBody>
          <a:bodyPr wrap="square" lIns="0" rIns="0" tIns="0" bIns="0" anchor="t">
            <a:spAutoFit/>
          </a:bodyPr>
          <a:lstStyle/>
          <a:p>
            <a:pPr algn="l"/>
            <a:r>
              <a:rPr sz="900" b="1" i="0">
                <a:solidFill>
                  <a:srgbClr val="1F2937"/>
                </a:solidFill>
                <a:latin typeface="Calibri"/>
              </a:rPr>
              <a:t>{{IND_6_NAME}}</a:t>
            </a:r>
          </a:p>
        </p:txBody>
      </p:sp>
      <p:sp>
        <p:nvSpPr>
          <p:cNvPr id="34" name="TextBox 33"/>
          <p:cNvSpPr txBox="1"/>
          <p:nvPr/>
        </p:nvSpPr>
        <p:spPr>
          <a:xfrm>
            <a:off x="9982200" y="2834640"/>
            <a:ext cx="1630680" cy="411480"/>
          </a:xfrm>
          <a:prstGeom prst="rect">
            <a:avLst/>
          </a:prstGeom>
          <a:noFill/>
        </p:spPr>
        <p:txBody>
          <a:bodyPr wrap="square" lIns="0" rIns="0" tIns="0" bIns="0" anchor="t">
            <a:spAutoFit/>
          </a:bodyPr>
          <a:lstStyle/>
          <a:p>
            <a:pPr algn="l"/>
            <a:r>
              <a:rPr sz="1800" b="1" i="0">
                <a:solidFill>
                  <a:srgbClr val="003D7A"/>
                </a:solidFill>
                <a:latin typeface="Calibri"/>
              </a:rPr>
              <a:t>{{IND_6_PCT}}</a:t>
            </a:r>
          </a:p>
        </p:txBody>
      </p:sp>
      <p:sp>
        <p:nvSpPr>
          <p:cNvPr id="35" name="TextBox 34"/>
          <p:cNvSpPr txBox="1"/>
          <p:nvPr/>
        </p:nvSpPr>
        <p:spPr>
          <a:xfrm>
            <a:off x="9982200" y="3246120"/>
            <a:ext cx="1630680" cy="182880"/>
          </a:xfrm>
          <a:prstGeom prst="rect">
            <a:avLst/>
          </a:prstGeom>
          <a:noFill/>
        </p:spPr>
        <p:txBody>
          <a:bodyPr wrap="square" lIns="0" rIns="0" tIns="0" bIns="0" anchor="t">
            <a:spAutoFit/>
          </a:bodyPr>
          <a:lstStyle/>
          <a:p>
            <a:pPr algn="l"/>
            <a:r>
              <a:rPr sz="700" b="0" i="1">
                <a:solidFill>
                  <a:srgbClr val="4A5568"/>
                </a:solidFill>
                <a:latin typeface="Calibri"/>
              </a:rPr>
              <a:t>{{IND_6_NOTE}}</a:t>
            </a:r>
          </a:p>
        </p:txBody>
      </p:sp>
      <p:sp>
        <p:nvSpPr>
          <p:cNvPr id="36" name="Rectangle 35"/>
          <p:cNvSpPr/>
          <p:nvPr/>
        </p:nvSpPr>
        <p:spPr>
          <a:xfrm>
            <a:off x="457200" y="3493008"/>
            <a:ext cx="1813560" cy="1042415"/>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3584448"/>
            <a:ext cx="1630680" cy="320040"/>
          </a:xfrm>
          <a:prstGeom prst="rect">
            <a:avLst/>
          </a:prstGeom>
          <a:noFill/>
        </p:spPr>
        <p:txBody>
          <a:bodyPr wrap="square" lIns="0" rIns="0" tIns="0" bIns="0" anchor="t">
            <a:spAutoFit/>
          </a:bodyPr>
          <a:lstStyle/>
          <a:p>
            <a:pPr algn="l"/>
            <a:r>
              <a:rPr sz="900" b="1" i="0">
                <a:solidFill>
                  <a:srgbClr val="1F2937"/>
                </a:solidFill>
                <a:latin typeface="Calibri"/>
              </a:rPr>
              <a:t>{{IND_7_NAME}}</a:t>
            </a:r>
          </a:p>
        </p:txBody>
      </p:sp>
      <p:sp>
        <p:nvSpPr>
          <p:cNvPr id="38" name="TextBox 37"/>
          <p:cNvSpPr txBox="1"/>
          <p:nvPr/>
        </p:nvSpPr>
        <p:spPr>
          <a:xfrm>
            <a:off x="548640" y="3950208"/>
            <a:ext cx="1630680" cy="411480"/>
          </a:xfrm>
          <a:prstGeom prst="rect">
            <a:avLst/>
          </a:prstGeom>
          <a:noFill/>
        </p:spPr>
        <p:txBody>
          <a:bodyPr wrap="square" lIns="0" rIns="0" tIns="0" bIns="0" anchor="t">
            <a:spAutoFit/>
          </a:bodyPr>
          <a:lstStyle/>
          <a:p>
            <a:pPr algn="l"/>
            <a:r>
              <a:rPr sz="1800" b="1" i="0">
                <a:solidFill>
                  <a:srgbClr val="003D7A"/>
                </a:solidFill>
                <a:latin typeface="Calibri"/>
              </a:rPr>
              <a:t>{{IND_7_PCT}}</a:t>
            </a:r>
          </a:p>
        </p:txBody>
      </p:sp>
      <p:sp>
        <p:nvSpPr>
          <p:cNvPr id="39" name="TextBox 38"/>
          <p:cNvSpPr txBox="1"/>
          <p:nvPr/>
        </p:nvSpPr>
        <p:spPr>
          <a:xfrm>
            <a:off x="548640" y="4361688"/>
            <a:ext cx="1630680" cy="182880"/>
          </a:xfrm>
          <a:prstGeom prst="rect">
            <a:avLst/>
          </a:prstGeom>
          <a:noFill/>
        </p:spPr>
        <p:txBody>
          <a:bodyPr wrap="square" lIns="0" rIns="0" tIns="0" bIns="0" anchor="t">
            <a:spAutoFit/>
          </a:bodyPr>
          <a:lstStyle/>
          <a:p>
            <a:pPr algn="l"/>
            <a:r>
              <a:rPr sz="700" b="0" i="1">
                <a:solidFill>
                  <a:srgbClr val="4A5568"/>
                </a:solidFill>
                <a:latin typeface="Calibri"/>
              </a:rPr>
              <a:t>{{IND_7_NOTE}}</a:t>
            </a:r>
          </a:p>
        </p:txBody>
      </p:sp>
      <p:sp>
        <p:nvSpPr>
          <p:cNvPr id="40" name="Rectangle 39"/>
          <p:cNvSpPr/>
          <p:nvPr/>
        </p:nvSpPr>
        <p:spPr>
          <a:xfrm>
            <a:off x="2343912" y="3493008"/>
            <a:ext cx="1813560" cy="1042415"/>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435352" y="3584448"/>
            <a:ext cx="1630680" cy="320040"/>
          </a:xfrm>
          <a:prstGeom prst="rect">
            <a:avLst/>
          </a:prstGeom>
          <a:noFill/>
        </p:spPr>
        <p:txBody>
          <a:bodyPr wrap="square" lIns="0" rIns="0" tIns="0" bIns="0" anchor="t">
            <a:spAutoFit/>
          </a:bodyPr>
          <a:lstStyle/>
          <a:p>
            <a:pPr algn="l"/>
            <a:r>
              <a:rPr sz="900" b="1" i="0">
                <a:solidFill>
                  <a:srgbClr val="1F2937"/>
                </a:solidFill>
                <a:latin typeface="Calibri"/>
              </a:rPr>
              <a:t>{{IND_8_NAME}}</a:t>
            </a:r>
          </a:p>
        </p:txBody>
      </p:sp>
      <p:sp>
        <p:nvSpPr>
          <p:cNvPr id="42" name="TextBox 41"/>
          <p:cNvSpPr txBox="1"/>
          <p:nvPr/>
        </p:nvSpPr>
        <p:spPr>
          <a:xfrm>
            <a:off x="2435352" y="3950208"/>
            <a:ext cx="1630680" cy="411480"/>
          </a:xfrm>
          <a:prstGeom prst="rect">
            <a:avLst/>
          </a:prstGeom>
          <a:noFill/>
        </p:spPr>
        <p:txBody>
          <a:bodyPr wrap="square" lIns="0" rIns="0" tIns="0" bIns="0" anchor="t">
            <a:spAutoFit/>
          </a:bodyPr>
          <a:lstStyle/>
          <a:p>
            <a:pPr algn="l"/>
            <a:r>
              <a:rPr sz="1800" b="1" i="0">
                <a:solidFill>
                  <a:srgbClr val="003D7A"/>
                </a:solidFill>
                <a:latin typeface="Calibri"/>
              </a:rPr>
              <a:t>{{IND_8_PCT}}</a:t>
            </a:r>
          </a:p>
        </p:txBody>
      </p:sp>
      <p:sp>
        <p:nvSpPr>
          <p:cNvPr id="43" name="TextBox 42"/>
          <p:cNvSpPr txBox="1"/>
          <p:nvPr/>
        </p:nvSpPr>
        <p:spPr>
          <a:xfrm>
            <a:off x="2435352" y="4361688"/>
            <a:ext cx="1630680" cy="182880"/>
          </a:xfrm>
          <a:prstGeom prst="rect">
            <a:avLst/>
          </a:prstGeom>
          <a:noFill/>
        </p:spPr>
        <p:txBody>
          <a:bodyPr wrap="square" lIns="0" rIns="0" tIns="0" bIns="0" anchor="t">
            <a:spAutoFit/>
          </a:bodyPr>
          <a:lstStyle/>
          <a:p>
            <a:pPr algn="l"/>
            <a:r>
              <a:rPr sz="700" b="0" i="1">
                <a:solidFill>
                  <a:srgbClr val="4A5568"/>
                </a:solidFill>
                <a:latin typeface="Calibri"/>
              </a:rPr>
              <a:t>{{IND_8_NOTE}}</a:t>
            </a:r>
          </a:p>
        </p:txBody>
      </p:sp>
      <p:sp>
        <p:nvSpPr>
          <p:cNvPr id="44" name="Rectangle 43"/>
          <p:cNvSpPr/>
          <p:nvPr/>
        </p:nvSpPr>
        <p:spPr>
          <a:xfrm>
            <a:off x="4230624" y="3493008"/>
            <a:ext cx="1813560" cy="1042415"/>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322064" y="3584448"/>
            <a:ext cx="1630680" cy="320040"/>
          </a:xfrm>
          <a:prstGeom prst="rect">
            <a:avLst/>
          </a:prstGeom>
          <a:noFill/>
        </p:spPr>
        <p:txBody>
          <a:bodyPr wrap="square" lIns="0" rIns="0" tIns="0" bIns="0" anchor="t">
            <a:spAutoFit/>
          </a:bodyPr>
          <a:lstStyle/>
          <a:p>
            <a:pPr algn="l"/>
            <a:r>
              <a:rPr sz="900" b="1" i="0">
                <a:solidFill>
                  <a:srgbClr val="1F2937"/>
                </a:solidFill>
                <a:latin typeface="Calibri"/>
              </a:rPr>
              <a:t>{{IND_9_NAME}}</a:t>
            </a:r>
          </a:p>
        </p:txBody>
      </p:sp>
      <p:sp>
        <p:nvSpPr>
          <p:cNvPr id="46" name="TextBox 45"/>
          <p:cNvSpPr txBox="1"/>
          <p:nvPr/>
        </p:nvSpPr>
        <p:spPr>
          <a:xfrm>
            <a:off x="4322064" y="3950208"/>
            <a:ext cx="1630680" cy="411480"/>
          </a:xfrm>
          <a:prstGeom prst="rect">
            <a:avLst/>
          </a:prstGeom>
          <a:noFill/>
        </p:spPr>
        <p:txBody>
          <a:bodyPr wrap="square" lIns="0" rIns="0" tIns="0" bIns="0" anchor="t">
            <a:spAutoFit/>
          </a:bodyPr>
          <a:lstStyle/>
          <a:p>
            <a:pPr algn="l"/>
            <a:r>
              <a:rPr sz="1800" b="1" i="0">
                <a:solidFill>
                  <a:srgbClr val="003D7A"/>
                </a:solidFill>
                <a:latin typeface="Calibri"/>
              </a:rPr>
              <a:t>{{IND_9_PCT}}</a:t>
            </a:r>
          </a:p>
        </p:txBody>
      </p:sp>
      <p:sp>
        <p:nvSpPr>
          <p:cNvPr id="47" name="TextBox 46"/>
          <p:cNvSpPr txBox="1"/>
          <p:nvPr/>
        </p:nvSpPr>
        <p:spPr>
          <a:xfrm>
            <a:off x="4322064" y="4361688"/>
            <a:ext cx="1630680" cy="182880"/>
          </a:xfrm>
          <a:prstGeom prst="rect">
            <a:avLst/>
          </a:prstGeom>
          <a:noFill/>
        </p:spPr>
        <p:txBody>
          <a:bodyPr wrap="square" lIns="0" rIns="0" tIns="0" bIns="0" anchor="t">
            <a:spAutoFit/>
          </a:bodyPr>
          <a:lstStyle/>
          <a:p>
            <a:pPr algn="l"/>
            <a:r>
              <a:rPr sz="700" b="0" i="1">
                <a:solidFill>
                  <a:srgbClr val="4A5568"/>
                </a:solidFill>
                <a:latin typeface="Calibri"/>
              </a:rPr>
              <a:t>{{IND_9_NOTE}}</a:t>
            </a:r>
          </a:p>
        </p:txBody>
      </p:sp>
      <p:sp>
        <p:nvSpPr>
          <p:cNvPr id="48" name="Rectangle 47"/>
          <p:cNvSpPr/>
          <p:nvPr/>
        </p:nvSpPr>
        <p:spPr>
          <a:xfrm>
            <a:off x="6117336" y="3493008"/>
            <a:ext cx="1813560" cy="1042415"/>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08776" y="3584448"/>
            <a:ext cx="1630680" cy="320040"/>
          </a:xfrm>
          <a:prstGeom prst="rect">
            <a:avLst/>
          </a:prstGeom>
          <a:noFill/>
        </p:spPr>
        <p:txBody>
          <a:bodyPr wrap="square" lIns="0" rIns="0" tIns="0" bIns="0" anchor="t">
            <a:spAutoFit/>
          </a:bodyPr>
          <a:lstStyle/>
          <a:p>
            <a:pPr algn="l"/>
            <a:r>
              <a:rPr sz="900" b="1" i="0">
                <a:solidFill>
                  <a:srgbClr val="1F2937"/>
                </a:solidFill>
                <a:latin typeface="Calibri"/>
              </a:rPr>
              <a:t>{{IND_10_NAME}}</a:t>
            </a:r>
          </a:p>
        </p:txBody>
      </p:sp>
      <p:sp>
        <p:nvSpPr>
          <p:cNvPr id="50" name="TextBox 49"/>
          <p:cNvSpPr txBox="1"/>
          <p:nvPr/>
        </p:nvSpPr>
        <p:spPr>
          <a:xfrm>
            <a:off x="6208776" y="3950208"/>
            <a:ext cx="1630680" cy="411480"/>
          </a:xfrm>
          <a:prstGeom prst="rect">
            <a:avLst/>
          </a:prstGeom>
          <a:noFill/>
        </p:spPr>
        <p:txBody>
          <a:bodyPr wrap="square" lIns="0" rIns="0" tIns="0" bIns="0" anchor="t">
            <a:spAutoFit/>
          </a:bodyPr>
          <a:lstStyle/>
          <a:p>
            <a:pPr algn="l"/>
            <a:r>
              <a:rPr sz="1800" b="1" i="0">
                <a:solidFill>
                  <a:srgbClr val="003D7A"/>
                </a:solidFill>
                <a:latin typeface="Calibri"/>
              </a:rPr>
              <a:t>{{IND_10_PCT}}</a:t>
            </a:r>
          </a:p>
        </p:txBody>
      </p:sp>
      <p:sp>
        <p:nvSpPr>
          <p:cNvPr id="51" name="TextBox 50"/>
          <p:cNvSpPr txBox="1"/>
          <p:nvPr/>
        </p:nvSpPr>
        <p:spPr>
          <a:xfrm>
            <a:off x="6208776" y="4361688"/>
            <a:ext cx="1630680" cy="182880"/>
          </a:xfrm>
          <a:prstGeom prst="rect">
            <a:avLst/>
          </a:prstGeom>
          <a:noFill/>
        </p:spPr>
        <p:txBody>
          <a:bodyPr wrap="square" lIns="0" rIns="0" tIns="0" bIns="0" anchor="t">
            <a:spAutoFit/>
          </a:bodyPr>
          <a:lstStyle/>
          <a:p>
            <a:pPr algn="l"/>
            <a:r>
              <a:rPr sz="700" b="0" i="1">
                <a:solidFill>
                  <a:srgbClr val="4A5568"/>
                </a:solidFill>
                <a:latin typeface="Calibri"/>
              </a:rPr>
              <a:t>{{IND_10_NOTE}}</a:t>
            </a:r>
          </a:p>
        </p:txBody>
      </p:sp>
      <p:sp>
        <p:nvSpPr>
          <p:cNvPr id="52" name="Rectangle 51"/>
          <p:cNvSpPr/>
          <p:nvPr/>
        </p:nvSpPr>
        <p:spPr>
          <a:xfrm>
            <a:off x="8004048" y="3493008"/>
            <a:ext cx="1813560" cy="1042415"/>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095488" y="3584448"/>
            <a:ext cx="1630680" cy="320040"/>
          </a:xfrm>
          <a:prstGeom prst="rect">
            <a:avLst/>
          </a:prstGeom>
          <a:noFill/>
        </p:spPr>
        <p:txBody>
          <a:bodyPr wrap="square" lIns="0" rIns="0" tIns="0" bIns="0" anchor="t">
            <a:spAutoFit/>
          </a:bodyPr>
          <a:lstStyle/>
          <a:p>
            <a:pPr algn="l"/>
            <a:r>
              <a:rPr sz="900" b="1" i="0">
                <a:solidFill>
                  <a:srgbClr val="1F2937"/>
                </a:solidFill>
                <a:latin typeface="Calibri"/>
              </a:rPr>
              <a:t>{{IND_11_NAME}}</a:t>
            </a:r>
          </a:p>
        </p:txBody>
      </p:sp>
      <p:sp>
        <p:nvSpPr>
          <p:cNvPr id="54" name="TextBox 53"/>
          <p:cNvSpPr txBox="1"/>
          <p:nvPr/>
        </p:nvSpPr>
        <p:spPr>
          <a:xfrm>
            <a:off x="8095488" y="3950208"/>
            <a:ext cx="1630680" cy="411480"/>
          </a:xfrm>
          <a:prstGeom prst="rect">
            <a:avLst/>
          </a:prstGeom>
          <a:noFill/>
        </p:spPr>
        <p:txBody>
          <a:bodyPr wrap="square" lIns="0" rIns="0" tIns="0" bIns="0" anchor="t">
            <a:spAutoFit/>
          </a:bodyPr>
          <a:lstStyle/>
          <a:p>
            <a:pPr algn="l"/>
            <a:r>
              <a:rPr sz="1800" b="1" i="0">
                <a:solidFill>
                  <a:srgbClr val="003D7A"/>
                </a:solidFill>
                <a:latin typeface="Calibri"/>
              </a:rPr>
              <a:t>{{IND_11_PCT}}</a:t>
            </a:r>
          </a:p>
        </p:txBody>
      </p:sp>
      <p:sp>
        <p:nvSpPr>
          <p:cNvPr id="55" name="TextBox 54"/>
          <p:cNvSpPr txBox="1"/>
          <p:nvPr/>
        </p:nvSpPr>
        <p:spPr>
          <a:xfrm>
            <a:off x="8095488" y="4361688"/>
            <a:ext cx="1630680" cy="182880"/>
          </a:xfrm>
          <a:prstGeom prst="rect">
            <a:avLst/>
          </a:prstGeom>
          <a:noFill/>
        </p:spPr>
        <p:txBody>
          <a:bodyPr wrap="square" lIns="0" rIns="0" tIns="0" bIns="0" anchor="t">
            <a:spAutoFit/>
          </a:bodyPr>
          <a:lstStyle/>
          <a:p>
            <a:pPr algn="l"/>
            <a:r>
              <a:rPr sz="700" b="0" i="1">
                <a:solidFill>
                  <a:srgbClr val="4A5568"/>
                </a:solidFill>
                <a:latin typeface="Calibri"/>
              </a:rPr>
              <a:t>{{IND_11_NOTE}}</a:t>
            </a:r>
          </a:p>
        </p:txBody>
      </p:sp>
      <p:sp>
        <p:nvSpPr>
          <p:cNvPr id="56" name="Rectangle 55"/>
          <p:cNvSpPr/>
          <p:nvPr/>
        </p:nvSpPr>
        <p:spPr>
          <a:xfrm>
            <a:off x="9890760" y="3493008"/>
            <a:ext cx="1813560" cy="1042415"/>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982200" y="3584448"/>
            <a:ext cx="1630680" cy="320040"/>
          </a:xfrm>
          <a:prstGeom prst="rect">
            <a:avLst/>
          </a:prstGeom>
          <a:noFill/>
        </p:spPr>
        <p:txBody>
          <a:bodyPr wrap="square" lIns="0" rIns="0" tIns="0" bIns="0" anchor="t">
            <a:spAutoFit/>
          </a:bodyPr>
          <a:lstStyle/>
          <a:p>
            <a:pPr algn="l"/>
            <a:r>
              <a:rPr sz="900" b="1" i="0">
                <a:solidFill>
                  <a:srgbClr val="1F2937"/>
                </a:solidFill>
                <a:latin typeface="Calibri"/>
              </a:rPr>
              <a:t>{{IND_12_NAME}}</a:t>
            </a:r>
          </a:p>
        </p:txBody>
      </p:sp>
      <p:sp>
        <p:nvSpPr>
          <p:cNvPr id="58" name="TextBox 57"/>
          <p:cNvSpPr txBox="1"/>
          <p:nvPr/>
        </p:nvSpPr>
        <p:spPr>
          <a:xfrm>
            <a:off x="9982200" y="3950208"/>
            <a:ext cx="1630680" cy="411480"/>
          </a:xfrm>
          <a:prstGeom prst="rect">
            <a:avLst/>
          </a:prstGeom>
          <a:noFill/>
        </p:spPr>
        <p:txBody>
          <a:bodyPr wrap="square" lIns="0" rIns="0" tIns="0" bIns="0" anchor="t">
            <a:spAutoFit/>
          </a:bodyPr>
          <a:lstStyle/>
          <a:p>
            <a:pPr algn="l"/>
            <a:r>
              <a:rPr sz="1800" b="1" i="0">
                <a:solidFill>
                  <a:srgbClr val="003D7A"/>
                </a:solidFill>
                <a:latin typeface="Calibri"/>
              </a:rPr>
              <a:t>{{IND_12_PCT}}</a:t>
            </a:r>
          </a:p>
        </p:txBody>
      </p:sp>
      <p:sp>
        <p:nvSpPr>
          <p:cNvPr id="59" name="TextBox 58"/>
          <p:cNvSpPr txBox="1"/>
          <p:nvPr/>
        </p:nvSpPr>
        <p:spPr>
          <a:xfrm>
            <a:off x="9982200" y="4361688"/>
            <a:ext cx="1630680" cy="182880"/>
          </a:xfrm>
          <a:prstGeom prst="rect">
            <a:avLst/>
          </a:prstGeom>
          <a:noFill/>
        </p:spPr>
        <p:txBody>
          <a:bodyPr wrap="square" lIns="0" rIns="0" tIns="0" bIns="0" anchor="t">
            <a:spAutoFit/>
          </a:bodyPr>
          <a:lstStyle/>
          <a:p>
            <a:pPr algn="l"/>
            <a:r>
              <a:rPr sz="700" b="0" i="1">
                <a:solidFill>
                  <a:srgbClr val="4A5568"/>
                </a:solidFill>
                <a:latin typeface="Calibri"/>
              </a:rPr>
              <a:t>{{IND_12_NOTE}}</a:t>
            </a:r>
          </a:p>
        </p:txBody>
      </p:sp>
      <p:sp>
        <p:nvSpPr>
          <p:cNvPr id="60" name="Rectangle 59"/>
          <p:cNvSpPr/>
          <p:nvPr/>
        </p:nvSpPr>
        <p:spPr>
          <a:xfrm>
            <a:off x="457200" y="4608576"/>
            <a:ext cx="1813560" cy="1042415"/>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8640" y="4700016"/>
            <a:ext cx="1630680" cy="320040"/>
          </a:xfrm>
          <a:prstGeom prst="rect">
            <a:avLst/>
          </a:prstGeom>
          <a:noFill/>
        </p:spPr>
        <p:txBody>
          <a:bodyPr wrap="square" lIns="0" rIns="0" tIns="0" bIns="0" anchor="t">
            <a:spAutoFit/>
          </a:bodyPr>
          <a:lstStyle/>
          <a:p>
            <a:pPr algn="l"/>
            <a:r>
              <a:rPr sz="900" b="1" i="0">
                <a:solidFill>
                  <a:srgbClr val="1F2937"/>
                </a:solidFill>
                <a:latin typeface="Calibri"/>
              </a:rPr>
              <a:t>{{IND_13_NAME}}</a:t>
            </a:r>
          </a:p>
        </p:txBody>
      </p:sp>
      <p:sp>
        <p:nvSpPr>
          <p:cNvPr id="62" name="TextBox 61"/>
          <p:cNvSpPr txBox="1"/>
          <p:nvPr/>
        </p:nvSpPr>
        <p:spPr>
          <a:xfrm>
            <a:off x="548640" y="5065776"/>
            <a:ext cx="1630680" cy="411480"/>
          </a:xfrm>
          <a:prstGeom prst="rect">
            <a:avLst/>
          </a:prstGeom>
          <a:noFill/>
        </p:spPr>
        <p:txBody>
          <a:bodyPr wrap="square" lIns="0" rIns="0" tIns="0" bIns="0" anchor="t">
            <a:spAutoFit/>
          </a:bodyPr>
          <a:lstStyle/>
          <a:p>
            <a:pPr algn="l"/>
            <a:r>
              <a:rPr sz="1800" b="1" i="0">
                <a:solidFill>
                  <a:srgbClr val="003D7A"/>
                </a:solidFill>
                <a:latin typeface="Calibri"/>
              </a:rPr>
              <a:t>{{IND_13_PCT}}</a:t>
            </a:r>
          </a:p>
        </p:txBody>
      </p:sp>
      <p:sp>
        <p:nvSpPr>
          <p:cNvPr id="63" name="TextBox 62"/>
          <p:cNvSpPr txBox="1"/>
          <p:nvPr/>
        </p:nvSpPr>
        <p:spPr>
          <a:xfrm>
            <a:off x="548640" y="5477256"/>
            <a:ext cx="1630680" cy="182880"/>
          </a:xfrm>
          <a:prstGeom prst="rect">
            <a:avLst/>
          </a:prstGeom>
          <a:noFill/>
        </p:spPr>
        <p:txBody>
          <a:bodyPr wrap="square" lIns="0" rIns="0" tIns="0" bIns="0" anchor="t">
            <a:spAutoFit/>
          </a:bodyPr>
          <a:lstStyle/>
          <a:p>
            <a:pPr algn="l"/>
            <a:r>
              <a:rPr sz="700" b="0" i="1">
                <a:solidFill>
                  <a:srgbClr val="4A5568"/>
                </a:solidFill>
                <a:latin typeface="Calibri"/>
              </a:rPr>
              <a:t>{{IND_13_NOTE}}</a:t>
            </a:r>
          </a:p>
        </p:txBody>
      </p:sp>
      <p:sp>
        <p:nvSpPr>
          <p:cNvPr id="64" name="Rectangle 63"/>
          <p:cNvSpPr/>
          <p:nvPr/>
        </p:nvSpPr>
        <p:spPr>
          <a:xfrm>
            <a:off x="2343912" y="4608576"/>
            <a:ext cx="1813560" cy="1042415"/>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435352" y="4700016"/>
            <a:ext cx="1630680" cy="320040"/>
          </a:xfrm>
          <a:prstGeom prst="rect">
            <a:avLst/>
          </a:prstGeom>
          <a:noFill/>
        </p:spPr>
        <p:txBody>
          <a:bodyPr wrap="square" lIns="0" rIns="0" tIns="0" bIns="0" anchor="t">
            <a:spAutoFit/>
          </a:bodyPr>
          <a:lstStyle/>
          <a:p>
            <a:pPr algn="l"/>
            <a:r>
              <a:rPr sz="900" b="1" i="0">
                <a:solidFill>
                  <a:srgbClr val="1F2937"/>
                </a:solidFill>
                <a:latin typeface="Calibri"/>
              </a:rPr>
              <a:t>{{IND_14_NAME}}</a:t>
            </a:r>
          </a:p>
        </p:txBody>
      </p:sp>
      <p:sp>
        <p:nvSpPr>
          <p:cNvPr id="66" name="TextBox 65"/>
          <p:cNvSpPr txBox="1"/>
          <p:nvPr/>
        </p:nvSpPr>
        <p:spPr>
          <a:xfrm>
            <a:off x="2435352" y="5065776"/>
            <a:ext cx="1630680" cy="411480"/>
          </a:xfrm>
          <a:prstGeom prst="rect">
            <a:avLst/>
          </a:prstGeom>
          <a:noFill/>
        </p:spPr>
        <p:txBody>
          <a:bodyPr wrap="square" lIns="0" rIns="0" tIns="0" bIns="0" anchor="t">
            <a:spAutoFit/>
          </a:bodyPr>
          <a:lstStyle/>
          <a:p>
            <a:pPr algn="l"/>
            <a:r>
              <a:rPr sz="1800" b="1" i="0">
                <a:solidFill>
                  <a:srgbClr val="003D7A"/>
                </a:solidFill>
                <a:latin typeface="Calibri"/>
              </a:rPr>
              <a:t>{{IND_14_PCT}}</a:t>
            </a:r>
          </a:p>
        </p:txBody>
      </p:sp>
      <p:sp>
        <p:nvSpPr>
          <p:cNvPr id="67" name="TextBox 66"/>
          <p:cNvSpPr txBox="1"/>
          <p:nvPr/>
        </p:nvSpPr>
        <p:spPr>
          <a:xfrm>
            <a:off x="2435352" y="5477256"/>
            <a:ext cx="1630680" cy="182880"/>
          </a:xfrm>
          <a:prstGeom prst="rect">
            <a:avLst/>
          </a:prstGeom>
          <a:noFill/>
        </p:spPr>
        <p:txBody>
          <a:bodyPr wrap="square" lIns="0" rIns="0" tIns="0" bIns="0" anchor="t">
            <a:spAutoFit/>
          </a:bodyPr>
          <a:lstStyle/>
          <a:p>
            <a:pPr algn="l"/>
            <a:r>
              <a:rPr sz="700" b="0" i="1">
                <a:solidFill>
                  <a:srgbClr val="4A5568"/>
                </a:solidFill>
                <a:latin typeface="Calibri"/>
              </a:rPr>
              <a:t>{{IND_14_NOTE}}</a:t>
            </a:r>
          </a:p>
        </p:txBody>
      </p:sp>
      <p:sp>
        <p:nvSpPr>
          <p:cNvPr id="68" name="Rectangle 67"/>
          <p:cNvSpPr/>
          <p:nvPr/>
        </p:nvSpPr>
        <p:spPr>
          <a:xfrm>
            <a:off x="4230624" y="4608576"/>
            <a:ext cx="1813560" cy="1042415"/>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322064" y="4700016"/>
            <a:ext cx="1630680" cy="320040"/>
          </a:xfrm>
          <a:prstGeom prst="rect">
            <a:avLst/>
          </a:prstGeom>
          <a:noFill/>
        </p:spPr>
        <p:txBody>
          <a:bodyPr wrap="square" lIns="0" rIns="0" tIns="0" bIns="0" anchor="t">
            <a:spAutoFit/>
          </a:bodyPr>
          <a:lstStyle/>
          <a:p>
            <a:pPr algn="l"/>
            <a:r>
              <a:rPr sz="900" b="1" i="0">
                <a:solidFill>
                  <a:srgbClr val="1F2937"/>
                </a:solidFill>
                <a:latin typeface="Calibri"/>
              </a:rPr>
              <a:t>{{IND_15_NAME}}</a:t>
            </a:r>
          </a:p>
        </p:txBody>
      </p:sp>
      <p:sp>
        <p:nvSpPr>
          <p:cNvPr id="70" name="TextBox 69"/>
          <p:cNvSpPr txBox="1"/>
          <p:nvPr/>
        </p:nvSpPr>
        <p:spPr>
          <a:xfrm>
            <a:off x="4322064" y="5065776"/>
            <a:ext cx="1630680" cy="411480"/>
          </a:xfrm>
          <a:prstGeom prst="rect">
            <a:avLst/>
          </a:prstGeom>
          <a:noFill/>
        </p:spPr>
        <p:txBody>
          <a:bodyPr wrap="square" lIns="0" rIns="0" tIns="0" bIns="0" anchor="t">
            <a:spAutoFit/>
          </a:bodyPr>
          <a:lstStyle/>
          <a:p>
            <a:pPr algn="l"/>
            <a:r>
              <a:rPr sz="1800" b="1" i="0">
                <a:solidFill>
                  <a:srgbClr val="003D7A"/>
                </a:solidFill>
                <a:latin typeface="Calibri"/>
              </a:rPr>
              <a:t>{{IND_15_PCT}}</a:t>
            </a:r>
          </a:p>
        </p:txBody>
      </p:sp>
      <p:sp>
        <p:nvSpPr>
          <p:cNvPr id="71" name="TextBox 70"/>
          <p:cNvSpPr txBox="1"/>
          <p:nvPr/>
        </p:nvSpPr>
        <p:spPr>
          <a:xfrm>
            <a:off x="4322064" y="5477256"/>
            <a:ext cx="1630680" cy="182880"/>
          </a:xfrm>
          <a:prstGeom prst="rect">
            <a:avLst/>
          </a:prstGeom>
          <a:noFill/>
        </p:spPr>
        <p:txBody>
          <a:bodyPr wrap="square" lIns="0" rIns="0" tIns="0" bIns="0" anchor="t">
            <a:spAutoFit/>
          </a:bodyPr>
          <a:lstStyle/>
          <a:p>
            <a:pPr algn="l"/>
            <a:r>
              <a:rPr sz="700" b="0" i="1">
                <a:solidFill>
                  <a:srgbClr val="4A5568"/>
                </a:solidFill>
                <a:latin typeface="Calibri"/>
              </a:rPr>
              <a:t>{{IND_15_NOTE}}</a:t>
            </a:r>
          </a:p>
        </p:txBody>
      </p:sp>
      <p:sp>
        <p:nvSpPr>
          <p:cNvPr id="72" name="Rectangle 71"/>
          <p:cNvSpPr/>
          <p:nvPr/>
        </p:nvSpPr>
        <p:spPr>
          <a:xfrm>
            <a:off x="6117336" y="4608576"/>
            <a:ext cx="1813560" cy="1042415"/>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208776" y="4700016"/>
            <a:ext cx="1630680" cy="320040"/>
          </a:xfrm>
          <a:prstGeom prst="rect">
            <a:avLst/>
          </a:prstGeom>
          <a:noFill/>
        </p:spPr>
        <p:txBody>
          <a:bodyPr wrap="square" lIns="0" rIns="0" tIns="0" bIns="0" anchor="t">
            <a:spAutoFit/>
          </a:bodyPr>
          <a:lstStyle/>
          <a:p>
            <a:pPr algn="l"/>
            <a:r>
              <a:rPr sz="900" b="1" i="0">
                <a:solidFill>
                  <a:srgbClr val="1F2937"/>
                </a:solidFill>
                <a:latin typeface="Calibri"/>
              </a:rPr>
              <a:t>{{IND_16_NAME}}</a:t>
            </a:r>
          </a:p>
        </p:txBody>
      </p:sp>
      <p:sp>
        <p:nvSpPr>
          <p:cNvPr id="74" name="TextBox 73"/>
          <p:cNvSpPr txBox="1"/>
          <p:nvPr/>
        </p:nvSpPr>
        <p:spPr>
          <a:xfrm>
            <a:off x="6208776" y="5065776"/>
            <a:ext cx="1630680" cy="411480"/>
          </a:xfrm>
          <a:prstGeom prst="rect">
            <a:avLst/>
          </a:prstGeom>
          <a:noFill/>
        </p:spPr>
        <p:txBody>
          <a:bodyPr wrap="square" lIns="0" rIns="0" tIns="0" bIns="0" anchor="t">
            <a:spAutoFit/>
          </a:bodyPr>
          <a:lstStyle/>
          <a:p>
            <a:pPr algn="l"/>
            <a:r>
              <a:rPr sz="1800" b="1" i="0">
                <a:solidFill>
                  <a:srgbClr val="003D7A"/>
                </a:solidFill>
                <a:latin typeface="Calibri"/>
              </a:rPr>
              <a:t>{{IND_16_PCT}}</a:t>
            </a:r>
          </a:p>
        </p:txBody>
      </p:sp>
      <p:sp>
        <p:nvSpPr>
          <p:cNvPr id="75" name="TextBox 74"/>
          <p:cNvSpPr txBox="1"/>
          <p:nvPr/>
        </p:nvSpPr>
        <p:spPr>
          <a:xfrm>
            <a:off x="6208776" y="5477256"/>
            <a:ext cx="1630680" cy="182880"/>
          </a:xfrm>
          <a:prstGeom prst="rect">
            <a:avLst/>
          </a:prstGeom>
          <a:noFill/>
        </p:spPr>
        <p:txBody>
          <a:bodyPr wrap="square" lIns="0" rIns="0" tIns="0" bIns="0" anchor="t">
            <a:spAutoFit/>
          </a:bodyPr>
          <a:lstStyle/>
          <a:p>
            <a:pPr algn="l"/>
            <a:r>
              <a:rPr sz="700" b="0" i="1">
                <a:solidFill>
                  <a:srgbClr val="4A5568"/>
                </a:solidFill>
                <a:latin typeface="Calibri"/>
              </a:rPr>
              <a:t>{{IND_16_NOTE}}</a:t>
            </a:r>
          </a:p>
        </p:txBody>
      </p:sp>
      <p:sp>
        <p:nvSpPr>
          <p:cNvPr id="76" name="Rectangle 75"/>
          <p:cNvSpPr/>
          <p:nvPr/>
        </p:nvSpPr>
        <p:spPr>
          <a:xfrm>
            <a:off x="8004048" y="4608576"/>
            <a:ext cx="1813560" cy="1042415"/>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095488" y="4700016"/>
            <a:ext cx="1630680" cy="320040"/>
          </a:xfrm>
          <a:prstGeom prst="rect">
            <a:avLst/>
          </a:prstGeom>
          <a:noFill/>
        </p:spPr>
        <p:txBody>
          <a:bodyPr wrap="square" lIns="0" rIns="0" tIns="0" bIns="0" anchor="t">
            <a:spAutoFit/>
          </a:bodyPr>
          <a:lstStyle/>
          <a:p>
            <a:pPr algn="l"/>
            <a:r>
              <a:rPr sz="900" b="1" i="0">
                <a:solidFill>
                  <a:srgbClr val="1F2937"/>
                </a:solidFill>
                <a:latin typeface="Calibri"/>
              </a:rPr>
              <a:t>{{IND_17_NAME}}</a:t>
            </a:r>
          </a:p>
        </p:txBody>
      </p:sp>
      <p:sp>
        <p:nvSpPr>
          <p:cNvPr id="78" name="TextBox 77"/>
          <p:cNvSpPr txBox="1"/>
          <p:nvPr/>
        </p:nvSpPr>
        <p:spPr>
          <a:xfrm>
            <a:off x="8095488" y="5065776"/>
            <a:ext cx="1630680" cy="411480"/>
          </a:xfrm>
          <a:prstGeom prst="rect">
            <a:avLst/>
          </a:prstGeom>
          <a:noFill/>
        </p:spPr>
        <p:txBody>
          <a:bodyPr wrap="square" lIns="0" rIns="0" tIns="0" bIns="0" anchor="t">
            <a:spAutoFit/>
          </a:bodyPr>
          <a:lstStyle/>
          <a:p>
            <a:pPr algn="l"/>
            <a:r>
              <a:rPr sz="1800" b="1" i="0">
                <a:solidFill>
                  <a:srgbClr val="003D7A"/>
                </a:solidFill>
                <a:latin typeface="Calibri"/>
              </a:rPr>
              <a:t>{{IND_17_PCT}}</a:t>
            </a:r>
          </a:p>
        </p:txBody>
      </p:sp>
      <p:sp>
        <p:nvSpPr>
          <p:cNvPr id="79" name="TextBox 78"/>
          <p:cNvSpPr txBox="1"/>
          <p:nvPr/>
        </p:nvSpPr>
        <p:spPr>
          <a:xfrm>
            <a:off x="8095488" y="5477256"/>
            <a:ext cx="1630680" cy="182880"/>
          </a:xfrm>
          <a:prstGeom prst="rect">
            <a:avLst/>
          </a:prstGeom>
          <a:noFill/>
        </p:spPr>
        <p:txBody>
          <a:bodyPr wrap="square" lIns="0" rIns="0" tIns="0" bIns="0" anchor="t">
            <a:spAutoFit/>
          </a:bodyPr>
          <a:lstStyle/>
          <a:p>
            <a:pPr algn="l"/>
            <a:r>
              <a:rPr sz="700" b="0" i="1">
                <a:solidFill>
                  <a:srgbClr val="4A5568"/>
                </a:solidFill>
                <a:latin typeface="Calibri"/>
              </a:rPr>
              <a:t>{{IND_17_NOTE}}</a:t>
            </a:r>
          </a:p>
        </p:txBody>
      </p:sp>
      <p:sp>
        <p:nvSpPr>
          <p:cNvPr id="80" name="Rectangle 79"/>
          <p:cNvSpPr/>
          <p:nvPr/>
        </p:nvSpPr>
        <p:spPr>
          <a:xfrm>
            <a:off x="9890760" y="4608576"/>
            <a:ext cx="1813560" cy="1042415"/>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982200" y="4700016"/>
            <a:ext cx="1630680" cy="320040"/>
          </a:xfrm>
          <a:prstGeom prst="rect">
            <a:avLst/>
          </a:prstGeom>
          <a:noFill/>
        </p:spPr>
        <p:txBody>
          <a:bodyPr wrap="square" lIns="0" rIns="0" tIns="0" bIns="0" anchor="t">
            <a:spAutoFit/>
          </a:bodyPr>
          <a:lstStyle/>
          <a:p>
            <a:pPr algn="l"/>
            <a:r>
              <a:rPr sz="900" b="1" i="0">
                <a:solidFill>
                  <a:srgbClr val="1F2937"/>
                </a:solidFill>
                <a:latin typeface="Calibri"/>
              </a:rPr>
              <a:t>{{IND_18_NAME}}</a:t>
            </a:r>
          </a:p>
        </p:txBody>
      </p:sp>
      <p:sp>
        <p:nvSpPr>
          <p:cNvPr id="82" name="TextBox 81"/>
          <p:cNvSpPr txBox="1"/>
          <p:nvPr/>
        </p:nvSpPr>
        <p:spPr>
          <a:xfrm>
            <a:off x="9982200" y="5065776"/>
            <a:ext cx="1630680" cy="411480"/>
          </a:xfrm>
          <a:prstGeom prst="rect">
            <a:avLst/>
          </a:prstGeom>
          <a:noFill/>
        </p:spPr>
        <p:txBody>
          <a:bodyPr wrap="square" lIns="0" rIns="0" tIns="0" bIns="0" anchor="t">
            <a:spAutoFit/>
          </a:bodyPr>
          <a:lstStyle/>
          <a:p>
            <a:pPr algn="l"/>
            <a:r>
              <a:rPr sz="1800" b="1" i="0">
                <a:solidFill>
                  <a:srgbClr val="003D7A"/>
                </a:solidFill>
                <a:latin typeface="Calibri"/>
              </a:rPr>
              <a:t>{{IND_18_PCT}}</a:t>
            </a:r>
          </a:p>
        </p:txBody>
      </p:sp>
      <p:sp>
        <p:nvSpPr>
          <p:cNvPr id="83" name="TextBox 82"/>
          <p:cNvSpPr txBox="1"/>
          <p:nvPr/>
        </p:nvSpPr>
        <p:spPr>
          <a:xfrm>
            <a:off x="9982200" y="5477256"/>
            <a:ext cx="1630680" cy="182880"/>
          </a:xfrm>
          <a:prstGeom prst="rect">
            <a:avLst/>
          </a:prstGeom>
          <a:noFill/>
        </p:spPr>
        <p:txBody>
          <a:bodyPr wrap="square" lIns="0" rIns="0" tIns="0" bIns="0" anchor="t">
            <a:spAutoFit/>
          </a:bodyPr>
          <a:lstStyle/>
          <a:p>
            <a:pPr algn="l"/>
            <a:r>
              <a:rPr sz="700" b="0" i="1">
                <a:solidFill>
                  <a:srgbClr val="4A5568"/>
                </a:solidFill>
                <a:latin typeface="Calibri"/>
              </a:rPr>
              <a:t>{{IND_18_NOTE}}</a:t>
            </a:r>
          </a:p>
        </p:txBody>
      </p:sp>
      <p:sp>
        <p:nvSpPr>
          <p:cNvPr id="84" name="Rectangle 83"/>
          <p:cNvSpPr/>
          <p:nvPr/>
        </p:nvSpPr>
        <p:spPr>
          <a:xfrm>
            <a:off x="457200" y="5724144"/>
            <a:ext cx="1813560" cy="1042415"/>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48640" y="5815583"/>
            <a:ext cx="1630680" cy="320040"/>
          </a:xfrm>
          <a:prstGeom prst="rect">
            <a:avLst/>
          </a:prstGeom>
          <a:noFill/>
        </p:spPr>
        <p:txBody>
          <a:bodyPr wrap="square" lIns="0" rIns="0" tIns="0" bIns="0" anchor="t">
            <a:spAutoFit/>
          </a:bodyPr>
          <a:lstStyle/>
          <a:p>
            <a:pPr algn="l"/>
            <a:r>
              <a:rPr sz="900" b="1" i="0">
                <a:solidFill>
                  <a:srgbClr val="1F2937"/>
                </a:solidFill>
                <a:latin typeface="Calibri"/>
              </a:rPr>
              <a:t>{{IND_19_NAME}}</a:t>
            </a:r>
          </a:p>
        </p:txBody>
      </p:sp>
      <p:sp>
        <p:nvSpPr>
          <p:cNvPr id="86" name="TextBox 85"/>
          <p:cNvSpPr txBox="1"/>
          <p:nvPr/>
        </p:nvSpPr>
        <p:spPr>
          <a:xfrm>
            <a:off x="548640" y="6181344"/>
            <a:ext cx="1630680" cy="411480"/>
          </a:xfrm>
          <a:prstGeom prst="rect">
            <a:avLst/>
          </a:prstGeom>
          <a:noFill/>
        </p:spPr>
        <p:txBody>
          <a:bodyPr wrap="square" lIns="0" rIns="0" tIns="0" bIns="0" anchor="t">
            <a:spAutoFit/>
          </a:bodyPr>
          <a:lstStyle/>
          <a:p>
            <a:pPr algn="l"/>
            <a:r>
              <a:rPr sz="1800" b="1" i="0">
                <a:solidFill>
                  <a:srgbClr val="003D7A"/>
                </a:solidFill>
                <a:latin typeface="Calibri"/>
              </a:rPr>
              <a:t>{{IND_19_PCT}}</a:t>
            </a:r>
          </a:p>
        </p:txBody>
      </p:sp>
      <p:sp>
        <p:nvSpPr>
          <p:cNvPr id="87" name="TextBox 86"/>
          <p:cNvSpPr txBox="1"/>
          <p:nvPr/>
        </p:nvSpPr>
        <p:spPr>
          <a:xfrm>
            <a:off x="548640" y="6592824"/>
            <a:ext cx="1630680" cy="182880"/>
          </a:xfrm>
          <a:prstGeom prst="rect">
            <a:avLst/>
          </a:prstGeom>
          <a:noFill/>
        </p:spPr>
        <p:txBody>
          <a:bodyPr wrap="square" lIns="0" rIns="0" tIns="0" bIns="0" anchor="t">
            <a:spAutoFit/>
          </a:bodyPr>
          <a:lstStyle/>
          <a:p>
            <a:pPr algn="l"/>
            <a:r>
              <a:rPr sz="700" b="0" i="1">
                <a:solidFill>
                  <a:srgbClr val="4A5568"/>
                </a:solidFill>
                <a:latin typeface="Calibri"/>
              </a:rPr>
              <a:t>{{IND_19_NOTE}}</a:t>
            </a:r>
          </a:p>
        </p:txBody>
      </p:sp>
      <p:sp>
        <p:nvSpPr>
          <p:cNvPr id="88" name="Rectangle 87"/>
          <p:cNvSpPr/>
          <p:nvPr/>
        </p:nvSpPr>
        <p:spPr>
          <a:xfrm>
            <a:off x="2343912" y="5724144"/>
            <a:ext cx="1813560" cy="1042415"/>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435352" y="5815583"/>
            <a:ext cx="1630680" cy="320040"/>
          </a:xfrm>
          <a:prstGeom prst="rect">
            <a:avLst/>
          </a:prstGeom>
          <a:noFill/>
        </p:spPr>
        <p:txBody>
          <a:bodyPr wrap="square" lIns="0" rIns="0" tIns="0" bIns="0" anchor="t">
            <a:spAutoFit/>
          </a:bodyPr>
          <a:lstStyle/>
          <a:p>
            <a:pPr algn="l"/>
            <a:r>
              <a:rPr sz="900" b="1" i="0">
                <a:solidFill>
                  <a:srgbClr val="1F2937"/>
                </a:solidFill>
                <a:latin typeface="Calibri"/>
              </a:rPr>
              <a:t>{{IND_20_NAME}}</a:t>
            </a:r>
          </a:p>
        </p:txBody>
      </p:sp>
      <p:sp>
        <p:nvSpPr>
          <p:cNvPr id="90" name="TextBox 89"/>
          <p:cNvSpPr txBox="1"/>
          <p:nvPr/>
        </p:nvSpPr>
        <p:spPr>
          <a:xfrm>
            <a:off x="2435352" y="6181344"/>
            <a:ext cx="1630680" cy="411480"/>
          </a:xfrm>
          <a:prstGeom prst="rect">
            <a:avLst/>
          </a:prstGeom>
          <a:noFill/>
        </p:spPr>
        <p:txBody>
          <a:bodyPr wrap="square" lIns="0" rIns="0" tIns="0" bIns="0" anchor="t">
            <a:spAutoFit/>
          </a:bodyPr>
          <a:lstStyle/>
          <a:p>
            <a:pPr algn="l"/>
            <a:r>
              <a:rPr sz="1800" b="1" i="0">
                <a:solidFill>
                  <a:srgbClr val="003D7A"/>
                </a:solidFill>
                <a:latin typeface="Calibri"/>
              </a:rPr>
              <a:t>{{IND_20_PCT}}</a:t>
            </a:r>
          </a:p>
        </p:txBody>
      </p:sp>
      <p:sp>
        <p:nvSpPr>
          <p:cNvPr id="91" name="TextBox 90"/>
          <p:cNvSpPr txBox="1"/>
          <p:nvPr/>
        </p:nvSpPr>
        <p:spPr>
          <a:xfrm>
            <a:off x="2435352" y="6592824"/>
            <a:ext cx="1630680" cy="182880"/>
          </a:xfrm>
          <a:prstGeom prst="rect">
            <a:avLst/>
          </a:prstGeom>
          <a:noFill/>
        </p:spPr>
        <p:txBody>
          <a:bodyPr wrap="square" lIns="0" rIns="0" tIns="0" bIns="0" anchor="t">
            <a:spAutoFit/>
          </a:bodyPr>
          <a:lstStyle/>
          <a:p>
            <a:pPr algn="l"/>
            <a:r>
              <a:rPr sz="700" b="0" i="1">
                <a:solidFill>
                  <a:srgbClr val="4A5568"/>
                </a:solidFill>
                <a:latin typeface="Calibri"/>
              </a:rPr>
              <a:t>{{IND_20_NOTE}}</a:t>
            </a:r>
          </a:p>
        </p:txBody>
      </p:sp>
      <p:sp>
        <p:nvSpPr>
          <p:cNvPr id="92" name="Rectangle 91"/>
          <p:cNvSpPr/>
          <p:nvPr/>
        </p:nvSpPr>
        <p:spPr>
          <a:xfrm>
            <a:off x="4230624" y="5724144"/>
            <a:ext cx="1813560" cy="1042415"/>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322064" y="5815583"/>
            <a:ext cx="1630680" cy="320040"/>
          </a:xfrm>
          <a:prstGeom prst="rect">
            <a:avLst/>
          </a:prstGeom>
          <a:noFill/>
        </p:spPr>
        <p:txBody>
          <a:bodyPr wrap="square" lIns="0" rIns="0" tIns="0" bIns="0" anchor="t">
            <a:spAutoFit/>
          </a:bodyPr>
          <a:lstStyle/>
          <a:p>
            <a:pPr algn="l"/>
            <a:r>
              <a:rPr sz="900" b="1" i="0">
                <a:solidFill>
                  <a:srgbClr val="1F2937"/>
                </a:solidFill>
                <a:latin typeface="Calibri"/>
              </a:rPr>
              <a:t>{{IND_21_NAME}}</a:t>
            </a:r>
          </a:p>
        </p:txBody>
      </p:sp>
      <p:sp>
        <p:nvSpPr>
          <p:cNvPr id="94" name="TextBox 93"/>
          <p:cNvSpPr txBox="1"/>
          <p:nvPr/>
        </p:nvSpPr>
        <p:spPr>
          <a:xfrm>
            <a:off x="4322064" y="6181344"/>
            <a:ext cx="1630680" cy="411480"/>
          </a:xfrm>
          <a:prstGeom prst="rect">
            <a:avLst/>
          </a:prstGeom>
          <a:noFill/>
        </p:spPr>
        <p:txBody>
          <a:bodyPr wrap="square" lIns="0" rIns="0" tIns="0" bIns="0" anchor="t">
            <a:spAutoFit/>
          </a:bodyPr>
          <a:lstStyle/>
          <a:p>
            <a:pPr algn="l"/>
            <a:r>
              <a:rPr sz="1800" b="1" i="0">
                <a:solidFill>
                  <a:srgbClr val="003D7A"/>
                </a:solidFill>
                <a:latin typeface="Calibri"/>
              </a:rPr>
              <a:t>{{IND_21_PCT}}</a:t>
            </a:r>
          </a:p>
        </p:txBody>
      </p:sp>
      <p:sp>
        <p:nvSpPr>
          <p:cNvPr id="95" name="TextBox 94"/>
          <p:cNvSpPr txBox="1"/>
          <p:nvPr/>
        </p:nvSpPr>
        <p:spPr>
          <a:xfrm>
            <a:off x="4322064" y="6592824"/>
            <a:ext cx="1630680" cy="182880"/>
          </a:xfrm>
          <a:prstGeom prst="rect">
            <a:avLst/>
          </a:prstGeom>
          <a:noFill/>
        </p:spPr>
        <p:txBody>
          <a:bodyPr wrap="square" lIns="0" rIns="0" tIns="0" bIns="0" anchor="t">
            <a:spAutoFit/>
          </a:bodyPr>
          <a:lstStyle/>
          <a:p>
            <a:pPr algn="l"/>
            <a:r>
              <a:rPr sz="700" b="0" i="1">
                <a:solidFill>
                  <a:srgbClr val="4A5568"/>
                </a:solidFill>
                <a:latin typeface="Calibri"/>
              </a:rPr>
              <a:t>{{IND_21_NOTE}}</a:t>
            </a:r>
          </a:p>
        </p:txBody>
      </p:sp>
      <p:sp>
        <p:nvSpPr>
          <p:cNvPr id="96" name="Rectangle 95"/>
          <p:cNvSpPr/>
          <p:nvPr/>
        </p:nvSpPr>
        <p:spPr>
          <a:xfrm>
            <a:off x="6117336" y="5724144"/>
            <a:ext cx="1813560" cy="1042415"/>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6208776" y="5815583"/>
            <a:ext cx="1630680" cy="320040"/>
          </a:xfrm>
          <a:prstGeom prst="rect">
            <a:avLst/>
          </a:prstGeom>
          <a:noFill/>
        </p:spPr>
        <p:txBody>
          <a:bodyPr wrap="square" lIns="0" rIns="0" tIns="0" bIns="0" anchor="t">
            <a:spAutoFit/>
          </a:bodyPr>
          <a:lstStyle/>
          <a:p>
            <a:pPr algn="l"/>
            <a:r>
              <a:rPr sz="900" b="1" i="0">
                <a:solidFill>
                  <a:srgbClr val="1F2937"/>
                </a:solidFill>
                <a:latin typeface="Calibri"/>
              </a:rPr>
              <a:t>{{IND_22_NAME}}</a:t>
            </a:r>
          </a:p>
        </p:txBody>
      </p:sp>
      <p:sp>
        <p:nvSpPr>
          <p:cNvPr id="98" name="TextBox 97"/>
          <p:cNvSpPr txBox="1"/>
          <p:nvPr/>
        </p:nvSpPr>
        <p:spPr>
          <a:xfrm>
            <a:off x="6208776" y="6181344"/>
            <a:ext cx="1630680" cy="411480"/>
          </a:xfrm>
          <a:prstGeom prst="rect">
            <a:avLst/>
          </a:prstGeom>
          <a:noFill/>
        </p:spPr>
        <p:txBody>
          <a:bodyPr wrap="square" lIns="0" rIns="0" tIns="0" bIns="0" anchor="t">
            <a:spAutoFit/>
          </a:bodyPr>
          <a:lstStyle/>
          <a:p>
            <a:pPr algn="l"/>
            <a:r>
              <a:rPr sz="1800" b="1" i="0">
                <a:solidFill>
                  <a:srgbClr val="003D7A"/>
                </a:solidFill>
                <a:latin typeface="Calibri"/>
              </a:rPr>
              <a:t>{{IND_22_PCT}}</a:t>
            </a:r>
          </a:p>
        </p:txBody>
      </p:sp>
      <p:sp>
        <p:nvSpPr>
          <p:cNvPr id="99" name="TextBox 98"/>
          <p:cNvSpPr txBox="1"/>
          <p:nvPr/>
        </p:nvSpPr>
        <p:spPr>
          <a:xfrm>
            <a:off x="6208776" y="6592824"/>
            <a:ext cx="1630680" cy="182880"/>
          </a:xfrm>
          <a:prstGeom prst="rect">
            <a:avLst/>
          </a:prstGeom>
          <a:noFill/>
        </p:spPr>
        <p:txBody>
          <a:bodyPr wrap="square" lIns="0" rIns="0" tIns="0" bIns="0" anchor="t">
            <a:spAutoFit/>
          </a:bodyPr>
          <a:lstStyle/>
          <a:p>
            <a:pPr algn="l"/>
            <a:r>
              <a:rPr sz="700" b="0" i="1">
                <a:solidFill>
                  <a:srgbClr val="4A5568"/>
                </a:solidFill>
                <a:latin typeface="Calibri"/>
              </a:rPr>
              <a:t>{{IND_22_NOTE}}</a:t>
            </a:r>
          </a:p>
        </p:txBody>
      </p:sp>
      <p:sp>
        <p:nvSpPr>
          <p:cNvPr id="100" name="Rectangle 99"/>
          <p:cNvSpPr/>
          <p:nvPr/>
        </p:nvSpPr>
        <p:spPr>
          <a:xfrm>
            <a:off x="8004048" y="5724144"/>
            <a:ext cx="1813560" cy="1042415"/>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8095488" y="5815583"/>
            <a:ext cx="1630680" cy="320040"/>
          </a:xfrm>
          <a:prstGeom prst="rect">
            <a:avLst/>
          </a:prstGeom>
          <a:noFill/>
        </p:spPr>
        <p:txBody>
          <a:bodyPr wrap="square" lIns="0" rIns="0" tIns="0" bIns="0" anchor="t">
            <a:spAutoFit/>
          </a:bodyPr>
          <a:lstStyle/>
          <a:p>
            <a:pPr algn="l"/>
            <a:r>
              <a:rPr sz="900" b="1" i="0">
                <a:solidFill>
                  <a:srgbClr val="1F2937"/>
                </a:solidFill>
                <a:latin typeface="Calibri"/>
              </a:rPr>
              <a:t>{{IND_23_NAME}}</a:t>
            </a:r>
          </a:p>
        </p:txBody>
      </p:sp>
      <p:sp>
        <p:nvSpPr>
          <p:cNvPr id="102" name="TextBox 101"/>
          <p:cNvSpPr txBox="1"/>
          <p:nvPr/>
        </p:nvSpPr>
        <p:spPr>
          <a:xfrm>
            <a:off x="8095488" y="6181344"/>
            <a:ext cx="1630680" cy="411480"/>
          </a:xfrm>
          <a:prstGeom prst="rect">
            <a:avLst/>
          </a:prstGeom>
          <a:noFill/>
        </p:spPr>
        <p:txBody>
          <a:bodyPr wrap="square" lIns="0" rIns="0" tIns="0" bIns="0" anchor="t">
            <a:spAutoFit/>
          </a:bodyPr>
          <a:lstStyle/>
          <a:p>
            <a:pPr algn="l"/>
            <a:r>
              <a:rPr sz="1800" b="1" i="0">
                <a:solidFill>
                  <a:srgbClr val="003D7A"/>
                </a:solidFill>
                <a:latin typeface="Calibri"/>
              </a:rPr>
              <a:t>{{IND_23_PCT}}</a:t>
            </a:r>
          </a:p>
        </p:txBody>
      </p:sp>
      <p:sp>
        <p:nvSpPr>
          <p:cNvPr id="103" name="TextBox 102"/>
          <p:cNvSpPr txBox="1"/>
          <p:nvPr/>
        </p:nvSpPr>
        <p:spPr>
          <a:xfrm>
            <a:off x="8095488" y="6592824"/>
            <a:ext cx="1630680" cy="182880"/>
          </a:xfrm>
          <a:prstGeom prst="rect">
            <a:avLst/>
          </a:prstGeom>
          <a:noFill/>
        </p:spPr>
        <p:txBody>
          <a:bodyPr wrap="square" lIns="0" rIns="0" tIns="0" bIns="0" anchor="t">
            <a:spAutoFit/>
          </a:bodyPr>
          <a:lstStyle/>
          <a:p>
            <a:pPr algn="l"/>
            <a:r>
              <a:rPr sz="700" b="0" i="1">
                <a:solidFill>
                  <a:srgbClr val="4A5568"/>
                </a:solidFill>
                <a:latin typeface="Calibri"/>
              </a:rPr>
              <a:t>{{IND_23_NOTE}}</a:t>
            </a:r>
          </a:p>
        </p:txBody>
      </p:sp>
      <p:sp>
        <p:nvSpPr>
          <p:cNvPr id="104" name="Rectangle 103"/>
          <p:cNvSpPr/>
          <p:nvPr/>
        </p:nvSpPr>
        <p:spPr>
          <a:xfrm>
            <a:off x="9890760" y="5724144"/>
            <a:ext cx="1813560" cy="1042415"/>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9982200" y="5815583"/>
            <a:ext cx="1630680" cy="320040"/>
          </a:xfrm>
          <a:prstGeom prst="rect">
            <a:avLst/>
          </a:prstGeom>
          <a:noFill/>
        </p:spPr>
        <p:txBody>
          <a:bodyPr wrap="square" lIns="0" rIns="0" tIns="0" bIns="0" anchor="t">
            <a:spAutoFit/>
          </a:bodyPr>
          <a:lstStyle/>
          <a:p>
            <a:pPr algn="l"/>
            <a:r>
              <a:rPr sz="900" b="1" i="0">
                <a:solidFill>
                  <a:srgbClr val="1F2937"/>
                </a:solidFill>
                <a:latin typeface="Calibri"/>
              </a:rPr>
              <a:t>{{IND_24_NAME}}</a:t>
            </a:r>
          </a:p>
        </p:txBody>
      </p:sp>
      <p:sp>
        <p:nvSpPr>
          <p:cNvPr id="106" name="TextBox 105"/>
          <p:cNvSpPr txBox="1"/>
          <p:nvPr/>
        </p:nvSpPr>
        <p:spPr>
          <a:xfrm>
            <a:off x="9982200" y="6181344"/>
            <a:ext cx="1630680" cy="411480"/>
          </a:xfrm>
          <a:prstGeom prst="rect">
            <a:avLst/>
          </a:prstGeom>
          <a:noFill/>
        </p:spPr>
        <p:txBody>
          <a:bodyPr wrap="square" lIns="0" rIns="0" tIns="0" bIns="0" anchor="t">
            <a:spAutoFit/>
          </a:bodyPr>
          <a:lstStyle/>
          <a:p>
            <a:pPr algn="l"/>
            <a:r>
              <a:rPr sz="1800" b="1" i="0">
                <a:solidFill>
                  <a:srgbClr val="003D7A"/>
                </a:solidFill>
                <a:latin typeface="Calibri"/>
              </a:rPr>
              <a:t>{{IND_24_PCT}}</a:t>
            </a:r>
          </a:p>
        </p:txBody>
      </p:sp>
      <p:sp>
        <p:nvSpPr>
          <p:cNvPr id="107" name="TextBox 106"/>
          <p:cNvSpPr txBox="1"/>
          <p:nvPr/>
        </p:nvSpPr>
        <p:spPr>
          <a:xfrm>
            <a:off x="9982200" y="6592824"/>
            <a:ext cx="1630680" cy="182880"/>
          </a:xfrm>
          <a:prstGeom prst="rect">
            <a:avLst/>
          </a:prstGeom>
          <a:noFill/>
        </p:spPr>
        <p:txBody>
          <a:bodyPr wrap="square" lIns="0" rIns="0" tIns="0" bIns="0" anchor="t">
            <a:spAutoFit/>
          </a:bodyPr>
          <a:lstStyle/>
          <a:p>
            <a:pPr algn="l"/>
            <a:r>
              <a:rPr sz="700" b="0" i="1">
                <a:solidFill>
                  <a:srgbClr val="4A5568"/>
                </a:solidFill>
                <a:latin typeface="Calibri"/>
              </a:rPr>
              <a:t>{{IND_24_NOTE}}</a:t>
            </a:r>
          </a:p>
        </p:txBody>
      </p:sp>
      <p:sp>
        <p:nvSpPr>
          <p:cNvPr id="108" name="TextBox 107"/>
          <p:cNvSpPr txBox="1"/>
          <p:nvPr/>
        </p:nvSpPr>
        <p:spPr>
          <a:xfrm>
            <a:off x="457200" y="6537960"/>
            <a:ext cx="9144000" cy="274320"/>
          </a:xfrm>
          <a:prstGeom prst="rect">
            <a:avLst/>
          </a:prstGeom>
          <a:noFill/>
        </p:spPr>
        <p:txBody>
          <a:bodyPr wrap="square" lIns="0" rIns="0" tIns="0" bIns="0" anchor="t">
            <a:spAutoFit/>
          </a:bodyPr>
          <a:lstStyle/>
          <a:p>
            <a:pPr algn="l"/>
            <a:r>
              <a:rPr sz="900" b="0" i="0">
                <a:solidFill>
                  <a:srgbClr val="9CA3AF"/>
                </a:solidFill>
                <a:latin typeface="Calibri"/>
              </a:rPr>
              <a:t>{{FOOTER_LEFT}}</a:t>
            </a:r>
          </a:p>
        </p:txBody>
      </p:sp>
      <p:sp>
        <p:nvSpPr>
          <p:cNvPr id="109" name="TextBox 108"/>
          <p:cNvSpPr txBox="1"/>
          <p:nvPr/>
        </p:nvSpPr>
        <p:spPr>
          <a:xfrm>
            <a:off x="11247120" y="6537960"/>
            <a:ext cx="457200" cy="274320"/>
          </a:xfrm>
          <a:prstGeom prst="rect">
            <a:avLst/>
          </a:prstGeom>
          <a:noFill/>
        </p:spPr>
        <p:txBody>
          <a:bodyPr wrap="square" lIns="0" rIns="0" tIns="0" bIns="0" anchor="t">
            <a:spAutoFit/>
          </a:bodyPr>
          <a:lstStyle/>
          <a:p>
            <a:pPr algn="r"/>
            <a:r>
              <a:rPr sz="900" b="1" i="0">
                <a:solidFill>
                  <a:srgbClr val="003D7A"/>
                </a:solidFill>
                <a:latin typeface="Calibri"/>
              </a:rPr>
              <a:t>{{PAGE_NUM}}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name="PEER_COMPARE_TABLE">
    <p:spTree>
      <p:nvGrpSpPr>
        <p:cNvPr id="1" name=""/>
        <p:cNvGrpSpPr/>
        <p:nvPr/>
      </p:nvGrpSpPr>
      <p:grpSpPr/>
      <p:sp>
        <p:nvSpPr>
          <p:cNvPr id="2" name="Rectangle 1"/>
          <p:cNvSpPr/>
          <p:nvPr/>
        </p:nvSpPr>
        <p:spPr>
          <a:xfrm>
            <a:off x="457200" y="411480"/>
            <a:ext cx="73152" cy="64008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1064240" cy="502920"/>
          </a:xfrm>
          <a:prstGeom prst="rect">
            <a:avLst/>
          </a:prstGeom>
          <a:noFill/>
        </p:spPr>
        <p:txBody>
          <a:bodyPr wrap="square" lIns="0" rIns="0" tIns="0" bIns="0" anchor="ctr">
            <a:spAutoFit/>
          </a:bodyPr>
          <a:lstStyle/>
          <a:p>
            <a:pPr algn="l"/>
            <a:r>
              <a:rPr sz="2600" b="1" i="0">
                <a:solidFill>
                  <a:srgbClr val="003D7A"/>
                </a:solidFill>
                <a:latin typeface="Calibri"/>
              </a:rPr>
              <a:t>{{SECTION_TITLE}}</a:t>
            </a:r>
          </a:p>
        </p:txBody>
      </p:sp>
      <p:sp>
        <p:nvSpPr>
          <p:cNvPr id="4" name="TextBox 3"/>
          <p:cNvSpPr txBox="1"/>
          <p:nvPr/>
        </p:nvSpPr>
        <p:spPr>
          <a:xfrm>
            <a:off x="640080" y="868680"/>
            <a:ext cx="11064240" cy="274320"/>
          </a:xfrm>
          <a:prstGeom prst="rect">
            <a:avLst/>
          </a:prstGeom>
          <a:noFill/>
        </p:spPr>
        <p:txBody>
          <a:bodyPr wrap="square" lIns="0" rIns="0" tIns="0" bIns="0" anchor="t">
            <a:spAutoFit/>
          </a:bodyPr>
          <a:lstStyle/>
          <a:p>
            <a:pPr algn="l"/>
            <a:r>
              <a:rPr sz="1200" b="0" i="1">
                <a:solidFill>
                  <a:srgbClr val="4A5568"/>
                </a:solidFill>
                <a:latin typeface="Calibri"/>
              </a:rPr>
              <a:t>{{SECTION_SUB}}</a:t>
            </a:r>
          </a:p>
        </p:txBody>
      </p:sp>
      <p:sp>
        <p:nvSpPr>
          <p:cNvPr id="5" name="Rectangle 4"/>
          <p:cNvSpPr/>
          <p:nvPr/>
        </p:nvSpPr>
        <p:spPr>
          <a:xfrm>
            <a:off x="457200" y="1371600"/>
            <a:ext cx="10332720" cy="45720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17320"/>
            <a:ext cx="1280160" cy="365760"/>
          </a:xfrm>
          <a:prstGeom prst="rect">
            <a:avLst/>
          </a:prstGeom>
          <a:noFill/>
        </p:spPr>
        <p:txBody>
          <a:bodyPr wrap="square" lIns="0" rIns="0" tIns="0" bIns="0" anchor="ctr">
            <a:spAutoFit/>
          </a:bodyPr>
          <a:lstStyle/>
          <a:p>
            <a:pPr algn="ctr"/>
            <a:r>
              <a:rPr sz="900" b="1" i="0">
                <a:solidFill>
                  <a:srgbClr val="FFFFFF"/>
                </a:solidFill>
                <a:latin typeface="Calibri"/>
              </a:rPr>
              <a:t>Mã</a:t>
            </a:r>
          </a:p>
        </p:txBody>
      </p:sp>
      <p:sp>
        <p:nvSpPr>
          <p:cNvPr id="7" name="TextBox 6"/>
          <p:cNvSpPr txBox="1"/>
          <p:nvPr/>
        </p:nvSpPr>
        <p:spPr>
          <a:xfrm>
            <a:off x="2011680" y="1417320"/>
            <a:ext cx="1188720" cy="365760"/>
          </a:xfrm>
          <a:prstGeom prst="rect">
            <a:avLst/>
          </a:prstGeom>
          <a:noFill/>
        </p:spPr>
        <p:txBody>
          <a:bodyPr wrap="square" lIns="0" rIns="0" tIns="0" bIns="0" anchor="ctr">
            <a:spAutoFit/>
          </a:bodyPr>
          <a:lstStyle/>
          <a:p>
            <a:pPr algn="r"/>
            <a:r>
              <a:rPr sz="900" b="1" i="0">
                <a:solidFill>
                  <a:srgbClr val="FFFFFF"/>
                </a:solidFill>
                <a:latin typeface="Calibri"/>
              </a:rPr>
              <a:t>Vốn hoá (tỷ)</a:t>
            </a:r>
          </a:p>
        </p:txBody>
      </p:sp>
      <p:sp>
        <p:nvSpPr>
          <p:cNvPr id="8" name="TextBox 7"/>
          <p:cNvSpPr txBox="1"/>
          <p:nvPr/>
        </p:nvSpPr>
        <p:spPr>
          <a:xfrm>
            <a:off x="3383280" y="1417320"/>
            <a:ext cx="1005840" cy="365760"/>
          </a:xfrm>
          <a:prstGeom prst="rect">
            <a:avLst/>
          </a:prstGeom>
          <a:noFill/>
        </p:spPr>
        <p:txBody>
          <a:bodyPr wrap="square" lIns="0" rIns="0" tIns="0" bIns="0" anchor="ctr">
            <a:spAutoFit/>
          </a:bodyPr>
          <a:lstStyle/>
          <a:p>
            <a:pPr algn="r"/>
            <a:r>
              <a:rPr sz="900" b="1" i="0">
                <a:solidFill>
                  <a:srgbClr val="FFFFFF"/>
                </a:solidFill>
                <a:latin typeface="Calibri"/>
              </a:rPr>
              <a:t>P/E</a:t>
            </a:r>
          </a:p>
        </p:txBody>
      </p:sp>
      <p:sp>
        <p:nvSpPr>
          <p:cNvPr id="9" name="TextBox 8"/>
          <p:cNvSpPr txBox="1"/>
          <p:nvPr/>
        </p:nvSpPr>
        <p:spPr>
          <a:xfrm>
            <a:off x="4572000" y="1417320"/>
            <a:ext cx="914400" cy="365760"/>
          </a:xfrm>
          <a:prstGeom prst="rect">
            <a:avLst/>
          </a:prstGeom>
          <a:noFill/>
        </p:spPr>
        <p:txBody>
          <a:bodyPr wrap="square" lIns="0" rIns="0" tIns="0" bIns="0" anchor="ctr">
            <a:spAutoFit/>
          </a:bodyPr>
          <a:lstStyle/>
          <a:p>
            <a:pPr algn="r"/>
            <a:r>
              <a:rPr sz="900" b="1" i="0">
                <a:solidFill>
                  <a:srgbClr val="FFFFFF"/>
                </a:solidFill>
                <a:latin typeface="Calibri"/>
              </a:rPr>
              <a:t>P/B</a:t>
            </a:r>
          </a:p>
        </p:txBody>
      </p:sp>
      <p:sp>
        <p:nvSpPr>
          <p:cNvPr id="10" name="TextBox 9"/>
          <p:cNvSpPr txBox="1"/>
          <p:nvPr/>
        </p:nvSpPr>
        <p:spPr>
          <a:xfrm>
            <a:off x="5669280" y="1417320"/>
            <a:ext cx="914400" cy="365760"/>
          </a:xfrm>
          <a:prstGeom prst="rect">
            <a:avLst/>
          </a:prstGeom>
          <a:noFill/>
        </p:spPr>
        <p:txBody>
          <a:bodyPr wrap="square" lIns="0" rIns="0" tIns="0" bIns="0" anchor="ctr">
            <a:spAutoFit/>
          </a:bodyPr>
          <a:lstStyle/>
          <a:p>
            <a:pPr algn="r"/>
            <a:r>
              <a:rPr sz="900" b="1" i="0">
                <a:solidFill>
                  <a:srgbClr val="FFFFFF"/>
                </a:solidFill>
                <a:latin typeface="Calibri"/>
              </a:rPr>
              <a:t>ROE %</a:t>
            </a:r>
          </a:p>
        </p:txBody>
      </p:sp>
      <p:sp>
        <p:nvSpPr>
          <p:cNvPr id="11" name="TextBox 10"/>
          <p:cNvSpPr txBox="1"/>
          <p:nvPr/>
        </p:nvSpPr>
        <p:spPr>
          <a:xfrm>
            <a:off x="6766560" y="1417320"/>
            <a:ext cx="914400" cy="365760"/>
          </a:xfrm>
          <a:prstGeom prst="rect">
            <a:avLst/>
          </a:prstGeom>
          <a:noFill/>
        </p:spPr>
        <p:txBody>
          <a:bodyPr wrap="square" lIns="0" rIns="0" tIns="0" bIns="0" anchor="ctr">
            <a:spAutoFit/>
          </a:bodyPr>
          <a:lstStyle/>
          <a:p>
            <a:pPr algn="r"/>
            <a:r>
              <a:rPr sz="900" b="1" i="0">
                <a:solidFill>
                  <a:srgbClr val="FFFFFF"/>
                </a:solidFill>
                <a:latin typeface="Calibri"/>
              </a:rPr>
              <a:t>ROA %</a:t>
            </a:r>
          </a:p>
        </p:txBody>
      </p:sp>
      <p:sp>
        <p:nvSpPr>
          <p:cNvPr id="12" name="TextBox 11"/>
          <p:cNvSpPr txBox="1"/>
          <p:nvPr/>
        </p:nvSpPr>
        <p:spPr>
          <a:xfrm>
            <a:off x="7863840" y="1417320"/>
            <a:ext cx="1097280" cy="365760"/>
          </a:xfrm>
          <a:prstGeom prst="rect">
            <a:avLst/>
          </a:prstGeom>
          <a:noFill/>
        </p:spPr>
        <p:txBody>
          <a:bodyPr wrap="square" lIns="0" rIns="0" tIns="0" bIns="0" anchor="ctr">
            <a:spAutoFit/>
          </a:bodyPr>
          <a:lstStyle/>
          <a:p>
            <a:pPr algn="r"/>
            <a:r>
              <a:rPr sz="900" b="1" i="0">
                <a:solidFill>
                  <a:srgbClr val="FFFFFF"/>
                </a:solidFill>
                <a:latin typeface="Calibri"/>
              </a:rPr>
              <a:t>Tăng DT % (CK)</a:t>
            </a:r>
          </a:p>
        </p:txBody>
      </p:sp>
      <p:sp>
        <p:nvSpPr>
          <p:cNvPr id="13" name="TextBox 12"/>
          <p:cNvSpPr txBox="1"/>
          <p:nvPr/>
        </p:nvSpPr>
        <p:spPr>
          <a:xfrm>
            <a:off x="9144000" y="1417320"/>
            <a:ext cx="1554480" cy="365760"/>
          </a:xfrm>
          <a:prstGeom prst="rect">
            <a:avLst/>
          </a:prstGeom>
          <a:noFill/>
        </p:spPr>
        <p:txBody>
          <a:bodyPr wrap="square" lIns="0" rIns="0" tIns="0" bIns="0" anchor="ctr">
            <a:spAutoFit/>
          </a:bodyPr>
          <a:lstStyle/>
          <a:p>
            <a:pPr algn="l"/>
            <a:r>
              <a:rPr sz="900" b="1" i="0">
                <a:solidFill>
                  <a:srgbClr val="FFFFFF"/>
                </a:solidFill>
                <a:latin typeface="Calibri"/>
              </a:rPr>
              <a:t>Đặc điểm</a:t>
            </a:r>
          </a:p>
        </p:txBody>
      </p:sp>
      <p:sp>
        <p:nvSpPr>
          <p:cNvPr id="14" name="Rectangle 13"/>
          <p:cNvSpPr/>
          <p:nvPr/>
        </p:nvSpPr>
        <p:spPr>
          <a:xfrm>
            <a:off x="457200" y="1828800"/>
            <a:ext cx="10332720" cy="411480"/>
          </a:xfrm>
          <a:prstGeom prst="rect">
            <a:avLst/>
          </a:prstGeom>
          <a:solidFill>
            <a:srgbClr val="F5D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1874519"/>
            <a:ext cx="1280160" cy="320040"/>
          </a:xfrm>
          <a:prstGeom prst="rect">
            <a:avLst/>
          </a:prstGeom>
          <a:noFill/>
        </p:spPr>
        <p:txBody>
          <a:bodyPr wrap="square" lIns="0" rIns="0" tIns="0" bIns="0" anchor="ctr">
            <a:spAutoFit/>
          </a:bodyPr>
          <a:lstStyle/>
          <a:p>
            <a:pPr algn="ctr"/>
            <a:r>
              <a:rPr sz="1050" b="1" i="0">
                <a:solidFill>
                  <a:srgbClr val="D71249"/>
                </a:solidFill>
                <a:latin typeface="Calibri"/>
              </a:rPr>
              <a:t>{{P1_TICKER}}</a:t>
            </a:r>
          </a:p>
        </p:txBody>
      </p:sp>
      <p:sp>
        <p:nvSpPr>
          <p:cNvPr id="16" name="TextBox 15"/>
          <p:cNvSpPr txBox="1"/>
          <p:nvPr/>
        </p:nvSpPr>
        <p:spPr>
          <a:xfrm>
            <a:off x="2011680" y="1874519"/>
            <a:ext cx="1188720" cy="320040"/>
          </a:xfrm>
          <a:prstGeom prst="rect">
            <a:avLst/>
          </a:prstGeom>
          <a:noFill/>
        </p:spPr>
        <p:txBody>
          <a:bodyPr wrap="square" lIns="0" rIns="0" tIns="0" bIns="0" anchor="ctr">
            <a:spAutoFit/>
          </a:bodyPr>
          <a:lstStyle/>
          <a:p>
            <a:pPr algn="r"/>
            <a:r>
              <a:rPr sz="1050" b="0" i="0">
                <a:solidFill>
                  <a:srgbClr val="1F2937"/>
                </a:solidFill>
                <a:latin typeface="Calibri"/>
              </a:rPr>
              <a:t>{{P1_MARKETCAP}}</a:t>
            </a:r>
          </a:p>
        </p:txBody>
      </p:sp>
      <p:sp>
        <p:nvSpPr>
          <p:cNvPr id="17" name="TextBox 16"/>
          <p:cNvSpPr txBox="1"/>
          <p:nvPr/>
        </p:nvSpPr>
        <p:spPr>
          <a:xfrm>
            <a:off x="3383280" y="1874519"/>
            <a:ext cx="1005840" cy="320040"/>
          </a:xfrm>
          <a:prstGeom prst="rect">
            <a:avLst/>
          </a:prstGeom>
          <a:noFill/>
        </p:spPr>
        <p:txBody>
          <a:bodyPr wrap="square" lIns="0" rIns="0" tIns="0" bIns="0" anchor="ctr">
            <a:spAutoFit/>
          </a:bodyPr>
          <a:lstStyle/>
          <a:p>
            <a:pPr algn="r"/>
            <a:r>
              <a:rPr sz="1050" b="0" i="0">
                <a:solidFill>
                  <a:srgbClr val="1F2937"/>
                </a:solidFill>
                <a:latin typeface="Calibri"/>
              </a:rPr>
              <a:t>{{P1_PE}}</a:t>
            </a:r>
          </a:p>
        </p:txBody>
      </p:sp>
      <p:sp>
        <p:nvSpPr>
          <p:cNvPr id="18" name="TextBox 17"/>
          <p:cNvSpPr txBox="1"/>
          <p:nvPr/>
        </p:nvSpPr>
        <p:spPr>
          <a:xfrm>
            <a:off x="4572000" y="1874519"/>
            <a:ext cx="914400" cy="320040"/>
          </a:xfrm>
          <a:prstGeom prst="rect">
            <a:avLst/>
          </a:prstGeom>
          <a:noFill/>
        </p:spPr>
        <p:txBody>
          <a:bodyPr wrap="square" lIns="0" rIns="0" tIns="0" bIns="0" anchor="ctr">
            <a:spAutoFit/>
          </a:bodyPr>
          <a:lstStyle/>
          <a:p>
            <a:pPr algn="r"/>
            <a:r>
              <a:rPr sz="1050" b="0" i="0">
                <a:solidFill>
                  <a:srgbClr val="1F2937"/>
                </a:solidFill>
                <a:latin typeface="Calibri"/>
              </a:rPr>
              <a:t>{{P1_PB}}</a:t>
            </a:r>
          </a:p>
        </p:txBody>
      </p:sp>
      <p:sp>
        <p:nvSpPr>
          <p:cNvPr id="19" name="TextBox 18"/>
          <p:cNvSpPr txBox="1"/>
          <p:nvPr/>
        </p:nvSpPr>
        <p:spPr>
          <a:xfrm>
            <a:off x="5669280" y="1874519"/>
            <a:ext cx="914400" cy="320040"/>
          </a:xfrm>
          <a:prstGeom prst="rect">
            <a:avLst/>
          </a:prstGeom>
          <a:noFill/>
        </p:spPr>
        <p:txBody>
          <a:bodyPr wrap="square" lIns="0" rIns="0" tIns="0" bIns="0" anchor="ctr">
            <a:spAutoFit/>
          </a:bodyPr>
          <a:lstStyle/>
          <a:p>
            <a:pPr algn="r"/>
            <a:r>
              <a:rPr sz="1050" b="0" i="0">
                <a:solidFill>
                  <a:srgbClr val="1F2937"/>
                </a:solidFill>
                <a:latin typeface="Calibri"/>
              </a:rPr>
              <a:t>{{P1_ROE}}</a:t>
            </a:r>
          </a:p>
        </p:txBody>
      </p:sp>
      <p:sp>
        <p:nvSpPr>
          <p:cNvPr id="20" name="TextBox 19"/>
          <p:cNvSpPr txBox="1"/>
          <p:nvPr/>
        </p:nvSpPr>
        <p:spPr>
          <a:xfrm>
            <a:off x="6766560" y="1874519"/>
            <a:ext cx="914400" cy="320040"/>
          </a:xfrm>
          <a:prstGeom prst="rect">
            <a:avLst/>
          </a:prstGeom>
          <a:noFill/>
        </p:spPr>
        <p:txBody>
          <a:bodyPr wrap="square" lIns="0" rIns="0" tIns="0" bIns="0" anchor="ctr">
            <a:spAutoFit/>
          </a:bodyPr>
          <a:lstStyle/>
          <a:p>
            <a:pPr algn="r"/>
            <a:r>
              <a:rPr sz="1050" b="0" i="0">
                <a:solidFill>
                  <a:srgbClr val="1F2937"/>
                </a:solidFill>
                <a:latin typeface="Calibri"/>
              </a:rPr>
              <a:t>{{P1_ROA}}</a:t>
            </a:r>
          </a:p>
        </p:txBody>
      </p:sp>
      <p:sp>
        <p:nvSpPr>
          <p:cNvPr id="21" name="TextBox 20"/>
          <p:cNvSpPr txBox="1"/>
          <p:nvPr/>
        </p:nvSpPr>
        <p:spPr>
          <a:xfrm>
            <a:off x="7863840" y="1874519"/>
            <a:ext cx="1097280" cy="320040"/>
          </a:xfrm>
          <a:prstGeom prst="rect">
            <a:avLst/>
          </a:prstGeom>
          <a:noFill/>
        </p:spPr>
        <p:txBody>
          <a:bodyPr wrap="square" lIns="0" rIns="0" tIns="0" bIns="0" anchor="ctr">
            <a:spAutoFit/>
          </a:bodyPr>
          <a:lstStyle/>
          <a:p>
            <a:pPr algn="r"/>
            <a:r>
              <a:rPr sz="1050" b="0" i="0">
                <a:solidFill>
                  <a:srgbClr val="1F2937"/>
                </a:solidFill>
                <a:latin typeface="Calibri"/>
              </a:rPr>
              <a:t>{{P1_REVGROWTH}}</a:t>
            </a:r>
          </a:p>
        </p:txBody>
      </p:sp>
      <p:sp>
        <p:nvSpPr>
          <p:cNvPr id="22" name="TextBox 21"/>
          <p:cNvSpPr txBox="1"/>
          <p:nvPr/>
        </p:nvSpPr>
        <p:spPr>
          <a:xfrm>
            <a:off x="9144000" y="1874519"/>
            <a:ext cx="1554480" cy="320040"/>
          </a:xfrm>
          <a:prstGeom prst="rect">
            <a:avLst/>
          </a:prstGeom>
          <a:noFill/>
        </p:spPr>
        <p:txBody>
          <a:bodyPr wrap="square" lIns="0" rIns="0" tIns="0" bIns="0" anchor="ctr">
            <a:spAutoFit/>
          </a:bodyPr>
          <a:lstStyle/>
          <a:p>
            <a:pPr algn="l"/>
            <a:r>
              <a:rPr sz="900" b="0" i="0">
                <a:solidFill>
                  <a:srgbClr val="4A5568"/>
                </a:solidFill>
                <a:latin typeface="Calibri"/>
              </a:rPr>
              <a:t>{{P1_NOTE}}</a:t>
            </a:r>
          </a:p>
        </p:txBody>
      </p:sp>
      <p:sp>
        <p:nvSpPr>
          <p:cNvPr id="23" name="TextBox 22"/>
          <p:cNvSpPr txBox="1"/>
          <p:nvPr/>
        </p:nvSpPr>
        <p:spPr>
          <a:xfrm>
            <a:off x="548640" y="2286000"/>
            <a:ext cx="1280160" cy="320040"/>
          </a:xfrm>
          <a:prstGeom prst="rect">
            <a:avLst/>
          </a:prstGeom>
          <a:noFill/>
        </p:spPr>
        <p:txBody>
          <a:bodyPr wrap="square" lIns="0" rIns="0" tIns="0" bIns="0" anchor="ctr">
            <a:spAutoFit/>
          </a:bodyPr>
          <a:lstStyle/>
          <a:p>
            <a:pPr algn="ctr"/>
            <a:r>
              <a:rPr sz="1050" b="1" i="0">
                <a:solidFill>
                  <a:srgbClr val="003D7A"/>
                </a:solidFill>
                <a:latin typeface="Calibri"/>
              </a:rPr>
              <a:t>{{P2_TICKER}}</a:t>
            </a:r>
          </a:p>
        </p:txBody>
      </p:sp>
      <p:sp>
        <p:nvSpPr>
          <p:cNvPr id="24" name="TextBox 23"/>
          <p:cNvSpPr txBox="1"/>
          <p:nvPr/>
        </p:nvSpPr>
        <p:spPr>
          <a:xfrm>
            <a:off x="2011680" y="2286000"/>
            <a:ext cx="1188720" cy="320040"/>
          </a:xfrm>
          <a:prstGeom prst="rect">
            <a:avLst/>
          </a:prstGeom>
          <a:noFill/>
        </p:spPr>
        <p:txBody>
          <a:bodyPr wrap="square" lIns="0" rIns="0" tIns="0" bIns="0" anchor="ctr">
            <a:spAutoFit/>
          </a:bodyPr>
          <a:lstStyle/>
          <a:p>
            <a:pPr algn="r"/>
            <a:r>
              <a:rPr sz="1050" b="0" i="0">
                <a:solidFill>
                  <a:srgbClr val="1F2937"/>
                </a:solidFill>
                <a:latin typeface="Calibri"/>
              </a:rPr>
              <a:t>{{P2_MARKETCAP}}</a:t>
            </a:r>
          </a:p>
        </p:txBody>
      </p:sp>
      <p:sp>
        <p:nvSpPr>
          <p:cNvPr id="25" name="TextBox 24"/>
          <p:cNvSpPr txBox="1"/>
          <p:nvPr/>
        </p:nvSpPr>
        <p:spPr>
          <a:xfrm>
            <a:off x="3383280" y="2286000"/>
            <a:ext cx="1005840" cy="320040"/>
          </a:xfrm>
          <a:prstGeom prst="rect">
            <a:avLst/>
          </a:prstGeom>
          <a:noFill/>
        </p:spPr>
        <p:txBody>
          <a:bodyPr wrap="square" lIns="0" rIns="0" tIns="0" bIns="0" anchor="ctr">
            <a:spAutoFit/>
          </a:bodyPr>
          <a:lstStyle/>
          <a:p>
            <a:pPr algn="r"/>
            <a:r>
              <a:rPr sz="1050" b="0" i="0">
                <a:solidFill>
                  <a:srgbClr val="1F2937"/>
                </a:solidFill>
                <a:latin typeface="Calibri"/>
              </a:rPr>
              <a:t>{{P2_PE}}</a:t>
            </a:r>
          </a:p>
        </p:txBody>
      </p:sp>
      <p:sp>
        <p:nvSpPr>
          <p:cNvPr id="26" name="TextBox 25"/>
          <p:cNvSpPr txBox="1"/>
          <p:nvPr/>
        </p:nvSpPr>
        <p:spPr>
          <a:xfrm>
            <a:off x="4572000" y="2286000"/>
            <a:ext cx="914400" cy="320040"/>
          </a:xfrm>
          <a:prstGeom prst="rect">
            <a:avLst/>
          </a:prstGeom>
          <a:noFill/>
        </p:spPr>
        <p:txBody>
          <a:bodyPr wrap="square" lIns="0" rIns="0" tIns="0" bIns="0" anchor="ctr">
            <a:spAutoFit/>
          </a:bodyPr>
          <a:lstStyle/>
          <a:p>
            <a:pPr algn="r"/>
            <a:r>
              <a:rPr sz="1050" b="0" i="0">
                <a:solidFill>
                  <a:srgbClr val="1F2937"/>
                </a:solidFill>
                <a:latin typeface="Calibri"/>
              </a:rPr>
              <a:t>{{P2_PB}}</a:t>
            </a:r>
          </a:p>
        </p:txBody>
      </p:sp>
      <p:sp>
        <p:nvSpPr>
          <p:cNvPr id="27" name="TextBox 26"/>
          <p:cNvSpPr txBox="1"/>
          <p:nvPr/>
        </p:nvSpPr>
        <p:spPr>
          <a:xfrm>
            <a:off x="5669280" y="2286000"/>
            <a:ext cx="914400" cy="320040"/>
          </a:xfrm>
          <a:prstGeom prst="rect">
            <a:avLst/>
          </a:prstGeom>
          <a:noFill/>
        </p:spPr>
        <p:txBody>
          <a:bodyPr wrap="square" lIns="0" rIns="0" tIns="0" bIns="0" anchor="ctr">
            <a:spAutoFit/>
          </a:bodyPr>
          <a:lstStyle/>
          <a:p>
            <a:pPr algn="r"/>
            <a:r>
              <a:rPr sz="1050" b="0" i="0">
                <a:solidFill>
                  <a:srgbClr val="1F2937"/>
                </a:solidFill>
                <a:latin typeface="Calibri"/>
              </a:rPr>
              <a:t>{{P2_ROE}}</a:t>
            </a:r>
          </a:p>
        </p:txBody>
      </p:sp>
      <p:sp>
        <p:nvSpPr>
          <p:cNvPr id="28" name="TextBox 27"/>
          <p:cNvSpPr txBox="1"/>
          <p:nvPr/>
        </p:nvSpPr>
        <p:spPr>
          <a:xfrm>
            <a:off x="6766560" y="2286000"/>
            <a:ext cx="914400" cy="320040"/>
          </a:xfrm>
          <a:prstGeom prst="rect">
            <a:avLst/>
          </a:prstGeom>
          <a:noFill/>
        </p:spPr>
        <p:txBody>
          <a:bodyPr wrap="square" lIns="0" rIns="0" tIns="0" bIns="0" anchor="ctr">
            <a:spAutoFit/>
          </a:bodyPr>
          <a:lstStyle/>
          <a:p>
            <a:pPr algn="r"/>
            <a:r>
              <a:rPr sz="1050" b="0" i="0">
                <a:solidFill>
                  <a:srgbClr val="1F2937"/>
                </a:solidFill>
                <a:latin typeface="Calibri"/>
              </a:rPr>
              <a:t>{{P2_ROA}}</a:t>
            </a:r>
          </a:p>
        </p:txBody>
      </p:sp>
      <p:sp>
        <p:nvSpPr>
          <p:cNvPr id="29" name="TextBox 28"/>
          <p:cNvSpPr txBox="1"/>
          <p:nvPr/>
        </p:nvSpPr>
        <p:spPr>
          <a:xfrm>
            <a:off x="7863840" y="2286000"/>
            <a:ext cx="1097280" cy="320040"/>
          </a:xfrm>
          <a:prstGeom prst="rect">
            <a:avLst/>
          </a:prstGeom>
          <a:noFill/>
        </p:spPr>
        <p:txBody>
          <a:bodyPr wrap="square" lIns="0" rIns="0" tIns="0" bIns="0" anchor="ctr">
            <a:spAutoFit/>
          </a:bodyPr>
          <a:lstStyle/>
          <a:p>
            <a:pPr algn="r"/>
            <a:r>
              <a:rPr sz="1050" b="0" i="0">
                <a:solidFill>
                  <a:srgbClr val="1F2937"/>
                </a:solidFill>
                <a:latin typeface="Calibri"/>
              </a:rPr>
              <a:t>{{P2_REVGROWTH}}</a:t>
            </a:r>
          </a:p>
        </p:txBody>
      </p:sp>
      <p:sp>
        <p:nvSpPr>
          <p:cNvPr id="30" name="TextBox 29"/>
          <p:cNvSpPr txBox="1"/>
          <p:nvPr/>
        </p:nvSpPr>
        <p:spPr>
          <a:xfrm>
            <a:off x="9144000" y="2286000"/>
            <a:ext cx="1554480" cy="320040"/>
          </a:xfrm>
          <a:prstGeom prst="rect">
            <a:avLst/>
          </a:prstGeom>
          <a:noFill/>
        </p:spPr>
        <p:txBody>
          <a:bodyPr wrap="square" lIns="0" rIns="0" tIns="0" bIns="0" anchor="ctr">
            <a:spAutoFit/>
          </a:bodyPr>
          <a:lstStyle/>
          <a:p>
            <a:pPr algn="l"/>
            <a:r>
              <a:rPr sz="900" b="0" i="0">
                <a:solidFill>
                  <a:srgbClr val="4A5568"/>
                </a:solidFill>
                <a:latin typeface="Calibri"/>
              </a:rPr>
              <a:t>{{P2_NOTE}}</a:t>
            </a:r>
          </a:p>
        </p:txBody>
      </p:sp>
      <p:sp>
        <p:nvSpPr>
          <p:cNvPr id="31" name="Rectangle 30"/>
          <p:cNvSpPr/>
          <p:nvPr/>
        </p:nvSpPr>
        <p:spPr>
          <a:xfrm>
            <a:off x="457200" y="2651760"/>
            <a:ext cx="10332720" cy="41148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2697480"/>
            <a:ext cx="1280160" cy="320040"/>
          </a:xfrm>
          <a:prstGeom prst="rect">
            <a:avLst/>
          </a:prstGeom>
          <a:noFill/>
        </p:spPr>
        <p:txBody>
          <a:bodyPr wrap="square" lIns="0" rIns="0" tIns="0" bIns="0" anchor="ctr">
            <a:spAutoFit/>
          </a:bodyPr>
          <a:lstStyle/>
          <a:p>
            <a:pPr algn="ctr"/>
            <a:r>
              <a:rPr sz="1050" b="1" i="0">
                <a:solidFill>
                  <a:srgbClr val="003D7A"/>
                </a:solidFill>
                <a:latin typeface="Calibri"/>
              </a:rPr>
              <a:t>{{P3_TICKER}}</a:t>
            </a:r>
          </a:p>
        </p:txBody>
      </p:sp>
      <p:sp>
        <p:nvSpPr>
          <p:cNvPr id="33" name="TextBox 32"/>
          <p:cNvSpPr txBox="1"/>
          <p:nvPr/>
        </p:nvSpPr>
        <p:spPr>
          <a:xfrm>
            <a:off x="2011680" y="2697480"/>
            <a:ext cx="1188720" cy="320040"/>
          </a:xfrm>
          <a:prstGeom prst="rect">
            <a:avLst/>
          </a:prstGeom>
          <a:noFill/>
        </p:spPr>
        <p:txBody>
          <a:bodyPr wrap="square" lIns="0" rIns="0" tIns="0" bIns="0" anchor="ctr">
            <a:spAutoFit/>
          </a:bodyPr>
          <a:lstStyle/>
          <a:p>
            <a:pPr algn="r"/>
            <a:r>
              <a:rPr sz="1050" b="0" i="0">
                <a:solidFill>
                  <a:srgbClr val="1F2937"/>
                </a:solidFill>
                <a:latin typeface="Calibri"/>
              </a:rPr>
              <a:t>{{P3_MARKETCAP}}</a:t>
            </a:r>
          </a:p>
        </p:txBody>
      </p:sp>
      <p:sp>
        <p:nvSpPr>
          <p:cNvPr id="34" name="TextBox 33"/>
          <p:cNvSpPr txBox="1"/>
          <p:nvPr/>
        </p:nvSpPr>
        <p:spPr>
          <a:xfrm>
            <a:off x="3383280" y="2697480"/>
            <a:ext cx="1005840" cy="320040"/>
          </a:xfrm>
          <a:prstGeom prst="rect">
            <a:avLst/>
          </a:prstGeom>
          <a:noFill/>
        </p:spPr>
        <p:txBody>
          <a:bodyPr wrap="square" lIns="0" rIns="0" tIns="0" bIns="0" anchor="ctr">
            <a:spAutoFit/>
          </a:bodyPr>
          <a:lstStyle/>
          <a:p>
            <a:pPr algn="r"/>
            <a:r>
              <a:rPr sz="1050" b="0" i="0">
                <a:solidFill>
                  <a:srgbClr val="1F2937"/>
                </a:solidFill>
                <a:latin typeface="Calibri"/>
              </a:rPr>
              <a:t>{{P3_PE}}</a:t>
            </a:r>
          </a:p>
        </p:txBody>
      </p:sp>
      <p:sp>
        <p:nvSpPr>
          <p:cNvPr id="35" name="TextBox 34"/>
          <p:cNvSpPr txBox="1"/>
          <p:nvPr/>
        </p:nvSpPr>
        <p:spPr>
          <a:xfrm>
            <a:off x="4572000" y="2697480"/>
            <a:ext cx="914400" cy="320040"/>
          </a:xfrm>
          <a:prstGeom prst="rect">
            <a:avLst/>
          </a:prstGeom>
          <a:noFill/>
        </p:spPr>
        <p:txBody>
          <a:bodyPr wrap="square" lIns="0" rIns="0" tIns="0" bIns="0" anchor="ctr">
            <a:spAutoFit/>
          </a:bodyPr>
          <a:lstStyle/>
          <a:p>
            <a:pPr algn="r"/>
            <a:r>
              <a:rPr sz="1050" b="0" i="0">
                <a:solidFill>
                  <a:srgbClr val="1F2937"/>
                </a:solidFill>
                <a:latin typeface="Calibri"/>
              </a:rPr>
              <a:t>{{P3_PB}}</a:t>
            </a:r>
          </a:p>
        </p:txBody>
      </p:sp>
      <p:sp>
        <p:nvSpPr>
          <p:cNvPr id="36" name="TextBox 35"/>
          <p:cNvSpPr txBox="1"/>
          <p:nvPr/>
        </p:nvSpPr>
        <p:spPr>
          <a:xfrm>
            <a:off x="5669280" y="2697480"/>
            <a:ext cx="914400" cy="320040"/>
          </a:xfrm>
          <a:prstGeom prst="rect">
            <a:avLst/>
          </a:prstGeom>
          <a:noFill/>
        </p:spPr>
        <p:txBody>
          <a:bodyPr wrap="square" lIns="0" rIns="0" tIns="0" bIns="0" anchor="ctr">
            <a:spAutoFit/>
          </a:bodyPr>
          <a:lstStyle/>
          <a:p>
            <a:pPr algn="r"/>
            <a:r>
              <a:rPr sz="1050" b="0" i="0">
                <a:solidFill>
                  <a:srgbClr val="1F2937"/>
                </a:solidFill>
                <a:latin typeface="Calibri"/>
              </a:rPr>
              <a:t>{{P3_ROE}}</a:t>
            </a:r>
          </a:p>
        </p:txBody>
      </p:sp>
      <p:sp>
        <p:nvSpPr>
          <p:cNvPr id="37" name="TextBox 36"/>
          <p:cNvSpPr txBox="1"/>
          <p:nvPr/>
        </p:nvSpPr>
        <p:spPr>
          <a:xfrm>
            <a:off x="6766560" y="2697480"/>
            <a:ext cx="914400" cy="320040"/>
          </a:xfrm>
          <a:prstGeom prst="rect">
            <a:avLst/>
          </a:prstGeom>
          <a:noFill/>
        </p:spPr>
        <p:txBody>
          <a:bodyPr wrap="square" lIns="0" rIns="0" tIns="0" bIns="0" anchor="ctr">
            <a:spAutoFit/>
          </a:bodyPr>
          <a:lstStyle/>
          <a:p>
            <a:pPr algn="r"/>
            <a:r>
              <a:rPr sz="1050" b="0" i="0">
                <a:solidFill>
                  <a:srgbClr val="1F2937"/>
                </a:solidFill>
                <a:latin typeface="Calibri"/>
              </a:rPr>
              <a:t>{{P3_ROA}}</a:t>
            </a:r>
          </a:p>
        </p:txBody>
      </p:sp>
      <p:sp>
        <p:nvSpPr>
          <p:cNvPr id="38" name="TextBox 37"/>
          <p:cNvSpPr txBox="1"/>
          <p:nvPr/>
        </p:nvSpPr>
        <p:spPr>
          <a:xfrm>
            <a:off x="7863840" y="2697480"/>
            <a:ext cx="1097280" cy="320040"/>
          </a:xfrm>
          <a:prstGeom prst="rect">
            <a:avLst/>
          </a:prstGeom>
          <a:noFill/>
        </p:spPr>
        <p:txBody>
          <a:bodyPr wrap="square" lIns="0" rIns="0" tIns="0" bIns="0" anchor="ctr">
            <a:spAutoFit/>
          </a:bodyPr>
          <a:lstStyle/>
          <a:p>
            <a:pPr algn="r"/>
            <a:r>
              <a:rPr sz="1050" b="0" i="0">
                <a:solidFill>
                  <a:srgbClr val="1F2937"/>
                </a:solidFill>
                <a:latin typeface="Calibri"/>
              </a:rPr>
              <a:t>{{P3_REVGROWTH}}</a:t>
            </a:r>
          </a:p>
        </p:txBody>
      </p:sp>
      <p:sp>
        <p:nvSpPr>
          <p:cNvPr id="39" name="TextBox 38"/>
          <p:cNvSpPr txBox="1"/>
          <p:nvPr/>
        </p:nvSpPr>
        <p:spPr>
          <a:xfrm>
            <a:off x="9144000" y="2697480"/>
            <a:ext cx="1554480" cy="320040"/>
          </a:xfrm>
          <a:prstGeom prst="rect">
            <a:avLst/>
          </a:prstGeom>
          <a:noFill/>
        </p:spPr>
        <p:txBody>
          <a:bodyPr wrap="square" lIns="0" rIns="0" tIns="0" bIns="0" anchor="ctr">
            <a:spAutoFit/>
          </a:bodyPr>
          <a:lstStyle/>
          <a:p>
            <a:pPr algn="l"/>
            <a:r>
              <a:rPr sz="900" b="0" i="0">
                <a:solidFill>
                  <a:srgbClr val="4A5568"/>
                </a:solidFill>
                <a:latin typeface="Calibri"/>
              </a:rPr>
              <a:t>{{P3_NOTE}}</a:t>
            </a:r>
          </a:p>
        </p:txBody>
      </p:sp>
      <p:sp>
        <p:nvSpPr>
          <p:cNvPr id="40" name="TextBox 39"/>
          <p:cNvSpPr txBox="1"/>
          <p:nvPr/>
        </p:nvSpPr>
        <p:spPr>
          <a:xfrm>
            <a:off x="548640" y="3108960"/>
            <a:ext cx="1280160" cy="320040"/>
          </a:xfrm>
          <a:prstGeom prst="rect">
            <a:avLst/>
          </a:prstGeom>
          <a:noFill/>
        </p:spPr>
        <p:txBody>
          <a:bodyPr wrap="square" lIns="0" rIns="0" tIns="0" bIns="0" anchor="ctr">
            <a:spAutoFit/>
          </a:bodyPr>
          <a:lstStyle/>
          <a:p>
            <a:pPr algn="ctr"/>
            <a:r>
              <a:rPr sz="1050" b="1" i="0">
                <a:solidFill>
                  <a:srgbClr val="003D7A"/>
                </a:solidFill>
                <a:latin typeface="Calibri"/>
              </a:rPr>
              <a:t>{{P4_TICKER}}</a:t>
            </a:r>
          </a:p>
        </p:txBody>
      </p:sp>
      <p:sp>
        <p:nvSpPr>
          <p:cNvPr id="41" name="TextBox 40"/>
          <p:cNvSpPr txBox="1"/>
          <p:nvPr/>
        </p:nvSpPr>
        <p:spPr>
          <a:xfrm>
            <a:off x="2011680" y="3108960"/>
            <a:ext cx="1188720" cy="320040"/>
          </a:xfrm>
          <a:prstGeom prst="rect">
            <a:avLst/>
          </a:prstGeom>
          <a:noFill/>
        </p:spPr>
        <p:txBody>
          <a:bodyPr wrap="square" lIns="0" rIns="0" tIns="0" bIns="0" anchor="ctr">
            <a:spAutoFit/>
          </a:bodyPr>
          <a:lstStyle/>
          <a:p>
            <a:pPr algn="r"/>
            <a:r>
              <a:rPr sz="1050" b="0" i="0">
                <a:solidFill>
                  <a:srgbClr val="1F2937"/>
                </a:solidFill>
                <a:latin typeface="Calibri"/>
              </a:rPr>
              <a:t>{{P4_MARKETCAP}}</a:t>
            </a:r>
          </a:p>
        </p:txBody>
      </p:sp>
      <p:sp>
        <p:nvSpPr>
          <p:cNvPr id="42" name="TextBox 41"/>
          <p:cNvSpPr txBox="1"/>
          <p:nvPr/>
        </p:nvSpPr>
        <p:spPr>
          <a:xfrm>
            <a:off x="3383280" y="3108960"/>
            <a:ext cx="1005840" cy="320040"/>
          </a:xfrm>
          <a:prstGeom prst="rect">
            <a:avLst/>
          </a:prstGeom>
          <a:noFill/>
        </p:spPr>
        <p:txBody>
          <a:bodyPr wrap="square" lIns="0" rIns="0" tIns="0" bIns="0" anchor="ctr">
            <a:spAutoFit/>
          </a:bodyPr>
          <a:lstStyle/>
          <a:p>
            <a:pPr algn="r"/>
            <a:r>
              <a:rPr sz="1050" b="0" i="0">
                <a:solidFill>
                  <a:srgbClr val="1F2937"/>
                </a:solidFill>
                <a:latin typeface="Calibri"/>
              </a:rPr>
              <a:t>{{P4_PE}}</a:t>
            </a:r>
          </a:p>
        </p:txBody>
      </p:sp>
      <p:sp>
        <p:nvSpPr>
          <p:cNvPr id="43" name="TextBox 42"/>
          <p:cNvSpPr txBox="1"/>
          <p:nvPr/>
        </p:nvSpPr>
        <p:spPr>
          <a:xfrm>
            <a:off x="4572000" y="3108960"/>
            <a:ext cx="914400" cy="320040"/>
          </a:xfrm>
          <a:prstGeom prst="rect">
            <a:avLst/>
          </a:prstGeom>
          <a:noFill/>
        </p:spPr>
        <p:txBody>
          <a:bodyPr wrap="square" lIns="0" rIns="0" tIns="0" bIns="0" anchor="ctr">
            <a:spAutoFit/>
          </a:bodyPr>
          <a:lstStyle/>
          <a:p>
            <a:pPr algn="r"/>
            <a:r>
              <a:rPr sz="1050" b="0" i="0">
                <a:solidFill>
                  <a:srgbClr val="1F2937"/>
                </a:solidFill>
                <a:latin typeface="Calibri"/>
              </a:rPr>
              <a:t>{{P4_PB}}</a:t>
            </a:r>
          </a:p>
        </p:txBody>
      </p:sp>
      <p:sp>
        <p:nvSpPr>
          <p:cNvPr id="44" name="TextBox 43"/>
          <p:cNvSpPr txBox="1"/>
          <p:nvPr/>
        </p:nvSpPr>
        <p:spPr>
          <a:xfrm>
            <a:off x="5669280" y="3108960"/>
            <a:ext cx="914400" cy="320040"/>
          </a:xfrm>
          <a:prstGeom prst="rect">
            <a:avLst/>
          </a:prstGeom>
          <a:noFill/>
        </p:spPr>
        <p:txBody>
          <a:bodyPr wrap="square" lIns="0" rIns="0" tIns="0" bIns="0" anchor="ctr">
            <a:spAutoFit/>
          </a:bodyPr>
          <a:lstStyle/>
          <a:p>
            <a:pPr algn="r"/>
            <a:r>
              <a:rPr sz="1050" b="0" i="0">
                <a:solidFill>
                  <a:srgbClr val="1F2937"/>
                </a:solidFill>
                <a:latin typeface="Calibri"/>
              </a:rPr>
              <a:t>{{P4_ROE}}</a:t>
            </a:r>
          </a:p>
        </p:txBody>
      </p:sp>
      <p:sp>
        <p:nvSpPr>
          <p:cNvPr id="45" name="TextBox 44"/>
          <p:cNvSpPr txBox="1"/>
          <p:nvPr/>
        </p:nvSpPr>
        <p:spPr>
          <a:xfrm>
            <a:off x="6766560" y="3108960"/>
            <a:ext cx="914400" cy="320040"/>
          </a:xfrm>
          <a:prstGeom prst="rect">
            <a:avLst/>
          </a:prstGeom>
          <a:noFill/>
        </p:spPr>
        <p:txBody>
          <a:bodyPr wrap="square" lIns="0" rIns="0" tIns="0" bIns="0" anchor="ctr">
            <a:spAutoFit/>
          </a:bodyPr>
          <a:lstStyle/>
          <a:p>
            <a:pPr algn="r"/>
            <a:r>
              <a:rPr sz="1050" b="0" i="0">
                <a:solidFill>
                  <a:srgbClr val="1F2937"/>
                </a:solidFill>
                <a:latin typeface="Calibri"/>
              </a:rPr>
              <a:t>{{P4_ROA}}</a:t>
            </a:r>
          </a:p>
        </p:txBody>
      </p:sp>
      <p:sp>
        <p:nvSpPr>
          <p:cNvPr id="46" name="TextBox 45"/>
          <p:cNvSpPr txBox="1"/>
          <p:nvPr/>
        </p:nvSpPr>
        <p:spPr>
          <a:xfrm>
            <a:off x="7863840" y="3108960"/>
            <a:ext cx="1097280" cy="320040"/>
          </a:xfrm>
          <a:prstGeom prst="rect">
            <a:avLst/>
          </a:prstGeom>
          <a:noFill/>
        </p:spPr>
        <p:txBody>
          <a:bodyPr wrap="square" lIns="0" rIns="0" tIns="0" bIns="0" anchor="ctr">
            <a:spAutoFit/>
          </a:bodyPr>
          <a:lstStyle/>
          <a:p>
            <a:pPr algn="r"/>
            <a:r>
              <a:rPr sz="1050" b="0" i="0">
                <a:solidFill>
                  <a:srgbClr val="1F2937"/>
                </a:solidFill>
                <a:latin typeface="Calibri"/>
              </a:rPr>
              <a:t>{{P4_REVGROWTH}}</a:t>
            </a:r>
          </a:p>
        </p:txBody>
      </p:sp>
      <p:sp>
        <p:nvSpPr>
          <p:cNvPr id="47" name="TextBox 46"/>
          <p:cNvSpPr txBox="1"/>
          <p:nvPr/>
        </p:nvSpPr>
        <p:spPr>
          <a:xfrm>
            <a:off x="9144000" y="3108960"/>
            <a:ext cx="1554480" cy="320040"/>
          </a:xfrm>
          <a:prstGeom prst="rect">
            <a:avLst/>
          </a:prstGeom>
          <a:noFill/>
        </p:spPr>
        <p:txBody>
          <a:bodyPr wrap="square" lIns="0" rIns="0" tIns="0" bIns="0" anchor="ctr">
            <a:spAutoFit/>
          </a:bodyPr>
          <a:lstStyle/>
          <a:p>
            <a:pPr algn="l"/>
            <a:r>
              <a:rPr sz="900" b="0" i="0">
                <a:solidFill>
                  <a:srgbClr val="4A5568"/>
                </a:solidFill>
                <a:latin typeface="Calibri"/>
              </a:rPr>
              <a:t>{{P4_NOTE}}</a:t>
            </a:r>
          </a:p>
        </p:txBody>
      </p:sp>
      <p:sp>
        <p:nvSpPr>
          <p:cNvPr id="48" name="Rectangle 47"/>
          <p:cNvSpPr/>
          <p:nvPr/>
        </p:nvSpPr>
        <p:spPr>
          <a:xfrm>
            <a:off x="457200" y="3474720"/>
            <a:ext cx="10332720" cy="41148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 y="3520440"/>
            <a:ext cx="1280160" cy="320040"/>
          </a:xfrm>
          <a:prstGeom prst="rect">
            <a:avLst/>
          </a:prstGeom>
          <a:noFill/>
        </p:spPr>
        <p:txBody>
          <a:bodyPr wrap="square" lIns="0" rIns="0" tIns="0" bIns="0" anchor="ctr">
            <a:spAutoFit/>
          </a:bodyPr>
          <a:lstStyle/>
          <a:p>
            <a:pPr algn="ctr"/>
            <a:r>
              <a:rPr sz="1050" b="1" i="0">
                <a:solidFill>
                  <a:srgbClr val="003D7A"/>
                </a:solidFill>
                <a:latin typeface="Calibri"/>
              </a:rPr>
              <a:t>{{P5_TICKER}}</a:t>
            </a:r>
          </a:p>
        </p:txBody>
      </p:sp>
      <p:sp>
        <p:nvSpPr>
          <p:cNvPr id="50" name="TextBox 49"/>
          <p:cNvSpPr txBox="1"/>
          <p:nvPr/>
        </p:nvSpPr>
        <p:spPr>
          <a:xfrm>
            <a:off x="2011680" y="3520440"/>
            <a:ext cx="1188720" cy="320040"/>
          </a:xfrm>
          <a:prstGeom prst="rect">
            <a:avLst/>
          </a:prstGeom>
          <a:noFill/>
        </p:spPr>
        <p:txBody>
          <a:bodyPr wrap="square" lIns="0" rIns="0" tIns="0" bIns="0" anchor="ctr">
            <a:spAutoFit/>
          </a:bodyPr>
          <a:lstStyle/>
          <a:p>
            <a:pPr algn="r"/>
            <a:r>
              <a:rPr sz="1050" b="0" i="0">
                <a:solidFill>
                  <a:srgbClr val="1F2937"/>
                </a:solidFill>
                <a:latin typeface="Calibri"/>
              </a:rPr>
              <a:t>{{P5_MARKETCAP}}</a:t>
            </a:r>
          </a:p>
        </p:txBody>
      </p:sp>
      <p:sp>
        <p:nvSpPr>
          <p:cNvPr id="51" name="TextBox 50"/>
          <p:cNvSpPr txBox="1"/>
          <p:nvPr/>
        </p:nvSpPr>
        <p:spPr>
          <a:xfrm>
            <a:off x="3383280" y="3520440"/>
            <a:ext cx="1005840" cy="320040"/>
          </a:xfrm>
          <a:prstGeom prst="rect">
            <a:avLst/>
          </a:prstGeom>
          <a:noFill/>
        </p:spPr>
        <p:txBody>
          <a:bodyPr wrap="square" lIns="0" rIns="0" tIns="0" bIns="0" anchor="ctr">
            <a:spAutoFit/>
          </a:bodyPr>
          <a:lstStyle/>
          <a:p>
            <a:pPr algn="r"/>
            <a:r>
              <a:rPr sz="1050" b="0" i="0">
                <a:solidFill>
                  <a:srgbClr val="1F2937"/>
                </a:solidFill>
                <a:latin typeface="Calibri"/>
              </a:rPr>
              <a:t>{{P5_PE}}</a:t>
            </a:r>
          </a:p>
        </p:txBody>
      </p:sp>
      <p:sp>
        <p:nvSpPr>
          <p:cNvPr id="52" name="TextBox 51"/>
          <p:cNvSpPr txBox="1"/>
          <p:nvPr/>
        </p:nvSpPr>
        <p:spPr>
          <a:xfrm>
            <a:off x="4572000" y="3520440"/>
            <a:ext cx="914400" cy="320040"/>
          </a:xfrm>
          <a:prstGeom prst="rect">
            <a:avLst/>
          </a:prstGeom>
          <a:noFill/>
        </p:spPr>
        <p:txBody>
          <a:bodyPr wrap="square" lIns="0" rIns="0" tIns="0" bIns="0" anchor="ctr">
            <a:spAutoFit/>
          </a:bodyPr>
          <a:lstStyle/>
          <a:p>
            <a:pPr algn="r"/>
            <a:r>
              <a:rPr sz="1050" b="0" i="0">
                <a:solidFill>
                  <a:srgbClr val="1F2937"/>
                </a:solidFill>
                <a:latin typeface="Calibri"/>
              </a:rPr>
              <a:t>{{P5_PB}}</a:t>
            </a:r>
          </a:p>
        </p:txBody>
      </p:sp>
      <p:sp>
        <p:nvSpPr>
          <p:cNvPr id="53" name="TextBox 52"/>
          <p:cNvSpPr txBox="1"/>
          <p:nvPr/>
        </p:nvSpPr>
        <p:spPr>
          <a:xfrm>
            <a:off x="5669280" y="3520440"/>
            <a:ext cx="914400" cy="320040"/>
          </a:xfrm>
          <a:prstGeom prst="rect">
            <a:avLst/>
          </a:prstGeom>
          <a:noFill/>
        </p:spPr>
        <p:txBody>
          <a:bodyPr wrap="square" lIns="0" rIns="0" tIns="0" bIns="0" anchor="ctr">
            <a:spAutoFit/>
          </a:bodyPr>
          <a:lstStyle/>
          <a:p>
            <a:pPr algn="r"/>
            <a:r>
              <a:rPr sz="1050" b="0" i="0">
                <a:solidFill>
                  <a:srgbClr val="1F2937"/>
                </a:solidFill>
                <a:latin typeface="Calibri"/>
              </a:rPr>
              <a:t>{{P5_ROE}}</a:t>
            </a:r>
          </a:p>
        </p:txBody>
      </p:sp>
      <p:sp>
        <p:nvSpPr>
          <p:cNvPr id="54" name="TextBox 53"/>
          <p:cNvSpPr txBox="1"/>
          <p:nvPr/>
        </p:nvSpPr>
        <p:spPr>
          <a:xfrm>
            <a:off x="6766560" y="3520440"/>
            <a:ext cx="914400" cy="320040"/>
          </a:xfrm>
          <a:prstGeom prst="rect">
            <a:avLst/>
          </a:prstGeom>
          <a:noFill/>
        </p:spPr>
        <p:txBody>
          <a:bodyPr wrap="square" lIns="0" rIns="0" tIns="0" bIns="0" anchor="ctr">
            <a:spAutoFit/>
          </a:bodyPr>
          <a:lstStyle/>
          <a:p>
            <a:pPr algn="r"/>
            <a:r>
              <a:rPr sz="1050" b="0" i="0">
                <a:solidFill>
                  <a:srgbClr val="1F2937"/>
                </a:solidFill>
                <a:latin typeface="Calibri"/>
              </a:rPr>
              <a:t>{{P5_ROA}}</a:t>
            </a:r>
          </a:p>
        </p:txBody>
      </p:sp>
      <p:sp>
        <p:nvSpPr>
          <p:cNvPr id="55" name="TextBox 54"/>
          <p:cNvSpPr txBox="1"/>
          <p:nvPr/>
        </p:nvSpPr>
        <p:spPr>
          <a:xfrm>
            <a:off x="7863840" y="3520440"/>
            <a:ext cx="1097280" cy="320040"/>
          </a:xfrm>
          <a:prstGeom prst="rect">
            <a:avLst/>
          </a:prstGeom>
          <a:noFill/>
        </p:spPr>
        <p:txBody>
          <a:bodyPr wrap="square" lIns="0" rIns="0" tIns="0" bIns="0" anchor="ctr">
            <a:spAutoFit/>
          </a:bodyPr>
          <a:lstStyle/>
          <a:p>
            <a:pPr algn="r"/>
            <a:r>
              <a:rPr sz="1050" b="0" i="0">
                <a:solidFill>
                  <a:srgbClr val="1F2937"/>
                </a:solidFill>
                <a:latin typeface="Calibri"/>
              </a:rPr>
              <a:t>{{P5_REVGROWTH}}</a:t>
            </a:r>
          </a:p>
        </p:txBody>
      </p:sp>
      <p:sp>
        <p:nvSpPr>
          <p:cNvPr id="56" name="TextBox 55"/>
          <p:cNvSpPr txBox="1"/>
          <p:nvPr/>
        </p:nvSpPr>
        <p:spPr>
          <a:xfrm>
            <a:off x="9144000" y="3520440"/>
            <a:ext cx="1554480" cy="320040"/>
          </a:xfrm>
          <a:prstGeom prst="rect">
            <a:avLst/>
          </a:prstGeom>
          <a:noFill/>
        </p:spPr>
        <p:txBody>
          <a:bodyPr wrap="square" lIns="0" rIns="0" tIns="0" bIns="0" anchor="ctr">
            <a:spAutoFit/>
          </a:bodyPr>
          <a:lstStyle/>
          <a:p>
            <a:pPr algn="l"/>
            <a:r>
              <a:rPr sz="900" b="0" i="0">
                <a:solidFill>
                  <a:srgbClr val="4A5568"/>
                </a:solidFill>
                <a:latin typeface="Calibri"/>
              </a:rPr>
              <a:t>{{P5_NOTE}}</a:t>
            </a:r>
          </a:p>
        </p:txBody>
      </p:sp>
      <p:sp>
        <p:nvSpPr>
          <p:cNvPr id="57" name="TextBox 56"/>
          <p:cNvSpPr txBox="1"/>
          <p:nvPr/>
        </p:nvSpPr>
        <p:spPr>
          <a:xfrm>
            <a:off x="548640" y="3931920"/>
            <a:ext cx="1280160" cy="320040"/>
          </a:xfrm>
          <a:prstGeom prst="rect">
            <a:avLst/>
          </a:prstGeom>
          <a:noFill/>
        </p:spPr>
        <p:txBody>
          <a:bodyPr wrap="square" lIns="0" rIns="0" tIns="0" bIns="0" anchor="ctr">
            <a:spAutoFit/>
          </a:bodyPr>
          <a:lstStyle/>
          <a:p>
            <a:pPr algn="ctr"/>
            <a:r>
              <a:rPr sz="1050" b="1" i="0">
                <a:solidFill>
                  <a:srgbClr val="003D7A"/>
                </a:solidFill>
                <a:latin typeface="Calibri"/>
              </a:rPr>
              <a:t>{{P6_TICKER}}</a:t>
            </a:r>
          </a:p>
        </p:txBody>
      </p:sp>
      <p:sp>
        <p:nvSpPr>
          <p:cNvPr id="58" name="TextBox 57"/>
          <p:cNvSpPr txBox="1"/>
          <p:nvPr/>
        </p:nvSpPr>
        <p:spPr>
          <a:xfrm>
            <a:off x="2011680" y="3931920"/>
            <a:ext cx="1188720" cy="320040"/>
          </a:xfrm>
          <a:prstGeom prst="rect">
            <a:avLst/>
          </a:prstGeom>
          <a:noFill/>
        </p:spPr>
        <p:txBody>
          <a:bodyPr wrap="square" lIns="0" rIns="0" tIns="0" bIns="0" anchor="ctr">
            <a:spAutoFit/>
          </a:bodyPr>
          <a:lstStyle/>
          <a:p>
            <a:pPr algn="r"/>
            <a:r>
              <a:rPr sz="1050" b="0" i="0">
                <a:solidFill>
                  <a:srgbClr val="1F2937"/>
                </a:solidFill>
                <a:latin typeface="Calibri"/>
              </a:rPr>
              <a:t>{{P6_MARKETCAP}}</a:t>
            </a:r>
          </a:p>
        </p:txBody>
      </p:sp>
      <p:sp>
        <p:nvSpPr>
          <p:cNvPr id="59" name="TextBox 58"/>
          <p:cNvSpPr txBox="1"/>
          <p:nvPr/>
        </p:nvSpPr>
        <p:spPr>
          <a:xfrm>
            <a:off x="3383280" y="3931920"/>
            <a:ext cx="1005840" cy="320040"/>
          </a:xfrm>
          <a:prstGeom prst="rect">
            <a:avLst/>
          </a:prstGeom>
          <a:noFill/>
        </p:spPr>
        <p:txBody>
          <a:bodyPr wrap="square" lIns="0" rIns="0" tIns="0" bIns="0" anchor="ctr">
            <a:spAutoFit/>
          </a:bodyPr>
          <a:lstStyle/>
          <a:p>
            <a:pPr algn="r"/>
            <a:r>
              <a:rPr sz="1050" b="0" i="0">
                <a:solidFill>
                  <a:srgbClr val="1F2937"/>
                </a:solidFill>
                <a:latin typeface="Calibri"/>
              </a:rPr>
              <a:t>{{P6_PE}}</a:t>
            </a:r>
          </a:p>
        </p:txBody>
      </p:sp>
      <p:sp>
        <p:nvSpPr>
          <p:cNvPr id="60" name="TextBox 59"/>
          <p:cNvSpPr txBox="1"/>
          <p:nvPr/>
        </p:nvSpPr>
        <p:spPr>
          <a:xfrm>
            <a:off x="4572000" y="3931920"/>
            <a:ext cx="914400" cy="320040"/>
          </a:xfrm>
          <a:prstGeom prst="rect">
            <a:avLst/>
          </a:prstGeom>
          <a:noFill/>
        </p:spPr>
        <p:txBody>
          <a:bodyPr wrap="square" lIns="0" rIns="0" tIns="0" bIns="0" anchor="ctr">
            <a:spAutoFit/>
          </a:bodyPr>
          <a:lstStyle/>
          <a:p>
            <a:pPr algn="r"/>
            <a:r>
              <a:rPr sz="1050" b="0" i="0">
                <a:solidFill>
                  <a:srgbClr val="1F2937"/>
                </a:solidFill>
                <a:latin typeface="Calibri"/>
              </a:rPr>
              <a:t>{{P6_PB}}</a:t>
            </a:r>
          </a:p>
        </p:txBody>
      </p:sp>
      <p:sp>
        <p:nvSpPr>
          <p:cNvPr id="61" name="TextBox 60"/>
          <p:cNvSpPr txBox="1"/>
          <p:nvPr/>
        </p:nvSpPr>
        <p:spPr>
          <a:xfrm>
            <a:off x="5669280" y="3931920"/>
            <a:ext cx="914400" cy="320040"/>
          </a:xfrm>
          <a:prstGeom prst="rect">
            <a:avLst/>
          </a:prstGeom>
          <a:noFill/>
        </p:spPr>
        <p:txBody>
          <a:bodyPr wrap="square" lIns="0" rIns="0" tIns="0" bIns="0" anchor="ctr">
            <a:spAutoFit/>
          </a:bodyPr>
          <a:lstStyle/>
          <a:p>
            <a:pPr algn="r"/>
            <a:r>
              <a:rPr sz="1050" b="0" i="0">
                <a:solidFill>
                  <a:srgbClr val="1F2937"/>
                </a:solidFill>
                <a:latin typeface="Calibri"/>
              </a:rPr>
              <a:t>{{P6_ROE}}</a:t>
            </a:r>
          </a:p>
        </p:txBody>
      </p:sp>
      <p:sp>
        <p:nvSpPr>
          <p:cNvPr id="62" name="TextBox 61"/>
          <p:cNvSpPr txBox="1"/>
          <p:nvPr/>
        </p:nvSpPr>
        <p:spPr>
          <a:xfrm>
            <a:off x="6766560" y="3931920"/>
            <a:ext cx="914400" cy="320040"/>
          </a:xfrm>
          <a:prstGeom prst="rect">
            <a:avLst/>
          </a:prstGeom>
          <a:noFill/>
        </p:spPr>
        <p:txBody>
          <a:bodyPr wrap="square" lIns="0" rIns="0" tIns="0" bIns="0" anchor="ctr">
            <a:spAutoFit/>
          </a:bodyPr>
          <a:lstStyle/>
          <a:p>
            <a:pPr algn="r"/>
            <a:r>
              <a:rPr sz="1050" b="0" i="0">
                <a:solidFill>
                  <a:srgbClr val="1F2937"/>
                </a:solidFill>
                <a:latin typeface="Calibri"/>
              </a:rPr>
              <a:t>{{P6_ROA}}</a:t>
            </a:r>
          </a:p>
        </p:txBody>
      </p:sp>
      <p:sp>
        <p:nvSpPr>
          <p:cNvPr id="63" name="TextBox 62"/>
          <p:cNvSpPr txBox="1"/>
          <p:nvPr/>
        </p:nvSpPr>
        <p:spPr>
          <a:xfrm>
            <a:off x="7863840" y="3931920"/>
            <a:ext cx="1097280" cy="320040"/>
          </a:xfrm>
          <a:prstGeom prst="rect">
            <a:avLst/>
          </a:prstGeom>
          <a:noFill/>
        </p:spPr>
        <p:txBody>
          <a:bodyPr wrap="square" lIns="0" rIns="0" tIns="0" bIns="0" anchor="ctr">
            <a:spAutoFit/>
          </a:bodyPr>
          <a:lstStyle/>
          <a:p>
            <a:pPr algn="r"/>
            <a:r>
              <a:rPr sz="1050" b="0" i="0">
                <a:solidFill>
                  <a:srgbClr val="1F2937"/>
                </a:solidFill>
                <a:latin typeface="Calibri"/>
              </a:rPr>
              <a:t>{{P6_REVGROWTH}}</a:t>
            </a:r>
          </a:p>
        </p:txBody>
      </p:sp>
      <p:sp>
        <p:nvSpPr>
          <p:cNvPr id="64" name="TextBox 63"/>
          <p:cNvSpPr txBox="1"/>
          <p:nvPr/>
        </p:nvSpPr>
        <p:spPr>
          <a:xfrm>
            <a:off x="9144000" y="3931920"/>
            <a:ext cx="1554480" cy="320040"/>
          </a:xfrm>
          <a:prstGeom prst="rect">
            <a:avLst/>
          </a:prstGeom>
          <a:noFill/>
        </p:spPr>
        <p:txBody>
          <a:bodyPr wrap="square" lIns="0" rIns="0" tIns="0" bIns="0" anchor="ctr">
            <a:spAutoFit/>
          </a:bodyPr>
          <a:lstStyle/>
          <a:p>
            <a:pPr algn="l"/>
            <a:r>
              <a:rPr sz="900" b="0" i="0">
                <a:solidFill>
                  <a:srgbClr val="4A5568"/>
                </a:solidFill>
                <a:latin typeface="Calibri"/>
              </a:rPr>
              <a:t>{{P6_NOTE}}</a:t>
            </a:r>
          </a:p>
        </p:txBody>
      </p:sp>
      <p:sp>
        <p:nvSpPr>
          <p:cNvPr id="65" name="Rectangle 64"/>
          <p:cNvSpPr/>
          <p:nvPr/>
        </p:nvSpPr>
        <p:spPr>
          <a:xfrm>
            <a:off x="457200" y="4297680"/>
            <a:ext cx="10332720" cy="41148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8640" y="4343400"/>
            <a:ext cx="1280160" cy="320040"/>
          </a:xfrm>
          <a:prstGeom prst="rect">
            <a:avLst/>
          </a:prstGeom>
          <a:noFill/>
        </p:spPr>
        <p:txBody>
          <a:bodyPr wrap="square" lIns="0" rIns="0" tIns="0" bIns="0" anchor="ctr">
            <a:spAutoFit/>
          </a:bodyPr>
          <a:lstStyle/>
          <a:p>
            <a:pPr algn="ctr"/>
            <a:r>
              <a:rPr sz="1050" b="1" i="0">
                <a:solidFill>
                  <a:srgbClr val="003D7A"/>
                </a:solidFill>
                <a:latin typeface="Calibri"/>
              </a:rPr>
              <a:t>{{P7_TICKER}}</a:t>
            </a:r>
          </a:p>
        </p:txBody>
      </p:sp>
      <p:sp>
        <p:nvSpPr>
          <p:cNvPr id="67" name="TextBox 66"/>
          <p:cNvSpPr txBox="1"/>
          <p:nvPr/>
        </p:nvSpPr>
        <p:spPr>
          <a:xfrm>
            <a:off x="2011680" y="4343400"/>
            <a:ext cx="1188720" cy="320040"/>
          </a:xfrm>
          <a:prstGeom prst="rect">
            <a:avLst/>
          </a:prstGeom>
          <a:noFill/>
        </p:spPr>
        <p:txBody>
          <a:bodyPr wrap="square" lIns="0" rIns="0" tIns="0" bIns="0" anchor="ctr">
            <a:spAutoFit/>
          </a:bodyPr>
          <a:lstStyle/>
          <a:p>
            <a:pPr algn="r"/>
            <a:r>
              <a:rPr sz="1050" b="0" i="0">
                <a:solidFill>
                  <a:srgbClr val="1F2937"/>
                </a:solidFill>
                <a:latin typeface="Calibri"/>
              </a:rPr>
              <a:t>{{P7_MARKETCAP}}</a:t>
            </a:r>
          </a:p>
        </p:txBody>
      </p:sp>
      <p:sp>
        <p:nvSpPr>
          <p:cNvPr id="68" name="TextBox 67"/>
          <p:cNvSpPr txBox="1"/>
          <p:nvPr/>
        </p:nvSpPr>
        <p:spPr>
          <a:xfrm>
            <a:off x="3383280" y="4343400"/>
            <a:ext cx="1005840" cy="320040"/>
          </a:xfrm>
          <a:prstGeom prst="rect">
            <a:avLst/>
          </a:prstGeom>
          <a:noFill/>
        </p:spPr>
        <p:txBody>
          <a:bodyPr wrap="square" lIns="0" rIns="0" tIns="0" bIns="0" anchor="ctr">
            <a:spAutoFit/>
          </a:bodyPr>
          <a:lstStyle/>
          <a:p>
            <a:pPr algn="r"/>
            <a:r>
              <a:rPr sz="1050" b="0" i="0">
                <a:solidFill>
                  <a:srgbClr val="1F2937"/>
                </a:solidFill>
                <a:latin typeface="Calibri"/>
              </a:rPr>
              <a:t>{{P7_PE}}</a:t>
            </a:r>
          </a:p>
        </p:txBody>
      </p:sp>
      <p:sp>
        <p:nvSpPr>
          <p:cNvPr id="69" name="TextBox 68"/>
          <p:cNvSpPr txBox="1"/>
          <p:nvPr/>
        </p:nvSpPr>
        <p:spPr>
          <a:xfrm>
            <a:off x="4572000" y="4343400"/>
            <a:ext cx="914400" cy="320040"/>
          </a:xfrm>
          <a:prstGeom prst="rect">
            <a:avLst/>
          </a:prstGeom>
          <a:noFill/>
        </p:spPr>
        <p:txBody>
          <a:bodyPr wrap="square" lIns="0" rIns="0" tIns="0" bIns="0" anchor="ctr">
            <a:spAutoFit/>
          </a:bodyPr>
          <a:lstStyle/>
          <a:p>
            <a:pPr algn="r"/>
            <a:r>
              <a:rPr sz="1050" b="0" i="0">
                <a:solidFill>
                  <a:srgbClr val="1F2937"/>
                </a:solidFill>
                <a:latin typeface="Calibri"/>
              </a:rPr>
              <a:t>{{P7_PB}}</a:t>
            </a:r>
          </a:p>
        </p:txBody>
      </p:sp>
      <p:sp>
        <p:nvSpPr>
          <p:cNvPr id="70" name="TextBox 69"/>
          <p:cNvSpPr txBox="1"/>
          <p:nvPr/>
        </p:nvSpPr>
        <p:spPr>
          <a:xfrm>
            <a:off x="5669280" y="4343400"/>
            <a:ext cx="914400" cy="320040"/>
          </a:xfrm>
          <a:prstGeom prst="rect">
            <a:avLst/>
          </a:prstGeom>
          <a:noFill/>
        </p:spPr>
        <p:txBody>
          <a:bodyPr wrap="square" lIns="0" rIns="0" tIns="0" bIns="0" anchor="ctr">
            <a:spAutoFit/>
          </a:bodyPr>
          <a:lstStyle/>
          <a:p>
            <a:pPr algn="r"/>
            <a:r>
              <a:rPr sz="1050" b="0" i="0">
                <a:solidFill>
                  <a:srgbClr val="1F2937"/>
                </a:solidFill>
                <a:latin typeface="Calibri"/>
              </a:rPr>
              <a:t>{{P7_ROE}}</a:t>
            </a:r>
          </a:p>
        </p:txBody>
      </p:sp>
      <p:sp>
        <p:nvSpPr>
          <p:cNvPr id="71" name="TextBox 70"/>
          <p:cNvSpPr txBox="1"/>
          <p:nvPr/>
        </p:nvSpPr>
        <p:spPr>
          <a:xfrm>
            <a:off x="6766560" y="4343400"/>
            <a:ext cx="914400" cy="320040"/>
          </a:xfrm>
          <a:prstGeom prst="rect">
            <a:avLst/>
          </a:prstGeom>
          <a:noFill/>
        </p:spPr>
        <p:txBody>
          <a:bodyPr wrap="square" lIns="0" rIns="0" tIns="0" bIns="0" anchor="ctr">
            <a:spAutoFit/>
          </a:bodyPr>
          <a:lstStyle/>
          <a:p>
            <a:pPr algn="r"/>
            <a:r>
              <a:rPr sz="1050" b="0" i="0">
                <a:solidFill>
                  <a:srgbClr val="1F2937"/>
                </a:solidFill>
                <a:latin typeface="Calibri"/>
              </a:rPr>
              <a:t>{{P7_ROA}}</a:t>
            </a:r>
          </a:p>
        </p:txBody>
      </p:sp>
      <p:sp>
        <p:nvSpPr>
          <p:cNvPr id="72" name="TextBox 71"/>
          <p:cNvSpPr txBox="1"/>
          <p:nvPr/>
        </p:nvSpPr>
        <p:spPr>
          <a:xfrm>
            <a:off x="7863840" y="4343400"/>
            <a:ext cx="1097280" cy="320040"/>
          </a:xfrm>
          <a:prstGeom prst="rect">
            <a:avLst/>
          </a:prstGeom>
          <a:noFill/>
        </p:spPr>
        <p:txBody>
          <a:bodyPr wrap="square" lIns="0" rIns="0" tIns="0" bIns="0" anchor="ctr">
            <a:spAutoFit/>
          </a:bodyPr>
          <a:lstStyle/>
          <a:p>
            <a:pPr algn="r"/>
            <a:r>
              <a:rPr sz="1050" b="0" i="0">
                <a:solidFill>
                  <a:srgbClr val="1F2937"/>
                </a:solidFill>
                <a:latin typeface="Calibri"/>
              </a:rPr>
              <a:t>{{P7_REVGROWTH}}</a:t>
            </a:r>
          </a:p>
        </p:txBody>
      </p:sp>
      <p:sp>
        <p:nvSpPr>
          <p:cNvPr id="73" name="TextBox 72"/>
          <p:cNvSpPr txBox="1"/>
          <p:nvPr/>
        </p:nvSpPr>
        <p:spPr>
          <a:xfrm>
            <a:off x="9144000" y="4343400"/>
            <a:ext cx="1554480" cy="320040"/>
          </a:xfrm>
          <a:prstGeom prst="rect">
            <a:avLst/>
          </a:prstGeom>
          <a:noFill/>
        </p:spPr>
        <p:txBody>
          <a:bodyPr wrap="square" lIns="0" rIns="0" tIns="0" bIns="0" anchor="ctr">
            <a:spAutoFit/>
          </a:bodyPr>
          <a:lstStyle/>
          <a:p>
            <a:pPr algn="l"/>
            <a:r>
              <a:rPr sz="900" b="0" i="0">
                <a:solidFill>
                  <a:srgbClr val="4A5568"/>
                </a:solidFill>
                <a:latin typeface="Calibri"/>
              </a:rPr>
              <a:t>{{P7_NOTE}}</a:t>
            </a:r>
          </a:p>
        </p:txBody>
      </p:sp>
      <p:sp>
        <p:nvSpPr>
          <p:cNvPr id="74" name="TextBox 73"/>
          <p:cNvSpPr txBox="1"/>
          <p:nvPr/>
        </p:nvSpPr>
        <p:spPr>
          <a:xfrm>
            <a:off x="548640" y="4754880"/>
            <a:ext cx="1280160" cy="320040"/>
          </a:xfrm>
          <a:prstGeom prst="rect">
            <a:avLst/>
          </a:prstGeom>
          <a:noFill/>
        </p:spPr>
        <p:txBody>
          <a:bodyPr wrap="square" lIns="0" rIns="0" tIns="0" bIns="0" anchor="ctr">
            <a:spAutoFit/>
          </a:bodyPr>
          <a:lstStyle/>
          <a:p>
            <a:pPr algn="ctr"/>
            <a:r>
              <a:rPr sz="1050" b="1" i="0">
                <a:solidFill>
                  <a:srgbClr val="003D7A"/>
                </a:solidFill>
                <a:latin typeface="Calibri"/>
              </a:rPr>
              <a:t>{{P8_TICKER}}</a:t>
            </a:r>
          </a:p>
        </p:txBody>
      </p:sp>
      <p:sp>
        <p:nvSpPr>
          <p:cNvPr id="75" name="TextBox 74"/>
          <p:cNvSpPr txBox="1"/>
          <p:nvPr/>
        </p:nvSpPr>
        <p:spPr>
          <a:xfrm>
            <a:off x="2011680" y="4754880"/>
            <a:ext cx="1188720" cy="320040"/>
          </a:xfrm>
          <a:prstGeom prst="rect">
            <a:avLst/>
          </a:prstGeom>
          <a:noFill/>
        </p:spPr>
        <p:txBody>
          <a:bodyPr wrap="square" lIns="0" rIns="0" tIns="0" bIns="0" anchor="ctr">
            <a:spAutoFit/>
          </a:bodyPr>
          <a:lstStyle/>
          <a:p>
            <a:pPr algn="r"/>
            <a:r>
              <a:rPr sz="1050" b="0" i="0">
                <a:solidFill>
                  <a:srgbClr val="1F2937"/>
                </a:solidFill>
                <a:latin typeface="Calibri"/>
              </a:rPr>
              <a:t>{{P8_MARKETCAP}}</a:t>
            </a:r>
          </a:p>
        </p:txBody>
      </p:sp>
      <p:sp>
        <p:nvSpPr>
          <p:cNvPr id="76" name="TextBox 75"/>
          <p:cNvSpPr txBox="1"/>
          <p:nvPr/>
        </p:nvSpPr>
        <p:spPr>
          <a:xfrm>
            <a:off x="3383280" y="4754880"/>
            <a:ext cx="1005840" cy="320040"/>
          </a:xfrm>
          <a:prstGeom prst="rect">
            <a:avLst/>
          </a:prstGeom>
          <a:noFill/>
        </p:spPr>
        <p:txBody>
          <a:bodyPr wrap="square" lIns="0" rIns="0" tIns="0" bIns="0" anchor="ctr">
            <a:spAutoFit/>
          </a:bodyPr>
          <a:lstStyle/>
          <a:p>
            <a:pPr algn="r"/>
            <a:r>
              <a:rPr sz="1050" b="0" i="0">
                <a:solidFill>
                  <a:srgbClr val="1F2937"/>
                </a:solidFill>
                <a:latin typeface="Calibri"/>
              </a:rPr>
              <a:t>{{P8_PE}}</a:t>
            </a:r>
          </a:p>
        </p:txBody>
      </p:sp>
      <p:sp>
        <p:nvSpPr>
          <p:cNvPr id="77" name="TextBox 76"/>
          <p:cNvSpPr txBox="1"/>
          <p:nvPr/>
        </p:nvSpPr>
        <p:spPr>
          <a:xfrm>
            <a:off x="4572000" y="4754880"/>
            <a:ext cx="914400" cy="320040"/>
          </a:xfrm>
          <a:prstGeom prst="rect">
            <a:avLst/>
          </a:prstGeom>
          <a:noFill/>
        </p:spPr>
        <p:txBody>
          <a:bodyPr wrap="square" lIns="0" rIns="0" tIns="0" bIns="0" anchor="ctr">
            <a:spAutoFit/>
          </a:bodyPr>
          <a:lstStyle/>
          <a:p>
            <a:pPr algn="r"/>
            <a:r>
              <a:rPr sz="1050" b="0" i="0">
                <a:solidFill>
                  <a:srgbClr val="1F2937"/>
                </a:solidFill>
                <a:latin typeface="Calibri"/>
              </a:rPr>
              <a:t>{{P8_PB}}</a:t>
            </a:r>
          </a:p>
        </p:txBody>
      </p:sp>
      <p:sp>
        <p:nvSpPr>
          <p:cNvPr id="78" name="TextBox 77"/>
          <p:cNvSpPr txBox="1"/>
          <p:nvPr/>
        </p:nvSpPr>
        <p:spPr>
          <a:xfrm>
            <a:off x="5669280" y="4754880"/>
            <a:ext cx="914400" cy="320040"/>
          </a:xfrm>
          <a:prstGeom prst="rect">
            <a:avLst/>
          </a:prstGeom>
          <a:noFill/>
        </p:spPr>
        <p:txBody>
          <a:bodyPr wrap="square" lIns="0" rIns="0" tIns="0" bIns="0" anchor="ctr">
            <a:spAutoFit/>
          </a:bodyPr>
          <a:lstStyle/>
          <a:p>
            <a:pPr algn="r"/>
            <a:r>
              <a:rPr sz="1050" b="0" i="0">
                <a:solidFill>
                  <a:srgbClr val="1F2937"/>
                </a:solidFill>
                <a:latin typeface="Calibri"/>
              </a:rPr>
              <a:t>{{P8_ROE}}</a:t>
            </a:r>
          </a:p>
        </p:txBody>
      </p:sp>
      <p:sp>
        <p:nvSpPr>
          <p:cNvPr id="79" name="TextBox 78"/>
          <p:cNvSpPr txBox="1"/>
          <p:nvPr/>
        </p:nvSpPr>
        <p:spPr>
          <a:xfrm>
            <a:off x="6766560" y="4754880"/>
            <a:ext cx="914400" cy="320040"/>
          </a:xfrm>
          <a:prstGeom prst="rect">
            <a:avLst/>
          </a:prstGeom>
          <a:noFill/>
        </p:spPr>
        <p:txBody>
          <a:bodyPr wrap="square" lIns="0" rIns="0" tIns="0" bIns="0" anchor="ctr">
            <a:spAutoFit/>
          </a:bodyPr>
          <a:lstStyle/>
          <a:p>
            <a:pPr algn="r"/>
            <a:r>
              <a:rPr sz="1050" b="0" i="0">
                <a:solidFill>
                  <a:srgbClr val="1F2937"/>
                </a:solidFill>
                <a:latin typeface="Calibri"/>
              </a:rPr>
              <a:t>{{P8_ROA}}</a:t>
            </a:r>
          </a:p>
        </p:txBody>
      </p:sp>
      <p:sp>
        <p:nvSpPr>
          <p:cNvPr id="80" name="TextBox 79"/>
          <p:cNvSpPr txBox="1"/>
          <p:nvPr/>
        </p:nvSpPr>
        <p:spPr>
          <a:xfrm>
            <a:off x="7863840" y="4754880"/>
            <a:ext cx="1097280" cy="320040"/>
          </a:xfrm>
          <a:prstGeom prst="rect">
            <a:avLst/>
          </a:prstGeom>
          <a:noFill/>
        </p:spPr>
        <p:txBody>
          <a:bodyPr wrap="square" lIns="0" rIns="0" tIns="0" bIns="0" anchor="ctr">
            <a:spAutoFit/>
          </a:bodyPr>
          <a:lstStyle/>
          <a:p>
            <a:pPr algn="r"/>
            <a:r>
              <a:rPr sz="1050" b="0" i="0">
                <a:solidFill>
                  <a:srgbClr val="1F2937"/>
                </a:solidFill>
                <a:latin typeface="Calibri"/>
              </a:rPr>
              <a:t>{{P8_REVGROWTH}}</a:t>
            </a:r>
          </a:p>
        </p:txBody>
      </p:sp>
      <p:sp>
        <p:nvSpPr>
          <p:cNvPr id="81" name="TextBox 80"/>
          <p:cNvSpPr txBox="1"/>
          <p:nvPr/>
        </p:nvSpPr>
        <p:spPr>
          <a:xfrm>
            <a:off x="9144000" y="4754880"/>
            <a:ext cx="1554480" cy="320040"/>
          </a:xfrm>
          <a:prstGeom prst="rect">
            <a:avLst/>
          </a:prstGeom>
          <a:noFill/>
        </p:spPr>
        <p:txBody>
          <a:bodyPr wrap="square" lIns="0" rIns="0" tIns="0" bIns="0" anchor="ctr">
            <a:spAutoFit/>
          </a:bodyPr>
          <a:lstStyle/>
          <a:p>
            <a:pPr algn="l"/>
            <a:r>
              <a:rPr sz="900" b="0" i="0">
                <a:solidFill>
                  <a:srgbClr val="4A5568"/>
                </a:solidFill>
                <a:latin typeface="Calibri"/>
              </a:rPr>
              <a:t>{{P8_NOTE}}</a:t>
            </a:r>
          </a:p>
        </p:txBody>
      </p:sp>
      <p:sp>
        <p:nvSpPr>
          <p:cNvPr id="82" name="Rectangle 81"/>
          <p:cNvSpPr/>
          <p:nvPr/>
        </p:nvSpPr>
        <p:spPr>
          <a:xfrm>
            <a:off x="457200" y="5303520"/>
            <a:ext cx="11247120" cy="4572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40080" y="5394960"/>
            <a:ext cx="10881360" cy="274320"/>
          </a:xfrm>
          <a:prstGeom prst="rect">
            <a:avLst/>
          </a:prstGeom>
          <a:noFill/>
        </p:spPr>
        <p:txBody>
          <a:bodyPr wrap="square" lIns="0" rIns="0" tIns="0" bIns="0" anchor="t">
            <a:spAutoFit/>
          </a:bodyPr>
          <a:lstStyle/>
          <a:p>
            <a:pPr algn="l"/>
            <a:r>
              <a:rPr sz="900" b="1" i="0">
                <a:solidFill>
                  <a:srgbClr val="003D7A"/>
                </a:solidFill>
                <a:latin typeface="Calibri"/>
              </a:rPr>
              <a:t>ĐÁNH GIÁ ĐỊNH VỊ</a:t>
            </a:r>
          </a:p>
        </p:txBody>
      </p:sp>
      <p:sp>
        <p:nvSpPr>
          <p:cNvPr id="84" name="TextBox 83"/>
          <p:cNvSpPr txBox="1"/>
          <p:nvPr/>
        </p:nvSpPr>
        <p:spPr>
          <a:xfrm>
            <a:off x="640080" y="5577840"/>
            <a:ext cx="10881360" cy="182880"/>
          </a:xfrm>
          <a:prstGeom prst="rect">
            <a:avLst/>
          </a:prstGeom>
          <a:noFill/>
        </p:spPr>
        <p:txBody>
          <a:bodyPr wrap="square" lIns="0" rIns="0" tIns="0" bIns="0" anchor="t">
            <a:spAutoFit/>
          </a:bodyPr>
          <a:lstStyle/>
          <a:p>
            <a:pPr algn="l"/>
            <a:r>
              <a:rPr sz="1050" b="0" i="1">
                <a:solidFill>
                  <a:srgbClr val="1F2937"/>
                </a:solidFill>
                <a:latin typeface="Calibri"/>
              </a:rPr>
              <a:t>{{PEER_VERDICT}}</a:t>
            </a:r>
          </a:p>
        </p:txBody>
      </p:sp>
      <p:sp>
        <p:nvSpPr>
          <p:cNvPr id="85" name="TextBox 84"/>
          <p:cNvSpPr txBox="1"/>
          <p:nvPr/>
        </p:nvSpPr>
        <p:spPr>
          <a:xfrm>
            <a:off x="457200" y="6537960"/>
            <a:ext cx="9144000" cy="274320"/>
          </a:xfrm>
          <a:prstGeom prst="rect">
            <a:avLst/>
          </a:prstGeom>
          <a:noFill/>
        </p:spPr>
        <p:txBody>
          <a:bodyPr wrap="square" lIns="0" rIns="0" tIns="0" bIns="0" anchor="t">
            <a:spAutoFit/>
          </a:bodyPr>
          <a:lstStyle/>
          <a:p>
            <a:pPr algn="l"/>
            <a:r>
              <a:rPr sz="900" b="0" i="0">
                <a:solidFill>
                  <a:srgbClr val="9CA3AF"/>
                </a:solidFill>
                <a:latin typeface="Calibri"/>
              </a:rPr>
              <a:t>{{FOOTER_LEFT}}</a:t>
            </a:r>
          </a:p>
        </p:txBody>
      </p:sp>
      <p:sp>
        <p:nvSpPr>
          <p:cNvPr id="86" name="TextBox 85"/>
          <p:cNvSpPr txBox="1"/>
          <p:nvPr/>
        </p:nvSpPr>
        <p:spPr>
          <a:xfrm>
            <a:off x="11247120" y="6537960"/>
            <a:ext cx="457200" cy="274320"/>
          </a:xfrm>
          <a:prstGeom prst="rect">
            <a:avLst/>
          </a:prstGeom>
          <a:noFill/>
        </p:spPr>
        <p:txBody>
          <a:bodyPr wrap="square" lIns="0" rIns="0" tIns="0" bIns="0" anchor="t">
            <a:spAutoFit/>
          </a:bodyPr>
          <a:lstStyle/>
          <a:p>
            <a:pPr algn="r"/>
            <a:r>
              <a:rPr sz="900" b="1" i="0">
                <a:solidFill>
                  <a:srgbClr val="003D7A"/>
                </a:solidFill>
                <a:latin typeface="Calibri"/>
              </a:rPr>
              <a:t>{{PAGE_NUM}}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name="MINI_CHARTS_2X2">
    <p:spTree>
      <p:nvGrpSpPr>
        <p:cNvPr id="1" name=""/>
        <p:cNvGrpSpPr/>
        <p:nvPr/>
      </p:nvGrpSpPr>
      <p:grpSpPr/>
      <p:sp>
        <p:nvSpPr>
          <p:cNvPr id="2" name="Rectangle 1"/>
          <p:cNvSpPr/>
          <p:nvPr/>
        </p:nvSpPr>
        <p:spPr>
          <a:xfrm>
            <a:off x="457200" y="411480"/>
            <a:ext cx="73152" cy="64008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1064240" cy="502920"/>
          </a:xfrm>
          <a:prstGeom prst="rect">
            <a:avLst/>
          </a:prstGeom>
          <a:noFill/>
        </p:spPr>
        <p:txBody>
          <a:bodyPr wrap="square" lIns="0" rIns="0" tIns="0" bIns="0" anchor="ctr">
            <a:spAutoFit/>
          </a:bodyPr>
          <a:lstStyle/>
          <a:p>
            <a:pPr algn="l"/>
            <a:r>
              <a:rPr sz="2600" b="1" i="0">
                <a:solidFill>
                  <a:srgbClr val="003D7A"/>
                </a:solidFill>
                <a:latin typeface="Calibri"/>
              </a:rPr>
              <a:t>{{SECTION_TITLE}}</a:t>
            </a:r>
          </a:p>
        </p:txBody>
      </p:sp>
      <p:sp>
        <p:nvSpPr>
          <p:cNvPr id="4" name="TextBox 3"/>
          <p:cNvSpPr txBox="1"/>
          <p:nvPr/>
        </p:nvSpPr>
        <p:spPr>
          <a:xfrm>
            <a:off x="640080" y="868680"/>
            <a:ext cx="11064240" cy="274320"/>
          </a:xfrm>
          <a:prstGeom prst="rect">
            <a:avLst/>
          </a:prstGeom>
          <a:noFill/>
        </p:spPr>
        <p:txBody>
          <a:bodyPr wrap="square" lIns="0" rIns="0" tIns="0" bIns="0" anchor="t">
            <a:spAutoFit/>
          </a:bodyPr>
          <a:lstStyle/>
          <a:p>
            <a:pPr algn="l"/>
            <a:r>
              <a:rPr sz="1200" b="0" i="1">
                <a:solidFill>
                  <a:srgbClr val="4A5568"/>
                </a:solidFill>
                <a:latin typeface="Calibri"/>
              </a:rPr>
              <a:t>{{SECTION_SUB}}</a:t>
            </a:r>
          </a:p>
        </p:txBody>
      </p:sp>
      <p:sp>
        <p:nvSpPr>
          <p:cNvPr id="5" name="Rectangle 4"/>
          <p:cNvSpPr/>
          <p:nvPr/>
        </p:nvSpPr>
        <p:spPr>
          <a:xfrm>
            <a:off x="457200" y="1371600"/>
            <a:ext cx="5532120" cy="242316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71600"/>
            <a:ext cx="5532120" cy="45720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17320"/>
            <a:ext cx="5166360" cy="182880"/>
          </a:xfrm>
          <a:prstGeom prst="rect">
            <a:avLst/>
          </a:prstGeom>
          <a:noFill/>
        </p:spPr>
        <p:txBody>
          <a:bodyPr wrap="square" lIns="0" rIns="0" tIns="0" bIns="0" anchor="t">
            <a:spAutoFit/>
          </a:bodyPr>
          <a:lstStyle/>
          <a:p>
            <a:pPr algn="l"/>
            <a:r>
              <a:rPr sz="900" b="1" i="0">
                <a:solidFill>
                  <a:srgbClr val="D71249"/>
                </a:solidFill>
                <a:latin typeface="Calibri"/>
              </a:rPr>
              <a:t>{{CHART_1_TITLE}}</a:t>
            </a:r>
          </a:p>
        </p:txBody>
      </p:sp>
      <p:sp>
        <p:nvSpPr>
          <p:cNvPr id="8" name="TextBox 7"/>
          <p:cNvSpPr txBox="1"/>
          <p:nvPr/>
        </p:nvSpPr>
        <p:spPr>
          <a:xfrm>
            <a:off x="640080" y="1600200"/>
            <a:ext cx="5166360" cy="228600"/>
          </a:xfrm>
          <a:prstGeom prst="rect">
            <a:avLst/>
          </a:prstGeom>
          <a:noFill/>
        </p:spPr>
        <p:txBody>
          <a:bodyPr wrap="square" lIns="0" rIns="0" tIns="0" bIns="0" anchor="t">
            <a:spAutoFit/>
          </a:bodyPr>
          <a:lstStyle/>
          <a:p>
            <a:pPr algn="l"/>
            <a:r>
              <a:rPr sz="900" b="0" i="1">
                <a:solidFill>
                  <a:srgbClr val="FFFFFF"/>
                </a:solidFill>
                <a:latin typeface="Calibri"/>
              </a:rPr>
              <a:t>{{CHART_1_UNIT}}</a:t>
            </a:r>
          </a:p>
        </p:txBody>
      </p:sp>
      <p:sp>
        <p:nvSpPr>
          <p:cNvPr id="9" name="Rectangle 8"/>
          <p:cNvSpPr/>
          <p:nvPr/>
        </p:nvSpPr>
        <p:spPr>
          <a:xfrm>
            <a:off x="640080" y="1920240"/>
            <a:ext cx="5166360" cy="146303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377440"/>
            <a:ext cx="5166360" cy="274320"/>
          </a:xfrm>
          <a:prstGeom prst="rect">
            <a:avLst/>
          </a:prstGeom>
          <a:noFill/>
        </p:spPr>
        <p:txBody>
          <a:bodyPr wrap="square" lIns="0" rIns="0" tIns="0" bIns="0" anchor="ctr">
            <a:spAutoFit/>
          </a:bodyPr>
          <a:lstStyle/>
          <a:p>
            <a:pPr algn="ctr"/>
            <a:r>
              <a:rPr sz="1300" b="1" i="0">
                <a:solidFill>
                  <a:srgbClr val="9CA3AF"/>
                </a:solidFill>
                <a:latin typeface="Calibri"/>
              </a:rPr>
              <a:t>{{CHART_1_PLACEHOLDER}}</a:t>
            </a:r>
          </a:p>
        </p:txBody>
      </p:sp>
      <p:sp>
        <p:nvSpPr>
          <p:cNvPr id="11" name="TextBox 10"/>
          <p:cNvSpPr txBox="1"/>
          <p:nvPr/>
        </p:nvSpPr>
        <p:spPr>
          <a:xfrm>
            <a:off x="640080" y="2697479"/>
            <a:ext cx="5166360" cy="228600"/>
          </a:xfrm>
          <a:prstGeom prst="rect">
            <a:avLst/>
          </a:prstGeom>
          <a:noFill/>
        </p:spPr>
        <p:txBody>
          <a:bodyPr wrap="square" lIns="0" rIns="0" tIns="0" bIns="0" anchor="t">
            <a:spAutoFit/>
          </a:bodyPr>
          <a:lstStyle/>
          <a:p>
            <a:pPr algn="ctr"/>
            <a:r>
              <a:rPr sz="900" b="0" i="1">
                <a:solidFill>
                  <a:srgbClr val="9CA3AF"/>
                </a:solidFill>
                <a:latin typeface="Calibri"/>
              </a:rPr>
              <a:t>(Chart từ YAML block trong MD)</a:t>
            </a:r>
          </a:p>
        </p:txBody>
      </p:sp>
      <p:sp>
        <p:nvSpPr>
          <p:cNvPr id="12" name="TextBox 11"/>
          <p:cNvSpPr txBox="1"/>
          <p:nvPr/>
        </p:nvSpPr>
        <p:spPr>
          <a:xfrm>
            <a:off x="640080" y="3383280"/>
            <a:ext cx="2841498" cy="182880"/>
          </a:xfrm>
          <a:prstGeom prst="rect">
            <a:avLst/>
          </a:prstGeom>
          <a:noFill/>
        </p:spPr>
        <p:txBody>
          <a:bodyPr wrap="square" lIns="0" rIns="0" tIns="0" bIns="0" anchor="t">
            <a:spAutoFit/>
          </a:bodyPr>
          <a:lstStyle/>
          <a:p>
            <a:pPr algn="l"/>
            <a:r>
              <a:rPr sz="900" b="1" i="0">
                <a:solidFill>
                  <a:srgbClr val="1F2937"/>
                </a:solidFill>
                <a:latin typeface="Calibri"/>
              </a:rPr>
              <a:t>{{CHART_1_LATEST}}</a:t>
            </a:r>
          </a:p>
        </p:txBody>
      </p:sp>
      <p:sp>
        <p:nvSpPr>
          <p:cNvPr id="13" name="TextBox 12"/>
          <p:cNvSpPr txBox="1"/>
          <p:nvPr/>
        </p:nvSpPr>
        <p:spPr>
          <a:xfrm>
            <a:off x="3481578" y="3383280"/>
            <a:ext cx="2324862" cy="182880"/>
          </a:xfrm>
          <a:prstGeom prst="rect">
            <a:avLst/>
          </a:prstGeom>
          <a:noFill/>
        </p:spPr>
        <p:txBody>
          <a:bodyPr wrap="square" lIns="0" rIns="0" tIns="0" bIns="0" anchor="t">
            <a:spAutoFit/>
          </a:bodyPr>
          <a:lstStyle/>
          <a:p>
            <a:pPr algn="r"/>
            <a:r>
              <a:rPr sz="900" b="1" i="0">
                <a:solidFill>
                  <a:srgbClr val="059669"/>
                </a:solidFill>
                <a:latin typeface="Calibri"/>
              </a:rPr>
              <a:t>{{CHART_1_CHANGE}}</a:t>
            </a:r>
          </a:p>
        </p:txBody>
      </p:sp>
      <p:sp>
        <p:nvSpPr>
          <p:cNvPr id="14" name="Rectangle 13"/>
          <p:cNvSpPr/>
          <p:nvPr/>
        </p:nvSpPr>
        <p:spPr>
          <a:xfrm>
            <a:off x="6172200" y="1371600"/>
            <a:ext cx="5532120" cy="242316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1371600"/>
            <a:ext cx="5532120" cy="45720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1417320"/>
            <a:ext cx="5166360" cy="182880"/>
          </a:xfrm>
          <a:prstGeom prst="rect">
            <a:avLst/>
          </a:prstGeom>
          <a:noFill/>
        </p:spPr>
        <p:txBody>
          <a:bodyPr wrap="square" lIns="0" rIns="0" tIns="0" bIns="0" anchor="t">
            <a:spAutoFit/>
          </a:bodyPr>
          <a:lstStyle/>
          <a:p>
            <a:pPr algn="l"/>
            <a:r>
              <a:rPr sz="900" b="1" i="0">
                <a:solidFill>
                  <a:srgbClr val="D71249"/>
                </a:solidFill>
                <a:latin typeface="Calibri"/>
              </a:rPr>
              <a:t>{{CHART_2_TITLE}}</a:t>
            </a:r>
          </a:p>
        </p:txBody>
      </p:sp>
      <p:sp>
        <p:nvSpPr>
          <p:cNvPr id="17" name="TextBox 16"/>
          <p:cNvSpPr txBox="1"/>
          <p:nvPr/>
        </p:nvSpPr>
        <p:spPr>
          <a:xfrm>
            <a:off x="6355080" y="1600200"/>
            <a:ext cx="5166360" cy="228600"/>
          </a:xfrm>
          <a:prstGeom prst="rect">
            <a:avLst/>
          </a:prstGeom>
          <a:noFill/>
        </p:spPr>
        <p:txBody>
          <a:bodyPr wrap="square" lIns="0" rIns="0" tIns="0" bIns="0" anchor="t">
            <a:spAutoFit/>
          </a:bodyPr>
          <a:lstStyle/>
          <a:p>
            <a:pPr algn="l"/>
            <a:r>
              <a:rPr sz="900" b="0" i="1">
                <a:solidFill>
                  <a:srgbClr val="FFFFFF"/>
                </a:solidFill>
                <a:latin typeface="Calibri"/>
              </a:rPr>
              <a:t>{{CHART_2_UNIT}}</a:t>
            </a:r>
          </a:p>
        </p:txBody>
      </p:sp>
      <p:sp>
        <p:nvSpPr>
          <p:cNvPr id="18" name="Rectangle 17"/>
          <p:cNvSpPr/>
          <p:nvPr/>
        </p:nvSpPr>
        <p:spPr>
          <a:xfrm>
            <a:off x="6355080" y="1920240"/>
            <a:ext cx="5166360" cy="146303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2377440"/>
            <a:ext cx="5166360" cy="274320"/>
          </a:xfrm>
          <a:prstGeom prst="rect">
            <a:avLst/>
          </a:prstGeom>
          <a:noFill/>
        </p:spPr>
        <p:txBody>
          <a:bodyPr wrap="square" lIns="0" rIns="0" tIns="0" bIns="0" anchor="ctr">
            <a:spAutoFit/>
          </a:bodyPr>
          <a:lstStyle/>
          <a:p>
            <a:pPr algn="ctr"/>
            <a:r>
              <a:rPr sz="1300" b="1" i="0">
                <a:solidFill>
                  <a:srgbClr val="9CA3AF"/>
                </a:solidFill>
                <a:latin typeface="Calibri"/>
              </a:rPr>
              <a:t>{{CHART_2_PLACEHOLDER}}</a:t>
            </a:r>
          </a:p>
        </p:txBody>
      </p:sp>
      <p:sp>
        <p:nvSpPr>
          <p:cNvPr id="20" name="TextBox 19"/>
          <p:cNvSpPr txBox="1"/>
          <p:nvPr/>
        </p:nvSpPr>
        <p:spPr>
          <a:xfrm>
            <a:off x="6355080" y="2697479"/>
            <a:ext cx="5166360" cy="228600"/>
          </a:xfrm>
          <a:prstGeom prst="rect">
            <a:avLst/>
          </a:prstGeom>
          <a:noFill/>
        </p:spPr>
        <p:txBody>
          <a:bodyPr wrap="square" lIns="0" rIns="0" tIns="0" bIns="0" anchor="t">
            <a:spAutoFit/>
          </a:bodyPr>
          <a:lstStyle/>
          <a:p>
            <a:pPr algn="ctr"/>
            <a:r>
              <a:rPr sz="900" b="0" i="1">
                <a:solidFill>
                  <a:srgbClr val="9CA3AF"/>
                </a:solidFill>
                <a:latin typeface="Calibri"/>
              </a:rPr>
              <a:t>(Chart từ YAML block trong MD)</a:t>
            </a:r>
          </a:p>
        </p:txBody>
      </p:sp>
      <p:sp>
        <p:nvSpPr>
          <p:cNvPr id="21" name="TextBox 20"/>
          <p:cNvSpPr txBox="1"/>
          <p:nvPr/>
        </p:nvSpPr>
        <p:spPr>
          <a:xfrm>
            <a:off x="6355080" y="3383280"/>
            <a:ext cx="2841498" cy="182880"/>
          </a:xfrm>
          <a:prstGeom prst="rect">
            <a:avLst/>
          </a:prstGeom>
          <a:noFill/>
        </p:spPr>
        <p:txBody>
          <a:bodyPr wrap="square" lIns="0" rIns="0" tIns="0" bIns="0" anchor="t">
            <a:spAutoFit/>
          </a:bodyPr>
          <a:lstStyle/>
          <a:p>
            <a:pPr algn="l"/>
            <a:r>
              <a:rPr sz="900" b="1" i="0">
                <a:solidFill>
                  <a:srgbClr val="1F2937"/>
                </a:solidFill>
                <a:latin typeface="Calibri"/>
              </a:rPr>
              <a:t>{{CHART_2_LATEST}}</a:t>
            </a:r>
          </a:p>
        </p:txBody>
      </p:sp>
      <p:sp>
        <p:nvSpPr>
          <p:cNvPr id="22" name="TextBox 21"/>
          <p:cNvSpPr txBox="1"/>
          <p:nvPr/>
        </p:nvSpPr>
        <p:spPr>
          <a:xfrm>
            <a:off x="9196578" y="3383280"/>
            <a:ext cx="2324862" cy="182880"/>
          </a:xfrm>
          <a:prstGeom prst="rect">
            <a:avLst/>
          </a:prstGeom>
          <a:noFill/>
        </p:spPr>
        <p:txBody>
          <a:bodyPr wrap="square" lIns="0" rIns="0" tIns="0" bIns="0" anchor="t">
            <a:spAutoFit/>
          </a:bodyPr>
          <a:lstStyle/>
          <a:p>
            <a:pPr algn="r"/>
            <a:r>
              <a:rPr sz="900" b="1" i="0">
                <a:solidFill>
                  <a:srgbClr val="059669"/>
                </a:solidFill>
                <a:latin typeface="Calibri"/>
              </a:rPr>
              <a:t>{{CHART_2_CHANGE}}</a:t>
            </a:r>
          </a:p>
        </p:txBody>
      </p:sp>
      <p:sp>
        <p:nvSpPr>
          <p:cNvPr id="23" name="Rectangle 22"/>
          <p:cNvSpPr/>
          <p:nvPr/>
        </p:nvSpPr>
        <p:spPr>
          <a:xfrm>
            <a:off x="457200" y="3977639"/>
            <a:ext cx="5532120" cy="242316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3977639"/>
            <a:ext cx="5532120" cy="45720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4023359"/>
            <a:ext cx="5166360" cy="182880"/>
          </a:xfrm>
          <a:prstGeom prst="rect">
            <a:avLst/>
          </a:prstGeom>
          <a:noFill/>
        </p:spPr>
        <p:txBody>
          <a:bodyPr wrap="square" lIns="0" rIns="0" tIns="0" bIns="0" anchor="t">
            <a:spAutoFit/>
          </a:bodyPr>
          <a:lstStyle/>
          <a:p>
            <a:pPr algn="l"/>
            <a:r>
              <a:rPr sz="900" b="1" i="0">
                <a:solidFill>
                  <a:srgbClr val="D71249"/>
                </a:solidFill>
                <a:latin typeface="Calibri"/>
              </a:rPr>
              <a:t>{{CHART_3_TITLE}}</a:t>
            </a:r>
          </a:p>
        </p:txBody>
      </p:sp>
      <p:sp>
        <p:nvSpPr>
          <p:cNvPr id="26" name="TextBox 25"/>
          <p:cNvSpPr txBox="1"/>
          <p:nvPr/>
        </p:nvSpPr>
        <p:spPr>
          <a:xfrm>
            <a:off x="640080" y="4206240"/>
            <a:ext cx="5166360" cy="228600"/>
          </a:xfrm>
          <a:prstGeom prst="rect">
            <a:avLst/>
          </a:prstGeom>
          <a:noFill/>
        </p:spPr>
        <p:txBody>
          <a:bodyPr wrap="square" lIns="0" rIns="0" tIns="0" bIns="0" anchor="t">
            <a:spAutoFit/>
          </a:bodyPr>
          <a:lstStyle/>
          <a:p>
            <a:pPr algn="l"/>
            <a:r>
              <a:rPr sz="900" b="0" i="1">
                <a:solidFill>
                  <a:srgbClr val="FFFFFF"/>
                </a:solidFill>
                <a:latin typeface="Calibri"/>
              </a:rPr>
              <a:t>{{CHART_3_UNIT}}</a:t>
            </a:r>
          </a:p>
        </p:txBody>
      </p:sp>
      <p:sp>
        <p:nvSpPr>
          <p:cNvPr id="27" name="Rectangle 26"/>
          <p:cNvSpPr/>
          <p:nvPr/>
        </p:nvSpPr>
        <p:spPr>
          <a:xfrm>
            <a:off x="640080" y="4526279"/>
            <a:ext cx="5166360" cy="146303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4983479"/>
            <a:ext cx="5166360" cy="274320"/>
          </a:xfrm>
          <a:prstGeom prst="rect">
            <a:avLst/>
          </a:prstGeom>
          <a:noFill/>
        </p:spPr>
        <p:txBody>
          <a:bodyPr wrap="square" lIns="0" rIns="0" tIns="0" bIns="0" anchor="ctr">
            <a:spAutoFit/>
          </a:bodyPr>
          <a:lstStyle/>
          <a:p>
            <a:pPr algn="ctr"/>
            <a:r>
              <a:rPr sz="1300" b="1" i="0">
                <a:solidFill>
                  <a:srgbClr val="9CA3AF"/>
                </a:solidFill>
                <a:latin typeface="Calibri"/>
              </a:rPr>
              <a:t>{{CHART_3_PLACEHOLDER}}</a:t>
            </a:r>
          </a:p>
        </p:txBody>
      </p:sp>
      <p:sp>
        <p:nvSpPr>
          <p:cNvPr id="29" name="TextBox 28"/>
          <p:cNvSpPr txBox="1"/>
          <p:nvPr/>
        </p:nvSpPr>
        <p:spPr>
          <a:xfrm>
            <a:off x="640080" y="5303519"/>
            <a:ext cx="5166360" cy="228600"/>
          </a:xfrm>
          <a:prstGeom prst="rect">
            <a:avLst/>
          </a:prstGeom>
          <a:noFill/>
        </p:spPr>
        <p:txBody>
          <a:bodyPr wrap="square" lIns="0" rIns="0" tIns="0" bIns="0" anchor="t">
            <a:spAutoFit/>
          </a:bodyPr>
          <a:lstStyle/>
          <a:p>
            <a:pPr algn="ctr"/>
            <a:r>
              <a:rPr sz="900" b="0" i="1">
                <a:solidFill>
                  <a:srgbClr val="9CA3AF"/>
                </a:solidFill>
                <a:latin typeface="Calibri"/>
              </a:rPr>
              <a:t>(Chart từ YAML block trong MD)</a:t>
            </a:r>
          </a:p>
        </p:txBody>
      </p:sp>
      <p:sp>
        <p:nvSpPr>
          <p:cNvPr id="30" name="TextBox 29"/>
          <p:cNvSpPr txBox="1"/>
          <p:nvPr/>
        </p:nvSpPr>
        <p:spPr>
          <a:xfrm>
            <a:off x="640080" y="5989320"/>
            <a:ext cx="2841498" cy="182880"/>
          </a:xfrm>
          <a:prstGeom prst="rect">
            <a:avLst/>
          </a:prstGeom>
          <a:noFill/>
        </p:spPr>
        <p:txBody>
          <a:bodyPr wrap="square" lIns="0" rIns="0" tIns="0" bIns="0" anchor="t">
            <a:spAutoFit/>
          </a:bodyPr>
          <a:lstStyle/>
          <a:p>
            <a:pPr algn="l"/>
            <a:r>
              <a:rPr sz="900" b="1" i="0">
                <a:solidFill>
                  <a:srgbClr val="1F2937"/>
                </a:solidFill>
                <a:latin typeface="Calibri"/>
              </a:rPr>
              <a:t>{{CHART_3_LATEST}}</a:t>
            </a:r>
          </a:p>
        </p:txBody>
      </p:sp>
      <p:sp>
        <p:nvSpPr>
          <p:cNvPr id="31" name="TextBox 30"/>
          <p:cNvSpPr txBox="1"/>
          <p:nvPr/>
        </p:nvSpPr>
        <p:spPr>
          <a:xfrm>
            <a:off x="3481578" y="5989320"/>
            <a:ext cx="2324862" cy="182880"/>
          </a:xfrm>
          <a:prstGeom prst="rect">
            <a:avLst/>
          </a:prstGeom>
          <a:noFill/>
        </p:spPr>
        <p:txBody>
          <a:bodyPr wrap="square" lIns="0" rIns="0" tIns="0" bIns="0" anchor="t">
            <a:spAutoFit/>
          </a:bodyPr>
          <a:lstStyle/>
          <a:p>
            <a:pPr algn="r"/>
            <a:r>
              <a:rPr sz="900" b="1" i="0">
                <a:solidFill>
                  <a:srgbClr val="059669"/>
                </a:solidFill>
                <a:latin typeface="Calibri"/>
              </a:rPr>
              <a:t>{{CHART_3_CHANGE}}</a:t>
            </a:r>
          </a:p>
        </p:txBody>
      </p:sp>
      <p:sp>
        <p:nvSpPr>
          <p:cNvPr id="32" name="Rectangle 31"/>
          <p:cNvSpPr/>
          <p:nvPr/>
        </p:nvSpPr>
        <p:spPr>
          <a:xfrm>
            <a:off x="6172200" y="3977639"/>
            <a:ext cx="5532120" cy="242316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2200" y="3977639"/>
            <a:ext cx="5532120" cy="45720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4023359"/>
            <a:ext cx="5166360" cy="182880"/>
          </a:xfrm>
          <a:prstGeom prst="rect">
            <a:avLst/>
          </a:prstGeom>
          <a:noFill/>
        </p:spPr>
        <p:txBody>
          <a:bodyPr wrap="square" lIns="0" rIns="0" tIns="0" bIns="0" anchor="t">
            <a:spAutoFit/>
          </a:bodyPr>
          <a:lstStyle/>
          <a:p>
            <a:pPr algn="l"/>
            <a:r>
              <a:rPr sz="900" b="1" i="0">
                <a:solidFill>
                  <a:srgbClr val="D71249"/>
                </a:solidFill>
                <a:latin typeface="Calibri"/>
              </a:rPr>
              <a:t>{{CHART_4_TITLE}}</a:t>
            </a:r>
          </a:p>
        </p:txBody>
      </p:sp>
      <p:sp>
        <p:nvSpPr>
          <p:cNvPr id="35" name="TextBox 34"/>
          <p:cNvSpPr txBox="1"/>
          <p:nvPr/>
        </p:nvSpPr>
        <p:spPr>
          <a:xfrm>
            <a:off x="6355080" y="4206240"/>
            <a:ext cx="5166360" cy="228600"/>
          </a:xfrm>
          <a:prstGeom prst="rect">
            <a:avLst/>
          </a:prstGeom>
          <a:noFill/>
        </p:spPr>
        <p:txBody>
          <a:bodyPr wrap="square" lIns="0" rIns="0" tIns="0" bIns="0" anchor="t">
            <a:spAutoFit/>
          </a:bodyPr>
          <a:lstStyle/>
          <a:p>
            <a:pPr algn="l"/>
            <a:r>
              <a:rPr sz="900" b="0" i="1">
                <a:solidFill>
                  <a:srgbClr val="FFFFFF"/>
                </a:solidFill>
                <a:latin typeface="Calibri"/>
              </a:rPr>
              <a:t>{{CHART_4_UNIT}}</a:t>
            </a:r>
          </a:p>
        </p:txBody>
      </p:sp>
      <p:sp>
        <p:nvSpPr>
          <p:cNvPr id="36" name="Rectangle 35"/>
          <p:cNvSpPr/>
          <p:nvPr/>
        </p:nvSpPr>
        <p:spPr>
          <a:xfrm>
            <a:off x="6355080" y="4526279"/>
            <a:ext cx="5166360" cy="146303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55080" y="4983479"/>
            <a:ext cx="5166360" cy="274320"/>
          </a:xfrm>
          <a:prstGeom prst="rect">
            <a:avLst/>
          </a:prstGeom>
          <a:noFill/>
        </p:spPr>
        <p:txBody>
          <a:bodyPr wrap="square" lIns="0" rIns="0" tIns="0" bIns="0" anchor="ctr">
            <a:spAutoFit/>
          </a:bodyPr>
          <a:lstStyle/>
          <a:p>
            <a:pPr algn="ctr"/>
            <a:r>
              <a:rPr sz="1300" b="1" i="0">
                <a:solidFill>
                  <a:srgbClr val="9CA3AF"/>
                </a:solidFill>
                <a:latin typeface="Calibri"/>
              </a:rPr>
              <a:t>{{CHART_4_PLACEHOLDER}}</a:t>
            </a:r>
          </a:p>
        </p:txBody>
      </p:sp>
      <p:sp>
        <p:nvSpPr>
          <p:cNvPr id="38" name="TextBox 37"/>
          <p:cNvSpPr txBox="1"/>
          <p:nvPr/>
        </p:nvSpPr>
        <p:spPr>
          <a:xfrm>
            <a:off x="6355080" y="5303519"/>
            <a:ext cx="5166360" cy="228600"/>
          </a:xfrm>
          <a:prstGeom prst="rect">
            <a:avLst/>
          </a:prstGeom>
          <a:noFill/>
        </p:spPr>
        <p:txBody>
          <a:bodyPr wrap="square" lIns="0" rIns="0" tIns="0" bIns="0" anchor="t">
            <a:spAutoFit/>
          </a:bodyPr>
          <a:lstStyle/>
          <a:p>
            <a:pPr algn="ctr"/>
            <a:r>
              <a:rPr sz="900" b="0" i="1">
                <a:solidFill>
                  <a:srgbClr val="9CA3AF"/>
                </a:solidFill>
                <a:latin typeface="Calibri"/>
              </a:rPr>
              <a:t>(Chart từ YAML block trong MD)</a:t>
            </a:r>
          </a:p>
        </p:txBody>
      </p:sp>
      <p:sp>
        <p:nvSpPr>
          <p:cNvPr id="39" name="TextBox 38"/>
          <p:cNvSpPr txBox="1"/>
          <p:nvPr/>
        </p:nvSpPr>
        <p:spPr>
          <a:xfrm>
            <a:off x="6355080" y="5989320"/>
            <a:ext cx="2841498" cy="182880"/>
          </a:xfrm>
          <a:prstGeom prst="rect">
            <a:avLst/>
          </a:prstGeom>
          <a:noFill/>
        </p:spPr>
        <p:txBody>
          <a:bodyPr wrap="square" lIns="0" rIns="0" tIns="0" bIns="0" anchor="t">
            <a:spAutoFit/>
          </a:bodyPr>
          <a:lstStyle/>
          <a:p>
            <a:pPr algn="l"/>
            <a:r>
              <a:rPr sz="900" b="1" i="0">
                <a:solidFill>
                  <a:srgbClr val="1F2937"/>
                </a:solidFill>
                <a:latin typeface="Calibri"/>
              </a:rPr>
              <a:t>{{CHART_4_LATEST}}</a:t>
            </a:r>
          </a:p>
        </p:txBody>
      </p:sp>
      <p:sp>
        <p:nvSpPr>
          <p:cNvPr id="40" name="TextBox 39"/>
          <p:cNvSpPr txBox="1"/>
          <p:nvPr/>
        </p:nvSpPr>
        <p:spPr>
          <a:xfrm>
            <a:off x="9196578" y="5989320"/>
            <a:ext cx="2324862" cy="182880"/>
          </a:xfrm>
          <a:prstGeom prst="rect">
            <a:avLst/>
          </a:prstGeom>
          <a:noFill/>
        </p:spPr>
        <p:txBody>
          <a:bodyPr wrap="square" lIns="0" rIns="0" tIns="0" bIns="0" anchor="t">
            <a:spAutoFit/>
          </a:bodyPr>
          <a:lstStyle/>
          <a:p>
            <a:pPr algn="r"/>
            <a:r>
              <a:rPr sz="900" b="1" i="0">
                <a:solidFill>
                  <a:srgbClr val="059669"/>
                </a:solidFill>
                <a:latin typeface="Calibri"/>
              </a:rPr>
              <a:t>{{CHART_4_CHANGE}}</a:t>
            </a:r>
          </a:p>
        </p:txBody>
      </p:sp>
      <p:sp>
        <p:nvSpPr>
          <p:cNvPr id="41" name="TextBox 40"/>
          <p:cNvSpPr txBox="1"/>
          <p:nvPr/>
        </p:nvSpPr>
        <p:spPr>
          <a:xfrm>
            <a:off x="457200" y="6537960"/>
            <a:ext cx="9144000" cy="274320"/>
          </a:xfrm>
          <a:prstGeom prst="rect">
            <a:avLst/>
          </a:prstGeom>
          <a:noFill/>
        </p:spPr>
        <p:txBody>
          <a:bodyPr wrap="square" lIns="0" rIns="0" tIns="0" bIns="0" anchor="t">
            <a:spAutoFit/>
          </a:bodyPr>
          <a:lstStyle/>
          <a:p>
            <a:pPr algn="l"/>
            <a:r>
              <a:rPr sz="900" b="0" i="0">
                <a:solidFill>
                  <a:srgbClr val="9CA3AF"/>
                </a:solidFill>
                <a:latin typeface="Calibri"/>
              </a:rPr>
              <a:t>{{FOOTER_LEFT}}</a:t>
            </a:r>
          </a:p>
        </p:txBody>
      </p:sp>
      <p:sp>
        <p:nvSpPr>
          <p:cNvPr id="42" name="TextBox 41"/>
          <p:cNvSpPr txBox="1"/>
          <p:nvPr/>
        </p:nvSpPr>
        <p:spPr>
          <a:xfrm>
            <a:off x="11247120" y="6537960"/>
            <a:ext cx="457200" cy="274320"/>
          </a:xfrm>
          <a:prstGeom prst="rect">
            <a:avLst/>
          </a:prstGeom>
          <a:noFill/>
        </p:spPr>
        <p:txBody>
          <a:bodyPr wrap="square" lIns="0" rIns="0" tIns="0" bIns="0" anchor="t">
            <a:spAutoFit/>
          </a:bodyPr>
          <a:lstStyle/>
          <a:p>
            <a:pPr algn="r"/>
            <a:r>
              <a:rPr sz="900" b="1" i="0">
                <a:solidFill>
                  <a:srgbClr val="003D7A"/>
                </a:solidFill>
                <a:latin typeface="Calibri"/>
              </a:rPr>
              <a:t>{{PAGE_NUM}}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name="CALENDAR_WEEK">
    <p:spTree>
      <p:nvGrpSpPr>
        <p:cNvPr id="1" name=""/>
        <p:cNvGrpSpPr/>
        <p:nvPr/>
      </p:nvGrpSpPr>
      <p:grpSpPr/>
      <p:sp>
        <p:nvSpPr>
          <p:cNvPr id="2" name="Rectangle 1"/>
          <p:cNvSpPr/>
          <p:nvPr/>
        </p:nvSpPr>
        <p:spPr>
          <a:xfrm>
            <a:off x="457200" y="411480"/>
            <a:ext cx="73152" cy="64008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1064240" cy="502920"/>
          </a:xfrm>
          <a:prstGeom prst="rect">
            <a:avLst/>
          </a:prstGeom>
          <a:noFill/>
        </p:spPr>
        <p:txBody>
          <a:bodyPr wrap="square" lIns="0" rIns="0" tIns="0" bIns="0" anchor="ctr">
            <a:spAutoFit/>
          </a:bodyPr>
          <a:lstStyle/>
          <a:p>
            <a:pPr algn="l"/>
            <a:r>
              <a:rPr sz="2600" b="1" i="0">
                <a:solidFill>
                  <a:srgbClr val="003D7A"/>
                </a:solidFill>
                <a:latin typeface="Calibri"/>
              </a:rPr>
              <a:t>{{SECTION_TITLE}}</a:t>
            </a:r>
          </a:p>
        </p:txBody>
      </p:sp>
      <p:sp>
        <p:nvSpPr>
          <p:cNvPr id="4" name="TextBox 3"/>
          <p:cNvSpPr txBox="1"/>
          <p:nvPr/>
        </p:nvSpPr>
        <p:spPr>
          <a:xfrm>
            <a:off x="640080" y="868680"/>
            <a:ext cx="11064240" cy="274320"/>
          </a:xfrm>
          <a:prstGeom prst="rect">
            <a:avLst/>
          </a:prstGeom>
          <a:noFill/>
        </p:spPr>
        <p:txBody>
          <a:bodyPr wrap="square" lIns="0" rIns="0" tIns="0" bIns="0" anchor="t">
            <a:spAutoFit/>
          </a:bodyPr>
          <a:lstStyle/>
          <a:p>
            <a:pPr algn="l"/>
            <a:r>
              <a:rPr sz="1200" b="0" i="1">
                <a:solidFill>
                  <a:srgbClr val="4A5568"/>
                </a:solidFill>
                <a:latin typeface="Calibri"/>
              </a:rPr>
              <a:t>{{SECTION_SUB}}</a:t>
            </a:r>
          </a:p>
        </p:txBody>
      </p:sp>
      <p:sp>
        <p:nvSpPr>
          <p:cNvPr id="5" name="Rectangle 4"/>
          <p:cNvSpPr/>
          <p:nvPr/>
        </p:nvSpPr>
        <p:spPr>
          <a:xfrm>
            <a:off x="457200" y="1371600"/>
            <a:ext cx="1544029" cy="4846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71600"/>
            <a:ext cx="1544029" cy="96012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508760"/>
            <a:ext cx="1544029" cy="274320"/>
          </a:xfrm>
          <a:prstGeom prst="rect">
            <a:avLst/>
          </a:prstGeom>
          <a:noFill/>
        </p:spPr>
        <p:txBody>
          <a:bodyPr wrap="square" lIns="0" rIns="0" tIns="0" bIns="0" anchor="t">
            <a:spAutoFit/>
          </a:bodyPr>
          <a:lstStyle/>
          <a:p>
            <a:pPr algn="ctr"/>
            <a:r>
              <a:rPr sz="900" b="1" i="0">
                <a:solidFill>
                  <a:srgbClr val="FFFFFF"/>
                </a:solidFill>
                <a:latin typeface="Calibri"/>
              </a:rPr>
              <a:t>THỨ HAI</a:t>
            </a:r>
          </a:p>
        </p:txBody>
      </p:sp>
      <p:sp>
        <p:nvSpPr>
          <p:cNvPr id="8" name="TextBox 7"/>
          <p:cNvSpPr txBox="1"/>
          <p:nvPr/>
        </p:nvSpPr>
        <p:spPr>
          <a:xfrm>
            <a:off x="502920" y="1828800"/>
            <a:ext cx="1452589" cy="457200"/>
          </a:xfrm>
          <a:prstGeom prst="rect">
            <a:avLst/>
          </a:prstGeom>
          <a:noFill/>
        </p:spPr>
        <p:txBody>
          <a:bodyPr wrap="square" lIns="0" rIns="0" tIns="0" bIns="0" anchor="t">
            <a:spAutoFit/>
          </a:bodyPr>
          <a:lstStyle/>
          <a:p>
            <a:pPr algn="ctr"/>
            <a:r>
              <a:rPr sz="1300" b="1" i="0">
                <a:solidFill>
                  <a:srgbClr val="FFFFFF"/>
                </a:solidFill>
                <a:latin typeface="Calibri"/>
              </a:rPr>
              <a:t>{{DAY_1_DATE}}</a:t>
            </a:r>
          </a:p>
        </p:txBody>
      </p:sp>
      <p:sp>
        <p:nvSpPr>
          <p:cNvPr id="9" name="Rectangle 8"/>
          <p:cNvSpPr/>
          <p:nvPr/>
        </p:nvSpPr>
        <p:spPr>
          <a:xfrm>
            <a:off x="548640" y="2423160"/>
            <a:ext cx="54864" cy="45720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423160"/>
            <a:ext cx="1269709" cy="182880"/>
          </a:xfrm>
          <a:prstGeom prst="rect">
            <a:avLst/>
          </a:prstGeom>
          <a:noFill/>
        </p:spPr>
        <p:txBody>
          <a:bodyPr wrap="square" lIns="0" rIns="0" tIns="0" bIns="0" anchor="t">
            <a:spAutoFit/>
          </a:bodyPr>
          <a:lstStyle/>
          <a:p>
            <a:pPr algn="l"/>
            <a:r>
              <a:rPr sz="800" b="1" i="0">
                <a:solidFill>
                  <a:srgbClr val="D71249"/>
                </a:solidFill>
                <a:latin typeface="Calibri"/>
              </a:rPr>
              <a:t>{{DAY_1_EVT_1_TIME}}</a:t>
            </a:r>
          </a:p>
        </p:txBody>
      </p:sp>
      <p:sp>
        <p:nvSpPr>
          <p:cNvPr id="11" name="TextBox 10"/>
          <p:cNvSpPr txBox="1"/>
          <p:nvPr/>
        </p:nvSpPr>
        <p:spPr>
          <a:xfrm>
            <a:off x="640080" y="2606040"/>
            <a:ext cx="1269709" cy="274320"/>
          </a:xfrm>
          <a:prstGeom prst="rect">
            <a:avLst/>
          </a:prstGeom>
          <a:noFill/>
        </p:spPr>
        <p:txBody>
          <a:bodyPr wrap="square" lIns="0" rIns="0" tIns="0" bIns="0" anchor="t">
            <a:spAutoFit/>
          </a:bodyPr>
          <a:lstStyle/>
          <a:p>
            <a:pPr algn="l"/>
            <a:r>
              <a:rPr sz="900" b="0" i="0">
                <a:solidFill>
                  <a:srgbClr val="1F2937"/>
                </a:solidFill>
                <a:latin typeface="Calibri"/>
              </a:rPr>
              <a:t>{{DAY_1_EVT_1_TITLE}}</a:t>
            </a:r>
          </a:p>
        </p:txBody>
      </p:sp>
      <p:sp>
        <p:nvSpPr>
          <p:cNvPr id="12" name="Rectangle 11"/>
          <p:cNvSpPr/>
          <p:nvPr/>
        </p:nvSpPr>
        <p:spPr>
          <a:xfrm>
            <a:off x="548640" y="3017520"/>
            <a:ext cx="54864" cy="45720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017520"/>
            <a:ext cx="1269709" cy="182880"/>
          </a:xfrm>
          <a:prstGeom prst="rect">
            <a:avLst/>
          </a:prstGeom>
          <a:noFill/>
        </p:spPr>
        <p:txBody>
          <a:bodyPr wrap="square" lIns="0" rIns="0" tIns="0" bIns="0" anchor="t">
            <a:spAutoFit/>
          </a:bodyPr>
          <a:lstStyle/>
          <a:p>
            <a:pPr algn="l"/>
            <a:r>
              <a:rPr sz="800" b="1" i="0">
                <a:solidFill>
                  <a:srgbClr val="D71249"/>
                </a:solidFill>
                <a:latin typeface="Calibri"/>
              </a:rPr>
              <a:t>{{DAY_1_EVT_2_TIME}}</a:t>
            </a:r>
          </a:p>
        </p:txBody>
      </p:sp>
      <p:sp>
        <p:nvSpPr>
          <p:cNvPr id="14" name="TextBox 13"/>
          <p:cNvSpPr txBox="1"/>
          <p:nvPr/>
        </p:nvSpPr>
        <p:spPr>
          <a:xfrm>
            <a:off x="640080" y="3200400"/>
            <a:ext cx="1269709" cy="274320"/>
          </a:xfrm>
          <a:prstGeom prst="rect">
            <a:avLst/>
          </a:prstGeom>
          <a:noFill/>
        </p:spPr>
        <p:txBody>
          <a:bodyPr wrap="square" lIns="0" rIns="0" tIns="0" bIns="0" anchor="t">
            <a:spAutoFit/>
          </a:bodyPr>
          <a:lstStyle/>
          <a:p>
            <a:pPr algn="l"/>
            <a:r>
              <a:rPr sz="900" b="0" i="0">
                <a:solidFill>
                  <a:srgbClr val="1F2937"/>
                </a:solidFill>
                <a:latin typeface="Calibri"/>
              </a:rPr>
              <a:t>{{DAY_1_EVT_2_TITLE}}</a:t>
            </a:r>
          </a:p>
        </p:txBody>
      </p:sp>
      <p:sp>
        <p:nvSpPr>
          <p:cNvPr id="15" name="Rectangle 14"/>
          <p:cNvSpPr/>
          <p:nvPr/>
        </p:nvSpPr>
        <p:spPr>
          <a:xfrm>
            <a:off x="548640" y="3611879"/>
            <a:ext cx="54864" cy="45720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611879"/>
            <a:ext cx="1269709" cy="182880"/>
          </a:xfrm>
          <a:prstGeom prst="rect">
            <a:avLst/>
          </a:prstGeom>
          <a:noFill/>
        </p:spPr>
        <p:txBody>
          <a:bodyPr wrap="square" lIns="0" rIns="0" tIns="0" bIns="0" anchor="t">
            <a:spAutoFit/>
          </a:bodyPr>
          <a:lstStyle/>
          <a:p>
            <a:pPr algn="l"/>
            <a:r>
              <a:rPr sz="800" b="1" i="0">
                <a:solidFill>
                  <a:srgbClr val="D71249"/>
                </a:solidFill>
                <a:latin typeface="Calibri"/>
              </a:rPr>
              <a:t>{{DAY_1_EVT_3_TIME}}</a:t>
            </a:r>
          </a:p>
        </p:txBody>
      </p:sp>
      <p:sp>
        <p:nvSpPr>
          <p:cNvPr id="17" name="TextBox 16"/>
          <p:cNvSpPr txBox="1"/>
          <p:nvPr/>
        </p:nvSpPr>
        <p:spPr>
          <a:xfrm>
            <a:off x="640080" y="3794759"/>
            <a:ext cx="1269709" cy="274320"/>
          </a:xfrm>
          <a:prstGeom prst="rect">
            <a:avLst/>
          </a:prstGeom>
          <a:noFill/>
        </p:spPr>
        <p:txBody>
          <a:bodyPr wrap="square" lIns="0" rIns="0" tIns="0" bIns="0" anchor="t">
            <a:spAutoFit/>
          </a:bodyPr>
          <a:lstStyle/>
          <a:p>
            <a:pPr algn="l"/>
            <a:r>
              <a:rPr sz="900" b="0" i="0">
                <a:solidFill>
                  <a:srgbClr val="1F2937"/>
                </a:solidFill>
                <a:latin typeface="Calibri"/>
              </a:rPr>
              <a:t>{{DAY_1_EVT_3_TITLE}}</a:t>
            </a:r>
          </a:p>
        </p:txBody>
      </p:sp>
      <p:sp>
        <p:nvSpPr>
          <p:cNvPr id="18" name="Rectangle 17"/>
          <p:cNvSpPr/>
          <p:nvPr/>
        </p:nvSpPr>
        <p:spPr>
          <a:xfrm>
            <a:off x="548640" y="4206240"/>
            <a:ext cx="54864" cy="45720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4206240"/>
            <a:ext cx="1269709" cy="182880"/>
          </a:xfrm>
          <a:prstGeom prst="rect">
            <a:avLst/>
          </a:prstGeom>
          <a:noFill/>
        </p:spPr>
        <p:txBody>
          <a:bodyPr wrap="square" lIns="0" rIns="0" tIns="0" bIns="0" anchor="t">
            <a:spAutoFit/>
          </a:bodyPr>
          <a:lstStyle/>
          <a:p>
            <a:pPr algn="l"/>
            <a:r>
              <a:rPr sz="800" b="1" i="0">
                <a:solidFill>
                  <a:srgbClr val="D71249"/>
                </a:solidFill>
                <a:latin typeface="Calibri"/>
              </a:rPr>
              <a:t>{{DAY_1_EVT_4_TIME}}</a:t>
            </a:r>
          </a:p>
        </p:txBody>
      </p:sp>
      <p:sp>
        <p:nvSpPr>
          <p:cNvPr id="20" name="TextBox 19"/>
          <p:cNvSpPr txBox="1"/>
          <p:nvPr/>
        </p:nvSpPr>
        <p:spPr>
          <a:xfrm>
            <a:off x="640080" y="4389120"/>
            <a:ext cx="1269709" cy="274320"/>
          </a:xfrm>
          <a:prstGeom prst="rect">
            <a:avLst/>
          </a:prstGeom>
          <a:noFill/>
        </p:spPr>
        <p:txBody>
          <a:bodyPr wrap="square" lIns="0" rIns="0" tIns="0" bIns="0" anchor="t">
            <a:spAutoFit/>
          </a:bodyPr>
          <a:lstStyle/>
          <a:p>
            <a:pPr algn="l"/>
            <a:r>
              <a:rPr sz="900" b="0" i="0">
                <a:solidFill>
                  <a:srgbClr val="1F2937"/>
                </a:solidFill>
                <a:latin typeface="Calibri"/>
              </a:rPr>
              <a:t>{{DAY_1_EVT_4_TITLE}}</a:t>
            </a:r>
          </a:p>
        </p:txBody>
      </p:sp>
      <p:sp>
        <p:nvSpPr>
          <p:cNvPr id="21" name="Rectangle 20"/>
          <p:cNvSpPr/>
          <p:nvPr/>
        </p:nvSpPr>
        <p:spPr>
          <a:xfrm>
            <a:off x="548640" y="5852159"/>
            <a:ext cx="1361149" cy="10972"/>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943600"/>
            <a:ext cx="1361149" cy="228600"/>
          </a:xfrm>
          <a:prstGeom prst="rect">
            <a:avLst/>
          </a:prstGeom>
          <a:noFill/>
        </p:spPr>
        <p:txBody>
          <a:bodyPr wrap="square" lIns="0" rIns="0" tIns="0" bIns="0" anchor="t">
            <a:spAutoFit/>
          </a:bodyPr>
          <a:lstStyle/>
          <a:p>
            <a:pPr algn="ctr"/>
            <a:r>
              <a:rPr sz="800" b="0" i="1">
                <a:solidFill>
                  <a:srgbClr val="4A5568"/>
                </a:solidFill>
                <a:latin typeface="Calibri"/>
              </a:rPr>
              <a:t>{{DAY_1_COUNT}} sự kiện</a:t>
            </a:r>
          </a:p>
        </p:txBody>
      </p:sp>
      <p:sp>
        <p:nvSpPr>
          <p:cNvPr id="23" name="Rectangle 22"/>
          <p:cNvSpPr/>
          <p:nvPr/>
        </p:nvSpPr>
        <p:spPr>
          <a:xfrm>
            <a:off x="2074381" y="1371600"/>
            <a:ext cx="1544029" cy="4846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074381" y="1371600"/>
            <a:ext cx="1544029" cy="96012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074381" y="1508760"/>
            <a:ext cx="1544029" cy="274320"/>
          </a:xfrm>
          <a:prstGeom prst="rect">
            <a:avLst/>
          </a:prstGeom>
          <a:noFill/>
        </p:spPr>
        <p:txBody>
          <a:bodyPr wrap="square" lIns="0" rIns="0" tIns="0" bIns="0" anchor="t">
            <a:spAutoFit/>
          </a:bodyPr>
          <a:lstStyle/>
          <a:p>
            <a:pPr algn="ctr"/>
            <a:r>
              <a:rPr sz="900" b="1" i="0">
                <a:solidFill>
                  <a:srgbClr val="FFFFFF"/>
                </a:solidFill>
                <a:latin typeface="Calibri"/>
              </a:rPr>
              <a:t>THỨ BA</a:t>
            </a:r>
          </a:p>
        </p:txBody>
      </p:sp>
      <p:sp>
        <p:nvSpPr>
          <p:cNvPr id="26" name="TextBox 25"/>
          <p:cNvSpPr txBox="1"/>
          <p:nvPr/>
        </p:nvSpPr>
        <p:spPr>
          <a:xfrm>
            <a:off x="2120101" y="1828800"/>
            <a:ext cx="1452589" cy="457200"/>
          </a:xfrm>
          <a:prstGeom prst="rect">
            <a:avLst/>
          </a:prstGeom>
          <a:noFill/>
        </p:spPr>
        <p:txBody>
          <a:bodyPr wrap="square" lIns="0" rIns="0" tIns="0" bIns="0" anchor="t">
            <a:spAutoFit/>
          </a:bodyPr>
          <a:lstStyle/>
          <a:p>
            <a:pPr algn="ctr"/>
            <a:r>
              <a:rPr sz="1300" b="1" i="0">
                <a:solidFill>
                  <a:srgbClr val="FFFFFF"/>
                </a:solidFill>
                <a:latin typeface="Calibri"/>
              </a:rPr>
              <a:t>{{DAY_2_DATE}}</a:t>
            </a:r>
          </a:p>
        </p:txBody>
      </p:sp>
      <p:sp>
        <p:nvSpPr>
          <p:cNvPr id="27" name="Rectangle 26"/>
          <p:cNvSpPr/>
          <p:nvPr/>
        </p:nvSpPr>
        <p:spPr>
          <a:xfrm>
            <a:off x="2165821" y="2423160"/>
            <a:ext cx="54864" cy="45720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257261" y="2423160"/>
            <a:ext cx="1269709" cy="182880"/>
          </a:xfrm>
          <a:prstGeom prst="rect">
            <a:avLst/>
          </a:prstGeom>
          <a:noFill/>
        </p:spPr>
        <p:txBody>
          <a:bodyPr wrap="square" lIns="0" rIns="0" tIns="0" bIns="0" anchor="t">
            <a:spAutoFit/>
          </a:bodyPr>
          <a:lstStyle/>
          <a:p>
            <a:pPr algn="l"/>
            <a:r>
              <a:rPr sz="800" b="1" i="0">
                <a:solidFill>
                  <a:srgbClr val="D71249"/>
                </a:solidFill>
                <a:latin typeface="Calibri"/>
              </a:rPr>
              <a:t>{{DAY_2_EVT_1_TIME}}</a:t>
            </a:r>
          </a:p>
        </p:txBody>
      </p:sp>
      <p:sp>
        <p:nvSpPr>
          <p:cNvPr id="29" name="TextBox 28"/>
          <p:cNvSpPr txBox="1"/>
          <p:nvPr/>
        </p:nvSpPr>
        <p:spPr>
          <a:xfrm>
            <a:off x="2257261" y="2606040"/>
            <a:ext cx="1269709" cy="274320"/>
          </a:xfrm>
          <a:prstGeom prst="rect">
            <a:avLst/>
          </a:prstGeom>
          <a:noFill/>
        </p:spPr>
        <p:txBody>
          <a:bodyPr wrap="square" lIns="0" rIns="0" tIns="0" bIns="0" anchor="t">
            <a:spAutoFit/>
          </a:bodyPr>
          <a:lstStyle/>
          <a:p>
            <a:pPr algn="l"/>
            <a:r>
              <a:rPr sz="900" b="0" i="0">
                <a:solidFill>
                  <a:srgbClr val="1F2937"/>
                </a:solidFill>
                <a:latin typeface="Calibri"/>
              </a:rPr>
              <a:t>{{DAY_2_EVT_1_TITLE}}</a:t>
            </a:r>
          </a:p>
        </p:txBody>
      </p:sp>
      <p:sp>
        <p:nvSpPr>
          <p:cNvPr id="30" name="Rectangle 29"/>
          <p:cNvSpPr/>
          <p:nvPr/>
        </p:nvSpPr>
        <p:spPr>
          <a:xfrm>
            <a:off x="2165821" y="3017520"/>
            <a:ext cx="54864" cy="45720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257261" y="3017520"/>
            <a:ext cx="1269709" cy="182880"/>
          </a:xfrm>
          <a:prstGeom prst="rect">
            <a:avLst/>
          </a:prstGeom>
          <a:noFill/>
        </p:spPr>
        <p:txBody>
          <a:bodyPr wrap="square" lIns="0" rIns="0" tIns="0" bIns="0" anchor="t">
            <a:spAutoFit/>
          </a:bodyPr>
          <a:lstStyle/>
          <a:p>
            <a:pPr algn="l"/>
            <a:r>
              <a:rPr sz="800" b="1" i="0">
                <a:solidFill>
                  <a:srgbClr val="D71249"/>
                </a:solidFill>
                <a:latin typeface="Calibri"/>
              </a:rPr>
              <a:t>{{DAY_2_EVT_2_TIME}}</a:t>
            </a:r>
          </a:p>
        </p:txBody>
      </p:sp>
      <p:sp>
        <p:nvSpPr>
          <p:cNvPr id="32" name="TextBox 31"/>
          <p:cNvSpPr txBox="1"/>
          <p:nvPr/>
        </p:nvSpPr>
        <p:spPr>
          <a:xfrm>
            <a:off x="2257261" y="3200400"/>
            <a:ext cx="1269709" cy="274320"/>
          </a:xfrm>
          <a:prstGeom prst="rect">
            <a:avLst/>
          </a:prstGeom>
          <a:noFill/>
        </p:spPr>
        <p:txBody>
          <a:bodyPr wrap="square" lIns="0" rIns="0" tIns="0" bIns="0" anchor="t">
            <a:spAutoFit/>
          </a:bodyPr>
          <a:lstStyle/>
          <a:p>
            <a:pPr algn="l"/>
            <a:r>
              <a:rPr sz="900" b="0" i="0">
                <a:solidFill>
                  <a:srgbClr val="1F2937"/>
                </a:solidFill>
                <a:latin typeface="Calibri"/>
              </a:rPr>
              <a:t>{{DAY_2_EVT_2_TITLE}}</a:t>
            </a:r>
          </a:p>
        </p:txBody>
      </p:sp>
      <p:sp>
        <p:nvSpPr>
          <p:cNvPr id="33" name="Rectangle 32"/>
          <p:cNvSpPr/>
          <p:nvPr/>
        </p:nvSpPr>
        <p:spPr>
          <a:xfrm>
            <a:off x="2165821" y="3611879"/>
            <a:ext cx="54864" cy="45720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257261" y="3611879"/>
            <a:ext cx="1269709" cy="182880"/>
          </a:xfrm>
          <a:prstGeom prst="rect">
            <a:avLst/>
          </a:prstGeom>
          <a:noFill/>
        </p:spPr>
        <p:txBody>
          <a:bodyPr wrap="square" lIns="0" rIns="0" tIns="0" bIns="0" anchor="t">
            <a:spAutoFit/>
          </a:bodyPr>
          <a:lstStyle/>
          <a:p>
            <a:pPr algn="l"/>
            <a:r>
              <a:rPr sz="800" b="1" i="0">
                <a:solidFill>
                  <a:srgbClr val="D71249"/>
                </a:solidFill>
                <a:latin typeface="Calibri"/>
              </a:rPr>
              <a:t>{{DAY_2_EVT_3_TIME}}</a:t>
            </a:r>
          </a:p>
        </p:txBody>
      </p:sp>
      <p:sp>
        <p:nvSpPr>
          <p:cNvPr id="35" name="TextBox 34"/>
          <p:cNvSpPr txBox="1"/>
          <p:nvPr/>
        </p:nvSpPr>
        <p:spPr>
          <a:xfrm>
            <a:off x="2257261" y="3794759"/>
            <a:ext cx="1269709" cy="274320"/>
          </a:xfrm>
          <a:prstGeom prst="rect">
            <a:avLst/>
          </a:prstGeom>
          <a:noFill/>
        </p:spPr>
        <p:txBody>
          <a:bodyPr wrap="square" lIns="0" rIns="0" tIns="0" bIns="0" anchor="t">
            <a:spAutoFit/>
          </a:bodyPr>
          <a:lstStyle/>
          <a:p>
            <a:pPr algn="l"/>
            <a:r>
              <a:rPr sz="900" b="0" i="0">
                <a:solidFill>
                  <a:srgbClr val="1F2937"/>
                </a:solidFill>
                <a:latin typeface="Calibri"/>
              </a:rPr>
              <a:t>{{DAY_2_EVT_3_TITLE}}</a:t>
            </a:r>
          </a:p>
        </p:txBody>
      </p:sp>
      <p:sp>
        <p:nvSpPr>
          <p:cNvPr id="36" name="Rectangle 35"/>
          <p:cNvSpPr/>
          <p:nvPr/>
        </p:nvSpPr>
        <p:spPr>
          <a:xfrm>
            <a:off x="2165821" y="4206240"/>
            <a:ext cx="54864" cy="45720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257261" y="4206240"/>
            <a:ext cx="1269709" cy="182880"/>
          </a:xfrm>
          <a:prstGeom prst="rect">
            <a:avLst/>
          </a:prstGeom>
          <a:noFill/>
        </p:spPr>
        <p:txBody>
          <a:bodyPr wrap="square" lIns="0" rIns="0" tIns="0" bIns="0" anchor="t">
            <a:spAutoFit/>
          </a:bodyPr>
          <a:lstStyle/>
          <a:p>
            <a:pPr algn="l"/>
            <a:r>
              <a:rPr sz="800" b="1" i="0">
                <a:solidFill>
                  <a:srgbClr val="D71249"/>
                </a:solidFill>
                <a:latin typeface="Calibri"/>
              </a:rPr>
              <a:t>{{DAY_2_EVT_4_TIME}}</a:t>
            </a:r>
          </a:p>
        </p:txBody>
      </p:sp>
      <p:sp>
        <p:nvSpPr>
          <p:cNvPr id="38" name="TextBox 37"/>
          <p:cNvSpPr txBox="1"/>
          <p:nvPr/>
        </p:nvSpPr>
        <p:spPr>
          <a:xfrm>
            <a:off x="2257261" y="4389120"/>
            <a:ext cx="1269709" cy="274320"/>
          </a:xfrm>
          <a:prstGeom prst="rect">
            <a:avLst/>
          </a:prstGeom>
          <a:noFill/>
        </p:spPr>
        <p:txBody>
          <a:bodyPr wrap="square" lIns="0" rIns="0" tIns="0" bIns="0" anchor="t">
            <a:spAutoFit/>
          </a:bodyPr>
          <a:lstStyle/>
          <a:p>
            <a:pPr algn="l"/>
            <a:r>
              <a:rPr sz="900" b="0" i="0">
                <a:solidFill>
                  <a:srgbClr val="1F2937"/>
                </a:solidFill>
                <a:latin typeface="Calibri"/>
              </a:rPr>
              <a:t>{{DAY_2_EVT_4_TITLE}}</a:t>
            </a:r>
          </a:p>
        </p:txBody>
      </p:sp>
      <p:sp>
        <p:nvSpPr>
          <p:cNvPr id="39" name="Rectangle 38"/>
          <p:cNvSpPr/>
          <p:nvPr/>
        </p:nvSpPr>
        <p:spPr>
          <a:xfrm>
            <a:off x="2165821" y="5852159"/>
            <a:ext cx="1361149" cy="10972"/>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65821" y="5943600"/>
            <a:ext cx="1361149" cy="228600"/>
          </a:xfrm>
          <a:prstGeom prst="rect">
            <a:avLst/>
          </a:prstGeom>
          <a:noFill/>
        </p:spPr>
        <p:txBody>
          <a:bodyPr wrap="square" lIns="0" rIns="0" tIns="0" bIns="0" anchor="t">
            <a:spAutoFit/>
          </a:bodyPr>
          <a:lstStyle/>
          <a:p>
            <a:pPr algn="ctr"/>
            <a:r>
              <a:rPr sz="800" b="0" i="1">
                <a:solidFill>
                  <a:srgbClr val="4A5568"/>
                </a:solidFill>
                <a:latin typeface="Calibri"/>
              </a:rPr>
              <a:t>{{DAY_2_COUNT}} sự kiện</a:t>
            </a:r>
          </a:p>
        </p:txBody>
      </p:sp>
      <p:sp>
        <p:nvSpPr>
          <p:cNvPr id="41" name="Rectangle 40"/>
          <p:cNvSpPr/>
          <p:nvPr/>
        </p:nvSpPr>
        <p:spPr>
          <a:xfrm>
            <a:off x="3691563" y="1371600"/>
            <a:ext cx="1544029" cy="4846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691563" y="1371600"/>
            <a:ext cx="1544029" cy="96012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691563" y="1508760"/>
            <a:ext cx="1544029" cy="274320"/>
          </a:xfrm>
          <a:prstGeom prst="rect">
            <a:avLst/>
          </a:prstGeom>
          <a:noFill/>
        </p:spPr>
        <p:txBody>
          <a:bodyPr wrap="square" lIns="0" rIns="0" tIns="0" bIns="0" anchor="t">
            <a:spAutoFit/>
          </a:bodyPr>
          <a:lstStyle/>
          <a:p>
            <a:pPr algn="ctr"/>
            <a:r>
              <a:rPr sz="900" b="1" i="0">
                <a:solidFill>
                  <a:srgbClr val="FFFFFF"/>
                </a:solidFill>
                <a:latin typeface="Calibri"/>
              </a:rPr>
              <a:t>THỨ TƯ</a:t>
            </a:r>
          </a:p>
        </p:txBody>
      </p:sp>
      <p:sp>
        <p:nvSpPr>
          <p:cNvPr id="44" name="TextBox 43"/>
          <p:cNvSpPr txBox="1"/>
          <p:nvPr/>
        </p:nvSpPr>
        <p:spPr>
          <a:xfrm>
            <a:off x="3737283" y="1828800"/>
            <a:ext cx="1452589" cy="457200"/>
          </a:xfrm>
          <a:prstGeom prst="rect">
            <a:avLst/>
          </a:prstGeom>
          <a:noFill/>
        </p:spPr>
        <p:txBody>
          <a:bodyPr wrap="square" lIns="0" rIns="0" tIns="0" bIns="0" anchor="t">
            <a:spAutoFit/>
          </a:bodyPr>
          <a:lstStyle/>
          <a:p>
            <a:pPr algn="ctr"/>
            <a:r>
              <a:rPr sz="1300" b="1" i="0">
                <a:solidFill>
                  <a:srgbClr val="FFFFFF"/>
                </a:solidFill>
                <a:latin typeface="Calibri"/>
              </a:rPr>
              <a:t>{{DAY_3_DATE}}</a:t>
            </a:r>
          </a:p>
        </p:txBody>
      </p:sp>
      <p:sp>
        <p:nvSpPr>
          <p:cNvPr id="45" name="Rectangle 44"/>
          <p:cNvSpPr/>
          <p:nvPr/>
        </p:nvSpPr>
        <p:spPr>
          <a:xfrm>
            <a:off x="3783003" y="2423160"/>
            <a:ext cx="54864" cy="45720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74443" y="2423160"/>
            <a:ext cx="1269709" cy="182880"/>
          </a:xfrm>
          <a:prstGeom prst="rect">
            <a:avLst/>
          </a:prstGeom>
          <a:noFill/>
        </p:spPr>
        <p:txBody>
          <a:bodyPr wrap="square" lIns="0" rIns="0" tIns="0" bIns="0" anchor="t">
            <a:spAutoFit/>
          </a:bodyPr>
          <a:lstStyle/>
          <a:p>
            <a:pPr algn="l"/>
            <a:r>
              <a:rPr sz="800" b="1" i="0">
                <a:solidFill>
                  <a:srgbClr val="D71249"/>
                </a:solidFill>
                <a:latin typeface="Calibri"/>
              </a:rPr>
              <a:t>{{DAY_3_EVT_1_TIME}}</a:t>
            </a:r>
          </a:p>
        </p:txBody>
      </p:sp>
      <p:sp>
        <p:nvSpPr>
          <p:cNvPr id="47" name="TextBox 46"/>
          <p:cNvSpPr txBox="1"/>
          <p:nvPr/>
        </p:nvSpPr>
        <p:spPr>
          <a:xfrm>
            <a:off x="3874443" y="2606040"/>
            <a:ext cx="1269709" cy="274320"/>
          </a:xfrm>
          <a:prstGeom prst="rect">
            <a:avLst/>
          </a:prstGeom>
          <a:noFill/>
        </p:spPr>
        <p:txBody>
          <a:bodyPr wrap="square" lIns="0" rIns="0" tIns="0" bIns="0" anchor="t">
            <a:spAutoFit/>
          </a:bodyPr>
          <a:lstStyle/>
          <a:p>
            <a:pPr algn="l"/>
            <a:r>
              <a:rPr sz="900" b="0" i="0">
                <a:solidFill>
                  <a:srgbClr val="1F2937"/>
                </a:solidFill>
                <a:latin typeface="Calibri"/>
              </a:rPr>
              <a:t>{{DAY_3_EVT_1_TITLE}}</a:t>
            </a:r>
          </a:p>
        </p:txBody>
      </p:sp>
      <p:sp>
        <p:nvSpPr>
          <p:cNvPr id="48" name="Rectangle 47"/>
          <p:cNvSpPr/>
          <p:nvPr/>
        </p:nvSpPr>
        <p:spPr>
          <a:xfrm>
            <a:off x="3783003" y="3017520"/>
            <a:ext cx="54864" cy="45720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874443" y="3017520"/>
            <a:ext cx="1269709" cy="182880"/>
          </a:xfrm>
          <a:prstGeom prst="rect">
            <a:avLst/>
          </a:prstGeom>
          <a:noFill/>
        </p:spPr>
        <p:txBody>
          <a:bodyPr wrap="square" lIns="0" rIns="0" tIns="0" bIns="0" anchor="t">
            <a:spAutoFit/>
          </a:bodyPr>
          <a:lstStyle/>
          <a:p>
            <a:pPr algn="l"/>
            <a:r>
              <a:rPr sz="800" b="1" i="0">
                <a:solidFill>
                  <a:srgbClr val="D71249"/>
                </a:solidFill>
                <a:latin typeface="Calibri"/>
              </a:rPr>
              <a:t>{{DAY_3_EVT_2_TIME}}</a:t>
            </a:r>
          </a:p>
        </p:txBody>
      </p:sp>
      <p:sp>
        <p:nvSpPr>
          <p:cNvPr id="50" name="TextBox 49"/>
          <p:cNvSpPr txBox="1"/>
          <p:nvPr/>
        </p:nvSpPr>
        <p:spPr>
          <a:xfrm>
            <a:off x="3874443" y="3200400"/>
            <a:ext cx="1269709" cy="274320"/>
          </a:xfrm>
          <a:prstGeom prst="rect">
            <a:avLst/>
          </a:prstGeom>
          <a:noFill/>
        </p:spPr>
        <p:txBody>
          <a:bodyPr wrap="square" lIns="0" rIns="0" tIns="0" bIns="0" anchor="t">
            <a:spAutoFit/>
          </a:bodyPr>
          <a:lstStyle/>
          <a:p>
            <a:pPr algn="l"/>
            <a:r>
              <a:rPr sz="900" b="0" i="0">
                <a:solidFill>
                  <a:srgbClr val="1F2937"/>
                </a:solidFill>
                <a:latin typeface="Calibri"/>
              </a:rPr>
              <a:t>{{DAY_3_EVT_2_TITLE}}</a:t>
            </a:r>
          </a:p>
        </p:txBody>
      </p:sp>
      <p:sp>
        <p:nvSpPr>
          <p:cNvPr id="51" name="Rectangle 50"/>
          <p:cNvSpPr/>
          <p:nvPr/>
        </p:nvSpPr>
        <p:spPr>
          <a:xfrm>
            <a:off x="3783003" y="3611879"/>
            <a:ext cx="54864" cy="45720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74443" y="3611879"/>
            <a:ext cx="1269709" cy="182880"/>
          </a:xfrm>
          <a:prstGeom prst="rect">
            <a:avLst/>
          </a:prstGeom>
          <a:noFill/>
        </p:spPr>
        <p:txBody>
          <a:bodyPr wrap="square" lIns="0" rIns="0" tIns="0" bIns="0" anchor="t">
            <a:spAutoFit/>
          </a:bodyPr>
          <a:lstStyle/>
          <a:p>
            <a:pPr algn="l"/>
            <a:r>
              <a:rPr sz="800" b="1" i="0">
                <a:solidFill>
                  <a:srgbClr val="D71249"/>
                </a:solidFill>
                <a:latin typeface="Calibri"/>
              </a:rPr>
              <a:t>{{DAY_3_EVT_3_TIME}}</a:t>
            </a:r>
          </a:p>
        </p:txBody>
      </p:sp>
      <p:sp>
        <p:nvSpPr>
          <p:cNvPr id="53" name="TextBox 52"/>
          <p:cNvSpPr txBox="1"/>
          <p:nvPr/>
        </p:nvSpPr>
        <p:spPr>
          <a:xfrm>
            <a:off x="3874443" y="3794759"/>
            <a:ext cx="1269709" cy="274320"/>
          </a:xfrm>
          <a:prstGeom prst="rect">
            <a:avLst/>
          </a:prstGeom>
          <a:noFill/>
        </p:spPr>
        <p:txBody>
          <a:bodyPr wrap="square" lIns="0" rIns="0" tIns="0" bIns="0" anchor="t">
            <a:spAutoFit/>
          </a:bodyPr>
          <a:lstStyle/>
          <a:p>
            <a:pPr algn="l"/>
            <a:r>
              <a:rPr sz="900" b="0" i="0">
                <a:solidFill>
                  <a:srgbClr val="1F2937"/>
                </a:solidFill>
                <a:latin typeface="Calibri"/>
              </a:rPr>
              <a:t>{{DAY_3_EVT_3_TITLE}}</a:t>
            </a:r>
          </a:p>
        </p:txBody>
      </p:sp>
      <p:sp>
        <p:nvSpPr>
          <p:cNvPr id="54" name="Rectangle 53"/>
          <p:cNvSpPr/>
          <p:nvPr/>
        </p:nvSpPr>
        <p:spPr>
          <a:xfrm>
            <a:off x="3783003" y="4206240"/>
            <a:ext cx="54864" cy="45720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874443" y="4206240"/>
            <a:ext cx="1269709" cy="182880"/>
          </a:xfrm>
          <a:prstGeom prst="rect">
            <a:avLst/>
          </a:prstGeom>
          <a:noFill/>
        </p:spPr>
        <p:txBody>
          <a:bodyPr wrap="square" lIns="0" rIns="0" tIns="0" bIns="0" anchor="t">
            <a:spAutoFit/>
          </a:bodyPr>
          <a:lstStyle/>
          <a:p>
            <a:pPr algn="l"/>
            <a:r>
              <a:rPr sz="800" b="1" i="0">
                <a:solidFill>
                  <a:srgbClr val="D71249"/>
                </a:solidFill>
                <a:latin typeface="Calibri"/>
              </a:rPr>
              <a:t>{{DAY_3_EVT_4_TIME}}</a:t>
            </a:r>
          </a:p>
        </p:txBody>
      </p:sp>
      <p:sp>
        <p:nvSpPr>
          <p:cNvPr id="56" name="TextBox 55"/>
          <p:cNvSpPr txBox="1"/>
          <p:nvPr/>
        </p:nvSpPr>
        <p:spPr>
          <a:xfrm>
            <a:off x="3874443" y="4389120"/>
            <a:ext cx="1269709" cy="274320"/>
          </a:xfrm>
          <a:prstGeom prst="rect">
            <a:avLst/>
          </a:prstGeom>
          <a:noFill/>
        </p:spPr>
        <p:txBody>
          <a:bodyPr wrap="square" lIns="0" rIns="0" tIns="0" bIns="0" anchor="t">
            <a:spAutoFit/>
          </a:bodyPr>
          <a:lstStyle/>
          <a:p>
            <a:pPr algn="l"/>
            <a:r>
              <a:rPr sz="900" b="0" i="0">
                <a:solidFill>
                  <a:srgbClr val="1F2937"/>
                </a:solidFill>
                <a:latin typeface="Calibri"/>
              </a:rPr>
              <a:t>{{DAY_3_EVT_4_TITLE}}</a:t>
            </a:r>
          </a:p>
        </p:txBody>
      </p:sp>
      <p:sp>
        <p:nvSpPr>
          <p:cNvPr id="57" name="Rectangle 56"/>
          <p:cNvSpPr/>
          <p:nvPr/>
        </p:nvSpPr>
        <p:spPr>
          <a:xfrm>
            <a:off x="3783003" y="5852159"/>
            <a:ext cx="1361149" cy="10972"/>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783003" y="5943600"/>
            <a:ext cx="1361149" cy="228600"/>
          </a:xfrm>
          <a:prstGeom prst="rect">
            <a:avLst/>
          </a:prstGeom>
          <a:noFill/>
        </p:spPr>
        <p:txBody>
          <a:bodyPr wrap="square" lIns="0" rIns="0" tIns="0" bIns="0" anchor="t">
            <a:spAutoFit/>
          </a:bodyPr>
          <a:lstStyle/>
          <a:p>
            <a:pPr algn="ctr"/>
            <a:r>
              <a:rPr sz="800" b="0" i="1">
                <a:solidFill>
                  <a:srgbClr val="4A5568"/>
                </a:solidFill>
                <a:latin typeface="Calibri"/>
              </a:rPr>
              <a:t>{{DAY_3_COUNT}} sự kiện</a:t>
            </a:r>
          </a:p>
        </p:txBody>
      </p:sp>
      <p:sp>
        <p:nvSpPr>
          <p:cNvPr id="59" name="Rectangle 58"/>
          <p:cNvSpPr/>
          <p:nvPr/>
        </p:nvSpPr>
        <p:spPr>
          <a:xfrm>
            <a:off x="5308745" y="1371600"/>
            <a:ext cx="1544029" cy="4846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5308745" y="1371600"/>
            <a:ext cx="1544029" cy="96012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308745" y="1508760"/>
            <a:ext cx="1544029" cy="274320"/>
          </a:xfrm>
          <a:prstGeom prst="rect">
            <a:avLst/>
          </a:prstGeom>
          <a:noFill/>
        </p:spPr>
        <p:txBody>
          <a:bodyPr wrap="square" lIns="0" rIns="0" tIns="0" bIns="0" anchor="t">
            <a:spAutoFit/>
          </a:bodyPr>
          <a:lstStyle/>
          <a:p>
            <a:pPr algn="ctr"/>
            <a:r>
              <a:rPr sz="900" b="1" i="0">
                <a:solidFill>
                  <a:srgbClr val="FFFFFF"/>
                </a:solidFill>
                <a:latin typeface="Calibri"/>
              </a:rPr>
              <a:t>THỨ NĂM</a:t>
            </a:r>
          </a:p>
        </p:txBody>
      </p:sp>
      <p:sp>
        <p:nvSpPr>
          <p:cNvPr id="62" name="TextBox 61"/>
          <p:cNvSpPr txBox="1"/>
          <p:nvPr/>
        </p:nvSpPr>
        <p:spPr>
          <a:xfrm>
            <a:off x="5354465" y="1828800"/>
            <a:ext cx="1452589" cy="457200"/>
          </a:xfrm>
          <a:prstGeom prst="rect">
            <a:avLst/>
          </a:prstGeom>
          <a:noFill/>
        </p:spPr>
        <p:txBody>
          <a:bodyPr wrap="square" lIns="0" rIns="0" tIns="0" bIns="0" anchor="t">
            <a:spAutoFit/>
          </a:bodyPr>
          <a:lstStyle/>
          <a:p>
            <a:pPr algn="ctr"/>
            <a:r>
              <a:rPr sz="1300" b="1" i="0">
                <a:solidFill>
                  <a:srgbClr val="FFFFFF"/>
                </a:solidFill>
                <a:latin typeface="Calibri"/>
              </a:rPr>
              <a:t>{{DAY_4_DATE}}</a:t>
            </a:r>
          </a:p>
        </p:txBody>
      </p:sp>
      <p:sp>
        <p:nvSpPr>
          <p:cNvPr id="63" name="Rectangle 62"/>
          <p:cNvSpPr/>
          <p:nvPr/>
        </p:nvSpPr>
        <p:spPr>
          <a:xfrm>
            <a:off x="5400185" y="2423160"/>
            <a:ext cx="54864" cy="45720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491625" y="2423160"/>
            <a:ext cx="1269709" cy="182880"/>
          </a:xfrm>
          <a:prstGeom prst="rect">
            <a:avLst/>
          </a:prstGeom>
          <a:noFill/>
        </p:spPr>
        <p:txBody>
          <a:bodyPr wrap="square" lIns="0" rIns="0" tIns="0" bIns="0" anchor="t">
            <a:spAutoFit/>
          </a:bodyPr>
          <a:lstStyle/>
          <a:p>
            <a:pPr algn="l"/>
            <a:r>
              <a:rPr sz="800" b="1" i="0">
                <a:solidFill>
                  <a:srgbClr val="D71249"/>
                </a:solidFill>
                <a:latin typeface="Calibri"/>
              </a:rPr>
              <a:t>{{DAY_4_EVT_1_TIME}}</a:t>
            </a:r>
          </a:p>
        </p:txBody>
      </p:sp>
      <p:sp>
        <p:nvSpPr>
          <p:cNvPr id="65" name="TextBox 64"/>
          <p:cNvSpPr txBox="1"/>
          <p:nvPr/>
        </p:nvSpPr>
        <p:spPr>
          <a:xfrm>
            <a:off x="5491625" y="2606040"/>
            <a:ext cx="1269709" cy="274320"/>
          </a:xfrm>
          <a:prstGeom prst="rect">
            <a:avLst/>
          </a:prstGeom>
          <a:noFill/>
        </p:spPr>
        <p:txBody>
          <a:bodyPr wrap="square" lIns="0" rIns="0" tIns="0" bIns="0" anchor="t">
            <a:spAutoFit/>
          </a:bodyPr>
          <a:lstStyle/>
          <a:p>
            <a:pPr algn="l"/>
            <a:r>
              <a:rPr sz="900" b="0" i="0">
                <a:solidFill>
                  <a:srgbClr val="1F2937"/>
                </a:solidFill>
                <a:latin typeface="Calibri"/>
              </a:rPr>
              <a:t>{{DAY_4_EVT_1_TITLE}}</a:t>
            </a:r>
          </a:p>
        </p:txBody>
      </p:sp>
      <p:sp>
        <p:nvSpPr>
          <p:cNvPr id="66" name="Rectangle 65"/>
          <p:cNvSpPr/>
          <p:nvPr/>
        </p:nvSpPr>
        <p:spPr>
          <a:xfrm>
            <a:off x="5400185" y="3017520"/>
            <a:ext cx="54864" cy="45720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491625" y="3017520"/>
            <a:ext cx="1269709" cy="182880"/>
          </a:xfrm>
          <a:prstGeom prst="rect">
            <a:avLst/>
          </a:prstGeom>
          <a:noFill/>
        </p:spPr>
        <p:txBody>
          <a:bodyPr wrap="square" lIns="0" rIns="0" tIns="0" bIns="0" anchor="t">
            <a:spAutoFit/>
          </a:bodyPr>
          <a:lstStyle/>
          <a:p>
            <a:pPr algn="l"/>
            <a:r>
              <a:rPr sz="800" b="1" i="0">
                <a:solidFill>
                  <a:srgbClr val="D71249"/>
                </a:solidFill>
                <a:latin typeface="Calibri"/>
              </a:rPr>
              <a:t>{{DAY_4_EVT_2_TIME}}</a:t>
            </a:r>
          </a:p>
        </p:txBody>
      </p:sp>
      <p:sp>
        <p:nvSpPr>
          <p:cNvPr id="68" name="TextBox 67"/>
          <p:cNvSpPr txBox="1"/>
          <p:nvPr/>
        </p:nvSpPr>
        <p:spPr>
          <a:xfrm>
            <a:off x="5491625" y="3200400"/>
            <a:ext cx="1269709" cy="274320"/>
          </a:xfrm>
          <a:prstGeom prst="rect">
            <a:avLst/>
          </a:prstGeom>
          <a:noFill/>
        </p:spPr>
        <p:txBody>
          <a:bodyPr wrap="square" lIns="0" rIns="0" tIns="0" bIns="0" anchor="t">
            <a:spAutoFit/>
          </a:bodyPr>
          <a:lstStyle/>
          <a:p>
            <a:pPr algn="l"/>
            <a:r>
              <a:rPr sz="900" b="0" i="0">
                <a:solidFill>
                  <a:srgbClr val="1F2937"/>
                </a:solidFill>
                <a:latin typeface="Calibri"/>
              </a:rPr>
              <a:t>{{DAY_4_EVT_2_TITLE}}</a:t>
            </a:r>
          </a:p>
        </p:txBody>
      </p:sp>
      <p:sp>
        <p:nvSpPr>
          <p:cNvPr id="69" name="Rectangle 68"/>
          <p:cNvSpPr/>
          <p:nvPr/>
        </p:nvSpPr>
        <p:spPr>
          <a:xfrm>
            <a:off x="5400185" y="3611879"/>
            <a:ext cx="54864" cy="45720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491625" y="3611879"/>
            <a:ext cx="1269709" cy="182880"/>
          </a:xfrm>
          <a:prstGeom prst="rect">
            <a:avLst/>
          </a:prstGeom>
          <a:noFill/>
        </p:spPr>
        <p:txBody>
          <a:bodyPr wrap="square" lIns="0" rIns="0" tIns="0" bIns="0" anchor="t">
            <a:spAutoFit/>
          </a:bodyPr>
          <a:lstStyle/>
          <a:p>
            <a:pPr algn="l"/>
            <a:r>
              <a:rPr sz="800" b="1" i="0">
                <a:solidFill>
                  <a:srgbClr val="D71249"/>
                </a:solidFill>
                <a:latin typeface="Calibri"/>
              </a:rPr>
              <a:t>{{DAY_4_EVT_3_TIME}}</a:t>
            </a:r>
          </a:p>
        </p:txBody>
      </p:sp>
      <p:sp>
        <p:nvSpPr>
          <p:cNvPr id="71" name="TextBox 70"/>
          <p:cNvSpPr txBox="1"/>
          <p:nvPr/>
        </p:nvSpPr>
        <p:spPr>
          <a:xfrm>
            <a:off x="5491625" y="3794759"/>
            <a:ext cx="1269709" cy="274320"/>
          </a:xfrm>
          <a:prstGeom prst="rect">
            <a:avLst/>
          </a:prstGeom>
          <a:noFill/>
        </p:spPr>
        <p:txBody>
          <a:bodyPr wrap="square" lIns="0" rIns="0" tIns="0" bIns="0" anchor="t">
            <a:spAutoFit/>
          </a:bodyPr>
          <a:lstStyle/>
          <a:p>
            <a:pPr algn="l"/>
            <a:r>
              <a:rPr sz="900" b="0" i="0">
                <a:solidFill>
                  <a:srgbClr val="1F2937"/>
                </a:solidFill>
                <a:latin typeface="Calibri"/>
              </a:rPr>
              <a:t>{{DAY_4_EVT_3_TITLE}}</a:t>
            </a:r>
          </a:p>
        </p:txBody>
      </p:sp>
      <p:sp>
        <p:nvSpPr>
          <p:cNvPr id="72" name="Rectangle 71"/>
          <p:cNvSpPr/>
          <p:nvPr/>
        </p:nvSpPr>
        <p:spPr>
          <a:xfrm>
            <a:off x="5400185" y="4206240"/>
            <a:ext cx="54864" cy="45720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491625" y="4206240"/>
            <a:ext cx="1269709" cy="182880"/>
          </a:xfrm>
          <a:prstGeom prst="rect">
            <a:avLst/>
          </a:prstGeom>
          <a:noFill/>
        </p:spPr>
        <p:txBody>
          <a:bodyPr wrap="square" lIns="0" rIns="0" tIns="0" bIns="0" anchor="t">
            <a:spAutoFit/>
          </a:bodyPr>
          <a:lstStyle/>
          <a:p>
            <a:pPr algn="l"/>
            <a:r>
              <a:rPr sz="800" b="1" i="0">
                <a:solidFill>
                  <a:srgbClr val="D71249"/>
                </a:solidFill>
                <a:latin typeface="Calibri"/>
              </a:rPr>
              <a:t>{{DAY_4_EVT_4_TIME}}</a:t>
            </a:r>
          </a:p>
        </p:txBody>
      </p:sp>
      <p:sp>
        <p:nvSpPr>
          <p:cNvPr id="74" name="TextBox 73"/>
          <p:cNvSpPr txBox="1"/>
          <p:nvPr/>
        </p:nvSpPr>
        <p:spPr>
          <a:xfrm>
            <a:off x="5491625" y="4389120"/>
            <a:ext cx="1269709" cy="274320"/>
          </a:xfrm>
          <a:prstGeom prst="rect">
            <a:avLst/>
          </a:prstGeom>
          <a:noFill/>
        </p:spPr>
        <p:txBody>
          <a:bodyPr wrap="square" lIns="0" rIns="0" tIns="0" bIns="0" anchor="t">
            <a:spAutoFit/>
          </a:bodyPr>
          <a:lstStyle/>
          <a:p>
            <a:pPr algn="l"/>
            <a:r>
              <a:rPr sz="900" b="0" i="0">
                <a:solidFill>
                  <a:srgbClr val="1F2937"/>
                </a:solidFill>
                <a:latin typeface="Calibri"/>
              </a:rPr>
              <a:t>{{DAY_4_EVT_4_TITLE}}</a:t>
            </a:r>
          </a:p>
        </p:txBody>
      </p:sp>
      <p:sp>
        <p:nvSpPr>
          <p:cNvPr id="75" name="Rectangle 74"/>
          <p:cNvSpPr/>
          <p:nvPr/>
        </p:nvSpPr>
        <p:spPr>
          <a:xfrm>
            <a:off x="5400185" y="5852159"/>
            <a:ext cx="1361149" cy="10972"/>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400185" y="5943600"/>
            <a:ext cx="1361149" cy="228600"/>
          </a:xfrm>
          <a:prstGeom prst="rect">
            <a:avLst/>
          </a:prstGeom>
          <a:noFill/>
        </p:spPr>
        <p:txBody>
          <a:bodyPr wrap="square" lIns="0" rIns="0" tIns="0" bIns="0" anchor="t">
            <a:spAutoFit/>
          </a:bodyPr>
          <a:lstStyle/>
          <a:p>
            <a:pPr algn="ctr"/>
            <a:r>
              <a:rPr sz="800" b="0" i="1">
                <a:solidFill>
                  <a:srgbClr val="4A5568"/>
                </a:solidFill>
                <a:latin typeface="Calibri"/>
              </a:rPr>
              <a:t>{{DAY_4_COUNT}} sự kiện</a:t>
            </a:r>
          </a:p>
        </p:txBody>
      </p:sp>
      <p:sp>
        <p:nvSpPr>
          <p:cNvPr id="77" name="Rectangle 76"/>
          <p:cNvSpPr/>
          <p:nvPr/>
        </p:nvSpPr>
        <p:spPr>
          <a:xfrm>
            <a:off x="6925926" y="1371600"/>
            <a:ext cx="1544029" cy="4846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6925926" y="1371600"/>
            <a:ext cx="1544029" cy="96012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925926" y="1508760"/>
            <a:ext cx="1544029" cy="274320"/>
          </a:xfrm>
          <a:prstGeom prst="rect">
            <a:avLst/>
          </a:prstGeom>
          <a:noFill/>
        </p:spPr>
        <p:txBody>
          <a:bodyPr wrap="square" lIns="0" rIns="0" tIns="0" bIns="0" anchor="t">
            <a:spAutoFit/>
          </a:bodyPr>
          <a:lstStyle/>
          <a:p>
            <a:pPr algn="ctr"/>
            <a:r>
              <a:rPr sz="900" b="1" i="0">
                <a:solidFill>
                  <a:srgbClr val="FFFFFF"/>
                </a:solidFill>
                <a:latin typeface="Calibri"/>
              </a:rPr>
              <a:t>THỨ SÁU</a:t>
            </a:r>
          </a:p>
        </p:txBody>
      </p:sp>
      <p:sp>
        <p:nvSpPr>
          <p:cNvPr id="80" name="TextBox 79"/>
          <p:cNvSpPr txBox="1"/>
          <p:nvPr/>
        </p:nvSpPr>
        <p:spPr>
          <a:xfrm>
            <a:off x="6971646" y="1828800"/>
            <a:ext cx="1452589" cy="457200"/>
          </a:xfrm>
          <a:prstGeom prst="rect">
            <a:avLst/>
          </a:prstGeom>
          <a:noFill/>
        </p:spPr>
        <p:txBody>
          <a:bodyPr wrap="square" lIns="0" rIns="0" tIns="0" bIns="0" anchor="t">
            <a:spAutoFit/>
          </a:bodyPr>
          <a:lstStyle/>
          <a:p>
            <a:pPr algn="ctr"/>
            <a:r>
              <a:rPr sz="1300" b="1" i="0">
                <a:solidFill>
                  <a:srgbClr val="FFFFFF"/>
                </a:solidFill>
                <a:latin typeface="Calibri"/>
              </a:rPr>
              <a:t>{{DAY_5_DATE}}</a:t>
            </a:r>
          </a:p>
        </p:txBody>
      </p:sp>
      <p:sp>
        <p:nvSpPr>
          <p:cNvPr id="81" name="Rectangle 80"/>
          <p:cNvSpPr/>
          <p:nvPr/>
        </p:nvSpPr>
        <p:spPr>
          <a:xfrm>
            <a:off x="7017366" y="2423160"/>
            <a:ext cx="54864" cy="45720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108806" y="2423160"/>
            <a:ext cx="1269709" cy="182880"/>
          </a:xfrm>
          <a:prstGeom prst="rect">
            <a:avLst/>
          </a:prstGeom>
          <a:noFill/>
        </p:spPr>
        <p:txBody>
          <a:bodyPr wrap="square" lIns="0" rIns="0" tIns="0" bIns="0" anchor="t">
            <a:spAutoFit/>
          </a:bodyPr>
          <a:lstStyle/>
          <a:p>
            <a:pPr algn="l"/>
            <a:r>
              <a:rPr sz="800" b="1" i="0">
                <a:solidFill>
                  <a:srgbClr val="D71249"/>
                </a:solidFill>
                <a:latin typeface="Calibri"/>
              </a:rPr>
              <a:t>{{DAY_5_EVT_1_TIME}}</a:t>
            </a:r>
          </a:p>
        </p:txBody>
      </p:sp>
      <p:sp>
        <p:nvSpPr>
          <p:cNvPr id="83" name="TextBox 82"/>
          <p:cNvSpPr txBox="1"/>
          <p:nvPr/>
        </p:nvSpPr>
        <p:spPr>
          <a:xfrm>
            <a:off x="7108806" y="2606040"/>
            <a:ext cx="1269709" cy="274320"/>
          </a:xfrm>
          <a:prstGeom prst="rect">
            <a:avLst/>
          </a:prstGeom>
          <a:noFill/>
        </p:spPr>
        <p:txBody>
          <a:bodyPr wrap="square" lIns="0" rIns="0" tIns="0" bIns="0" anchor="t">
            <a:spAutoFit/>
          </a:bodyPr>
          <a:lstStyle/>
          <a:p>
            <a:pPr algn="l"/>
            <a:r>
              <a:rPr sz="900" b="0" i="0">
                <a:solidFill>
                  <a:srgbClr val="1F2937"/>
                </a:solidFill>
                <a:latin typeface="Calibri"/>
              </a:rPr>
              <a:t>{{DAY_5_EVT_1_TITLE}}</a:t>
            </a:r>
          </a:p>
        </p:txBody>
      </p:sp>
      <p:sp>
        <p:nvSpPr>
          <p:cNvPr id="84" name="Rectangle 83"/>
          <p:cNvSpPr/>
          <p:nvPr/>
        </p:nvSpPr>
        <p:spPr>
          <a:xfrm>
            <a:off x="7017366" y="3017520"/>
            <a:ext cx="54864" cy="45720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108806" y="3017520"/>
            <a:ext cx="1269709" cy="182880"/>
          </a:xfrm>
          <a:prstGeom prst="rect">
            <a:avLst/>
          </a:prstGeom>
          <a:noFill/>
        </p:spPr>
        <p:txBody>
          <a:bodyPr wrap="square" lIns="0" rIns="0" tIns="0" bIns="0" anchor="t">
            <a:spAutoFit/>
          </a:bodyPr>
          <a:lstStyle/>
          <a:p>
            <a:pPr algn="l"/>
            <a:r>
              <a:rPr sz="800" b="1" i="0">
                <a:solidFill>
                  <a:srgbClr val="D71249"/>
                </a:solidFill>
                <a:latin typeface="Calibri"/>
              </a:rPr>
              <a:t>{{DAY_5_EVT_2_TIME}}</a:t>
            </a:r>
          </a:p>
        </p:txBody>
      </p:sp>
      <p:sp>
        <p:nvSpPr>
          <p:cNvPr id="86" name="TextBox 85"/>
          <p:cNvSpPr txBox="1"/>
          <p:nvPr/>
        </p:nvSpPr>
        <p:spPr>
          <a:xfrm>
            <a:off x="7108806" y="3200400"/>
            <a:ext cx="1269709" cy="274320"/>
          </a:xfrm>
          <a:prstGeom prst="rect">
            <a:avLst/>
          </a:prstGeom>
          <a:noFill/>
        </p:spPr>
        <p:txBody>
          <a:bodyPr wrap="square" lIns="0" rIns="0" tIns="0" bIns="0" anchor="t">
            <a:spAutoFit/>
          </a:bodyPr>
          <a:lstStyle/>
          <a:p>
            <a:pPr algn="l"/>
            <a:r>
              <a:rPr sz="900" b="0" i="0">
                <a:solidFill>
                  <a:srgbClr val="1F2937"/>
                </a:solidFill>
                <a:latin typeface="Calibri"/>
              </a:rPr>
              <a:t>{{DAY_5_EVT_2_TITLE}}</a:t>
            </a:r>
          </a:p>
        </p:txBody>
      </p:sp>
      <p:sp>
        <p:nvSpPr>
          <p:cNvPr id="87" name="Rectangle 86"/>
          <p:cNvSpPr/>
          <p:nvPr/>
        </p:nvSpPr>
        <p:spPr>
          <a:xfrm>
            <a:off x="7017366" y="3611879"/>
            <a:ext cx="54864" cy="45720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7108806" y="3611879"/>
            <a:ext cx="1269709" cy="182880"/>
          </a:xfrm>
          <a:prstGeom prst="rect">
            <a:avLst/>
          </a:prstGeom>
          <a:noFill/>
        </p:spPr>
        <p:txBody>
          <a:bodyPr wrap="square" lIns="0" rIns="0" tIns="0" bIns="0" anchor="t">
            <a:spAutoFit/>
          </a:bodyPr>
          <a:lstStyle/>
          <a:p>
            <a:pPr algn="l"/>
            <a:r>
              <a:rPr sz="800" b="1" i="0">
                <a:solidFill>
                  <a:srgbClr val="D71249"/>
                </a:solidFill>
                <a:latin typeface="Calibri"/>
              </a:rPr>
              <a:t>{{DAY_5_EVT_3_TIME}}</a:t>
            </a:r>
          </a:p>
        </p:txBody>
      </p:sp>
      <p:sp>
        <p:nvSpPr>
          <p:cNvPr id="89" name="TextBox 88"/>
          <p:cNvSpPr txBox="1"/>
          <p:nvPr/>
        </p:nvSpPr>
        <p:spPr>
          <a:xfrm>
            <a:off x="7108806" y="3794759"/>
            <a:ext cx="1269709" cy="274320"/>
          </a:xfrm>
          <a:prstGeom prst="rect">
            <a:avLst/>
          </a:prstGeom>
          <a:noFill/>
        </p:spPr>
        <p:txBody>
          <a:bodyPr wrap="square" lIns="0" rIns="0" tIns="0" bIns="0" anchor="t">
            <a:spAutoFit/>
          </a:bodyPr>
          <a:lstStyle/>
          <a:p>
            <a:pPr algn="l"/>
            <a:r>
              <a:rPr sz="900" b="0" i="0">
                <a:solidFill>
                  <a:srgbClr val="1F2937"/>
                </a:solidFill>
                <a:latin typeface="Calibri"/>
              </a:rPr>
              <a:t>{{DAY_5_EVT_3_TITLE}}</a:t>
            </a:r>
          </a:p>
        </p:txBody>
      </p:sp>
      <p:sp>
        <p:nvSpPr>
          <p:cNvPr id="90" name="Rectangle 89"/>
          <p:cNvSpPr/>
          <p:nvPr/>
        </p:nvSpPr>
        <p:spPr>
          <a:xfrm>
            <a:off x="7017366" y="4206240"/>
            <a:ext cx="54864" cy="45720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108806" y="4206240"/>
            <a:ext cx="1269709" cy="182880"/>
          </a:xfrm>
          <a:prstGeom prst="rect">
            <a:avLst/>
          </a:prstGeom>
          <a:noFill/>
        </p:spPr>
        <p:txBody>
          <a:bodyPr wrap="square" lIns="0" rIns="0" tIns="0" bIns="0" anchor="t">
            <a:spAutoFit/>
          </a:bodyPr>
          <a:lstStyle/>
          <a:p>
            <a:pPr algn="l"/>
            <a:r>
              <a:rPr sz="800" b="1" i="0">
                <a:solidFill>
                  <a:srgbClr val="D71249"/>
                </a:solidFill>
                <a:latin typeface="Calibri"/>
              </a:rPr>
              <a:t>{{DAY_5_EVT_4_TIME}}</a:t>
            </a:r>
          </a:p>
        </p:txBody>
      </p:sp>
      <p:sp>
        <p:nvSpPr>
          <p:cNvPr id="92" name="TextBox 91"/>
          <p:cNvSpPr txBox="1"/>
          <p:nvPr/>
        </p:nvSpPr>
        <p:spPr>
          <a:xfrm>
            <a:off x="7108806" y="4389120"/>
            <a:ext cx="1269709" cy="274320"/>
          </a:xfrm>
          <a:prstGeom prst="rect">
            <a:avLst/>
          </a:prstGeom>
          <a:noFill/>
        </p:spPr>
        <p:txBody>
          <a:bodyPr wrap="square" lIns="0" rIns="0" tIns="0" bIns="0" anchor="t">
            <a:spAutoFit/>
          </a:bodyPr>
          <a:lstStyle/>
          <a:p>
            <a:pPr algn="l"/>
            <a:r>
              <a:rPr sz="900" b="0" i="0">
                <a:solidFill>
                  <a:srgbClr val="1F2937"/>
                </a:solidFill>
                <a:latin typeface="Calibri"/>
              </a:rPr>
              <a:t>{{DAY_5_EVT_4_TITLE}}</a:t>
            </a:r>
          </a:p>
        </p:txBody>
      </p:sp>
      <p:sp>
        <p:nvSpPr>
          <p:cNvPr id="93" name="Rectangle 92"/>
          <p:cNvSpPr/>
          <p:nvPr/>
        </p:nvSpPr>
        <p:spPr>
          <a:xfrm>
            <a:off x="7017366" y="5852159"/>
            <a:ext cx="1361149" cy="10972"/>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7017366" y="5943600"/>
            <a:ext cx="1361149" cy="228600"/>
          </a:xfrm>
          <a:prstGeom prst="rect">
            <a:avLst/>
          </a:prstGeom>
          <a:noFill/>
        </p:spPr>
        <p:txBody>
          <a:bodyPr wrap="square" lIns="0" rIns="0" tIns="0" bIns="0" anchor="t">
            <a:spAutoFit/>
          </a:bodyPr>
          <a:lstStyle/>
          <a:p>
            <a:pPr algn="ctr"/>
            <a:r>
              <a:rPr sz="800" b="0" i="1">
                <a:solidFill>
                  <a:srgbClr val="4A5568"/>
                </a:solidFill>
                <a:latin typeface="Calibri"/>
              </a:rPr>
              <a:t>{{DAY_5_COUNT}} sự kiện</a:t>
            </a:r>
          </a:p>
        </p:txBody>
      </p:sp>
      <p:sp>
        <p:nvSpPr>
          <p:cNvPr id="95" name="Rectangle 94"/>
          <p:cNvSpPr/>
          <p:nvPr/>
        </p:nvSpPr>
        <p:spPr>
          <a:xfrm>
            <a:off x="8543108" y="1371600"/>
            <a:ext cx="1544029" cy="4846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8543108" y="1371600"/>
            <a:ext cx="1544029" cy="960120"/>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8543108" y="1508760"/>
            <a:ext cx="1544029" cy="274320"/>
          </a:xfrm>
          <a:prstGeom prst="rect">
            <a:avLst/>
          </a:prstGeom>
          <a:noFill/>
        </p:spPr>
        <p:txBody>
          <a:bodyPr wrap="square" lIns="0" rIns="0" tIns="0" bIns="0" anchor="t">
            <a:spAutoFit/>
          </a:bodyPr>
          <a:lstStyle/>
          <a:p>
            <a:pPr algn="ctr"/>
            <a:r>
              <a:rPr sz="900" b="1" i="0">
                <a:solidFill>
                  <a:srgbClr val="FFFFFF"/>
                </a:solidFill>
                <a:latin typeface="Calibri"/>
              </a:rPr>
              <a:t>THỨ BẢY</a:t>
            </a:r>
          </a:p>
        </p:txBody>
      </p:sp>
      <p:sp>
        <p:nvSpPr>
          <p:cNvPr id="98" name="TextBox 97"/>
          <p:cNvSpPr txBox="1"/>
          <p:nvPr/>
        </p:nvSpPr>
        <p:spPr>
          <a:xfrm>
            <a:off x="8588828" y="1828800"/>
            <a:ext cx="1452589" cy="457200"/>
          </a:xfrm>
          <a:prstGeom prst="rect">
            <a:avLst/>
          </a:prstGeom>
          <a:noFill/>
        </p:spPr>
        <p:txBody>
          <a:bodyPr wrap="square" lIns="0" rIns="0" tIns="0" bIns="0" anchor="t">
            <a:spAutoFit/>
          </a:bodyPr>
          <a:lstStyle/>
          <a:p>
            <a:pPr algn="ctr"/>
            <a:r>
              <a:rPr sz="1300" b="1" i="0">
                <a:solidFill>
                  <a:srgbClr val="FFFFFF"/>
                </a:solidFill>
                <a:latin typeface="Calibri"/>
              </a:rPr>
              <a:t>{{DAY_6_DATE}}</a:t>
            </a:r>
          </a:p>
        </p:txBody>
      </p:sp>
      <p:sp>
        <p:nvSpPr>
          <p:cNvPr id="99" name="Rectangle 98"/>
          <p:cNvSpPr/>
          <p:nvPr/>
        </p:nvSpPr>
        <p:spPr>
          <a:xfrm>
            <a:off x="8634548" y="2423160"/>
            <a:ext cx="54864" cy="45720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8725988" y="2423160"/>
            <a:ext cx="1269709" cy="182880"/>
          </a:xfrm>
          <a:prstGeom prst="rect">
            <a:avLst/>
          </a:prstGeom>
          <a:noFill/>
        </p:spPr>
        <p:txBody>
          <a:bodyPr wrap="square" lIns="0" rIns="0" tIns="0" bIns="0" anchor="t">
            <a:spAutoFit/>
          </a:bodyPr>
          <a:lstStyle/>
          <a:p>
            <a:pPr algn="l"/>
            <a:r>
              <a:rPr sz="800" b="1" i="0">
                <a:solidFill>
                  <a:srgbClr val="D71249"/>
                </a:solidFill>
                <a:latin typeface="Calibri"/>
              </a:rPr>
              <a:t>{{DAY_6_EVT_1_TIME}}</a:t>
            </a:r>
          </a:p>
        </p:txBody>
      </p:sp>
      <p:sp>
        <p:nvSpPr>
          <p:cNvPr id="101" name="TextBox 100"/>
          <p:cNvSpPr txBox="1"/>
          <p:nvPr/>
        </p:nvSpPr>
        <p:spPr>
          <a:xfrm>
            <a:off x="8725988" y="2606040"/>
            <a:ext cx="1269709" cy="274320"/>
          </a:xfrm>
          <a:prstGeom prst="rect">
            <a:avLst/>
          </a:prstGeom>
          <a:noFill/>
        </p:spPr>
        <p:txBody>
          <a:bodyPr wrap="square" lIns="0" rIns="0" tIns="0" bIns="0" anchor="t">
            <a:spAutoFit/>
          </a:bodyPr>
          <a:lstStyle/>
          <a:p>
            <a:pPr algn="l"/>
            <a:r>
              <a:rPr sz="900" b="0" i="0">
                <a:solidFill>
                  <a:srgbClr val="1F2937"/>
                </a:solidFill>
                <a:latin typeface="Calibri"/>
              </a:rPr>
              <a:t>{{DAY_6_EVT_1_TITLE}}</a:t>
            </a:r>
          </a:p>
        </p:txBody>
      </p:sp>
      <p:sp>
        <p:nvSpPr>
          <p:cNvPr id="102" name="Rectangle 101"/>
          <p:cNvSpPr/>
          <p:nvPr/>
        </p:nvSpPr>
        <p:spPr>
          <a:xfrm>
            <a:off x="8634548" y="3017520"/>
            <a:ext cx="54864" cy="45720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8725988" y="3017520"/>
            <a:ext cx="1269709" cy="182880"/>
          </a:xfrm>
          <a:prstGeom prst="rect">
            <a:avLst/>
          </a:prstGeom>
          <a:noFill/>
        </p:spPr>
        <p:txBody>
          <a:bodyPr wrap="square" lIns="0" rIns="0" tIns="0" bIns="0" anchor="t">
            <a:spAutoFit/>
          </a:bodyPr>
          <a:lstStyle/>
          <a:p>
            <a:pPr algn="l"/>
            <a:r>
              <a:rPr sz="800" b="1" i="0">
                <a:solidFill>
                  <a:srgbClr val="D71249"/>
                </a:solidFill>
                <a:latin typeface="Calibri"/>
              </a:rPr>
              <a:t>{{DAY_6_EVT_2_TIME}}</a:t>
            </a:r>
          </a:p>
        </p:txBody>
      </p:sp>
      <p:sp>
        <p:nvSpPr>
          <p:cNvPr id="104" name="TextBox 103"/>
          <p:cNvSpPr txBox="1"/>
          <p:nvPr/>
        </p:nvSpPr>
        <p:spPr>
          <a:xfrm>
            <a:off x="8725988" y="3200400"/>
            <a:ext cx="1269709" cy="274320"/>
          </a:xfrm>
          <a:prstGeom prst="rect">
            <a:avLst/>
          </a:prstGeom>
          <a:noFill/>
        </p:spPr>
        <p:txBody>
          <a:bodyPr wrap="square" lIns="0" rIns="0" tIns="0" bIns="0" anchor="t">
            <a:spAutoFit/>
          </a:bodyPr>
          <a:lstStyle/>
          <a:p>
            <a:pPr algn="l"/>
            <a:r>
              <a:rPr sz="900" b="0" i="0">
                <a:solidFill>
                  <a:srgbClr val="1F2937"/>
                </a:solidFill>
                <a:latin typeface="Calibri"/>
              </a:rPr>
              <a:t>{{DAY_6_EVT_2_TITLE}}</a:t>
            </a:r>
          </a:p>
        </p:txBody>
      </p:sp>
      <p:sp>
        <p:nvSpPr>
          <p:cNvPr id="105" name="Rectangle 104"/>
          <p:cNvSpPr/>
          <p:nvPr/>
        </p:nvSpPr>
        <p:spPr>
          <a:xfrm>
            <a:off x="8634548" y="3611879"/>
            <a:ext cx="54864" cy="45720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8725988" y="3611879"/>
            <a:ext cx="1269709" cy="182880"/>
          </a:xfrm>
          <a:prstGeom prst="rect">
            <a:avLst/>
          </a:prstGeom>
          <a:noFill/>
        </p:spPr>
        <p:txBody>
          <a:bodyPr wrap="square" lIns="0" rIns="0" tIns="0" bIns="0" anchor="t">
            <a:spAutoFit/>
          </a:bodyPr>
          <a:lstStyle/>
          <a:p>
            <a:pPr algn="l"/>
            <a:r>
              <a:rPr sz="800" b="1" i="0">
                <a:solidFill>
                  <a:srgbClr val="D71249"/>
                </a:solidFill>
                <a:latin typeface="Calibri"/>
              </a:rPr>
              <a:t>{{DAY_6_EVT_3_TIME}}</a:t>
            </a:r>
          </a:p>
        </p:txBody>
      </p:sp>
      <p:sp>
        <p:nvSpPr>
          <p:cNvPr id="107" name="TextBox 106"/>
          <p:cNvSpPr txBox="1"/>
          <p:nvPr/>
        </p:nvSpPr>
        <p:spPr>
          <a:xfrm>
            <a:off x="8725988" y="3794759"/>
            <a:ext cx="1269709" cy="274320"/>
          </a:xfrm>
          <a:prstGeom prst="rect">
            <a:avLst/>
          </a:prstGeom>
          <a:noFill/>
        </p:spPr>
        <p:txBody>
          <a:bodyPr wrap="square" lIns="0" rIns="0" tIns="0" bIns="0" anchor="t">
            <a:spAutoFit/>
          </a:bodyPr>
          <a:lstStyle/>
          <a:p>
            <a:pPr algn="l"/>
            <a:r>
              <a:rPr sz="900" b="0" i="0">
                <a:solidFill>
                  <a:srgbClr val="1F2937"/>
                </a:solidFill>
                <a:latin typeface="Calibri"/>
              </a:rPr>
              <a:t>{{DAY_6_EVT_3_TITLE}}</a:t>
            </a:r>
          </a:p>
        </p:txBody>
      </p:sp>
      <p:sp>
        <p:nvSpPr>
          <p:cNvPr id="108" name="Rectangle 107"/>
          <p:cNvSpPr/>
          <p:nvPr/>
        </p:nvSpPr>
        <p:spPr>
          <a:xfrm>
            <a:off x="8634548" y="4206240"/>
            <a:ext cx="54864" cy="45720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8725988" y="4206240"/>
            <a:ext cx="1269709" cy="182880"/>
          </a:xfrm>
          <a:prstGeom prst="rect">
            <a:avLst/>
          </a:prstGeom>
          <a:noFill/>
        </p:spPr>
        <p:txBody>
          <a:bodyPr wrap="square" lIns="0" rIns="0" tIns="0" bIns="0" anchor="t">
            <a:spAutoFit/>
          </a:bodyPr>
          <a:lstStyle/>
          <a:p>
            <a:pPr algn="l"/>
            <a:r>
              <a:rPr sz="800" b="1" i="0">
                <a:solidFill>
                  <a:srgbClr val="D71249"/>
                </a:solidFill>
                <a:latin typeface="Calibri"/>
              </a:rPr>
              <a:t>{{DAY_6_EVT_4_TIME}}</a:t>
            </a:r>
          </a:p>
        </p:txBody>
      </p:sp>
      <p:sp>
        <p:nvSpPr>
          <p:cNvPr id="110" name="TextBox 109"/>
          <p:cNvSpPr txBox="1"/>
          <p:nvPr/>
        </p:nvSpPr>
        <p:spPr>
          <a:xfrm>
            <a:off x="8725988" y="4389120"/>
            <a:ext cx="1269709" cy="274320"/>
          </a:xfrm>
          <a:prstGeom prst="rect">
            <a:avLst/>
          </a:prstGeom>
          <a:noFill/>
        </p:spPr>
        <p:txBody>
          <a:bodyPr wrap="square" lIns="0" rIns="0" tIns="0" bIns="0" anchor="t">
            <a:spAutoFit/>
          </a:bodyPr>
          <a:lstStyle/>
          <a:p>
            <a:pPr algn="l"/>
            <a:r>
              <a:rPr sz="900" b="0" i="0">
                <a:solidFill>
                  <a:srgbClr val="1F2937"/>
                </a:solidFill>
                <a:latin typeface="Calibri"/>
              </a:rPr>
              <a:t>{{DAY_6_EVT_4_TITLE}}</a:t>
            </a:r>
          </a:p>
        </p:txBody>
      </p:sp>
      <p:sp>
        <p:nvSpPr>
          <p:cNvPr id="111" name="Rectangle 110"/>
          <p:cNvSpPr/>
          <p:nvPr/>
        </p:nvSpPr>
        <p:spPr>
          <a:xfrm>
            <a:off x="8634548" y="5852159"/>
            <a:ext cx="1361149" cy="10972"/>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8634548" y="5943600"/>
            <a:ext cx="1361149" cy="228600"/>
          </a:xfrm>
          <a:prstGeom prst="rect">
            <a:avLst/>
          </a:prstGeom>
          <a:noFill/>
        </p:spPr>
        <p:txBody>
          <a:bodyPr wrap="square" lIns="0" rIns="0" tIns="0" bIns="0" anchor="t">
            <a:spAutoFit/>
          </a:bodyPr>
          <a:lstStyle/>
          <a:p>
            <a:pPr algn="ctr"/>
            <a:r>
              <a:rPr sz="800" b="0" i="1">
                <a:solidFill>
                  <a:srgbClr val="4A5568"/>
                </a:solidFill>
                <a:latin typeface="Calibri"/>
              </a:rPr>
              <a:t>{{DAY_6_COUNT}} sự kiện</a:t>
            </a:r>
          </a:p>
        </p:txBody>
      </p:sp>
      <p:sp>
        <p:nvSpPr>
          <p:cNvPr id="113" name="Rectangle 112"/>
          <p:cNvSpPr/>
          <p:nvPr/>
        </p:nvSpPr>
        <p:spPr>
          <a:xfrm>
            <a:off x="10160290" y="1371600"/>
            <a:ext cx="1544029" cy="4846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0160290" y="1371600"/>
            <a:ext cx="1544029" cy="960120"/>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0160290" y="1508760"/>
            <a:ext cx="1544029" cy="274320"/>
          </a:xfrm>
          <a:prstGeom prst="rect">
            <a:avLst/>
          </a:prstGeom>
          <a:noFill/>
        </p:spPr>
        <p:txBody>
          <a:bodyPr wrap="square" lIns="0" rIns="0" tIns="0" bIns="0" anchor="t">
            <a:spAutoFit/>
          </a:bodyPr>
          <a:lstStyle/>
          <a:p>
            <a:pPr algn="ctr"/>
            <a:r>
              <a:rPr sz="900" b="1" i="0">
                <a:solidFill>
                  <a:srgbClr val="FFFFFF"/>
                </a:solidFill>
                <a:latin typeface="Calibri"/>
              </a:rPr>
              <a:t>CHỦ NHẬT</a:t>
            </a:r>
          </a:p>
        </p:txBody>
      </p:sp>
      <p:sp>
        <p:nvSpPr>
          <p:cNvPr id="116" name="TextBox 115"/>
          <p:cNvSpPr txBox="1"/>
          <p:nvPr/>
        </p:nvSpPr>
        <p:spPr>
          <a:xfrm>
            <a:off x="10206010" y="1828800"/>
            <a:ext cx="1452589" cy="457200"/>
          </a:xfrm>
          <a:prstGeom prst="rect">
            <a:avLst/>
          </a:prstGeom>
          <a:noFill/>
        </p:spPr>
        <p:txBody>
          <a:bodyPr wrap="square" lIns="0" rIns="0" tIns="0" bIns="0" anchor="t">
            <a:spAutoFit/>
          </a:bodyPr>
          <a:lstStyle/>
          <a:p>
            <a:pPr algn="ctr"/>
            <a:r>
              <a:rPr sz="1300" b="1" i="0">
                <a:solidFill>
                  <a:srgbClr val="FFFFFF"/>
                </a:solidFill>
                <a:latin typeface="Calibri"/>
              </a:rPr>
              <a:t>{{DAY_7_DATE}}</a:t>
            </a:r>
          </a:p>
        </p:txBody>
      </p:sp>
      <p:sp>
        <p:nvSpPr>
          <p:cNvPr id="117" name="Rectangle 116"/>
          <p:cNvSpPr/>
          <p:nvPr/>
        </p:nvSpPr>
        <p:spPr>
          <a:xfrm>
            <a:off x="10251730" y="2423160"/>
            <a:ext cx="54864" cy="45720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10343170" y="2423160"/>
            <a:ext cx="1269709" cy="182880"/>
          </a:xfrm>
          <a:prstGeom prst="rect">
            <a:avLst/>
          </a:prstGeom>
          <a:noFill/>
        </p:spPr>
        <p:txBody>
          <a:bodyPr wrap="square" lIns="0" rIns="0" tIns="0" bIns="0" anchor="t">
            <a:spAutoFit/>
          </a:bodyPr>
          <a:lstStyle/>
          <a:p>
            <a:pPr algn="l"/>
            <a:r>
              <a:rPr sz="800" b="1" i="0">
                <a:solidFill>
                  <a:srgbClr val="D71249"/>
                </a:solidFill>
                <a:latin typeface="Calibri"/>
              </a:rPr>
              <a:t>{{DAY_7_EVT_1_TIME}}</a:t>
            </a:r>
          </a:p>
        </p:txBody>
      </p:sp>
      <p:sp>
        <p:nvSpPr>
          <p:cNvPr id="119" name="TextBox 118"/>
          <p:cNvSpPr txBox="1"/>
          <p:nvPr/>
        </p:nvSpPr>
        <p:spPr>
          <a:xfrm>
            <a:off x="10343170" y="2606040"/>
            <a:ext cx="1269709" cy="274320"/>
          </a:xfrm>
          <a:prstGeom prst="rect">
            <a:avLst/>
          </a:prstGeom>
          <a:noFill/>
        </p:spPr>
        <p:txBody>
          <a:bodyPr wrap="square" lIns="0" rIns="0" tIns="0" bIns="0" anchor="t">
            <a:spAutoFit/>
          </a:bodyPr>
          <a:lstStyle/>
          <a:p>
            <a:pPr algn="l"/>
            <a:r>
              <a:rPr sz="900" b="0" i="0">
                <a:solidFill>
                  <a:srgbClr val="1F2937"/>
                </a:solidFill>
                <a:latin typeface="Calibri"/>
              </a:rPr>
              <a:t>{{DAY_7_EVT_1_TITLE}}</a:t>
            </a:r>
          </a:p>
        </p:txBody>
      </p:sp>
      <p:sp>
        <p:nvSpPr>
          <p:cNvPr id="120" name="Rectangle 119"/>
          <p:cNvSpPr/>
          <p:nvPr/>
        </p:nvSpPr>
        <p:spPr>
          <a:xfrm>
            <a:off x="10251730" y="3017520"/>
            <a:ext cx="54864" cy="45720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10343170" y="3017520"/>
            <a:ext cx="1269709" cy="182880"/>
          </a:xfrm>
          <a:prstGeom prst="rect">
            <a:avLst/>
          </a:prstGeom>
          <a:noFill/>
        </p:spPr>
        <p:txBody>
          <a:bodyPr wrap="square" lIns="0" rIns="0" tIns="0" bIns="0" anchor="t">
            <a:spAutoFit/>
          </a:bodyPr>
          <a:lstStyle/>
          <a:p>
            <a:pPr algn="l"/>
            <a:r>
              <a:rPr sz="800" b="1" i="0">
                <a:solidFill>
                  <a:srgbClr val="D71249"/>
                </a:solidFill>
                <a:latin typeface="Calibri"/>
              </a:rPr>
              <a:t>{{DAY_7_EVT_2_TIME}}</a:t>
            </a:r>
          </a:p>
        </p:txBody>
      </p:sp>
      <p:sp>
        <p:nvSpPr>
          <p:cNvPr id="122" name="TextBox 121"/>
          <p:cNvSpPr txBox="1"/>
          <p:nvPr/>
        </p:nvSpPr>
        <p:spPr>
          <a:xfrm>
            <a:off x="10343170" y="3200400"/>
            <a:ext cx="1269709" cy="274320"/>
          </a:xfrm>
          <a:prstGeom prst="rect">
            <a:avLst/>
          </a:prstGeom>
          <a:noFill/>
        </p:spPr>
        <p:txBody>
          <a:bodyPr wrap="square" lIns="0" rIns="0" tIns="0" bIns="0" anchor="t">
            <a:spAutoFit/>
          </a:bodyPr>
          <a:lstStyle/>
          <a:p>
            <a:pPr algn="l"/>
            <a:r>
              <a:rPr sz="900" b="0" i="0">
                <a:solidFill>
                  <a:srgbClr val="1F2937"/>
                </a:solidFill>
                <a:latin typeface="Calibri"/>
              </a:rPr>
              <a:t>{{DAY_7_EVT_2_TITLE}}</a:t>
            </a:r>
          </a:p>
        </p:txBody>
      </p:sp>
      <p:sp>
        <p:nvSpPr>
          <p:cNvPr id="123" name="Rectangle 122"/>
          <p:cNvSpPr/>
          <p:nvPr/>
        </p:nvSpPr>
        <p:spPr>
          <a:xfrm>
            <a:off x="10251730" y="3611879"/>
            <a:ext cx="54864" cy="45720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10343170" y="3611879"/>
            <a:ext cx="1269709" cy="182880"/>
          </a:xfrm>
          <a:prstGeom prst="rect">
            <a:avLst/>
          </a:prstGeom>
          <a:noFill/>
        </p:spPr>
        <p:txBody>
          <a:bodyPr wrap="square" lIns="0" rIns="0" tIns="0" bIns="0" anchor="t">
            <a:spAutoFit/>
          </a:bodyPr>
          <a:lstStyle/>
          <a:p>
            <a:pPr algn="l"/>
            <a:r>
              <a:rPr sz="800" b="1" i="0">
                <a:solidFill>
                  <a:srgbClr val="D71249"/>
                </a:solidFill>
                <a:latin typeface="Calibri"/>
              </a:rPr>
              <a:t>{{DAY_7_EVT_3_TIME}}</a:t>
            </a:r>
          </a:p>
        </p:txBody>
      </p:sp>
      <p:sp>
        <p:nvSpPr>
          <p:cNvPr id="125" name="TextBox 124"/>
          <p:cNvSpPr txBox="1"/>
          <p:nvPr/>
        </p:nvSpPr>
        <p:spPr>
          <a:xfrm>
            <a:off x="10343170" y="3794759"/>
            <a:ext cx="1269709" cy="274320"/>
          </a:xfrm>
          <a:prstGeom prst="rect">
            <a:avLst/>
          </a:prstGeom>
          <a:noFill/>
        </p:spPr>
        <p:txBody>
          <a:bodyPr wrap="square" lIns="0" rIns="0" tIns="0" bIns="0" anchor="t">
            <a:spAutoFit/>
          </a:bodyPr>
          <a:lstStyle/>
          <a:p>
            <a:pPr algn="l"/>
            <a:r>
              <a:rPr sz="900" b="0" i="0">
                <a:solidFill>
                  <a:srgbClr val="1F2937"/>
                </a:solidFill>
                <a:latin typeface="Calibri"/>
              </a:rPr>
              <a:t>{{DAY_7_EVT_3_TITLE}}</a:t>
            </a:r>
          </a:p>
        </p:txBody>
      </p:sp>
      <p:sp>
        <p:nvSpPr>
          <p:cNvPr id="126" name="Rectangle 125"/>
          <p:cNvSpPr/>
          <p:nvPr/>
        </p:nvSpPr>
        <p:spPr>
          <a:xfrm>
            <a:off x="10251730" y="4206240"/>
            <a:ext cx="54864" cy="45720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10343170" y="4206240"/>
            <a:ext cx="1269709" cy="182880"/>
          </a:xfrm>
          <a:prstGeom prst="rect">
            <a:avLst/>
          </a:prstGeom>
          <a:noFill/>
        </p:spPr>
        <p:txBody>
          <a:bodyPr wrap="square" lIns="0" rIns="0" tIns="0" bIns="0" anchor="t">
            <a:spAutoFit/>
          </a:bodyPr>
          <a:lstStyle/>
          <a:p>
            <a:pPr algn="l"/>
            <a:r>
              <a:rPr sz="800" b="1" i="0">
                <a:solidFill>
                  <a:srgbClr val="D71249"/>
                </a:solidFill>
                <a:latin typeface="Calibri"/>
              </a:rPr>
              <a:t>{{DAY_7_EVT_4_TIME}}</a:t>
            </a:r>
          </a:p>
        </p:txBody>
      </p:sp>
      <p:sp>
        <p:nvSpPr>
          <p:cNvPr id="128" name="TextBox 127"/>
          <p:cNvSpPr txBox="1"/>
          <p:nvPr/>
        </p:nvSpPr>
        <p:spPr>
          <a:xfrm>
            <a:off x="10343170" y="4389120"/>
            <a:ext cx="1269709" cy="274320"/>
          </a:xfrm>
          <a:prstGeom prst="rect">
            <a:avLst/>
          </a:prstGeom>
          <a:noFill/>
        </p:spPr>
        <p:txBody>
          <a:bodyPr wrap="square" lIns="0" rIns="0" tIns="0" bIns="0" anchor="t">
            <a:spAutoFit/>
          </a:bodyPr>
          <a:lstStyle/>
          <a:p>
            <a:pPr algn="l"/>
            <a:r>
              <a:rPr sz="900" b="0" i="0">
                <a:solidFill>
                  <a:srgbClr val="1F2937"/>
                </a:solidFill>
                <a:latin typeface="Calibri"/>
              </a:rPr>
              <a:t>{{DAY_7_EVT_4_TITLE}}</a:t>
            </a:r>
          </a:p>
        </p:txBody>
      </p:sp>
      <p:sp>
        <p:nvSpPr>
          <p:cNvPr id="129" name="Rectangle 128"/>
          <p:cNvSpPr/>
          <p:nvPr/>
        </p:nvSpPr>
        <p:spPr>
          <a:xfrm>
            <a:off x="10251730" y="5852159"/>
            <a:ext cx="1361149" cy="10972"/>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10251730" y="5943600"/>
            <a:ext cx="1361149" cy="228600"/>
          </a:xfrm>
          <a:prstGeom prst="rect">
            <a:avLst/>
          </a:prstGeom>
          <a:noFill/>
        </p:spPr>
        <p:txBody>
          <a:bodyPr wrap="square" lIns="0" rIns="0" tIns="0" bIns="0" anchor="t">
            <a:spAutoFit/>
          </a:bodyPr>
          <a:lstStyle/>
          <a:p>
            <a:pPr algn="ctr"/>
            <a:r>
              <a:rPr sz="800" b="0" i="1">
                <a:solidFill>
                  <a:srgbClr val="4A5568"/>
                </a:solidFill>
                <a:latin typeface="Calibri"/>
              </a:rPr>
              <a:t>{{DAY_7_COUNT}} sự kiện</a:t>
            </a:r>
          </a:p>
        </p:txBody>
      </p:sp>
      <p:sp>
        <p:nvSpPr>
          <p:cNvPr id="131" name="TextBox 130"/>
          <p:cNvSpPr txBox="1"/>
          <p:nvPr/>
        </p:nvSpPr>
        <p:spPr>
          <a:xfrm>
            <a:off x="457200" y="6537960"/>
            <a:ext cx="9144000" cy="274320"/>
          </a:xfrm>
          <a:prstGeom prst="rect">
            <a:avLst/>
          </a:prstGeom>
          <a:noFill/>
        </p:spPr>
        <p:txBody>
          <a:bodyPr wrap="square" lIns="0" rIns="0" tIns="0" bIns="0" anchor="t">
            <a:spAutoFit/>
          </a:bodyPr>
          <a:lstStyle/>
          <a:p>
            <a:pPr algn="l"/>
            <a:r>
              <a:rPr sz="900" b="0" i="0">
                <a:solidFill>
                  <a:srgbClr val="9CA3AF"/>
                </a:solidFill>
                <a:latin typeface="Calibri"/>
              </a:rPr>
              <a:t>{{FOOTER_LEFT}}</a:t>
            </a:r>
          </a:p>
        </p:txBody>
      </p:sp>
      <p:sp>
        <p:nvSpPr>
          <p:cNvPr id="132" name="TextBox 131"/>
          <p:cNvSpPr txBox="1"/>
          <p:nvPr/>
        </p:nvSpPr>
        <p:spPr>
          <a:xfrm>
            <a:off x="11247120" y="6537960"/>
            <a:ext cx="457200" cy="274320"/>
          </a:xfrm>
          <a:prstGeom prst="rect">
            <a:avLst/>
          </a:prstGeom>
          <a:noFill/>
        </p:spPr>
        <p:txBody>
          <a:bodyPr wrap="square" lIns="0" rIns="0" tIns="0" bIns="0" anchor="t">
            <a:spAutoFit/>
          </a:bodyPr>
          <a:lstStyle/>
          <a:p>
            <a:pPr algn="r"/>
            <a:r>
              <a:rPr sz="900" b="1" i="0">
                <a:solidFill>
                  <a:srgbClr val="003D7A"/>
                </a:solidFill>
                <a:latin typeface="Calibri"/>
              </a:rPr>
              <a:t>{{PAGE_NUM}}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name="LINE_CHART_FULL">
    <p:spTree>
      <p:nvGrpSpPr>
        <p:cNvPr id="1" name=""/>
        <p:cNvGrpSpPr/>
        <p:nvPr/>
      </p:nvGrpSpPr>
      <p:grpSpPr/>
      <p:sp>
        <p:nvSpPr>
          <p:cNvPr id="2" name="Rectangle 1"/>
          <p:cNvSpPr/>
          <p:nvPr/>
        </p:nvSpPr>
        <p:spPr>
          <a:xfrm>
            <a:off x="457200" y="411480"/>
            <a:ext cx="73152" cy="64008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1064240" cy="502920"/>
          </a:xfrm>
          <a:prstGeom prst="rect">
            <a:avLst/>
          </a:prstGeom>
          <a:noFill/>
        </p:spPr>
        <p:txBody>
          <a:bodyPr wrap="square" lIns="0" rIns="0" tIns="0" bIns="0" anchor="ctr">
            <a:spAutoFit/>
          </a:bodyPr>
          <a:lstStyle/>
          <a:p>
            <a:pPr algn="l"/>
            <a:r>
              <a:rPr sz="2600" b="1" i="0">
                <a:solidFill>
                  <a:srgbClr val="003D7A"/>
                </a:solidFill>
                <a:latin typeface="Calibri"/>
              </a:rPr>
              <a:t>{{SECTION_TITLE}}</a:t>
            </a:r>
          </a:p>
        </p:txBody>
      </p:sp>
      <p:sp>
        <p:nvSpPr>
          <p:cNvPr id="4" name="TextBox 3"/>
          <p:cNvSpPr txBox="1"/>
          <p:nvPr/>
        </p:nvSpPr>
        <p:spPr>
          <a:xfrm>
            <a:off x="640080" y="868680"/>
            <a:ext cx="11064240" cy="274320"/>
          </a:xfrm>
          <a:prstGeom prst="rect">
            <a:avLst/>
          </a:prstGeom>
          <a:noFill/>
        </p:spPr>
        <p:txBody>
          <a:bodyPr wrap="square" lIns="0" rIns="0" tIns="0" bIns="0" anchor="t">
            <a:spAutoFit/>
          </a:bodyPr>
          <a:lstStyle/>
          <a:p>
            <a:pPr algn="l"/>
            <a:r>
              <a:rPr sz="1200" b="0" i="1">
                <a:solidFill>
                  <a:srgbClr val="4A5568"/>
                </a:solidFill>
                <a:latin typeface="Calibri"/>
              </a:rPr>
              <a:t>{{SECTION_SUB}}</a:t>
            </a:r>
          </a:p>
        </p:txBody>
      </p:sp>
      <p:sp>
        <p:nvSpPr>
          <p:cNvPr id="5" name="Rectangle 4"/>
          <p:cNvSpPr/>
          <p:nvPr/>
        </p:nvSpPr>
        <p:spPr>
          <a:xfrm>
            <a:off x="457200" y="1371600"/>
            <a:ext cx="7498079" cy="45720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63040"/>
            <a:ext cx="7132319" cy="274320"/>
          </a:xfrm>
          <a:prstGeom prst="rect">
            <a:avLst/>
          </a:prstGeom>
          <a:noFill/>
        </p:spPr>
        <p:txBody>
          <a:bodyPr wrap="square" lIns="0" rIns="0" tIns="0" bIns="0" anchor="t">
            <a:spAutoFit/>
          </a:bodyPr>
          <a:lstStyle/>
          <a:p>
            <a:pPr algn="l"/>
            <a:r>
              <a:rPr sz="1300" b="1" i="0">
                <a:solidFill>
                  <a:srgbClr val="FFFFFF"/>
                </a:solidFill>
                <a:latin typeface="Calibri"/>
              </a:rPr>
              <a:t>{{CHART_TITLE}}</a:t>
            </a:r>
          </a:p>
        </p:txBody>
      </p:sp>
      <p:sp>
        <p:nvSpPr>
          <p:cNvPr id="7" name="Rectangle 6"/>
          <p:cNvSpPr/>
          <p:nvPr/>
        </p:nvSpPr>
        <p:spPr>
          <a:xfrm>
            <a:off x="457200" y="1828800"/>
            <a:ext cx="7498079" cy="356616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246120"/>
            <a:ext cx="7498079" cy="365760"/>
          </a:xfrm>
          <a:prstGeom prst="rect">
            <a:avLst/>
          </a:prstGeom>
          <a:noFill/>
        </p:spPr>
        <p:txBody>
          <a:bodyPr wrap="square" lIns="0" rIns="0" tIns="0" bIns="0" anchor="ctr">
            <a:spAutoFit/>
          </a:bodyPr>
          <a:lstStyle/>
          <a:p>
            <a:pPr algn="ctr"/>
            <a:r>
              <a:rPr sz="2000" b="1" i="0">
                <a:solidFill>
                  <a:srgbClr val="9CA3AF"/>
                </a:solidFill>
                <a:latin typeface="Calibri"/>
              </a:rPr>
              <a:t>{{CHART_PLACEHOLDER}}</a:t>
            </a:r>
          </a:p>
        </p:txBody>
      </p:sp>
      <p:sp>
        <p:nvSpPr>
          <p:cNvPr id="9" name="TextBox 8"/>
          <p:cNvSpPr txBox="1"/>
          <p:nvPr/>
        </p:nvSpPr>
        <p:spPr>
          <a:xfrm>
            <a:off x="457200" y="3657600"/>
            <a:ext cx="7498079" cy="274320"/>
          </a:xfrm>
          <a:prstGeom prst="rect">
            <a:avLst/>
          </a:prstGeom>
          <a:noFill/>
        </p:spPr>
        <p:txBody>
          <a:bodyPr wrap="square" lIns="0" rIns="0" tIns="0" bIns="0" anchor="t">
            <a:spAutoFit/>
          </a:bodyPr>
          <a:lstStyle/>
          <a:p>
            <a:pPr algn="ctr"/>
            <a:r>
              <a:rPr sz="1050" b="0" i="1">
                <a:solidFill>
                  <a:srgbClr val="9CA3AF"/>
                </a:solidFill>
                <a:latin typeface="Calibri"/>
              </a:rPr>
              <a:t>(Biểu đồ đường — AI ghép từ YAML block trong MD)</a:t>
            </a:r>
          </a:p>
        </p:txBody>
      </p:sp>
      <p:sp>
        <p:nvSpPr>
          <p:cNvPr id="10" name="TextBox 9"/>
          <p:cNvSpPr txBox="1"/>
          <p:nvPr/>
        </p:nvSpPr>
        <p:spPr>
          <a:xfrm>
            <a:off x="457200" y="3977640"/>
            <a:ext cx="7498079" cy="274320"/>
          </a:xfrm>
          <a:prstGeom prst="rect">
            <a:avLst/>
          </a:prstGeom>
          <a:noFill/>
        </p:spPr>
        <p:txBody>
          <a:bodyPr wrap="square" lIns="0" rIns="0" tIns="0" bIns="0" anchor="t">
            <a:spAutoFit/>
          </a:bodyPr>
          <a:lstStyle/>
          <a:p>
            <a:pPr algn="ctr"/>
            <a:r>
              <a:rPr sz="900" b="0" i="0">
                <a:solidFill>
                  <a:srgbClr val="9CA3AF"/>
                </a:solidFill>
                <a:latin typeface="Calibri"/>
              </a:rPr>
              <a:t>type: line  •  x_axis: thời gian  •  y_axis: 1-3 series</a:t>
            </a:r>
          </a:p>
        </p:txBody>
      </p:sp>
      <p:sp>
        <p:nvSpPr>
          <p:cNvPr id="11" name="TextBox 10"/>
          <p:cNvSpPr txBox="1"/>
          <p:nvPr/>
        </p:nvSpPr>
        <p:spPr>
          <a:xfrm>
            <a:off x="457200" y="5440680"/>
            <a:ext cx="7498079" cy="228600"/>
          </a:xfrm>
          <a:prstGeom prst="rect">
            <a:avLst/>
          </a:prstGeom>
          <a:noFill/>
        </p:spPr>
        <p:txBody>
          <a:bodyPr wrap="square" lIns="0" rIns="0" tIns="0" bIns="0" anchor="t">
            <a:spAutoFit/>
          </a:bodyPr>
          <a:lstStyle/>
          <a:p>
            <a:pPr algn="l"/>
            <a:r>
              <a:rPr sz="900" b="0" i="1">
                <a:solidFill>
                  <a:srgbClr val="9CA3AF"/>
                </a:solidFill>
                <a:latin typeface="Calibri"/>
              </a:rPr>
              <a:t>{{CHART_SOURCE}}</a:t>
            </a:r>
          </a:p>
        </p:txBody>
      </p:sp>
      <p:sp>
        <p:nvSpPr>
          <p:cNvPr id="12" name="Rectangle 11"/>
          <p:cNvSpPr/>
          <p:nvPr/>
        </p:nvSpPr>
        <p:spPr>
          <a:xfrm>
            <a:off x="8229600" y="1371600"/>
            <a:ext cx="3474720" cy="132588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1371600"/>
            <a:ext cx="73152" cy="132588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1508760"/>
            <a:ext cx="3200400" cy="365760"/>
          </a:xfrm>
          <a:prstGeom prst="rect">
            <a:avLst/>
          </a:prstGeom>
          <a:noFill/>
        </p:spPr>
        <p:txBody>
          <a:bodyPr wrap="square" lIns="0" rIns="0" tIns="0" bIns="0" anchor="t">
            <a:spAutoFit/>
          </a:bodyPr>
          <a:lstStyle/>
          <a:p>
            <a:pPr algn="l"/>
            <a:r>
              <a:rPr sz="1300" b="1" i="0">
                <a:solidFill>
                  <a:srgbClr val="003D7A"/>
                </a:solidFill>
                <a:latin typeface="Calibri"/>
              </a:rPr>
              <a:t>{{NOTE_1_TITLE}}</a:t>
            </a:r>
          </a:p>
        </p:txBody>
      </p:sp>
      <p:sp>
        <p:nvSpPr>
          <p:cNvPr id="15" name="TextBox 14"/>
          <p:cNvSpPr txBox="1"/>
          <p:nvPr/>
        </p:nvSpPr>
        <p:spPr>
          <a:xfrm>
            <a:off x="8412480" y="1874519"/>
            <a:ext cx="3200400" cy="685799"/>
          </a:xfrm>
          <a:prstGeom prst="rect">
            <a:avLst/>
          </a:prstGeom>
          <a:noFill/>
        </p:spPr>
        <p:txBody>
          <a:bodyPr wrap="square" lIns="0" rIns="0" tIns="0" bIns="0" anchor="t">
            <a:spAutoFit/>
          </a:bodyPr>
          <a:lstStyle/>
          <a:p>
            <a:pPr algn="l"/>
            <a:r>
              <a:rPr sz="1050" b="0" i="0">
                <a:solidFill>
                  <a:srgbClr val="1F2937"/>
                </a:solidFill>
                <a:latin typeface="Calibri"/>
              </a:rPr>
              <a:t>{{NOTE_1_BODY}}</a:t>
            </a:r>
          </a:p>
        </p:txBody>
      </p:sp>
      <p:sp>
        <p:nvSpPr>
          <p:cNvPr id="16" name="Rectangle 15"/>
          <p:cNvSpPr/>
          <p:nvPr/>
        </p:nvSpPr>
        <p:spPr>
          <a:xfrm>
            <a:off x="8229600" y="2788920"/>
            <a:ext cx="3474720" cy="132588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2788920"/>
            <a:ext cx="73152" cy="132588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0" y="2926079"/>
            <a:ext cx="3200400" cy="365760"/>
          </a:xfrm>
          <a:prstGeom prst="rect">
            <a:avLst/>
          </a:prstGeom>
          <a:noFill/>
        </p:spPr>
        <p:txBody>
          <a:bodyPr wrap="square" lIns="0" rIns="0" tIns="0" bIns="0" anchor="t">
            <a:spAutoFit/>
          </a:bodyPr>
          <a:lstStyle/>
          <a:p>
            <a:pPr algn="l"/>
            <a:r>
              <a:rPr sz="1300" b="1" i="0">
                <a:solidFill>
                  <a:srgbClr val="003D7A"/>
                </a:solidFill>
                <a:latin typeface="Calibri"/>
              </a:rPr>
              <a:t>{{NOTE_2_TITLE}}</a:t>
            </a:r>
          </a:p>
        </p:txBody>
      </p:sp>
      <p:sp>
        <p:nvSpPr>
          <p:cNvPr id="19" name="TextBox 18"/>
          <p:cNvSpPr txBox="1"/>
          <p:nvPr/>
        </p:nvSpPr>
        <p:spPr>
          <a:xfrm>
            <a:off x="8412480" y="3291839"/>
            <a:ext cx="3200400" cy="685799"/>
          </a:xfrm>
          <a:prstGeom prst="rect">
            <a:avLst/>
          </a:prstGeom>
          <a:noFill/>
        </p:spPr>
        <p:txBody>
          <a:bodyPr wrap="square" lIns="0" rIns="0" tIns="0" bIns="0" anchor="t">
            <a:spAutoFit/>
          </a:bodyPr>
          <a:lstStyle/>
          <a:p>
            <a:pPr algn="l"/>
            <a:r>
              <a:rPr sz="1050" b="0" i="0">
                <a:solidFill>
                  <a:srgbClr val="1F2937"/>
                </a:solidFill>
                <a:latin typeface="Calibri"/>
              </a:rPr>
              <a:t>{{NOTE_2_BODY}}</a:t>
            </a:r>
          </a:p>
        </p:txBody>
      </p:sp>
      <p:sp>
        <p:nvSpPr>
          <p:cNvPr id="20" name="Rectangle 19"/>
          <p:cNvSpPr/>
          <p:nvPr/>
        </p:nvSpPr>
        <p:spPr>
          <a:xfrm>
            <a:off x="8229600" y="4206240"/>
            <a:ext cx="3474720" cy="132588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0" y="4206240"/>
            <a:ext cx="73152" cy="132588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0" y="4343400"/>
            <a:ext cx="3200400" cy="365760"/>
          </a:xfrm>
          <a:prstGeom prst="rect">
            <a:avLst/>
          </a:prstGeom>
          <a:noFill/>
        </p:spPr>
        <p:txBody>
          <a:bodyPr wrap="square" lIns="0" rIns="0" tIns="0" bIns="0" anchor="t">
            <a:spAutoFit/>
          </a:bodyPr>
          <a:lstStyle/>
          <a:p>
            <a:pPr algn="l"/>
            <a:r>
              <a:rPr sz="1300" b="1" i="0">
                <a:solidFill>
                  <a:srgbClr val="003D7A"/>
                </a:solidFill>
                <a:latin typeface="Calibri"/>
              </a:rPr>
              <a:t>{{NOTE_3_TITLE}}</a:t>
            </a:r>
          </a:p>
        </p:txBody>
      </p:sp>
      <p:sp>
        <p:nvSpPr>
          <p:cNvPr id="23" name="TextBox 22"/>
          <p:cNvSpPr txBox="1"/>
          <p:nvPr/>
        </p:nvSpPr>
        <p:spPr>
          <a:xfrm>
            <a:off x="8412480" y="4709160"/>
            <a:ext cx="3200400" cy="685799"/>
          </a:xfrm>
          <a:prstGeom prst="rect">
            <a:avLst/>
          </a:prstGeom>
          <a:noFill/>
        </p:spPr>
        <p:txBody>
          <a:bodyPr wrap="square" lIns="0" rIns="0" tIns="0" bIns="0" anchor="t">
            <a:spAutoFit/>
          </a:bodyPr>
          <a:lstStyle/>
          <a:p>
            <a:pPr algn="l"/>
            <a:r>
              <a:rPr sz="1050" b="0" i="0">
                <a:solidFill>
                  <a:srgbClr val="1F2937"/>
                </a:solidFill>
                <a:latin typeface="Calibri"/>
              </a:rPr>
              <a:t>{{NOTE_3_BODY}}</a:t>
            </a:r>
          </a:p>
        </p:txBody>
      </p:sp>
      <p:sp>
        <p:nvSpPr>
          <p:cNvPr id="24" name="TextBox 23"/>
          <p:cNvSpPr txBox="1"/>
          <p:nvPr/>
        </p:nvSpPr>
        <p:spPr>
          <a:xfrm>
            <a:off x="457200" y="6537960"/>
            <a:ext cx="9144000" cy="274320"/>
          </a:xfrm>
          <a:prstGeom prst="rect">
            <a:avLst/>
          </a:prstGeom>
          <a:noFill/>
        </p:spPr>
        <p:txBody>
          <a:bodyPr wrap="square" lIns="0" rIns="0" tIns="0" bIns="0" anchor="t">
            <a:spAutoFit/>
          </a:bodyPr>
          <a:lstStyle/>
          <a:p>
            <a:pPr algn="l"/>
            <a:r>
              <a:rPr sz="900" b="0" i="0">
                <a:solidFill>
                  <a:srgbClr val="9CA3AF"/>
                </a:solidFill>
                <a:latin typeface="Calibri"/>
              </a:rPr>
              <a:t>{{FOOTER_LEFT}}</a:t>
            </a:r>
          </a:p>
        </p:txBody>
      </p:sp>
      <p:sp>
        <p:nvSpPr>
          <p:cNvPr id="25" name="TextBox 24"/>
          <p:cNvSpPr txBox="1"/>
          <p:nvPr/>
        </p:nvSpPr>
        <p:spPr>
          <a:xfrm>
            <a:off x="11247120" y="6537960"/>
            <a:ext cx="457200" cy="274320"/>
          </a:xfrm>
          <a:prstGeom prst="rect">
            <a:avLst/>
          </a:prstGeom>
          <a:noFill/>
        </p:spPr>
        <p:txBody>
          <a:bodyPr wrap="square" lIns="0" rIns="0" tIns="0" bIns="0" anchor="t">
            <a:spAutoFit/>
          </a:bodyPr>
          <a:lstStyle/>
          <a:p>
            <a:pPr algn="r"/>
            <a:r>
              <a:rPr sz="900" b="1" i="0">
                <a:solidFill>
                  <a:srgbClr val="003D7A"/>
                </a:solidFill>
                <a:latin typeface="Calibri"/>
              </a:rPr>
              <a:t>{{PAGE_NUM}}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name="SCATTER_PEER">
    <p:spTree>
      <p:nvGrpSpPr>
        <p:cNvPr id="1" name=""/>
        <p:cNvGrpSpPr/>
        <p:nvPr/>
      </p:nvGrpSpPr>
      <p:grpSpPr/>
      <p:sp>
        <p:nvSpPr>
          <p:cNvPr id="2" name="Rectangle 1"/>
          <p:cNvSpPr/>
          <p:nvPr/>
        </p:nvSpPr>
        <p:spPr>
          <a:xfrm>
            <a:off x="457200" y="411480"/>
            <a:ext cx="73152" cy="64008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1064240" cy="502920"/>
          </a:xfrm>
          <a:prstGeom prst="rect">
            <a:avLst/>
          </a:prstGeom>
          <a:noFill/>
        </p:spPr>
        <p:txBody>
          <a:bodyPr wrap="square" lIns="0" rIns="0" tIns="0" bIns="0" anchor="ctr">
            <a:spAutoFit/>
          </a:bodyPr>
          <a:lstStyle/>
          <a:p>
            <a:pPr algn="l"/>
            <a:r>
              <a:rPr sz="2600" b="1" i="0">
                <a:solidFill>
                  <a:srgbClr val="003D7A"/>
                </a:solidFill>
                <a:latin typeface="Calibri"/>
              </a:rPr>
              <a:t>{{SECTION_TITLE}}</a:t>
            </a:r>
          </a:p>
        </p:txBody>
      </p:sp>
      <p:sp>
        <p:nvSpPr>
          <p:cNvPr id="4" name="TextBox 3"/>
          <p:cNvSpPr txBox="1"/>
          <p:nvPr/>
        </p:nvSpPr>
        <p:spPr>
          <a:xfrm>
            <a:off x="640080" y="868680"/>
            <a:ext cx="11064240" cy="274320"/>
          </a:xfrm>
          <a:prstGeom prst="rect">
            <a:avLst/>
          </a:prstGeom>
          <a:noFill/>
        </p:spPr>
        <p:txBody>
          <a:bodyPr wrap="square" lIns="0" rIns="0" tIns="0" bIns="0" anchor="t">
            <a:spAutoFit/>
          </a:bodyPr>
          <a:lstStyle/>
          <a:p>
            <a:pPr algn="l"/>
            <a:r>
              <a:rPr sz="1200" b="0" i="1">
                <a:solidFill>
                  <a:srgbClr val="4A5568"/>
                </a:solidFill>
                <a:latin typeface="Calibri"/>
              </a:rPr>
              <a:t>{{SECTION_SUB}}</a:t>
            </a:r>
          </a:p>
        </p:txBody>
      </p:sp>
      <p:sp>
        <p:nvSpPr>
          <p:cNvPr id="5" name="Rectangle 4"/>
          <p:cNvSpPr/>
          <p:nvPr/>
        </p:nvSpPr>
        <p:spPr>
          <a:xfrm>
            <a:off x="457200" y="1371600"/>
            <a:ext cx="6858000" cy="45720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63040"/>
            <a:ext cx="6492240" cy="274320"/>
          </a:xfrm>
          <a:prstGeom prst="rect">
            <a:avLst/>
          </a:prstGeom>
          <a:noFill/>
        </p:spPr>
        <p:txBody>
          <a:bodyPr wrap="square" lIns="0" rIns="0" tIns="0" bIns="0" anchor="t">
            <a:spAutoFit/>
          </a:bodyPr>
          <a:lstStyle/>
          <a:p>
            <a:pPr algn="l"/>
            <a:r>
              <a:rPr sz="1300" b="1" i="0">
                <a:solidFill>
                  <a:srgbClr val="FFFFFF"/>
                </a:solidFill>
                <a:latin typeface="Calibri"/>
              </a:rPr>
              <a:t>{{CHART_TITLE}}</a:t>
            </a:r>
          </a:p>
        </p:txBody>
      </p:sp>
      <p:sp>
        <p:nvSpPr>
          <p:cNvPr id="7" name="Rectangle 6"/>
          <p:cNvSpPr/>
          <p:nvPr/>
        </p:nvSpPr>
        <p:spPr>
          <a:xfrm>
            <a:off x="457200" y="1828800"/>
            <a:ext cx="6858000" cy="356616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920240"/>
            <a:ext cx="6492240" cy="274320"/>
          </a:xfrm>
          <a:prstGeom prst="rect">
            <a:avLst/>
          </a:prstGeom>
          <a:noFill/>
        </p:spPr>
        <p:txBody>
          <a:bodyPr wrap="square" lIns="0" rIns="0" tIns="0" bIns="0" anchor="t">
            <a:spAutoFit/>
          </a:bodyPr>
          <a:lstStyle/>
          <a:p>
            <a:pPr algn="l"/>
            <a:r>
              <a:rPr sz="900" b="1" i="0">
                <a:solidFill>
                  <a:srgbClr val="4A5568"/>
                </a:solidFill>
                <a:latin typeface="Calibri"/>
              </a:rPr>
              <a:t>{{Y_AXIS_LABEL}}</a:t>
            </a:r>
          </a:p>
        </p:txBody>
      </p:sp>
      <p:sp>
        <p:nvSpPr>
          <p:cNvPr id="9" name="TextBox 8"/>
          <p:cNvSpPr txBox="1"/>
          <p:nvPr/>
        </p:nvSpPr>
        <p:spPr>
          <a:xfrm>
            <a:off x="457200" y="3246120"/>
            <a:ext cx="6858000" cy="365760"/>
          </a:xfrm>
          <a:prstGeom prst="rect">
            <a:avLst/>
          </a:prstGeom>
          <a:noFill/>
        </p:spPr>
        <p:txBody>
          <a:bodyPr wrap="square" lIns="0" rIns="0" tIns="0" bIns="0" anchor="ctr">
            <a:spAutoFit/>
          </a:bodyPr>
          <a:lstStyle/>
          <a:p>
            <a:pPr algn="ctr"/>
            <a:r>
              <a:rPr sz="2000" b="1" i="0">
                <a:solidFill>
                  <a:srgbClr val="9CA3AF"/>
                </a:solidFill>
                <a:latin typeface="Calibri"/>
              </a:rPr>
              <a:t>{{CHART_PLACEHOLDER}}</a:t>
            </a:r>
          </a:p>
        </p:txBody>
      </p:sp>
      <p:sp>
        <p:nvSpPr>
          <p:cNvPr id="10" name="TextBox 9"/>
          <p:cNvSpPr txBox="1"/>
          <p:nvPr/>
        </p:nvSpPr>
        <p:spPr>
          <a:xfrm>
            <a:off x="457200" y="3657600"/>
            <a:ext cx="6858000" cy="274320"/>
          </a:xfrm>
          <a:prstGeom prst="rect">
            <a:avLst/>
          </a:prstGeom>
          <a:noFill/>
        </p:spPr>
        <p:txBody>
          <a:bodyPr wrap="square" lIns="0" rIns="0" tIns="0" bIns="0" anchor="t">
            <a:spAutoFit/>
          </a:bodyPr>
          <a:lstStyle/>
          <a:p>
            <a:pPr algn="ctr"/>
            <a:r>
              <a:rPr sz="1050" b="0" i="1">
                <a:solidFill>
                  <a:srgbClr val="9CA3AF"/>
                </a:solidFill>
                <a:latin typeface="Calibri"/>
              </a:rPr>
              <a:t>(Scatter plot — AI ghép từ YAML block trong MD)</a:t>
            </a:r>
          </a:p>
        </p:txBody>
      </p:sp>
      <p:sp>
        <p:nvSpPr>
          <p:cNvPr id="11" name="TextBox 10"/>
          <p:cNvSpPr txBox="1"/>
          <p:nvPr/>
        </p:nvSpPr>
        <p:spPr>
          <a:xfrm>
            <a:off x="457200" y="3977640"/>
            <a:ext cx="6858000" cy="274320"/>
          </a:xfrm>
          <a:prstGeom prst="rect">
            <a:avLst/>
          </a:prstGeom>
          <a:noFill/>
        </p:spPr>
        <p:txBody>
          <a:bodyPr wrap="square" lIns="0" rIns="0" tIns="0" bIns="0" anchor="t">
            <a:spAutoFit/>
          </a:bodyPr>
          <a:lstStyle/>
          <a:p>
            <a:pPr algn="ctr"/>
            <a:r>
              <a:rPr sz="900" b="0" i="0">
                <a:solidFill>
                  <a:srgbClr val="9CA3AF"/>
                </a:solidFill>
                <a:latin typeface="Calibri"/>
              </a:rPr>
              <a:t>type: scatter  •  Mã đang phân tích = highlight đỏ</a:t>
            </a:r>
          </a:p>
        </p:txBody>
      </p:sp>
      <p:sp>
        <p:nvSpPr>
          <p:cNvPr id="12" name="TextBox 11"/>
          <p:cNvSpPr txBox="1"/>
          <p:nvPr/>
        </p:nvSpPr>
        <p:spPr>
          <a:xfrm>
            <a:off x="640080" y="5120640"/>
            <a:ext cx="6492240" cy="228600"/>
          </a:xfrm>
          <a:prstGeom prst="rect">
            <a:avLst/>
          </a:prstGeom>
          <a:noFill/>
        </p:spPr>
        <p:txBody>
          <a:bodyPr wrap="square" lIns="0" rIns="0" tIns="0" bIns="0" anchor="t">
            <a:spAutoFit/>
          </a:bodyPr>
          <a:lstStyle/>
          <a:p>
            <a:pPr algn="r"/>
            <a:r>
              <a:rPr sz="900" b="1" i="0">
                <a:solidFill>
                  <a:srgbClr val="4A5568"/>
                </a:solidFill>
                <a:latin typeface="Calibri"/>
              </a:rPr>
              <a:t>{{X_AXIS_LABEL}}</a:t>
            </a:r>
          </a:p>
        </p:txBody>
      </p:sp>
      <p:sp>
        <p:nvSpPr>
          <p:cNvPr id="13" name="TextBox 12"/>
          <p:cNvSpPr txBox="1"/>
          <p:nvPr/>
        </p:nvSpPr>
        <p:spPr>
          <a:xfrm>
            <a:off x="457200" y="5440680"/>
            <a:ext cx="6858000" cy="228600"/>
          </a:xfrm>
          <a:prstGeom prst="rect">
            <a:avLst/>
          </a:prstGeom>
          <a:noFill/>
        </p:spPr>
        <p:txBody>
          <a:bodyPr wrap="square" lIns="0" rIns="0" tIns="0" bIns="0" anchor="t">
            <a:spAutoFit/>
          </a:bodyPr>
          <a:lstStyle/>
          <a:p>
            <a:pPr algn="l"/>
            <a:r>
              <a:rPr sz="900" b="0" i="1">
                <a:solidFill>
                  <a:srgbClr val="9CA3AF"/>
                </a:solidFill>
                <a:latin typeface="Calibri"/>
              </a:rPr>
              <a:t>{{CHART_SOURCE}}</a:t>
            </a:r>
          </a:p>
        </p:txBody>
      </p:sp>
      <p:sp>
        <p:nvSpPr>
          <p:cNvPr id="14" name="TextBox 13"/>
          <p:cNvSpPr txBox="1"/>
          <p:nvPr/>
        </p:nvSpPr>
        <p:spPr>
          <a:xfrm>
            <a:off x="7589520" y="1371600"/>
            <a:ext cx="4114800" cy="274320"/>
          </a:xfrm>
          <a:prstGeom prst="rect">
            <a:avLst/>
          </a:prstGeom>
          <a:noFill/>
        </p:spPr>
        <p:txBody>
          <a:bodyPr wrap="square" lIns="0" rIns="0" tIns="0" bIns="0" anchor="t">
            <a:spAutoFit/>
          </a:bodyPr>
          <a:lstStyle/>
          <a:p>
            <a:pPr algn="l"/>
            <a:r>
              <a:rPr sz="1000" b="1" i="0">
                <a:solidFill>
                  <a:srgbClr val="003D7A"/>
                </a:solidFill>
                <a:latin typeface="Calibri"/>
              </a:rPr>
              <a:t>ĐỊNH VỊ TRONG NHÓM</a:t>
            </a:r>
          </a:p>
        </p:txBody>
      </p:sp>
      <p:sp>
        <p:nvSpPr>
          <p:cNvPr id="15" name="Rectangle 14"/>
          <p:cNvSpPr/>
          <p:nvPr/>
        </p:nvSpPr>
        <p:spPr>
          <a:xfrm>
            <a:off x="7589520" y="1737360"/>
            <a:ext cx="4023360" cy="36576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0" y="1783080"/>
            <a:ext cx="1097280" cy="274320"/>
          </a:xfrm>
          <a:prstGeom prst="rect">
            <a:avLst/>
          </a:prstGeom>
          <a:noFill/>
        </p:spPr>
        <p:txBody>
          <a:bodyPr wrap="square" lIns="0" rIns="0" tIns="0" bIns="0" anchor="ctr">
            <a:spAutoFit/>
          </a:bodyPr>
          <a:lstStyle/>
          <a:p>
            <a:pPr algn="ctr"/>
            <a:r>
              <a:rPr sz="900" b="1" i="0">
                <a:solidFill>
                  <a:srgbClr val="FFFFFF"/>
                </a:solidFill>
                <a:latin typeface="Calibri"/>
              </a:rPr>
              <a:t>Mã</a:t>
            </a:r>
          </a:p>
        </p:txBody>
      </p:sp>
      <p:sp>
        <p:nvSpPr>
          <p:cNvPr id="17" name="TextBox 16"/>
          <p:cNvSpPr txBox="1"/>
          <p:nvPr/>
        </p:nvSpPr>
        <p:spPr>
          <a:xfrm>
            <a:off x="8961120" y="1783080"/>
            <a:ext cx="2560320" cy="274320"/>
          </a:xfrm>
          <a:prstGeom prst="rect">
            <a:avLst/>
          </a:prstGeom>
          <a:noFill/>
        </p:spPr>
        <p:txBody>
          <a:bodyPr wrap="square" lIns="0" rIns="0" tIns="0" bIns="0" anchor="ctr">
            <a:spAutoFit/>
          </a:bodyPr>
          <a:lstStyle/>
          <a:p>
            <a:pPr algn="l"/>
            <a:r>
              <a:rPr sz="900" b="1" i="0">
                <a:solidFill>
                  <a:srgbClr val="FFFFFF"/>
                </a:solidFill>
                <a:latin typeface="Calibri"/>
              </a:rPr>
              <a:t>Đặc điểm</a:t>
            </a:r>
          </a:p>
        </p:txBody>
      </p:sp>
      <p:sp>
        <p:nvSpPr>
          <p:cNvPr id="18" name="Rectangle 17"/>
          <p:cNvSpPr/>
          <p:nvPr/>
        </p:nvSpPr>
        <p:spPr>
          <a:xfrm>
            <a:off x="7589520" y="2103120"/>
            <a:ext cx="4023360" cy="502920"/>
          </a:xfrm>
          <a:prstGeom prst="rect">
            <a:avLst/>
          </a:prstGeom>
          <a:solidFill>
            <a:srgbClr val="F5D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0" y="2148839"/>
            <a:ext cx="1097280" cy="411480"/>
          </a:xfrm>
          <a:prstGeom prst="rect">
            <a:avLst/>
          </a:prstGeom>
          <a:noFill/>
        </p:spPr>
        <p:txBody>
          <a:bodyPr wrap="square" lIns="0" rIns="0" tIns="0" bIns="0" anchor="ctr">
            <a:spAutoFit/>
          </a:bodyPr>
          <a:lstStyle/>
          <a:p>
            <a:pPr algn="ctr"/>
            <a:r>
              <a:rPr sz="1050" b="1" i="0">
                <a:solidFill>
                  <a:srgbClr val="D71249"/>
                </a:solidFill>
                <a:latin typeface="Calibri"/>
              </a:rPr>
              <a:t>{{PEER_1_TICKER}}</a:t>
            </a:r>
          </a:p>
        </p:txBody>
      </p:sp>
      <p:sp>
        <p:nvSpPr>
          <p:cNvPr id="20" name="TextBox 19"/>
          <p:cNvSpPr txBox="1"/>
          <p:nvPr/>
        </p:nvSpPr>
        <p:spPr>
          <a:xfrm>
            <a:off x="8961120" y="2148839"/>
            <a:ext cx="2560320" cy="411480"/>
          </a:xfrm>
          <a:prstGeom prst="rect">
            <a:avLst/>
          </a:prstGeom>
          <a:noFill/>
        </p:spPr>
        <p:txBody>
          <a:bodyPr wrap="square" lIns="0" rIns="0" tIns="0" bIns="0" anchor="ctr">
            <a:spAutoFit/>
          </a:bodyPr>
          <a:lstStyle/>
          <a:p>
            <a:pPr algn="l"/>
            <a:r>
              <a:rPr sz="900" b="0" i="0">
                <a:solidFill>
                  <a:srgbClr val="1F2937"/>
                </a:solidFill>
                <a:latin typeface="Calibri"/>
              </a:rPr>
              <a:t>{{PEER_1_NOTE}}</a:t>
            </a:r>
          </a:p>
        </p:txBody>
      </p:sp>
      <p:sp>
        <p:nvSpPr>
          <p:cNvPr id="21" name="Rectangle 20"/>
          <p:cNvSpPr/>
          <p:nvPr/>
        </p:nvSpPr>
        <p:spPr>
          <a:xfrm>
            <a:off x="7589520" y="2606039"/>
            <a:ext cx="4023360" cy="50292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0" y="2651759"/>
            <a:ext cx="1097280" cy="411480"/>
          </a:xfrm>
          <a:prstGeom prst="rect">
            <a:avLst/>
          </a:prstGeom>
          <a:noFill/>
        </p:spPr>
        <p:txBody>
          <a:bodyPr wrap="square" lIns="0" rIns="0" tIns="0" bIns="0" anchor="ctr">
            <a:spAutoFit/>
          </a:bodyPr>
          <a:lstStyle/>
          <a:p>
            <a:pPr algn="ctr"/>
            <a:r>
              <a:rPr sz="1050" b="1" i="0">
                <a:solidFill>
                  <a:srgbClr val="003D7A"/>
                </a:solidFill>
                <a:latin typeface="Calibri"/>
              </a:rPr>
              <a:t>{{PEER_2_TICKER}}</a:t>
            </a:r>
          </a:p>
        </p:txBody>
      </p:sp>
      <p:sp>
        <p:nvSpPr>
          <p:cNvPr id="23" name="TextBox 22"/>
          <p:cNvSpPr txBox="1"/>
          <p:nvPr/>
        </p:nvSpPr>
        <p:spPr>
          <a:xfrm>
            <a:off x="8961120" y="2651759"/>
            <a:ext cx="2560320" cy="411480"/>
          </a:xfrm>
          <a:prstGeom prst="rect">
            <a:avLst/>
          </a:prstGeom>
          <a:noFill/>
        </p:spPr>
        <p:txBody>
          <a:bodyPr wrap="square" lIns="0" rIns="0" tIns="0" bIns="0" anchor="ctr">
            <a:spAutoFit/>
          </a:bodyPr>
          <a:lstStyle/>
          <a:p>
            <a:pPr algn="l"/>
            <a:r>
              <a:rPr sz="900" b="0" i="0">
                <a:solidFill>
                  <a:srgbClr val="1F2937"/>
                </a:solidFill>
                <a:latin typeface="Calibri"/>
              </a:rPr>
              <a:t>{{PEER_2_NOTE}}</a:t>
            </a:r>
          </a:p>
        </p:txBody>
      </p:sp>
      <p:sp>
        <p:nvSpPr>
          <p:cNvPr id="24" name="TextBox 23"/>
          <p:cNvSpPr txBox="1"/>
          <p:nvPr/>
        </p:nvSpPr>
        <p:spPr>
          <a:xfrm>
            <a:off x="7680960" y="3154679"/>
            <a:ext cx="1097280" cy="411480"/>
          </a:xfrm>
          <a:prstGeom prst="rect">
            <a:avLst/>
          </a:prstGeom>
          <a:noFill/>
        </p:spPr>
        <p:txBody>
          <a:bodyPr wrap="square" lIns="0" rIns="0" tIns="0" bIns="0" anchor="ctr">
            <a:spAutoFit/>
          </a:bodyPr>
          <a:lstStyle/>
          <a:p>
            <a:pPr algn="ctr"/>
            <a:r>
              <a:rPr sz="1050" b="1" i="0">
                <a:solidFill>
                  <a:srgbClr val="003D7A"/>
                </a:solidFill>
                <a:latin typeface="Calibri"/>
              </a:rPr>
              <a:t>{{PEER_3_TICKER}}</a:t>
            </a:r>
          </a:p>
        </p:txBody>
      </p:sp>
      <p:sp>
        <p:nvSpPr>
          <p:cNvPr id="25" name="TextBox 24"/>
          <p:cNvSpPr txBox="1"/>
          <p:nvPr/>
        </p:nvSpPr>
        <p:spPr>
          <a:xfrm>
            <a:off x="8961120" y="3154679"/>
            <a:ext cx="2560320" cy="411480"/>
          </a:xfrm>
          <a:prstGeom prst="rect">
            <a:avLst/>
          </a:prstGeom>
          <a:noFill/>
        </p:spPr>
        <p:txBody>
          <a:bodyPr wrap="square" lIns="0" rIns="0" tIns="0" bIns="0" anchor="ctr">
            <a:spAutoFit/>
          </a:bodyPr>
          <a:lstStyle/>
          <a:p>
            <a:pPr algn="l"/>
            <a:r>
              <a:rPr sz="900" b="0" i="0">
                <a:solidFill>
                  <a:srgbClr val="1F2937"/>
                </a:solidFill>
                <a:latin typeface="Calibri"/>
              </a:rPr>
              <a:t>{{PEER_3_NOTE}}</a:t>
            </a:r>
          </a:p>
        </p:txBody>
      </p:sp>
      <p:sp>
        <p:nvSpPr>
          <p:cNvPr id="26" name="Rectangle 25"/>
          <p:cNvSpPr/>
          <p:nvPr/>
        </p:nvSpPr>
        <p:spPr>
          <a:xfrm>
            <a:off x="7589520" y="3611879"/>
            <a:ext cx="4023360" cy="50292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80960" y="3657599"/>
            <a:ext cx="1097280" cy="411480"/>
          </a:xfrm>
          <a:prstGeom prst="rect">
            <a:avLst/>
          </a:prstGeom>
          <a:noFill/>
        </p:spPr>
        <p:txBody>
          <a:bodyPr wrap="square" lIns="0" rIns="0" tIns="0" bIns="0" anchor="ctr">
            <a:spAutoFit/>
          </a:bodyPr>
          <a:lstStyle/>
          <a:p>
            <a:pPr algn="ctr"/>
            <a:r>
              <a:rPr sz="1050" b="1" i="0">
                <a:solidFill>
                  <a:srgbClr val="003D7A"/>
                </a:solidFill>
                <a:latin typeface="Calibri"/>
              </a:rPr>
              <a:t>{{PEER_4_TICKER}}</a:t>
            </a:r>
          </a:p>
        </p:txBody>
      </p:sp>
      <p:sp>
        <p:nvSpPr>
          <p:cNvPr id="28" name="TextBox 27"/>
          <p:cNvSpPr txBox="1"/>
          <p:nvPr/>
        </p:nvSpPr>
        <p:spPr>
          <a:xfrm>
            <a:off x="8961120" y="3657599"/>
            <a:ext cx="2560320" cy="411480"/>
          </a:xfrm>
          <a:prstGeom prst="rect">
            <a:avLst/>
          </a:prstGeom>
          <a:noFill/>
        </p:spPr>
        <p:txBody>
          <a:bodyPr wrap="square" lIns="0" rIns="0" tIns="0" bIns="0" anchor="ctr">
            <a:spAutoFit/>
          </a:bodyPr>
          <a:lstStyle/>
          <a:p>
            <a:pPr algn="l"/>
            <a:r>
              <a:rPr sz="900" b="0" i="0">
                <a:solidFill>
                  <a:srgbClr val="1F2937"/>
                </a:solidFill>
                <a:latin typeface="Calibri"/>
              </a:rPr>
              <a:t>{{PEER_4_NOTE}}</a:t>
            </a:r>
          </a:p>
        </p:txBody>
      </p:sp>
      <p:sp>
        <p:nvSpPr>
          <p:cNvPr id="29" name="TextBox 28"/>
          <p:cNvSpPr txBox="1"/>
          <p:nvPr/>
        </p:nvSpPr>
        <p:spPr>
          <a:xfrm>
            <a:off x="7680960" y="4160519"/>
            <a:ext cx="1097280" cy="411480"/>
          </a:xfrm>
          <a:prstGeom prst="rect">
            <a:avLst/>
          </a:prstGeom>
          <a:noFill/>
        </p:spPr>
        <p:txBody>
          <a:bodyPr wrap="square" lIns="0" rIns="0" tIns="0" bIns="0" anchor="ctr">
            <a:spAutoFit/>
          </a:bodyPr>
          <a:lstStyle/>
          <a:p>
            <a:pPr algn="ctr"/>
            <a:r>
              <a:rPr sz="1050" b="1" i="0">
                <a:solidFill>
                  <a:srgbClr val="003D7A"/>
                </a:solidFill>
                <a:latin typeface="Calibri"/>
              </a:rPr>
              <a:t>{{PEER_5_TICKER}}</a:t>
            </a:r>
          </a:p>
        </p:txBody>
      </p:sp>
      <p:sp>
        <p:nvSpPr>
          <p:cNvPr id="30" name="TextBox 29"/>
          <p:cNvSpPr txBox="1"/>
          <p:nvPr/>
        </p:nvSpPr>
        <p:spPr>
          <a:xfrm>
            <a:off x="8961120" y="4160519"/>
            <a:ext cx="2560320" cy="411480"/>
          </a:xfrm>
          <a:prstGeom prst="rect">
            <a:avLst/>
          </a:prstGeom>
          <a:noFill/>
        </p:spPr>
        <p:txBody>
          <a:bodyPr wrap="square" lIns="0" rIns="0" tIns="0" bIns="0" anchor="ctr">
            <a:spAutoFit/>
          </a:bodyPr>
          <a:lstStyle/>
          <a:p>
            <a:pPr algn="l"/>
            <a:r>
              <a:rPr sz="900" b="0" i="0">
                <a:solidFill>
                  <a:srgbClr val="1F2937"/>
                </a:solidFill>
                <a:latin typeface="Calibri"/>
              </a:rPr>
              <a:t>{{PEER_5_NOTE}}</a:t>
            </a:r>
          </a:p>
        </p:txBody>
      </p:sp>
      <p:sp>
        <p:nvSpPr>
          <p:cNvPr id="31" name="Rectangle 30"/>
          <p:cNvSpPr/>
          <p:nvPr/>
        </p:nvSpPr>
        <p:spPr>
          <a:xfrm>
            <a:off x="7589520" y="4617719"/>
            <a:ext cx="4023360" cy="50292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0" y="4663439"/>
            <a:ext cx="1097280" cy="411480"/>
          </a:xfrm>
          <a:prstGeom prst="rect">
            <a:avLst/>
          </a:prstGeom>
          <a:noFill/>
        </p:spPr>
        <p:txBody>
          <a:bodyPr wrap="square" lIns="0" rIns="0" tIns="0" bIns="0" anchor="ctr">
            <a:spAutoFit/>
          </a:bodyPr>
          <a:lstStyle/>
          <a:p>
            <a:pPr algn="ctr"/>
            <a:r>
              <a:rPr sz="1050" b="1" i="0">
                <a:solidFill>
                  <a:srgbClr val="003D7A"/>
                </a:solidFill>
                <a:latin typeface="Calibri"/>
              </a:rPr>
              <a:t>{{PEER_6_TICKER}}</a:t>
            </a:r>
          </a:p>
        </p:txBody>
      </p:sp>
      <p:sp>
        <p:nvSpPr>
          <p:cNvPr id="33" name="TextBox 32"/>
          <p:cNvSpPr txBox="1"/>
          <p:nvPr/>
        </p:nvSpPr>
        <p:spPr>
          <a:xfrm>
            <a:off x="8961120" y="4663439"/>
            <a:ext cx="2560320" cy="411480"/>
          </a:xfrm>
          <a:prstGeom prst="rect">
            <a:avLst/>
          </a:prstGeom>
          <a:noFill/>
        </p:spPr>
        <p:txBody>
          <a:bodyPr wrap="square" lIns="0" rIns="0" tIns="0" bIns="0" anchor="ctr">
            <a:spAutoFit/>
          </a:bodyPr>
          <a:lstStyle/>
          <a:p>
            <a:pPr algn="l"/>
            <a:r>
              <a:rPr sz="900" b="0" i="0">
                <a:solidFill>
                  <a:srgbClr val="1F2937"/>
                </a:solidFill>
                <a:latin typeface="Calibri"/>
              </a:rPr>
              <a:t>{{PEER_6_NOTE}}</a:t>
            </a:r>
          </a:p>
        </p:txBody>
      </p:sp>
      <p:sp>
        <p:nvSpPr>
          <p:cNvPr id="34" name="Rectangle 33"/>
          <p:cNvSpPr/>
          <p:nvPr/>
        </p:nvSpPr>
        <p:spPr>
          <a:xfrm>
            <a:off x="7589520" y="5303519"/>
            <a:ext cx="4114800" cy="59436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26680" y="5376671"/>
            <a:ext cx="3840480" cy="182880"/>
          </a:xfrm>
          <a:prstGeom prst="rect">
            <a:avLst/>
          </a:prstGeom>
          <a:noFill/>
        </p:spPr>
        <p:txBody>
          <a:bodyPr wrap="square" lIns="0" rIns="0" tIns="0" bIns="0" anchor="t">
            <a:spAutoFit/>
          </a:bodyPr>
          <a:lstStyle/>
          <a:p>
            <a:pPr algn="l"/>
            <a:r>
              <a:rPr sz="900" b="1" i="0">
                <a:solidFill>
                  <a:srgbClr val="003D7A"/>
                </a:solidFill>
                <a:latin typeface="Calibri"/>
              </a:rPr>
              <a:t>ĐÁNH GIÁ ĐỊNH VỊ</a:t>
            </a:r>
          </a:p>
        </p:txBody>
      </p:sp>
      <p:sp>
        <p:nvSpPr>
          <p:cNvPr id="36" name="TextBox 35"/>
          <p:cNvSpPr txBox="1"/>
          <p:nvPr/>
        </p:nvSpPr>
        <p:spPr>
          <a:xfrm>
            <a:off x="7726680" y="5577839"/>
            <a:ext cx="3840480" cy="274320"/>
          </a:xfrm>
          <a:prstGeom prst="rect">
            <a:avLst/>
          </a:prstGeom>
          <a:noFill/>
        </p:spPr>
        <p:txBody>
          <a:bodyPr wrap="square" lIns="0" rIns="0" tIns="0" bIns="0" anchor="t">
            <a:spAutoFit/>
          </a:bodyPr>
          <a:lstStyle/>
          <a:p>
            <a:pPr algn="l"/>
            <a:r>
              <a:rPr sz="1050" b="0" i="1">
                <a:solidFill>
                  <a:srgbClr val="1F2937"/>
                </a:solidFill>
                <a:latin typeface="Calibri"/>
              </a:rPr>
              <a:t>{{PEER_VERDICT}}</a:t>
            </a:r>
          </a:p>
        </p:txBody>
      </p:sp>
      <p:sp>
        <p:nvSpPr>
          <p:cNvPr id="37" name="TextBox 36"/>
          <p:cNvSpPr txBox="1"/>
          <p:nvPr/>
        </p:nvSpPr>
        <p:spPr>
          <a:xfrm>
            <a:off x="457200" y="6537960"/>
            <a:ext cx="9144000" cy="274320"/>
          </a:xfrm>
          <a:prstGeom prst="rect">
            <a:avLst/>
          </a:prstGeom>
          <a:noFill/>
        </p:spPr>
        <p:txBody>
          <a:bodyPr wrap="square" lIns="0" rIns="0" tIns="0" bIns="0" anchor="t">
            <a:spAutoFit/>
          </a:bodyPr>
          <a:lstStyle/>
          <a:p>
            <a:pPr algn="l"/>
            <a:r>
              <a:rPr sz="900" b="0" i="0">
                <a:solidFill>
                  <a:srgbClr val="9CA3AF"/>
                </a:solidFill>
                <a:latin typeface="Calibri"/>
              </a:rPr>
              <a:t>{{FOOTER_LEFT}}</a:t>
            </a:r>
          </a:p>
        </p:txBody>
      </p:sp>
      <p:sp>
        <p:nvSpPr>
          <p:cNvPr id="38" name="TextBox 37"/>
          <p:cNvSpPr txBox="1"/>
          <p:nvPr/>
        </p:nvSpPr>
        <p:spPr>
          <a:xfrm>
            <a:off x="11247120" y="6537960"/>
            <a:ext cx="457200" cy="274320"/>
          </a:xfrm>
          <a:prstGeom prst="rect">
            <a:avLst/>
          </a:prstGeom>
          <a:noFill/>
        </p:spPr>
        <p:txBody>
          <a:bodyPr wrap="square" lIns="0" rIns="0" tIns="0" bIns="0" anchor="t">
            <a:spAutoFit/>
          </a:bodyPr>
          <a:lstStyle/>
          <a:p>
            <a:pPr algn="r"/>
            <a:r>
              <a:rPr sz="900" b="1" i="0">
                <a:solidFill>
                  <a:srgbClr val="003D7A"/>
                </a:solidFill>
                <a:latin typeface="Calibri"/>
              </a:rPr>
              <a:t>{{PAGE_NUM}}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name="DONUT_COMPOSITION">
    <p:spTree>
      <p:nvGrpSpPr>
        <p:cNvPr id="1" name=""/>
        <p:cNvGrpSpPr/>
        <p:nvPr/>
      </p:nvGrpSpPr>
      <p:grpSpPr/>
      <p:sp>
        <p:nvSpPr>
          <p:cNvPr id="2" name="Rectangle 1"/>
          <p:cNvSpPr/>
          <p:nvPr/>
        </p:nvSpPr>
        <p:spPr>
          <a:xfrm>
            <a:off x="457200" y="411480"/>
            <a:ext cx="73152" cy="640080"/>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1064240" cy="502920"/>
          </a:xfrm>
          <a:prstGeom prst="rect">
            <a:avLst/>
          </a:prstGeom>
          <a:noFill/>
        </p:spPr>
        <p:txBody>
          <a:bodyPr wrap="square" lIns="0" rIns="0" tIns="0" bIns="0" anchor="ctr">
            <a:spAutoFit/>
          </a:bodyPr>
          <a:lstStyle/>
          <a:p>
            <a:pPr algn="l"/>
            <a:r>
              <a:rPr sz="2600" b="1" i="0">
                <a:solidFill>
                  <a:srgbClr val="003D7A"/>
                </a:solidFill>
                <a:latin typeface="Calibri"/>
              </a:rPr>
              <a:t>{{SECTION_TITLE}}</a:t>
            </a:r>
          </a:p>
        </p:txBody>
      </p:sp>
      <p:sp>
        <p:nvSpPr>
          <p:cNvPr id="4" name="TextBox 3"/>
          <p:cNvSpPr txBox="1"/>
          <p:nvPr/>
        </p:nvSpPr>
        <p:spPr>
          <a:xfrm>
            <a:off x="640080" y="868680"/>
            <a:ext cx="11064240" cy="274320"/>
          </a:xfrm>
          <a:prstGeom prst="rect">
            <a:avLst/>
          </a:prstGeom>
          <a:noFill/>
        </p:spPr>
        <p:txBody>
          <a:bodyPr wrap="square" lIns="0" rIns="0" tIns="0" bIns="0" anchor="t">
            <a:spAutoFit/>
          </a:bodyPr>
          <a:lstStyle/>
          <a:p>
            <a:pPr algn="l"/>
            <a:r>
              <a:rPr sz="1200" b="0" i="1">
                <a:solidFill>
                  <a:srgbClr val="4A5568"/>
                </a:solidFill>
                <a:latin typeface="Calibri"/>
              </a:rPr>
              <a:t>{{SECTION_SUB}}</a:t>
            </a:r>
          </a:p>
        </p:txBody>
      </p:sp>
      <p:sp>
        <p:nvSpPr>
          <p:cNvPr id="5" name="Rectangle 4"/>
          <p:cNvSpPr/>
          <p:nvPr/>
        </p:nvSpPr>
        <p:spPr>
          <a:xfrm>
            <a:off x="457200" y="1371600"/>
            <a:ext cx="5486400" cy="438912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71600"/>
            <a:ext cx="5486400" cy="45720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63040"/>
            <a:ext cx="5120640" cy="274320"/>
          </a:xfrm>
          <a:prstGeom prst="rect">
            <a:avLst/>
          </a:prstGeom>
          <a:noFill/>
        </p:spPr>
        <p:txBody>
          <a:bodyPr wrap="square" lIns="0" rIns="0" tIns="0" bIns="0" anchor="t">
            <a:spAutoFit/>
          </a:bodyPr>
          <a:lstStyle/>
          <a:p>
            <a:pPr algn="l"/>
            <a:r>
              <a:rPr sz="1300" b="1" i="0">
                <a:solidFill>
                  <a:srgbClr val="FFFFFF"/>
                </a:solidFill>
                <a:latin typeface="Calibri"/>
              </a:rPr>
              <a:t>{{DONUT_1_TITLE}}</a:t>
            </a:r>
          </a:p>
        </p:txBody>
      </p:sp>
      <p:sp>
        <p:nvSpPr>
          <p:cNvPr id="8" name="Rectangle 7"/>
          <p:cNvSpPr/>
          <p:nvPr/>
        </p:nvSpPr>
        <p:spPr>
          <a:xfrm>
            <a:off x="731520" y="2011680"/>
            <a:ext cx="2011680" cy="338327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337560"/>
            <a:ext cx="2011680" cy="365760"/>
          </a:xfrm>
          <a:prstGeom prst="rect">
            <a:avLst/>
          </a:prstGeom>
          <a:noFill/>
        </p:spPr>
        <p:txBody>
          <a:bodyPr wrap="square" lIns="0" rIns="0" tIns="0" bIns="0" anchor="ctr">
            <a:spAutoFit/>
          </a:bodyPr>
          <a:lstStyle/>
          <a:p>
            <a:pPr algn="ctr"/>
            <a:r>
              <a:rPr sz="1400" b="1" i="0">
                <a:solidFill>
                  <a:srgbClr val="9CA3AF"/>
                </a:solidFill>
                <a:latin typeface="Calibri"/>
              </a:rPr>
              <a:t>{{DONUT_1_PLACEHOLDER}}</a:t>
            </a:r>
          </a:p>
        </p:txBody>
      </p:sp>
      <p:sp>
        <p:nvSpPr>
          <p:cNvPr id="10" name="TextBox 9"/>
          <p:cNvSpPr txBox="1"/>
          <p:nvPr/>
        </p:nvSpPr>
        <p:spPr>
          <a:xfrm>
            <a:off x="731520" y="3749039"/>
            <a:ext cx="2011680" cy="274320"/>
          </a:xfrm>
          <a:prstGeom prst="rect">
            <a:avLst/>
          </a:prstGeom>
          <a:noFill/>
        </p:spPr>
        <p:txBody>
          <a:bodyPr wrap="square" lIns="0" rIns="0" tIns="0" bIns="0" anchor="t">
            <a:spAutoFit/>
          </a:bodyPr>
          <a:lstStyle/>
          <a:p>
            <a:pPr algn="ctr"/>
            <a:r>
              <a:rPr sz="1050" b="0" i="1">
                <a:solidFill>
                  <a:srgbClr val="9CA3AF"/>
                </a:solidFill>
                <a:latin typeface="Calibri"/>
              </a:rPr>
              <a:t>(type: pie/donut)</a:t>
            </a:r>
          </a:p>
        </p:txBody>
      </p:sp>
      <p:sp>
        <p:nvSpPr>
          <p:cNvPr id="11" name="TextBox 10"/>
          <p:cNvSpPr txBox="1"/>
          <p:nvPr/>
        </p:nvSpPr>
        <p:spPr>
          <a:xfrm>
            <a:off x="731520" y="4023359"/>
            <a:ext cx="2011680" cy="274320"/>
          </a:xfrm>
          <a:prstGeom prst="rect">
            <a:avLst/>
          </a:prstGeom>
          <a:noFill/>
        </p:spPr>
        <p:txBody>
          <a:bodyPr wrap="square" lIns="0" rIns="0" tIns="0" bIns="0" anchor="t">
            <a:spAutoFit/>
          </a:bodyPr>
          <a:lstStyle/>
          <a:p>
            <a:pPr algn="ctr"/>
            <a:r>
              <a:rPr sz="900" b="0" i="1">
                <a:solidFill>
                  <a:srgbClr val="9CA3AF"/>
                </a:solidFill>
                <a:latin typeface="Calibri"/>
              </a:rPr>
              <a:t>(AI ghép từ MD)</a:t>
            </a:r>
          </a:p>
        </p:txBody>
      </p:sp>
      <p:sp>
        <p:nvSpPr>
          <p:cNvPr id="12" name="Rectangle 11"/>
          <p:cNvSpPr/>
          <p:nvPr/>
        </p:nvSpPr>
        <p:spPr>
          <a:xfrm>
            <a:off x="2926080" y="2103120"/>
            <a:ext cx="164592" cy="164592"/>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0" y="2011680"/>
            <a:ext cx="1398117" cy="228600"/>
          </a:xfrm>
          <a:prstGeom prst="rect">
            <a:avLst/>
          </a:prstGeom>
          <a:noFill/>
        </p:spPr>
        <p:txBody>
          <a:bodyPr wrap="square" lIns="0" rIns="0" tIns="0" bIns="0" anchor="t">
            <a:spAutoFit/>
          </a:bodyPr>
          <a:lstStyle/>
          <a:p>
            <a:pPr algn="l"/>
            <a:r>
              <a:rPr sz="900" b="1" i="0">
                <a:solidFill>
                  <a:srgbClr val="1F2937"/>
                </a:solidFill>
                <a:latin typeface="Calibri"/>
              </a:rPr>
              <a:t>{{DONUT_1_SLICE_1_LABEL}}</a:t>
            </a:r>
          </a:p>
        </p:txBody>
      </p:sp>
      <p:sp>
        <p:nvSpPr>
          <p:cNvPr id="14" name="TextBox 13"/>
          <p:cNvSpPr txBox="1"/>
          <p:nvPr/>
        </p:nvSpPr>
        <p:spPr>
          <a:xfrm>
            <a:off x="3200400" y="2258568"/>
            <a:ext cx="1398117" cy="201168"/>
          </a:xfrm>
          <a:prstGeom prst="rect">
            <a:avLst/>
          </a:prstGeom>
          <a:noFill/>
        </p:spPr>
        <p:txBody>
          <a:bodyPr wrap="square" lIns="0" rIns="0" tIns="0" bIns="0" anchor="t">
            <a:spAutoFit/>
          </a:bodyPr>
          <a:lstStyle/>
          <a:p>
            <a:pPr algn="l"/>
            <a:r>
              <a:rPr sz="800" b="0" i="1">
                <a:solidFill>
                  <a:srgbClr val="4A5568"/>
                </a:solidFill>
                <a:latin typeface="Calibri"/>
              </a:rPr>
              <a:t>{{DONUT_1_SLICE_1_NOTE}}</a:t>
            </a:r>
          </a:p>
        </p:txBody>
      </p:sp>
      <p:sp>
        <p:nvSpPr>
          <p:cNvPr id="15" name="TextBox 14"/>
          <p:cNvSpPr txBox="1"/>
          <p:nvPr/>
        </p:nvSpPr>
        <p:spPr>
          <a:xfrm>
            <a:off x="4598517" y="2057400"/>
            <a:ext cx="1025042" cy="274320"/>
          </a:xfrm>
          <a:prstGeom prst="rect">
            <a:avLst/>
          </a:prstGeom>
          <a:noFill/>
        </p:spPr>
        <p:txBody>
          <a:bodyPr wrap="square" lIns="0" rIns="0" tIns="0" bIns="0" anchor="t">
            <a:spAutoFit/>
          </a:bodyPr>
          <a:lstStyle/>
          <a:p>
            <a:pPr algn="r"/>
            <a:r>
              <a:rPr sz="1300" b="1" i="0">
                <a:solidFill>
                  <a:srgbClr val="003D7A"/>
                </a:solidFill>
                <a:latin typeface="Calibri"/>
              </a:rPr>
              <a:t>{{DONUT_1_SLICE_1_PCT}}</a:t>
            </a:r>
          </a:p>
        </p:txBody>
      </p:sp>
      <p:sp>
        <p:nvSpPr>
          <p:cNvPr id="16" name="Rectangle 15"/>
          <p:cNvSpPr/>
          <p:nvPr/>
        </p:nvSpPr>
        <p:spPr>
          <a:xfrm>
            <a:off x="2926080" y="2606040"/>
            <a:ext cx="164592" cy="164592"/>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0" y="2514600"/>
            <a:ext cx="1398117" cy="228600"/>
          </a:xfrm>
          <a:prstGeom prst="rect">
            <a:avLst/>
          </a:prstGeom>
          <a:noFill/>
        </p:spPr>
        <p:txBody>
          <a:bodyPr wrap="square" lIns="0" rIns="0" tIns="0" bIns="0" anchor="t">
            <a:spAutoFit/>
          </a:bodyPr>
          <a:lstStyle/>
          <a:p>
            <a:pPr algn="l"/>
            <a:r>
              <a:rPr sz="900" b="1" i="0">
                <a:solidFill>
                  <a:srgbClr val="1F2937"/>
                </a:solidFill>
                <a:latin typeface="Calibri"/>
              </a:rPr>
              <a:t>{{DONUT_1_SLICE_2_LABEL}}</a:t>
            </a:r>
          </a:p>
        </p:txBody>
      </p:sp>
      <p:sp>
        <p:nvSpPr>
          <p:cNvPr id="18" name="TextBox 17"/>
          <p:cNvSpPr txBox="1"/>
          <p:nvPr/>
        </p:nvSpPr>
        <p:spPr>
          <a:xfrm>
            <a:off x="3200400" y="2761488"/>
            <a:ext cx="1398117" cy="201168"/>
          </a:xfrm>
          <a:prstGeom prst="rect">
            <a:avLst/>
          </a:prstGeom>
          <a:noFill/>
        </p:spPr>
        <p:txBody>
          <a:bodyPr wrap="square" lIns="0" rIns="0" tIns="0" bIns="0" anchor="t">
            <a:spAutoFit/>
          </a:bodyPr>
          <a:lstStyle/>
          <a:p>
            <a:pPr algn="l"/>
            <a:r>
              <a:rPr sz="800" b="0" i="1">
                <a:solidFill>
                  <a:srgbClr val="4A5568"/>
                </a:solidFill>
                <a:latin typeface="Calibri"/>
              </a:rPr>
              <a:t>{{DONUT_1_SLICE_2_NOTE}}</a:t>
            </a:r>
          </a:p>
        </p:txBody>
      </p:sp>
      <p:sp>
        <p:nvSpPr>
          <p:cNvPr id="19" name="TextBox 18"/>
          <p:cNvSpPr txBox="1"/>
          <p:nvPr/>
        </p:nvSpPr>
        <p:spPr>
          <a:xfrm>
            <a:off x="4598517" y="2560320"/>
            <a:ext cx="1025042" cy="274320"/>
          </a:xfrm>
          <a:prstGeom prst="rect">
            <a:avLst/>
          </a:prstGeom>
          <a:noFill/>
        </p:spPr>
        <p:txBody>
          <a:bodyPr wrap="square" lIns="0" rIns="0" tIns="0" bIns="0" anchor="t">
            <a:spAutoFit/>
          </a:bodyPr>
          <a:lstStyle/>
          <a:p>
            <a:pPr algn="r"/>
            <a:r>
              <a:rPr sz="1300" b="1" i="0">
                <a:solidFill>
                  <a:srgbClr val="003D7A"/>
                </a:solidFill>
                <a:latin typeface="Calibri"/>
              </a:rPr>
              <a:t>{{DONUT_1_SLICE_2_PCT}}</a:t>
            </a:r>
          </a:p>
        </p:txBody>
      </p:sp>
      <p:sp>
        <p:nvSpPr>
          <p:cNvPr id="20" name="Rectangle 19"/>
          <p:cNvSpPr/>
          <p:nvPr/>
        </p:nvSpPr>
        <p:spPr>
          <a:xfrm>
            <a:off x="2926080" y="3108960"/>
            <a:ext cx="164592" cy="164592"/>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00400" y="3017520"/>
            <a:ext cx="1398117" cy="228600"/>
          </a:xfrm>
          <a:prstGeom prst="rect">
            <a:avLst/>
          </a:prstGeom>
          <a:noFill/>
        </p:spPr>
        <p:txBody>
          <a:bodyPr wrap="square" lIns="0" rIns="0" tIns="0" bIns="0" anchor="t">
            <a:spAutoFit/>
          </a:bodyPr>
          <a:lstStyle/>
          <a:p>
            <a:pPr algn="l"/>
            <a:r>
              <a:rPr sz="900" b="1" i="0">
                <a:solidFill>
                  <a:srgbClr val="1F2937"/>
                </a:solidFill>
                <a:latin typeface="Calibri"/>
              </a:rPr>
              <a:t>{{DONUT_1_SLICE_3_LABEL}}</a:t>
            </a:r>
          </a:p>
        </p:txBody>
      </p:sp>
      <p:sp>
        <p:nvSpPr>
          <p:cNvPr id="22" name="TextBox 21"/>
          <p:cNvSpPr txBox="1"/>
          <p:nvPr/>
        </p:nvSpPr>
        <p:spPr>
          <a:xfrm>
            <a:off x="3200400" y="3264408"/>
            <a:ext cx="1398117" cy="201168"/>
          </a:xfrm>
          <a:prstGeom prst="rect">
            <a:avLst/>
          </a:prstGeom>
          <a:noFill/>
        </p:spPr>
        <p:txBody>
          <a:bodyPr wrap="square" lIns="0" rIns="0" tIns="0" bIns="0" anchor="t">
            <a:spAutoFit/>
          </a:bodyPr>
          <a:lstStyle/>
          <a:p>
            <a:pPr algn="l"/>
            <a:r>
              <a:rPr sz="800" b="0" i="1">
                <a:solidFill>
                  <a:srgbClr val="4A5568"/>
                </a:solidFill>
                <a:latin typeface="Calibri"/>
              </a:rPr>
              <a:t>{{DONUT_1_SLICE_3_NOTE}}</a:t>
            </a:r>
          </a:p>
        </p:txBody>
      </p:sp>
      <p:sp>
        <p:nvSpPr>
          <p:cNvPr id="23" name="TextBox 22"/>
          <p:cNvSpPr txBox="1"/>
          <p:nvPr/>
        </p:nvSpPr>
        <p:spPr>
          <a:xfrm>
            <a:off x="4598517" y="3063240"/>
            <a:ext cx="1025042" cy="274320"/>
          </a:xfrm>
          <a:prstGeom prst="rect">
            <a:avLst/>
          </a:prstGeom>
          <a:noFill/>
        </p:spPr>
        <p:txBody>
          <a:bodyPr wrap="square" lIns="0" rIns="0" tIns="0" bIns="0" anchor="t">
            <a:spAutoFit/>
          </a:bodyPr>
          <a:lstStyle/>
          <a:p>
            <a:pPr algn="r"/>
            <a:r>
              <a:rPr sz="1300" b="1" i="0">
                <a:solidFill>
                  <a:srgbClr val="003D7A"/>
                </a:solidFill>
                <a:latin typeface="Calibri"/>
              </a:rPr>
              <a:t>{{DONUT_1_SLICE_3_PCT}}</a:t>
            </a:r>
          </a:p>
        </p:txBody>
      </p:sp>
      <p:sp>
        <p:nvSpPr>
          <p:cNvPr id="24" name="Rectangle 23"/>
          <p:cNvSpPr/>
          <p:nvPr/>
        </p:nvSpPr>
        <p:spPr>
          <a:xfrm>
            <a:off x="2926080" y="3611880"/>
            <a:ext cx="164592" cy="164592"/>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00400" y="3520440"/>
            <a:ext cx="1398117" cy="228600"/>
          </a:xfrm>
          <a:prstGeom prst="rect">
            <a:avLst/>
          </a:prstGeom>
          <a:noFill/>
        </p:spPr>
        <p:txBody>
          <a:bodyPr wrap="square" lIns="0" rIns="0" tIns="0" bIns="0" anchor="t">
            <a:spAutoFit/>
          </a:bodyPr>
          <a:lstStyle/>
          <a:p>
            <a:pPr algn="l"/>
            <a:r>
              <a:rPr sz="900" b="1" i="0">
                <a:solidFill>
                  <a:srgbClr val="1F2937"/>
                </a:solidFill>
                <a:latin typeface="Calibri"/>
              </a:rPr>
              <a:t>{{DONUT_1_SLICE_4_LABEL}}</a:t>
            </a:r>
          </a:p>
        </p:txBody>
      </p:sp>
      <p:sp>
        <p:nvSpPr>
          <p:cNvPr id="26" name="TextBox 25"/>
          <p:cNvSpPr txBox="1"/>
          <p:nvPr/>
        </p:nvSpPr>
        <p:spPr>
          <a:xfrm>
            <a:off x="3200400" y="3767328"/>
            <a:ext cx="1398117" cy="201168"/>
          </a:xfrm>
          <a:prstGeom prst="rect">
            <a:avLst/>
          </a:prstGeom>
          <a:noFill/>
        </p:spPr>
        <p:txBody>
          <a:bodyPr wrap="square" lIns="0" rIns="0" tIns="0" bIns="0" anchor="t">
            <a:spAutoFit/>
          </a:bodyPr>
          <a:lstStyle/>
          <a:p>
            <a:pPr algn="l"/>
            <a:r>
              <a:rPr sz="800" b="0" i="1">
                <a:solidFill>
                  <a:srgbClr val="4A5568"/>
                </a:solidFill>
                <a:latin typeface="Calibri"/>
              </a:rPr>
              <a:t>{{DONUT_1_SLICE_4_NOTE}}</a:t>
            </a:r>
          </a:p>
        </p:txBody>
      </p:sp>
      <p:sp>
        <p:nvSpPr>
          <p:cNvPr id="27" name="TextBox 26"/>
          <p:cNvSpPr txBox="1"/>
          <p:nvPr/>
        </p:nvSpPr>
        <p:spPr>
          <a:xfrm>
            <a:off x="4598517" y="3566160"/>
            <a:ext cx="1025042" cy="274320"/>
          </a:xfrm>
          <a:prstGeom prst="rect">
            <a:avLst/>
          </a:prstGeom>
          <a:noFill/>
        </p:spPr>
        <p:txBody>
          <a:bodyPr wrap="square" lIns="0" rIns="0" tIns="0" bIns="0" anchor="t">
            <a:spAutoFit/>
          </a:bodyPr>
          <a:lstStyle/>
          <a:p>
            <a:pPr algn="r"/>
            <a:r>
              <a:rPr sz="1300" b="1" i="0">
                <a:solidFill>
                  <a:srgbClr val="003D7A"/>
                </a:solidFill>
                <a:latin typeface="Calibri"/>
              </a:rPr>
              <a:t>{{DONUT_1_SLICE_4_PCT}}</a:t>
            </a:r>
          </a:p>
        </p:txBody>
      </p:sp>
      <p:sp>
        <p:nvSpPr>
          <p:cNvPr id="28" name="Rectangle 27"/>
          <p:cNvSpPr/>
          <p:nvPr/>
        </p:nvSpPr>
        <p:spPr>
          <a:xfrm>
            <a:off x="2926080" y="4114800"/>
            <a:ext cx="164592" cy="164592"/>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00400" y="4023360"/>
            <a:ext cx="1398117" cy="228600"/>
          </a:xfrm>
          <a:prstGeom prst="rect">
            <a:avLst/>
          </a:prstGeom>
          <a:noFill/>
        </p:spPr>
        <p:txBody>
          <a:bodyPr wrap="square" lIns="0" rIns="0" tIns="0" bIns="0" anchor="t">
            <a:spAutoFit/>
          </a:bodyPr>
          <a:lstStyle/>
          <a:p>
            <a:pPr algn="l"/>
            <a:r>
              <a:rPr sz="900" b="1" i="0">
                <a:solidFill>
                  <a:srgbClr val="1F2937"/>
                </a:solidFill>
                <a:latin typeface="Calibri"/>
              </a:rPr>
              <a:t>{{DONUT_1_SLICE_5_LABEL}}</a:t>
            </a:r>
          </a:p>
        </p:txBody>
      </p:sp>
      <p:sp>
        <p:nvSpPr>
          <p:cNvPr id="30" name="TextBox 29"/>
          <p:cNvSpPr txBox="1"/>
          <p:nvPr/>
        </p:nvSpPr>
        <p:spPr>
          <a:xfrm>
            <a:off x="3200400" y="4270248"/>
            <a:ext cx="1398117" cy="201168"/>
          </a:xfrm>
          <a:prstGeom prst="rect">
            <a:avLst/>
          </a:prstGeom>
          <a:noFill/>
        </p:spPr>
        <p:txBody>
          <a:bodyPr wrap="square" lIns="0" rIns="0" tIns="0" bIns="0" anchor="t">
            <a:spAutoFit/>
          </a:bodyPr>
          <a:lstStyle/>
          <a:p>
            <a:pPr algn="l"/>
            <a:r>
              <a:rPr sz="800" b="0" i="1">
                <a:solidFill>
                  <a:srgbClr val="4A5568"/>
                </a:solidFill>
                <a:latin typeface="Calibri"/>
              </a:rPr>
              <a:t>{{DONUT_1_SLICE_5_NOTE}}</a:t>
            </a:r>
          </a:p>
        </p:txBody>
      </p:sp>
      <p:sp>
        <p:nvSpPr>
          <p:cNvPr id="31" name="TextBox 30"/>
          <p:cNvSpPr txBox="1"/>
          <p:nvPr/>
        </p:nvSpPr>
        <p:spPr>
          <a:xfrm>
            <a:off x="4598517" y="4069080"/>
            <a:ext cx="1025042" cy="274320"/>
          </a:xfrm>
          <a:prstGeom prst="rect">
            <a:avLst/>
          </a:prstGeom>
          <a:noFill/>
        </p:spPr>
        <p:txBody>
          <a:bodyPr wrap="square" lIns="0" rIns="0" tIns="0" bIns="0" anchor="t">
            <a:spAutoFit/>
          </a:bodyPr>
          <a:lstStyle/>
          <a:p>
            <a:pPr algn="r"/>
            <a:r>
              <a:rPr sz="1300" b="1" i="0">
                <a:solidFill>
                  <a:srgbClr val="003D7A"/>
                </a:solidFill>
                <a:latin typeface="Calibri"/>
              </a:rPr>
              <a:t>{{DONUT_1_SLICE_5_PCT}}</a:t>
            </a:r>
          </a:p>
        </p:txBody>
      </p:sp>
      <p:sp>
        <p:nvSpPr>
          <p:cNvPr id="32" name="TextBox 31"/>
          <p:cNvSpPr txBox="1"/>
          <p:nvPr/>
        </p:nvSpPr>
        <p:spPr>
          <a:xfrm>
            <a:off x="731520" y="5486400"/>
            <a:ext cx="4937760" cy="228600"/>
          </a:xfrm>
          <a:prstGeom prst="rect">
            <a:avLst/>
          </a:prstGeom>
          <a:noFill/>
        </p:spPr>
        <p:txBody>
          <a:bodyPr wrap="square" lIns="0" rIns="0" tIns="0" bIns="0" anchor="t">
            <a:spAutoFit/>
          </a:bodyPr>
          <a:lstStyle/>
          <a:p>
            <a:pPr algn="l"/>
            <a:r>
              <a:rPr sz="900" b="0" i="1">
                <a:solidFill>
                  <a:srgbClr val="9CA3AF"/>
                </a:solidFill>
                <a:latin typeface="Calibri"/>
              </a:rPr>
              <a:t>{{DONUT_1_SOURCE}}</a:t>
            </a:r>
          </a:p>
        </p:txBody>
      </p:sp>
      <p:sp>
        <p:nvSpPr>
          <p:cNvPr id="33" name="Rectangle 32"/>
          <p:cNvSpPr/>
          <p:nvPr/>
        </p:nvSpPr>
        <p:spPr>
          <a:xfrm>
            <a:off x="6217920" y="1371600"/>
            <a:ext cx="5486400" cy="438912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17920" y="1371600"/>
            <a:ext cx="5486400" cy="45720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1463040"/>
            <a:ext cx="5120640" cy="274320"/>
          </a:xfrm>
          <a:prstGeom prst="rect">
            <a:avLst/>
          </a:prstGeom>
          <a:noFill/>
        </p:spPr>
        <p:txBody>
          <a:bodyPr wrap="square" lIns="0" rIns="0" tIns="0" bIns="0" anchor="t">
            <a:spAutoFit/>
          </a:bodyPr>
          <a:lstStyle/>
          <a:p>
            <a:pPr algn="l"/>
            <a:r>
              <a:rPr sz="1300" b="1" i="0">
                <a:solidFill>
                  <a:srgbClr val="FFFFFF"/>
                </a:solidFill>
                <a:latin typeface="Calibri"/>
              </a:rPr>
              <a:t>{{DONUT_2_TITLE}}</a:t>
            </a:r>
          </a:p>
        </p:txBody>
      </p:sp>
      <p:sp>
        <p:nvSpPr>
          <p:cNvPr id="36" name="Rectangle 35"/>
          <p:cNvSpPr/>
          <p:nvPr/>
        </p:nvSpPr>
        <p:spPr>
          <a:xfrm>
            <a:off x="6492240" y="2011680"/>
            <a:ext cx="2011680" cy="338327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92240" y="3337560"/>
            <a:ext cx="2011680" cy="365760"/>
          </a:xfrm>
          <a:prstGeom prst="rect">
            <a:avLst/>
          </a:prstGeom>
          <a:noFill/>
        </p:spPr>
        <p:txBody>
          <a:bodyPr wrap="square" lIns="0" rIns="0" tIns="0" bIns="0" anchor="ctr">
            <a:spAutoFit/>
          </a:bodyPr>
          <a:lstStyle/>
          <a:p>
            <a:pPr algn="ctr"/>
            <a:r>
              <a:rPr sz="1400" b="1" i="0">
                <a:solidFill>
                  <a:srgbClr val="9CA3AF"/>
                </a:solidFill>
                <a:latin typeface="Calibri"/>
              </a:rPr>
              <a:t>{{DONUT_2_PLACEHOLDER}}</a:t>
            </a:r>
          </a:p>
        </p:txBody>
      </p:sp>
      <p:sp>
        <p:nvSpPr>
          <p:cNvPr id="38" name="TextBox 37"/>
          <p:cNvSpPr txBox="1"/>
          <p:nvPr/>
        </p:nvSpPr>
        <p:spPr>
          <a:xfrm>
            <a:off x="6492240" y="3749039"/>
            <a:ext cx="2011680" cy="274320"/>
          </a:xfrm>
          <a:prstGeom prst="rect">
            <a:avLst/>
          </a:prstGeom>
          <a:noFill/>
        </p:spPr>
        <p:txBody>
          <a:bodyPr wrap="square" lIns="0" rIns="0" tIns="0" bIns="0" anchor="t">
            <a:spAutoFit/>
          </a:bodyPr>
          <a:lstStyle/>
          <a:p>
            <a:pPr algn="ctr"/>
            <a:r>
              <a:rPr sz="1050" b="0" i="1">
                <a:solidFill>
                  <a:srgbClr val="9CA3AF"/>
                </a:solidFill>
                <a:latin typeface="Calibri"/>
              </a:rPr>
              <a:t>(type: pie/donut)</a:t>
            </a:r>
          </a:p>
        </p:txBody>
      </p:sp>
      <p:sp>
        <p:nvSpPr>
          <p:cNvPr id="39" name="TextBox 38"/>
          <p:cNvSpPr txBox="1"/>
          <p:nvPr/>
        </p:nvSpPr>
        <p:spPr>
          <a:xfrm>
            <a:off x="6492240" y="4023359"/>
            <a:ext cx="2011680" cy="274320"/>
          </a:xfrm>
          <a:prstGeom prst="rect">
            <a:avLst/>
          </a:prstGeom>
          <a:noFill/>
        </p:spPr>
        <p:txBody>
          <a:bodyPr wrap="square" lIns="0" rIns="0" tIns="0" bIns="0" anchor="t">
            <a:spAutoFit/>
          </a:bodyPr>
          <a:lstStyle/>
          <a:p>
            <a:pPr algn="ctr"/>
            <a:r>
              <a:rPr sz="900" b="0" i="1">
                <a:solidFill>
                  <a:srgbClr val="9CA3AF"/>
                </a:solidFill>
                <a:latin typeface="Calibri"/>
              </a:rPr>
              <a:t>(AI ghép từ MD)</a:t>
            </a:r>
          </a:p>
        </p:txBody>
      </p:sp>
      <p:sp>
        <p:nvSpPr>
          <p:cNvPr id="40" name="Rectangle 39"/>
          <p:cNvSpPr/>
          <p:nvPr/>
        </p:nvSpPr>
        <p:spPr>
          <a:xfrm>
            <a:off x="8686800" y="2103120"/>
            <a:ext cx="164592" cy="164592"/>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961120" y="2011680"/>
            <a:ext cx="1398117" cy="228600"/>
          </a:xfrm>
          <a:prstGeom prst="rect">
            <a:avLst/>
          </a:prstGeom>
          <a:noFill/>
        </p:spPr>
        <p:txBody>
          <a:bodyPr wrap="square" lIns="0" rIns="0" tIns="0" bIns="0" anchor="t">
            <a:spAutoFit/>
          </a:bodyPr>
          <a:lstStyle/>
          <a:p>
            <a:pPr algn="l"/>
            <a:r>
              <a:rPr sz="900" b="1" i="0">
                <a:solidFill>
                  <a:srgbClr val="1F2937"/>
                </a:solidFill>
                <a:latin typeface="Calibri"/>
              </a:rPr>
              <a:t>{{DONUT_2_SLICE_1_LABEL}}</a:t>
            </a:r>
          </a:p>
        </p:txBody>
      </p:sp>
      <p:sp>
        <p:nvSpPr>
          <p:cNvPr id="42" name="TextBox 41"/>
          <p:cNvSpPr txBox="1"/>
          <p:nvPr/>
        </p:nvSpPr>
        <p:spPr>
          <a:xfrm>
            <a:off x="8961120" y="2258568"/>
            <a:ext cx="1398117" cy="201168"/>
          </a:xfrm>
          <a:prstGeom prst="rect">
            <a:avLst/>
          </a:prstGeom>
          <a:noFill/>
        </p:spPr>
        <p:txBody>
          <a:bodyPr wrap="square" lIns="0" rIns="0" tIns="0" bIns="0" anchor="t">
            <a:spAutoFit/>
          </a:bodyPr>
          <a:lstStyle/>
          <a:p>
            <a:pPr algn="l"/>
            <a:r>
              <a:rPr sz="800" b="0" i="1">
                <a:solidFill>
                  <a:srgbClr val="4A5568"/>
                </a:solidFill>
                <a:latin typeface="Calibri"/>
              </a:rPr>
              <a:t>{{DONUT_2_SLICE_1_NOTE}}</a:t>
            </a:r>
          </a:p>
        </p:txBody>
      </p:sp>
      <p:sp>
        <p:nvSpPr>
          <p:cNvPr id="43" name="TextBox 42"/>
          <p:cNvSpPr txBox="1"/>
          <p:nvPr/>
        </p:nvSpPr>
        <p:spPr>
          <a:xfrm>
            <a:off x="10359237" y="2057400"/>
            <a:ext cx="1025042" cy="274320"/>
          </a:xfrm>
          <a:prstGeom prst="rect">
            <a:avLst/>
          </a:prstGeom>
          <a:noFill/>
        </p:spPr>
        <p:txBody>
          <a:bodyPr wrap="square" lIns="0" rIns="0" tIns="0" bIns="0" anchor="t">
            <a:spAutoFit/>
          </a:bodyPr>
          <a:lstStyle/>
          <a:p>
            <a:pPr algn="r"/>
            <a:r>
              <a:rPr sz="1300" b="1" i="0">
                <a:solidFill>
                  <a:srgbClr val="003D7A"/>
                </a:solidFill>
                <a:latin typeface="Calibri"/>
              </a:rPr>
              <a:t>{{DONUT_2_SLICE_1_PCT}}</a:t>
            </a:r>
          </a:p>
        </p:txBody>
      </p:sp>
      <p:sp>
        <p:nvSpPr>
          <p:cNvPr id="44" name="Rectangle 43"/>
          <p:cNvSpPr/>
          <p:nvPr/>
        </p:nvSpPr>
        <p:spPr>
          <a:xfrm>
            <a:off x="8686800" y="2606040"/>
            <a:ext cx="164592" cy="164592"/>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0" y="2514600"/>
            <a:ext cx="1398117" cy="228600"/>
          </a:xfrm>
          <a:prstGeom prst="rect">
            <a:avLst/>
          </a:prstGeom>
          <a:noFill/>
        </p:spPr>
        <p:txBody>
          <a:bodyPr wrap="square" lIns="0" rIns="0" tIns="0" bIns="0" anchor="t">
            <a:spAutoFit/>
          </a:bodyPr>
          <a:lstStyle/>
          <a:p>
            <a:pPr algn="l"/>
            <a:r>
              <a:rPr sz="900" b="1" i="0">
                <a:solidFill>
                  <a:srgbClr val="1F2937"/>
                </a:solidFill>
                <a:latin typeface="Calibri"/>
              </a:rPr>
              <a:t>{{DONUT_2_SLICE_2_LABEL}}</a:t>
            </a:r>
          </a:p>
        </p:txBody>
      </p:sp>
      <p:sp>
        <p:nvSpPr>
          <p:cNvPr id="46" name="TextBox 45"/>
          <p:cNvSpPr txBox="1"/>
          <p:nvPr/>
        </p:nvSpPr>
        <p:spPr>
          <a:xfrm>
            <a:off x="8961120" y="2761488"/>
            <a:ext cx="1398117" cy="201168"/>
          </a:xfrm>
          <a:prstGeom prst="rect">
            <a:avLst/>
          </a:prstGeom>
          <a:noFill/>
        </p:spPr>
        <p:txBody>
          <a:bodyPr wrap="square" lIns="0" rIns="0" tIns="0" bIns="0" anchor="t">
            <a:spAutoFit/>
          </a:bodyPr>
          <a:lstStyle/>
          <a:p>
            <a:pPr algn="l"/>
            <a:r>
              <a:rPr sz="800" b="0" i="1">
                <a:solidFill>
                  <a:srgbClr val="4A5568"/>
                </a:solidFill>
                <a:latin typeface="Calibri"/>
              </a:rPr>
              <a:t>{{DONUT_2_SLICE_2_NOTE}}</a:t>
            </a:r>
          </a:p>
        </p:txBody>
      </p:sp>
      <p:sp>
        <p:nvSpPr>
          <p:cNvPr id="47" name="TextBox 46"/>
          <p:cNvSpPr txBox="1"/>
          <p:nvPr/>
        </p:nvSpPr>
        <p:spPr>
          <a:xfrm>
            <a:off x="10359237" y="2560320"/>
            <a:ext cx="1025042" cy="274320"/>
          </a:xfrm>
          <a:prstGeom prst="rect">
            <a:avLst/>
          </a:prstGeom>
          <a:noFill/>
        </p:spPr>
        <p:txBody>
          <a:bodyPr wrap="square" lIns="0" rIns="0" tIns="0" bIns="0" anchor="t">
            <a:spAutoFit/>
          </a:bodyPr>
          <a:lstStyle/>
          <a:p>
            <a:pPr algn="r"/>
            <a:r>
              <a:rPr sz="1300" b="1" i="0">
                <a:solidFill>
                  <a:srgbClr val="003D7A"/>
                </a:solidFill>
                <a:latin typeface="Calibri"/>
              </a:rPr>
              <a:t>{{DONUT_2_SLICE_2_PCT}}</a:t>
            </a:r>
          </a:p>
        </p:txBody>
      </p:sp>
      <p:sp>
        <p:nvSpPr>
          <p:cNvPr id="48" name="Rectangle 47"/>
          <p:cNvSpPr/>
          <p:nvPr/>
        </p:nvSpPr>
        <p:spPr>
          <a:xfrm>
            <a:off x="8686800" y="3108960"/>
            <a:ext cx="164592" cy="164592"/>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961120" y="3017520"/>
            <a:ext cx="1398117" cy="228600"/>
          </a:xfrm>
          <a:prstGeom prst="rect">
            <a:avLst/>
          </a:prstGeom>
          <a:noFill/>
        </p:spPr>
        <p:txBody>
          <a:bodyPr wrap="square" lIns="0" rIns="0" tIns="0" bIns="0" anchor="t">
            <a:spAutoFit/>
          </a:bodyPr>
          <a:lstStyle/>
          <a:p>
            <a:pPr algn="l"/>
            <a:r>
              <a:rPr sz="900" b="1" i="0">
                <a:solidFill>
                  <a:srgbClr val="1F2937"/>
                </a:solidFill>
                <a:latin typeface="Calibri"/>
              </a:rPr>
              <a:t>{{DONUT_2_SLICE_3_LABEL}}</a:t>
            </a:r>
          </a:p>
        </p:txBody>
      </p:sp>
      <p:sp>
        <p:nvSpPr>
          <p:cNvPr id="50" name="TextBox 49"/>
          <p:cNvSpPr txBox="1"/>
          <p:nvPr/>
        </p:nvSpPr>
        <p:spPr>
          <a:xfrm>
            <a:off x="8961120" y="3264408"/>
            <a:ext cx="1398117" cy="201168"/>
          </a:xfrm>
          <a:prstGeom prst="rect">
            <a:avLst/>
          </a:prstGeom>
          <a:noFill/>
        </p:spPr>
        <p:txBody>
          <a:bodyPr wrap="square" lIns="0" rIns="0" tIns="0" bIns="0" anchor="t">
            <a:spAutoFit/>
          </a:bodyPr>
          <a:lstStyle/>
          <a:p>
            <a:pPr algn="l"/>
            <a:r>
              <a:rPr sz="800" b="0" i="1">
                <a:solidFill>
                  <a:srgbClr val="4A5568"/>
                </a:solidFill>
                <a:latin typeface="Calibri"/>
              </a:rPr>
              <a:t>{{DONUT_2_SLICE_3_NOTE}}</a:t>
            </a:r>
          </a:p>
        </p:txBody>
      </p:sp>
      <p:sp>
        <p:nvSpPr>
          <p:cNvPr id="51" name="TextBox 50"/>
          <p:cNvSpPr txBox="1"/>
          <p:nvPr/>
        </p:nvSpPr>
        <p:spPr>
          <a:xfrm>
            <a:off x="10359237" y="3063240"/>
            <a:ext cx="1025042" cy="274320"/>
          </a:xfrm>
          <a:prstGeom prst="rect">
            <a:avLst/>
          </a:prstGeom>
          <a:noFill/>
        </p:spPr>
        <p:txBody>
          <a:bodyPr wrap="square" lIns="0" rIns="0" tIns="0" bIns="0" anchor="t">
            <a:spAutoFit/>
          </a:bodyPr>
          <a:lstStyle/>
          <a:p>
            <a:pPr algn="r"/>
            <a:r>
              <a:rPr sz="1300" b="1" i="0">
                <a:solidFill>
                  <a:srgbClr val="003D7A"/>
                </a:solidFill>
                <a:latin typeface="Calibri"/>
              </a:rPr>
              <a:t>{{DONUT_2_SLICE_3_PCT}}</a:t>
            </a:r>
          </a:p>
        </p:txBody>
      </p:sp>
      <p:sp>
        <p:nvSpPr>
          <p:cNvPr id="52" name="Rectangle 51"/>
          <p:cNvSpPr/>
          <p:nvPr/>
        </p:nvSpPr>
        <p:spPr>
          <a:xfrm>
            <a:off x="8686800" y="3611880"/>
            <a:ext cx="164592" cy="164592"/>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961120" y="3520440"/>
            <a:ext cx="1398117" cy="228600"/>
          </a:xfrm>
          <a:prstGeom prst="rect">
            <a:avLst/>
          </a:prstGeom>
          <a:noFill/>
        </p:spPr>
        <p:txBody>
          <a:bodyPr wrap="square" lIns="0" rIns="0" tIns="0" bIns="0" anchor="t">
            <a:spAutoFit/>
          </a:bodyPr>
          <a:lstStyle/>
          <a:p>
            <a:pPr algn="l"/>
            <a:r>
              <a:rPr sz="900" b="1" i="0">
                <a:solidFill>
                  <a:srgbClr val="1F2937"/>
                </a:solidFill>
                <a:latin typeface="Calibri"/>
              </a:rPr>
              <a:t>{{DONUT_2_SLICE_4_LABEL}}</a:t>
            </a:r>
          </a:p>
        </p:txBody>
      </p:sp>
      <p:sp>
        <p:nvSpPr>
          <p:cNvPr id="54" name="TextBox 53"/>
          <p:cNvSpPr txBox="1"/>
          <p:nvPr/>
        </p:nvSpPr>
        <p:spPr>
          <a:xfrm>
            <a:off x="8961120" y="3767328"/>
            <a:ext cx="1398117" cy="201168"/>
          </a:xfrm>
          <a:prstGeom prst="rect">
            <a:avLst/>
          </a:prstGeom>
          <a:noFill/>
        </p:spPr>
        <p:txBody>
          <a:bodyPr wrap="square" lIns="0" rIns="0" tIns="0" bIns="0" anchor="t">
            <a:spAutoFit/>
          </a:bodyPr>
          <a:lstStyle/>
          <a:p>
            <a:pPr algn="l"/>
            <a:r>
              <a:rPr sz="800" b="0" i="1">
                <a:solidFill>
                  <a:srgbClr val="4A5568"/>
                </a:solidFill>
                <a:latin typeface="Calibri"/>
              </a:rPr>
              <a:t>{{DONUT_2_SLICE_4_NOTE}}</a:t>
            </a:r>
          </a:p>
        </p:txBody>
      </p:sp>
      <p:sp>
        <p:nvSpPr>
          <p:cNvPr id="55" name="TextBox 54"/>
          <p:cNvSpPr txBox="1"/>
          <p:nvPr/>
        </p:nvSpPr>
        <p:spPr>
          <a:xfrm>
            <a:off x="10359237" y="3566160"/>
            <a:ext cx="1025042" cy="274320"/>
          </a:xfrm>
          <a:prstGeom prst="rect">
            <a:avLst/>
          </a:prstGeom>
          <a:noFill/>
        </p:spPr>
        <p:txBody>
          <a:bodyPr wrap="square" lIns="0" rIns="0" tIns="0" bIns="0" anchor="t">
            <a:spAutoFit/>
          </a:bodyPr>
          <a:lstStyle/>
          <a:p>
            <a:pPr algn="r"/>
            <a:r>
              <a:rPr sz="1300" b="1" i="0">
                <a:solidFill>
                  <a:srgbClr val="003D7A"/>
                </a:solidFill>
                <a:latin typeface="Calibri"/>
              </a:rPr>
              <a:t>{{DONUT_2_SLICE_4_PCT}}</a:t>
            </a:r>
          </a:p>
        </p:txBody>
      </p:sp>
      <p:sp>
        <p:nvSpPr>
          <p:cNvPr id="56" name="Rectangle 55"/>
          <p:cNvSpPr/>
          <p:nvPr/>
        </p:nvSpPr>
        <p:spPr>
          <a:xfrm>
            <a:off x="8686800" y="4114800"/>
            <a:ext cx="164592" cy="164592"/>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961120" y="4023360"/>
            <a:ext cx="1398117" cy="228600"/>
          </a:xfrm>
          <a:prstGeom prst="rect">
            <a:avLst/>
          </a:prstGeom>
          <a:noFill/>
        </p:spPr>
        <p:txBody>
          <a:bodyPr wrap="square" lIns="0" rIns="0" tIns="0" bIns="0" anchor="t">
            <a:spAutoFit/>
          </a:bodyPr>
          <a:lstStyle/>
          <a:p>
            <a:pPr algn="l"/>
            <a:r>
              <a:rPr sz="900" b="1" i="0">
                <a:solidFill>
                  <a:srgbClr val="1F2937"/>
                </a:solidFill>
                <a:latin typeface="Calibri"/>
              </a:rPr>
              <a:t>{{DONUT_2_SLICE_5_LABEL}}</a:t>
            </a:r>
          </a:p>
        </p:txBody>
      </p:sp>
      <p:sp>
        <p:nvSpPr>
          <p:cNvPr id="58" name="TextBox 57"/>
          <p:cNvSpPr txBox="1"/>
          <p:nvPr/>
        </p:nvSpPr>
        <p:spPr>
          <a:xfrm>
            <a:off x="8961120" y="4270248"/>
            <a:ext cx="1398117" cy="201168"/>
          </a:xfrm>
          <a:prstGeom prst="rect">
            <a:avLst/>
          </a:prstGeom>
          <a:noFill/>
        </p:spPr>
        <p:txBody>
          <a:bodyPr wrap="square" lIns="0" rIns="0" tIns="0" bIns="0" anchor="t">
            <a:spAutoFit/>
          </a:bodyPr>
          <a:lstStyle/>
          <a:p>
            <a:pPr algn="l"/>
            <a:r>
              <a:rPr sz="800" b="0" i="1">
                <a:solidFill>
                  <a:srgbClr val="4A5568"/>
                </a:solidFill>
                <a:latin typeface="Calibri"/>
              </a:rPr>
              <a:t>{{DONUT_2_SLICE_5_NOTE}}</a:t>
            </a:r>
          </a:p>
        </p:txBody>
      </p:sp>
      <p:sp>
        <p:nvSpPr>
          <p:cNvPr id="59" name="TextBox 58"/>
          <p:cNvSpPr txBox="1"/>
          <p:nvPr/>
        </p:nvSpPr>
        <p:spPr>
          <a:xfrm>
            <a:off x="10359237" y="4069080"/>
            <a:ext cx="1025042" cy="274320"/>
          </a:xfrm>
          <a:prstGeom prst="rect">
            <a:avLst/>
          </a:prstGeom>
          <a:noFill/>
        </p:spPr>
        <p:txBody>
          <a:bodyPr wrap="square" lIns="0" rIns="0" tIns="0" bIns="0" anchor="t">
            <a:spAutoFit/>
          </a:bodyPr>
          <a:lstStyle/>
          <a:p>
            <a:pPr algn="r"/>
            <a:r>
              <a:rPr sz="1300" b="1" i="0">
                <a:solidFill>
                  <a:srgbClr val="003D7A"/>
                </a:solidFill>
                <a:latin typeface="Calibri"/>
              </a:rPr>
              <a:t>{{DONUT_2_SLICE_5_PCT}}</a:t>
            </a:r>
          </a:p>
        </p:txBody>
      </p:sp>
      <p:sp>
        <p:nvSpPr>
          <p:cNvPr id="60" name="TextBox 59"/>
          <p:cNvSpPr txBox="1"/>
          <p:nvPr/>
        </p:nvSpPr>
        <p:spPr>
          <a:xfrm>
            <a:off x="6492240" y="5486400"/>
            <a:ext cx="4937760" cy="228600"/>
          </a:xfrm>
          <a:prstGeom prst="rect">
            <a:avLst/>
          </a:prstGeom>
          <a:noFill/>
        </p:spPr>
        <p:txBody>
          <a:bodyPr wrap="square" lIns="0" rIns="0" tIns="0" bIns="0" anchor="t">
            <a:spAutoFit/>
          </a:bodyPr>
          <a:lstStyle/>
          <a:p>
            <a:pPr algn="l"/>
            <a:r>
              <a:rPr sz="900" b="0" i="1">
                <a:solidFill>
                  <a:srgbClr val="9CA3AF"/>
                </a:solidFill>
                <a:latin typeface="Calibri"/>
              </a:rPr>
              <a:t>{{DONUT_2_SOURCE}}</a:t>
            </a:r>
          </a:p>
        </p:txBody>
      </p:sp>
      <p:sp>
        <p:nvSpPr>
          <p:cNvPr id="61" name="TextBox 60"/>
          <p:cNvSpPr txBox="1"/>
          <p:nvPr/>
        </p:nvSpPr>
        <p:spPr>
          <a:xfrm>
            <a:off x="457200" y="6537960"/>
            <a:ext cx="9144000" cy="274320"/>
          </a:xfrm>
          <a:prstGeom prst="rect">
            <a:avLst/>
          </a:prstGeom>
          <a:noFill/>
        </p:spPr>
        <p:txBody>
          <a:bodyPr wrap="square" lIns="0" rIns="0" tIns="0" bIns="0" anchor="t">
            <a:spAutoFit/>
          </a:bodyPr>
          <a:lstStyle/>
          <a:p>
            <a:pPr algn="l"/>
            <a:r>
              <a:rPr sz="900" b="0" i="0">
                <a:solidFill>
                  <a:srgbClr val="9CA3AF"/>
                </a:solidFill>
                <a:latin typeface="Calibri"/>
              </a:rPr>
              <a:t>{{FOOTER_LEFT}}</a:t>
            </a:r>
          </a:p>
        </p:txBody>
      </p:sp>
      <p:sp>
        <p:nvSpPr>
          <p:cNvPr id="62" name="TextBox 61"/>
          <p:cNvSpPr txBox="1"/>
          <p:nvPr/>
        </p:nvSpPr>
        <p:spPr>
          <a:xfrm>
            <a:off x="11247120" y="6537960"/>
            <a:ext cx="457200" cy="274320"/>
          </a:xfrm>
          <a:prstGeom prst="rect">
            <a:avLst/>
          </a:prstGeom>
          <a:noFill/>
        </p:spPr>
        <p:txBody>
          <a:bodyPr wrap="square" lIns="0" rIns="0" tIns="0" bIns="0" anchor="t">
            <a:spAutoFit/>
          </a:bodyPr>
          <a:lstStyle/>
          <a:p>
            <a:pPr algn="r"/>
            <a:r>
              <a:rPr sz="900" b="1" i="0">
                <a:solidFill>
                  <a:srgbClr val="003D7A"/>
                </a:solidFill>
                <a:latin typeface="Calibri"/>
              </a:rPr>
              <a:t>{{PAGE_NUM}}</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name="DISCLAIMER">
    <p:spTree>
      <p:nvGrpSpPr>
        <p:cNvPr id="1" name=""/>
        <p:cNvGrpSpPr/>
        <p:nvPr/>
      </p:nvGrpSpPr>
      <p:grpSpPr/>
      <p:sp>
        <p:nvSpPr>
          <p:cNvPr id="2" name="Rectangle 1"/>
          <p:cNvSpPr/>
          <p:nvPr/>
        </p:nvSpPr>
        <p:spPr>
          <a:xfrm>
            <a:off x="0" y="0"/>
            <a:ext cx="12188952" cy="685800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0515600" y="5486400"/>
            <a:ext cx="640080" cy="1280160"/>
          </a:xfrm>
          <a:custGeom>
            <a:avLst/>
            <a:gdLst/>
            <a:ahLst/>
            <a:cxnLst/>
            <a:rect l="l" t="t" r="r" b="b"/>
            <a:pathLst>
              <a:path w="640080" h="1280160">
                <a:moveTo>
                  <a:pt x="0" y="640080"/>
                </a:moveTo>
                <a:lnTo>
                  <a:pt x="640080" y="0"/>
                </a:lnTo>
                <a:lnTo>
                  <a:pt x="640080" y="1280160"/>
                </a:lnTo>
                <a:close/>
              </a:path>
            </a:pathLst>
          </a:cu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731520"/>
            <a:ext cx="11247120" cy="548640"/>
          </a:xfrm>
          <a:prstGeom prst="rect">
            <a:avLst/>
          </a:prstGeom>
          <a:noFill/>
        </p:spPr>
        <p:txBody>
          <a:bodyPr wrap="square" lIns="0" rIns="0" tIns="0" bIns="0" anchor="t">
            <a:spAutoFit/>
          </a:bodyPr>
          <a:lstStyle/>
          <a:p>
            <a:pPr algn="l"/>
            <a:r>
              <a:rPr sz="2000" b="1" i="0">
                <a:solidFill>
                  <a:srgbClr val="FFFFFF"/>
                </a:solidFill>
                <a:latin typeface="Calibri"/>
              </a:rPr>
              <a:t>TUYÊN BỐ MIỄN TRỪ TRÁCH NHIỆM</a:t>
            </a:r>
          </a:p>
        </p:txBody>
      </p:sp>
      <p:sp>
        <p:nvSpPr>
          <p:cNvPr id="5" name="Rectangle 4"/>
          <p:cNvSpPr/>
          <p:nvPr/>
        </p:nvSpPr>
        <p:spPr>
          <a:xfrm>
            <a:off x="457200" y="1325880"/>
            <a:ext cx="2743200" cy="10972"/>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508760"/>
            <a:ext cx="9875520" cy="3108960"/>
          </a:xfrm>
          <a:prstGeom prst="rect">
            <a:avLst/>
          </a:prstGeom>
          <a:noFill/>
        </p:spPr>
        <p:txBody>
          <a:bodyPr wrap="square" lIns="0" rIns="0" tIns="0" bIns="0" anchor="t">
            <a:spAutoFit/>
          </a:bodyPr>
          <a:lstStyle/>
          <a:p>
            <a:pPr algn="l"/>
            <a:r>
              <a:rPr sz="1100" b="0" i="0">
                <a:solidFill>
                  <a:srgbClr val="FFFFFF"/>
                </a:solidFill>
                <a:latin typeface="Calibri"/>
              </a:rPr>
              <a:t>Báo cáo này được Công ty Cổ phần Chứng khoán VietinBank (VBSE) soạn thảo trên cơ sở các thông tin, dữ liệu được thu thập từ các nguồn được cho là đáng tin cậy tại thời điểm phát hành. Tuy nhiên, VBSE không cam kết hoặc bảo đảm tính chính xác, đầy đủ hay kịp thời của thông tin.
Các khuyến nghị trong báo cáo phản ánh quan điểm độc lập của VBSE tại thời điểm công bố và có thể thay đổi mà không cần thông báo trước. Nhà đầu tư cần tự đánh giá mức độ phù hợp với tình hình tài chính cá nhân, khả năng chịu rủi ro và mục tiêu đầu tư trước khi ra quyết định.
Quyết định đầu tư cuối cùng hoàn toàn thuộc về Quý khách hàng. VBSE không chịu trách nhiệm về bất kỳ tổn thất nào phát sinh từ việc sử dụng báo cáo này.</a:t>
            </a:r>
          </a:p>
        </p:txBody>
      </p:sp>
      <p:sp>
        <p:nvSpPr>
          <p:cNvPr id="7" name="TextBox 6"/>
          <p:cNvSpPr txBox="1"/>
          <p:nvPr/>
        </p:nvSpPr>
        <p:spPr>
          <a:xfrm>
            <a:off x="457200" y="5029200"/>
            <a:ext cx="11247120" cy="365760"/>
          </a:xfrm>
          <a:prstGeom prst="rect">
            <a:avLst/>
          </a:prstGeom>
          <a:noFill/>
        </p:spPr>
        <p:txBody>
          <a:bodyPr wrap="square" lIns="0" rIns="0" tIns="0" bIns="0" anchor="t">
            <a:spAutoFit/>
          </a:bodyPr>
          <a:lstStyle/>
          <a:p>
            <a:pPr algn="l"/>
            <a:r>
              <a:rPr sz="1300" b="1" i="0">
                <a:solidFill>
                  <a:srgbClr val="D71249"/>
                </a:solidFill>
                <a:latin typeface="Calibri"/>
              </a:rPr>
              <a:t>LIÊN HỆ</a:t>
            </a:r>
          </a:p>
        </p:txBody>
      </p:sp>
      <p:sp>
        <p:nvSpPr>
          <p:cNvPr id="8" name="Rectangle 7"/>
          <p:cNvSpPr/>
          <p:nvPr/>
        </p:nvSpPr>
        <p:spPr>
          <a:xfrm>
            <a:off x="457200" y="5413248"/>
            <a:ext cx="1371600" cy="10972"/>
          </a:xfrm>
          <a:prstGeom prst="rect">
            <a:avLst/>
          </a:prstGeom>
          <a:solidFill>
            <a:srgbClr val="D71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5532120"/>
            <a:ext cx="5486400" cy="274320"/>
          </a:xfrm>
          <a:prstGeom prst="rect">
            <a:avLst/>
          </a:prstGeom>
          <a:noFill/>
        </p:spPr>
        <p:txBody>
          <a:bodyPr wrap="square" lIns="0" rIns="0" tIns="0" bIns="0" anchor="t">
            <a:spAutoFit/>
          </a:bodyPr>
          <a:lstStyle/>
          <a:p>
            <a:pPr algn="l"/>
            <a:r>
              <a:rPr sz="1300" b="0" i="0">
                <a:solidFill>
                  <a:srgbClr val="FFFFFF"/>
                </a:solidFill>
                <a:latin typeface="Calibri"/>
              </a:rPr>
              <a:t>Website:  www.vbse.vn</a:t>
            </a:r>
          </a:p>
        </p:txBody>
      </p:sp>
      <p:sp>
        <p:nvSpPr>
          <p:cNvPr id="10" name="TextBox 9"/>
          <p:cNvSpPr txBox="1"/>
          <p:nvPr/>
        </p:nvSpPr>
        <p:spPr>
          <a:xfrm>
            <a:off x="457200" y="5852160"/>
            <a:ext cx="5486400" cy="274320"/>
          </a:xfrm>
          <a:prstGeom prst="rect">
            <a:avLst/>
          </a:prstGeom>
          <a:noFill/>
        </p:spPr>
        <p:txBody>
          <a:bodyPr wrap="square" lIns="0" rIns="0" tIns="0" bIns="0" anchor="t">
            <a:spAutoFit/>
          </a:bodyPr>
          <a:lstStyle/>
          <a:p>
            <a:pPr algn="l"/>
            <a:r>
              <a:rPr sz="1300" b="0" i="0">
                <a:solidFill>
                  <a:srgbClr val="FFFFFF"/>
                </a:solidFill>
                <a:latin typeface="Calibri"/>
              </a:rPr>
              <a:t>Hotline:  1900 588 866</a:t>
            </a:r>
          </a:p>
        </p:txBody>
      </p:sp>
      <p:sp>
        <p:nvSpPr>
          <p:cNvPr id="11" name="TextBox 10"/>
          <p:cNvSpPr txBox="1"/>
          <p:nvPr/>
        </p:nvSpPr>
        <p:spPr>
          <a:xfrm>
            <a:off x="457200" y="6172200"/>
            <a:ext cx="7315200" cy="274320"/>
          </a:xfrm>
          <a:prstGeom prst="rect">
            <a:avLst/>
          </a:prstGeom>
          <a:noFill/>
        </p:spPr>
        <p:txBody>
          <a:bodyPr wrap="square" lIns="0" rIns="0" tIns="0" bIns="0" anchor="t">
            <a:spAutoFit/>
          </a:bodyPr>
          <a:lstStyle/>
          <a:p>
            <a:pPr algn="l"/>
            <a:r>
              <a:rPr sz="1100" b="0" i="1">
                <a:solidFill>
                  <a:srgbClr val="FFFFFF"/>
                </a:solidFill>
                <a:latin typeface="Calibri"/>
              </a:rPr>
              <a:t>Phòng Môi giới và Tư vấn Đầu tư  •  Tổ tầm soát cổ phiếu</a:t>
            </a:r>
          </a:p>
        </p:txBody>
      </p:sp>
      <p:sp>
        <p:nvSpPr>
          <p:cNvPr id="12" name="TextBox 11"/>
          <p:cNvSpPr txBox="1"/>
          <p:nvPr/>
        </p:nvSpPr>
        <p:spPr>
          <a:xfrm>
            <a:off x="6400800" y="5532120"/>
            <a:ext cx="3657600" cy="274320"/>
          </a:xfrm>
          <a:prstGeom prst="rect">
            <a:avLst/>
          </a:prstGeom>
          <a:noFill/>
        </p:spPr>
        <p:txBody>
          <a:bodyPr wrap="square" lIns="0" rIns="0" tIns="0" bIns="0" anchor="t">
            <a:spAutoFit/>
          </a:bodyPr>
          <a:lstStyle/>
          <a:p>
            <a:pPr algn="r"/>
            <a:r>
              <a:rPr sz="1300" b="0" i="0">
                <a:solidFill>
                  <a:srgbClr val="FFFFFF"/>
                </a:solidFill>
                <a:latin typeface="Calibri"/>
              </a:rPr>
              <a:t>Phát hành: {{PUBLISH_DATE}}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